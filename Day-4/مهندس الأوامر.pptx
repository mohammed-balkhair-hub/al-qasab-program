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5143500" cy="9144000"/>
  <p:embeddedFontLst>
    <p:embeddedFont>
      <p:font typeface="Cairo"/>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BD01A6-4E11-4249-9B88-50B7CE4EA520}">
  <a:tblStyle styleId="{6ABD01A6-4E11-4249-9B88-50B7CE4EA52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Cair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Cair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056cba5a_1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ef056cba5a_1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ef056cba5a_1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f056cba5a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ef056cba5a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ef056cba5a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f056cba5a_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ef056cba5a_1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ef056cba5a_1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f056cba5a_1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ef056cba5a_1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ef056cba5a_1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f056cba5a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ef056cba5a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ef056cba5a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f056cba5a_1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ef056cba5a_1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ef056cba5a_1_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f056cba5a_1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ef056cba5a_1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ef056cba5a_1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f056cba5a_1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g3ef056cba5a_1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g3ef056cba5a_1_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f056cba5a_1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ef056cba5a_1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ef056cba5a_1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ef056cba5a_1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ef056cba5a_1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g3ef056cba5a_1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f056cba5a_1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ef056cba5a_1_2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ef056cba5a_1_2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f056cba5a_1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ef056cba5a_1_2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3ef056cba5a_1_2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ef056cba5a_1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ef056cba5a_1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ef056cba5a_1_2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ef056cba5a_1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ef056cba5a_1_3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3ef056cba5a_1_3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ef056cba5a_1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g3ef056cba5a_1_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3ef056cba5a_1_3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f056cba5a_1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g3ef056cba5a_1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g3ef056cba5a_1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30.png"/><Relationship Id="rId6"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3.png"/><Relationship Id="rId5"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28.png"/><Relationship Id="rId7" Type="http://schemas.openxmlformats.org/officeDocument/2006/relationships/image" Target="../media/image31.png"/><Relationship Id="rId8"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1097280" y="-1097280"/>
            <a:ext cx="2926080" cy="2926080"/>
          </a:xfrm>
          <a:prstGeom prst="ellipse">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589520" y="3474720"/>
            <a:ext cx="2194560" cy="2194560"/>
          </a:xfrm>
          <a:prstGeom prst="ellipse">
            <a:avLst/>
          </a:prstGeom>
          <a:solidFill>
            <a:srgbClr val="FFED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914400"/>
            <a:ext cx="8046720" cy="4114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600"/>
              <a:buFont typeface="Cairo"/>
              <a:buNone/>
            </a:pPr>
            <a:r>
              <a:rPr b="1" i="0" lang="en-US" sz="1600" u="none" cap="none" strike="noStrike">
                <a:solidFill>
                  <a:srgbClr val="0284C7"/>
                </a:solidFill>
                <a:latin typeface="Cairo"/>
                <a:ea typeface="Cairo"/>
                <a:cs typeface="Cairo"/>
                <a:sym typeface="Cairo"/>
              </a:rPr>
              <a:t>اليوم الرابع</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548640" y="1417320"/>
            <a:ext cx="8046720" cy="914400"/>
          </a:xfrm>
          <a:prstGeom prst="rect">
            <a:avLst/>
          </a:prstGeom>
          <a:noFill/>
          <a:ln>
            <a:noFill/>
          </a:ln>
        </p:spPr>
        <p:txBody>
          <a:bodyPr anchorCtr="0" anchor="ctr" bIns="0" lIns="0" spcFirstLastPara="1" rIns="0" wrap="square" tIns="0">
            <a:noAutofit/>
          </a:bodyPr>
          <a:lstStyle/>
          <a:p>
            <a:pPr indent="0" lvl="0" marL="0" rtl="1" algn="r">
              <a:spcBef>
                <a:spcPts val="0"/>
              </a:spcBef>
              <a:spcAft>
                <a:spcPts val="0"/>
              </a:spcAft>
              <a:buClr>
                <a:srgbClr val="0F172A"/>
              </a:buClr>
              <a:buSzPts val="4200"/>
              <a:buFont typeface="Cairo"/>
              <a:buNone/>
            </a:pPr>
            <a:r>
              <a:rPr b="1" lang="en-US" sz="4200">
                <a:solidFill>
                  <a:srgbClr val="0F172A"/>
                </a:solidFill>
                <a:latin typeface="Cairo"/>
                <a:ea typeface="Cairo"/>
                <a:cs typeface="Cairo"/>
                <a:sym typeface="Cairo"/>
              </a:rPr>
              <a:t>مهندس الأوامر</a:t>
            </a:r>
            <a:endParaRPr b="1" sz="3800">
              <a:solidFill>
                <a:srgbClr val="0F172A"/>
              </a:solidFill>
              <a:latin typeface="Cairo"/>
              <a:ea typeface="Cairo"/>
              <a:cs typeface="Cairo"/>
              <a:sym typeface="Cairo"/>
            </a:endParaRPr>
          </a:p>
        </p:txBody>
      </p:sp>
      <p:sp>
        <p:nvSpPr>
          <p:cNvPr id="20" name="Google Shape;20;p3"/>
          <p:cNvSpPr/>
          <p:nvPr/>
        </p:nvSpPr>
        <p:spPr>
          <a:xfrm>
            <a:off x="548640" y="2286000"/>
            <a:ext cx="804672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A580C"/>
              </a:buClr>
              <a:buSzPts val="2000"/>
              <a:buFont typeface="Cairo"/>
              <a:buNone/>
            </a:pPr>
            <a:r>
              <a:rPr b="1" lang="en-US" sz="2000">
                <a:solidFill>
                  <a:srgbClr val="EA580C"/>
                </a:solidFill>
                <a:latin typeface="Cairo"/>
                <a:ea typeface="Cairo"/>
                <a:cs typeface="Cairo"/>
                <a:sym typeface="Cairo"/>
              </a:rPr>
              <a:t>كيف نتحدث مع الذكاء الاصطناعي؟</a:t>
            </a:r>
            <a:endParaRPr b="1" sz="2000">
              <a:solidFill>
                <a:srgbClr val="EA580C"/>
              </a:solidFill>
              <a:latin typeface="Cairo"/>
              <a:ea typeface="Cairo"/>
              <a:cs typeface="Cairo"/>
              <a:sym typeface="Cairo"/>
            </a:endParaRPr>
          </a:p>
          <a:p>
            <a:pPr indent="0" lvl="0" marL="0" marR="0" rtl="1" algn="r">
              <a:spcBef>
                <a:spcPts val="0"/>
              </a:spcBef>
              <a:spcAft>
                <a:spcPts val="0"/>
              </a:spcAft>
              <a:buClr>
                <a:srgbClr val="EA580C"/>
              </a:buClr>
              <a:buSzPts val="2000"/>
              <a:buFont typeface="Cairo"/>
              <a:buNone/>
            </a:pPr>
            <a:r>
              <a:t/>
            </a:r>
            <a:endParaRPr b="1" sz="2000">
              <a:solidFill>
                <a:srgbClr val="EA580C"/>
              </a:solidFill>
              <a:latin typeface="Cairo"/>
              <a:ea typeface="Cairo"/>
              <a:cs typeface="Cairo"/>
              <a:sym typeface="Cairo"/>
            </a:endParaRPr>
          </a:p>
        </p:txBody>
      </p:sp>
      <p:sp>
        <p:nvSpPr>
          <p:cNvPr id="21" name="Google Shape;21;p3"/>
          <p:cNvSpPr/>
          <p:nvPr/>
        </p:nvSpPr>
        <p:spPr>
          <a:xfrm>
            <a:off x="548640" y="2971800"/>
            <a:ext cx="68580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بعد أن تعلّمنا كيف يفكر الذكاء الاصطناعي وأين يخطئ، نتعلّم اليوم كيف نتحدث معه لنحصل على أفضل ما عنده.</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برنامج الذكاء الاصطناعي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457200" y="457200"/>
            <a:ext cx="7315200" cy="3200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300"/>
              <a:buFont typeface="Cairo"/>
              <a:buNone/>
            </a:pPr>
            <a:r>
              <a:rPr b="0" i="0" lang="en-US" sz="1300" u="none" cap="none" strike="noStrike">
                <a:solidFill>
                  <a:srgbClr val="64748B"/>
                </a:solidFill>
                <a:latin typeface="Cairo"/>
                <a:ea typeface="Cairo"/>
                <a:cs typeface="Cairo"/>
                <a:sym typeface="Cairo"/>
              </a:rPr>
              <a:t>قصة اليوم</a:t>
            </a:r>
            <a:endParaRPr b="0" i="0" sz="1300" u="none" cap="none" strike="noStrike">
              <a:solidFill>
                <a:schemeClr val="dk1"/>
              </a:solidFill>
              <a:latin typeface="Calibri"/>
              <a:ea typeface="Calibri"/>
              <a:cs typeface="Calibri"/>
              <a:sym typeface="Calibri"/>
            </a:endParaRPr>
          </a:p>
        </p:txBody>
      </p:sp>
      <p:cxnSp>
        <p:nvCxnSpPr>
          <p:cNvPr id="29" name="Google Shape;29;p4"/>
          <p:cNvCxnSpPr/>
          <p:nvPr/>
        </p:nvCxnSpPr>
        <p:spPr>
          <a:xfrm>
            <a:off x="457200" y="868680"/>
            <a:ext cx="8229600" cy="0"/>
          </a:xfrm>
          <a:prstGeom prst="straightConnector1">
            <a:avLst/>
          </a:prstGeom>
          <a:noFill/>
          <a:ln cap="flat" cmpd="sng" w="12700">
            <a:solidFill>
              <a:srgbClr val="E2E8F0"/>
            </a:solidFill>
            <a:prstDash val="solid"/>
            <a:round/>
            <a:headEnd len="sm" w="sm" type="none"/>
            <a:tailEnd len="sm" w="sm" type="none"/>
          </a:ln>
        </p:spPr>
      </p:cxnSp>
      <p:sp>
        <p:nvSpPr>
          <p:cNvPr id="30" name="Google Shape;30;p4"/>
          <p:cNvSpPr/>
          <p:nvPr/>
        </p:nvSpPr>
        <p:spPr>
          <a:xfrm>
            <a:off x="914400" y="1554480"/>
            <a:ext cx="7315200" cy="146304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0F172A"/>
              </a:buClr>
              <a:buSzPts val="2000"/>
              <a:buFont typeface="Cairo"/>
              <a:buNone/>
            </a:pPr>
            <a:r>
              <a:rPr b="1" i="1" lang="en-US" sz="2000" u="none" cap="none" strike="noStrike">
                <a:solidFill>
                  <a:srgbClr val="0F172A"/>
                </a:solidFill>
                <a:latin typeface="Cairo"/>
                <a:ea typeface="Cairo"/>
                <a:cs typeface="Cairo"/>
                <a:sym typeface="Cairo"/>
              </a:rPr>
              <a:t>"في الأيام الماضية تعلّمنا كيف يتعلّم الذكاء الاصطناعي، وكيف يفكر، وأين يخطئ.</a:t>
            </a:r>
            <a:endParaRPr b="0" i="0" sz="2000" u="none" cap="none" strike="noStrike">
              <a:solidFill>
                <a:schemeClr val="dk1"/>
              </a:solidFill>
              <a:latin typeface="Calibri"/>
              <a:ea typeface="Calibri"/>
              <a:cs typeface="Calibri"/>
              <a:sym typeface="Calibri"/>
            </a:endParaRPr>
          </a:p>
          <a:p>
            <a:pPr indent="0" lvl="0" marL="0" marR="0" rtl="1" algn="ctr">
              <a:spcBef>
                <a:spcPts val="0"/>
              </a:spcBef>
              <a:spcAft>
                <a:spcPts val="0"/>
              </a:spcAft>
              <a:buClr>
                <a:srgbClr val="0F172A"/>
              </a:buClr>
              <a:buSzPts val="2000"/>
              <a:buFont typeface="Cairo"/>
              <a:buNone/>
            </a:pPr>
            <a:r>
              <a:rPr b="1" i="1" lang="en-US" sz="2000" u="none" cap="none" strike="noStrike">
                <a:solidFill>
                  <a:srgbClr val="0F172A"/>
                </a:solidFill>
                <a:latin typeface="Cairo"/>
                <a:ea typeface="Cairo"/>
                <a:cs typeface="Cairo"/>
                <a:sym typeface="Cairo"/>
              </a:rPr>
              <a:t>اليوم نسأل: بما أننا نعرف كل هذا، كيف نخاطبه بطريقة تجعله يخدمنا بشكل أفضل؟"</a:t>
            </a:r>
            <a:endParaRPr b="0" i="0" sz="2000" u="none" cap="none" strike="noStrike">
              <a:solidFill>
                <a:schemeClr val="dk1"/>
              </a:solidFill>
              <a:latin typeface="Calibri"/>
              <a:ea typeface="Calibri"/>
              <a:cs typeface="Calibri"/>
              <a:sym typeface="Calibri"/>
            </a:endParaRPr>
          </a:p>
        </p:txBody>
      </p:sp>
      <p:sp>
        <p:nvSpPr>
          <p:cNvPr id="31" name="Google Shape;31;p4"/>
          <p:cNvSpPr/>
          <p:nvPr/>
        </p:nvSpPr>
        <p:spPr>
          <a:xfrm>
            <a:off x="914400" y="3291840"/>
            <a:ext cx="7315200" cy="36576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0284C7"/>
              </a:buClr>
              <a:buSzPts val="1300"/>
              <a:buFont typeface="Cairo"/>
              <a:buNone/>
            </a:pPr>
            <a:r>
              <a:rPr b="0" i="0" lang="en-US" sz="1300" u="none" cap="none" strike="noStrike">
                <a:solidFill>
                  <a:srgbClr val="0284C7"/>
                </a:solidFill>
                <a:latin typeface="Cairo"/>
                <a:ea typeface="Cairo"/>
                <a:cs typeface="Cairo"/>
                <a:sym typeface="Cairo"/>
              </a:rPr>
              <a:t>لنبدأ رحلة التحكم في الذكاء الاصطناعي</a:t>
            </a:r>
            <a:endParaRPr b="0" i="0" sz="1300" u="none" cap="none" strike="noStrike">
              <a:solidFill>
                <a:schemeClr val="dk1"/>
              </a:solidFill>
              <a:latin typeface="Calibri"/>
              <a:ea typeface="Calibri"/>
              <a:cs typeface="Calibri"/>
              <a:sym typeface="Calibri"/>
            </a:endParaRPr>
          </a:p>
        </p:txBody>
      </p:sp>
      <p:sp>
        <p:nvSpPr>
          <p:cNvPr id="32" name="Google Shape;32;p4"/>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أهداف اليوم</a:t>
            </a:r>
            <a:endParaRPr b="0" i="0" sz="1100" u="none" cap="none" strike="noStrike">
              <a:solidFill>
                <a:schemeClr val="dk1"/>
              </a:solidFill>
              <a:latin typeface="Calibri"/>
              <a:ea typeface="Calibri"/>
              <a:cs typeface="Calibri"/>
              <a:sym typeface="Calibri"/>
            </a:endParaRPr>
          </a:p>
        </p:txBody>
      </p:sp>
      <p:sp>
        <p:nvSpPr>
          <p:cNvPr id="39" name="Google Shape;39;p5"/>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بنهاية اليوم، ستتمكن من:</a:t>
            </a:r>
            <a:endParaRPr b="0" i="0" sz="2600" u="none" cap="none" strike="noStrike">
              <a:solidFill>
                <a:schemeClr val="dk1"/>
              </a:solidFill>
              <a:latin typeface="Calibri"/>
              <a:ea typeface="Calibri"/>
              <a:cs typeface="Calibri"/>
              <a:sym typeface="Calibri"/>
            </a:endParaRPr>
          </a:p>
        </p:txBody>
      </p:sp>
      <p:sp>
        <p:nvSpPr>
          <p:cNvPr id="40" name="Google Shape;40;p5"/>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41" name="Google Shape;41;p5"/>
          <p:cNvSpPr/>
          <p:nvPr/>
        </p:nvSpPr>
        <p:spPr>
          <a:xfrm>
            <a:off x="457200" y="1371600"/>
            <a:ext cx="3886200" cy="1417320"/>
          </a:xfrm>
          <a:prstGeom prst="roundRect">
            <a:avLst>
              <a:gd fmla="val 5161"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magic_sky.png" id="42" name="Google Shape;42;p5"/>
          <p:cNvPicPr preferRelativeResize="0"/>
          <p:nvPr/>
        </p:nvPicPr>
        <p:blipFill rotWithShape="1">
          <a:blip r:embed="rId3">
            <a:alphaModFix/>
          </a:blip>
          <a:srcRect b="0" l="0" r="0" t="0"/>
          <a:stretch/>
        </p:blipFill>
        <p:spPr>
          <a:xfrm>
            <a:off x="3776472" y="1572768"/>
            <a:ext cx="365760" cy="365760"/>
          </a:xfrm>
          <a:prstGeom prst="rect">
            <a:avLst/>
          </a:prstGeom>
          <a:noFill/>
          <a:ln>
            <a:noFill/>
          </a:ln>
        </p:spPr>
      </p:pic>
      <p:sp>
        <p:nvSpPr>
          <p:cNvPr id="43" name="Google Shape;43;p5"/>
          <p:cNvSpPr/>
          <p:nvPr/>
        </p:nvSpPr>
        <p:spPr>
          <a:xfrm>
            <a:off x="685800" y="1554480"/>
            <a:ext cx="29718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كتابة أوامر أفضل</a:t>
            </a:r>
            <a:endParaRPr b="0" i="0" sz="1400" u="none" cap="none" strike="noStrike">
              <a:solidFill>
                <a:schemeClr val="dk1"/>
              </a:solidFill>
              <a:latin typeface="Calibri"/>
              <a:ea typeface="Calibri"/>
              <a:cs typeface="Calibri"/>
              <a:sym typeface="Calibri"/>
            </a:endParaRPr>
          </a:p>
        </p:txBody>
      </p:sp>
      <p:sp>
        <p:nvSpPr>
          <p:cNvPr id="44" name="Google Shape;44;p5"/>
          <p:cNvSpPr/>
          <p:nvPr/>
        </p:nvSpPr>
        <p:spPr>
          <a:xfrm>
            <a:off x="685800" y="1938528"/>
            <a:ext cx="34290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تمييز الأمر الضعيف عن الأمر الجيد، وتحسينه بثقة</a:t>
            </a:r>
            <a:endParaRPr b="0" i="0" sz="1100" u="none" cap="none" strike="noStrike">
              <a:solidFill>
                <a:schemeClr val="dk1"/>
              </a:solidFill>
              <a:latin typeface="Calibri"/>
              <a:ea typeface="Calibri"/>
              <a:cs typeface="Calibri"/>
              <a:sym typeface="Calibri"/>
            </a:endParaRPr>
          </a:p>
        </p:txBody>
      </p:sp>
      <p:sp>
        <p:nvSpPr>
          <p:cNvPr id="45" name="Google Shape;45;p5"/>
          <p:cNvSpPr/>
          <p:nvPr/>
        </p:nvSpPr>
        <p:spPr>
          <a:xfrm>
            <a:off x="4617720" y="1371600"/>
            <a:ext cx="3886200" cy="1417320"/>
          </a:xfrm>
          <a:prstGeom prst="roundRect">
            <a:avLst>
              <a:gd fmla="val 5161"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oal_sky.png" id="46" name="Google Shape;46;p5"/>
          <p:cNvPicPr preferRelativeResize="0"/>
          <p:nvPr/>
        </p:nvPicPr>
        <p:blipFill rotWithShape="1">
          <a:blip r:embed="rId4">
            <a:alphaModFix/>
          </a:blip>
          <a:srcRect b="0" l="0" r="0" t="0"/>
          <a:stretch/>
        </p:blipFill>
        <p:spPr>
          <a:xfrm>
            <a:off x="7936992" y="1572768"/>
            <a:ext cx="365760" cy="365760"/>
          </a:xfrm>
          <a:prstGeom prst="rect">
            <a:avLst/>
          </a:prstGeom>
          <a:noFill/>
          <a:ln>
            <a:noFill/>
          </a:ln>
        </p:spPr>
      </p:pic>
      <p:sp>
        <p:nvSpPr>
          <p:cNvPr id="47" name="Google Shape;47;p5"/>
          <p:cNvSpPr/>
          <p:nvPr/>
        </p:nvSpPr>
        <p:spPr>
          <a:xfrm>
            <a:off x="4846320" y="1554480"/>
            <a:ext cx="29718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استخدام إطار عمل بسيط</a:t>
            </a:r>
            <a:endParaRPr b="0" i="0" sz="1400" u="none" cap="none" strike="noStrike">
              <a:solidFill>
                <a:schemeClr val="dk1"/>
              </a:solidFill>
              <a:latin typeface="Calibri"/>
              <a:ea typeface="Calibri"/>
              <a:cs typeface="Calibri"/>
              <a:sym typeface="Calibri"/>
            </a:endParaRPr>
          </a:p>
        </p:txBody>
      </p:sp>
      <p:sp>
        <p:nvSpPr>
          <p:cNvPr id="48" name="Google Shape;48;p5"/>
          <p:cNvSpPr/>
          <p:nvPr/>
        </p:nvSpPr>
        <p:spPr>
          <a:xfrm>
            <a:off x="4846320" y="1938528"/>
            <a:ext cx="34290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ال</a:t>
            </a:r>
            <a:r>
              <a:rPr lang="en-US" sz="1100">
                <a:solidFill>
                  <a:srgbClr val="475569"/>
                </a:solidFill>
                <a:latin typeface="Cairo"/>
                <a:ea typeface="Cairo"/>
                <a:cs typeface="Cairo"/>
                <a:sym typeface="Cairo"/>
              </a:rPr>
              <a:t>دور</a:t>
            </a:r>
            <a:r>
              <a:rPr b="0" i="0" lang="en-US" sz="1100" u="none" cap="none" strike="noStrike">
                <a:solidFill>
                  <a:srgbClr val="475569"/>
                </a:solidFill>
                <a:latin typeface="Cairo"/>
                <a:ea typeface="Cairo"/>
                <a:cs typeface="Cairo"/>
                <a:sym typeface="Cairo"/>
              </a:rPr>
              <a:t>، السياق، ا</a:t>
            </a:r>
            <a:r>
              <a:rPr lang="en-US" sz="1100">
                <a:solidFill>
                  <a:srgbClr val="475569"/>
                </a:solidFill>
                <a:latin typeface="Cairo"/>
                <a:ea typeface="Cairo"/>
                <a:cs typeface="Cairo"/>
                <a:sym typeface="Cairo"/>
              </a:rPr>
              <a:t>لمهمة</a:t>
            </a:r>
            <a:r>
              <a:rPr b="0" i="0" lang="en-US" sz="1100" u="none" cap="none" strike="noStrike">
                <a:solidFill>
                  <a:srgbClr val="475569"/>
                </a:solidFill>
                <a:latin typeface="Cairo"/>
                <a:ea typeface="Cairo"/>
                <a:cs typeface="Cairo"/>
                <a:sym typeface="Cairo"/>
              </a:rPr>
              <a:t>، شكل الإجابة</a:t>
            </a:r>
            <a:endParaRPr b="0" i="0" sz="1100" u="none" cap="none" strike="noStrike">
              <a:solidFill>
                <a:schemeClr val="dk1"/>
              </a:solidFill>
              <a:latin typeface="Calibri"/>
              <a:ea typeface="Calibri"/>
              <a:cs typeface="Calibri"/>
              <a:sym typeface="Calibri"/>
            </a:endParaRPr>
          </a:p>
        </p:txBody>
      </p:sp>
      <p:sp>
        <p:nvSpPr>
          <p:cNvPr id="49" name="Google Shape;49;p5"/>
          <p:cNvSpPr/>
          <p:nvPr/>
        </p:nvSpPr>
        <p:spPr>
          <a:xfrm>
            <a:off x="457200" y="3017520"/>
            <a:ext cx="3886200" cy="1417320"/>
          </a:xfrm>
          <a:prstGeom prst="roundRect">
            <a:avLst>
              <a:gd fmla="val 5161"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bot_sky.png" id="50" name="Google Shape;50;p5"/>
          <p:cNvPicPr preferRelativeResize="0"/>
          <p:nvPr/>
        </p:nvPicPr>
        <p:blipFill rotWithShape="1">
          <a:blip r:embed="rId5">
            <a:alphaModFix/>
          </a:blip>
          <a:srcRect b="0" l="0" r="0" t="0"/>
          <a:stretch/>
        </p:blipFill>
        <p:spPr>
          <a:xfrm>
            <a:off x="3776472" y="3218688"/>
            <a:ext cx="365760" cy="365760"/>
          </a:xfrm>
          <a:prstGeom prst="rect">
            <a:avLst/>
          </a:prstGeom>
          <a:noFill/>
          <a:ln>
            <a:noFill/>
          </a:ln>
        </p:spPr>
      </p:pic>
      <p:sp>
        <p:nvSpPr>
          <p:cNvPr id="51" name="Google Shape;51;p5"/>
          <p:cNvSpPr/>
          <p:nvPr/>
        </p:nvSpPr>
        <p:spPr>
          <a:xfrm>
            <a:off x="685800" y="3200400"/>
            <a:ext cx="29718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فهم الوكلاء الأذكياء</a:t>
            </a:r>
            <a:endParaRPr b="0" i="0" sz="1400" u="none" cap="none" strike="noStrike">
              <a:solidFill>
                <a:schemeClr val="dk1"/>
              </a:solidFill>
              <a:latin typeface="Calibri"/>
              <a:ea typeface="Calibri"/>
              <a:cs typeface="Calibri"/>
              <a:sym typeface="Calibri"/>
            </a:endParaRPr>
          </a:p>
        </p:txBody>
      </p:sp>
      <p:sp>
        <p:nvSpPr>
          <p:cNvPr id="52" name="Google Shape;52;p5"/>
          <p:cNvSpPr/>
          <p:nvPr/>
        </p:nvSpPr>
        <p:spPr>
          <a:xfrm>
            <a:off x="685800" y="3584448"/>
            <a:ext cx="34290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الفرق بين أداة تجاوبك وأداة تعمل من أجلك</a:t>
            </a:r>
            <a:endParaRPr b="0" i="0" sz="1100" u="none" cap="none" strike="noStrike">
              <a:solidFill>
                <a:schemeClr val="dk1"/>
              </a:solidFill>
              <a:latin typeface="Calibri"/>
              <a:ea typeface="Calibri"/>
              <a:cs typeface="Calibri"/>
              <a:sym typeface="Calibri"/>
            </a:endParaRPr>
          </a:p>
        </p:txBody>
      </p:sp>
      <p:sp>
        <p:nvSpPr>
          <p:cNvPr id="53" name="Google Shape;53;p5"/>
          <p:cNvSpPr/>
          <p:nvPr/>
        </p:nvSpPr>
        <p:spPr>
          <a:xfrm>
            <a:off x="4617720" y="3017520"/>
            <a:ext cx="3886200" cy="1417320"/>
          </a:xfrm>
          <a:prstGeom prst="roundRect">
            <a:avLst>
              <a:gd fmla="val 5161"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ute_sky.png" id="54" name="Google Shape;54;p5"/>
          <p:cNvPicPr preferRelativeResize="0"/>
          <p:nvPr/>
        </p:nvPicPr>
        <p:blipFill rotWithShape="1">
          <a:blip r:embed="rId6">
            <a:alphaModFix/>
          </a:blip>
          <a:srcRect b="0" l="0" r="0" t="0"/>
          <a:stretch/>
        </p:blipFill>
        <p:spPr>
          <a:xfrm>
            <a:off x="7936992" y="3218688"/>
            <a:ext cx="365760" cy="365760"/>
          </a:xfrm>
          <a:prstGeom prst="rect">
            <a:avLst/>
          </a:prstGeom>
          <a:noFill/>
          <a:ln>
            <a:noFill/>
          </a:ln>
        </p:spPr>
      </p:pic>
      <p:sp>
        <p:nvSpPr>
          <p:cNvPr id="55" name="Google Shape;55;p5"/>
          <p:cNvSpPr/>
          <p:nvPr/>
        </p:nvSpPr>
        <p:spPr>
          <a:xfrm>
            <a:off x="4846320" y="3200400"/>
            <a:ext cx="29718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تجربة عملية حقيقية</a:t>
            </a:r>
            <a:endParaRPr b="0" i="0" sz="1400" u="none" cap="none" strike="noStrike">
              <a:solidFill>
                <a:schemeClr val="dk1"/>
              </a:solidFill>
              <a:latin typeface="Calibri"/>
              <a:ea typeface="Calibri"/>
              <a:cs typeface="Calibri"/>
              <a:sym typeface="Calibri"/>
            </a:endParaRPr>
          </a:p>
        </p:txBody>
      </p:sp>
      <p:sp>
        <p:nvSpPr>
          <p:cNvPr id="56" name="Google Shape;56;p5"/>
          <p:cNvSpPr/>
          <p:nvPr/>
        </p:nvSpPr>
        <p:spPr>
          <a:xfrm>
            <a:off x="4846320" y="3584448"/>
            <a:ext cx="34290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استخدام وكيل ذكي لتنفيذ مهمة كاملة بنفسك</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6"/>
          <p:cNvSpPr/>
          <p:nvPr/>
        </p:nvSpPr>
        <p:spPr>
          <a:xfrm>
            <a:off x="7040880" y="640080"/>
            <a:ext cx="822960" cy="822960"/>
          </a:xfrm>
          <a:prstGeom prst="ellipse">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7040880" y="6400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4C7"/>
              </a:buClr>
              <a:buSzPts val="2200"/>
              <a:buFont typeface="Cairo"/>
              <a:buNone/>
            </a:pPr>
            <a:r>
              <a:rPr b="1" i="0" lang="en-US" sz="2200" u="none" cap="none" strike="noStrike">
                <a:solidFill>
                  <a:srgbClr val="0284C7"/>
                </a:solidFill>
                <a:latin typeface="Cairo"/>
                <a:ea typeface="Cairo"/>
                <a:cs typeface="Cairo"/>
                <a:sym typeface="Cairo"/>
              </a:rPr>
              <a:t>01</a:t>
            </a:r>
            <a:endParaRPr b="0" i="0" sz="2200" u="none" cap="none" strike="noStrike">
              <a:solidFill>
                <a:schemeClr val="dk1"/>
              </a:solidFill>
              <a:latin typeface="Calibri"/>
              <a:ea typeface="Calibri"/>
              <a:cs typeface="Calibri"/>
              <a:sym typeface="Calibri"/>
            </a:endParaRPr>
          </a:p>
        </p:txBody>
      </p:sp>
      <p:cxnSp>
        <p:nvCxnSpPr>
          <p:cNvPr id="64" name="Google Shape;64;p6"/>
          <p:cNvCxnSpPr/>
          <p:nvPr/>
        </p:nvCxnSpPr>
        <p:spPr>
          <a:xfrm>
            <a:off x="6309360" y="2331720"/>
            <a:ext cx="1280160" cy="0"/>
          </a:xfrm>
          <a:prstGeom prst="straightConnector1">
            <a:avLst/>
          </a:prstGeom>
          <a:noFill/>
          <a:ln cap="flat" cmpd="sng" w="31750">
            <a:solidFill>
              <a:srgbClr val="EA580C"/>
            </a:solidFill>
            <a:prstDash val="solid"/>
            <a:round/>
            <a:headEnd len="sm" w="sm" type="none"/>
            <a:tailEnd len="sm" w="sm" type="none"/>
          </a:ln>
        </p:spPr>
      </p:cxnSp>
      <p:sp>
        <p:nvSpPr>
          <p:cNvPr id="65" name="Google Shape;65;p6"/>
          <p:cNvSpPr/>
          <p:nvPr/>
        </p:nvSpPr>
        <p:spPr>
          <a:xfrm>
            <a:off x="548640" y="2468880"/>
            <a:ext cx="7315200" cy="8229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3200"/>
              <a:buFont typeface="Cairo"/>
              <a:buNone/>
            </a:pPr>
            <a:r>
              <a:rPr b="1" i="0" lang="en-US" sz="3200" u="none" cap="none" strike="noStrike">
                <a:solidFill>
                  <a:srgbClr val="0F172A"/>
                </a:solidFill>
                <a:latin typeface="Cairo"/>
                <a:ea typeface="Cairo"/>
                <a:cs typeface="Cairo"/>
                <a:sym typeface="Cairo"/>
              </a:rPr>
              <a:t>ما الذي يصنع أمراً جيداً؟</a:t>
            </a:r>
            <a:endParaRPr b="0" i="0" sz="3200" u="none" cap="none" strike="noStrike">
              <a:solidFill>
                <a:schemeClr val="dk1"/>
              </a:solidFill>
              <a:latin typeface="Calibri"/>
              <a:ea typeface="Calibri"/>
              <a:cs typeface="Calibri"/>
              <a:sym typeface="Calibri"/>
            </a:endParaRPr>
          </a:p>
        </p:txBody>
      </p:sp>
      <p:sp>
        <p:nvSpPr>
          <p:cNvPr id="66" name="Google Shape;66;p6"/>
          <p:cNvSpPr/>
          <p:nvPr/>
        </p:nvSpPr>
        <p:spPr>
          <a:xfrm>
            <a:off x="548640" y="3246120"/>
            <a:ext cx="713232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b="0" i="0" lang="en-US" sz="1500" u="none" cap="none" strike="noStrike">
                <a:solidFill>
                  <a:srgbClr val="475569"/>
                </a:solidFill>
                <a:latin typeface="Cairo"/>
                <a:ea typeface="Cairo"/>
                <a:cs typeface="Cairo"/>
                <a:sym typeface="Cairo"/>
              </a:rPr>
              <a:t>لماذا تختلف نتائج الذكاء الاصطناعي من شخص لآخر؟</a:t>
            </a:r>
            <a:endParaRPr b="0" i="0" sz="1500" u="none" cap="none" strike="noStrike">
              <a:solidFill>
                <a:schemeClr val="dk1"/>
              </a:solidFill>
              <a:latin typeface="Calibri"/>
              <a:ea typeface="Calibri"/>
              <a:cs typeface="Calibri"/>
              <a:sym typeface="Calibri"/>
            </a:endParaRPr>
          </a:p>
        </p:txBody>
      </p:sp>
      <p:sp>
        <p:nvSpPr>
          <p:cNvPr id="67" name="Google Shape;67;p6"/>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7"/>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الأول: ما هو الأمر الجيد؟</a:t>
            </a:r>
            <a:endParaRPr b="0" i="0" sz="1100" u="none" cap="none" strike="noStrike">
              <a:solidFill>
                <a:schemeClr val="dk1"/>
              </a:solidFill>
              <a:latin typeface="Calibri"/>
              <a:ea typeface="Calibri"/>
              <a:cs typeface="Calibri"/>
              <a:sym typeface="Calibri"/>
            </a:endParaRPr>
          </a:p>
        </p:txBody>
      </p:sp>
      <p:sp>
        <p:nvSpPr>
          <p:cNvPr id="74" name="Google Shape;74;p7"/>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ما هو الأمر (Prompt)؟</a:t>
            </a:r>
            <a:endParaRPr b="0" i="0" sz="2600" u="none" cap="none" strike="noStrike">
              <a:solidFill>
                <a:schemeClr val="dk1"/>
              </a:solidFill>
              <a:latin typeface="Calibri"/>
              <a:ea typeface="Calibri"/>
              <a:cs typeface="Calibri"/>
              <a:sym typeface="Calibri"/>
            </a:endParaRPr>
          </a:p>
        </p:txBody>
      </p:sp>
      <p:sp>
        <p:nvSpPr>
          <p:cNvPr id="75" name="Google Shape;75;p7"/>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76" name="Google Shape;76;p7"/>
          <p:cNvSpPr/>
          <p:nvPr/>
        </p:nvSpPr>
        <p:spPr>
          <a:xfrm>
            <a:off x="457200" y="1280160"/>
            <a:ext cx="82296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b="1" i="0" lang="en-US" sz="1500" u="none" cap="none" strike="noStrike">
                <a:solidFill>
                  <a:srgbClr val="475569"/>
                </a:solidFill>
                <a:latin typeface="Cairo"/>
                <a:ea typeface="Cairo"/>
                <a:cs typeface="Cairo"/>
                <a:sym typeface="Cairo"/>
              </a:rPr>
              <a:t>الأمر هو الجملة التي نكتبها للذكاء الاصطناعي لنطلب منه شيئاً.</a:t>
            </a:r>
            <a:endParaRPr b="0" i="0" sz="1500" u="none" cap="none" strike="noStrike">
              <a:solidFill>
                <a:schemeClr val="dk1"/>
              </a:solidFill>
              <a:latin typeface="Calibri"/>
              <a:ea typeface="Calibri"/>
              <a:cs typeface="Calibri"/>
              <a:sym typeface="Calibri"/>
            </a:endParaRPr>
          </a:p>
        </p:txBody>
      </p:sp>
      <p:sp>
        <p:nvSpPr>
          <p:cNvPr id="77" name="Google Shape;77;p7"/>
          <p:cNvSpPr/>
          <p:nvPr/>
        </p:nvSpPr>
        <p:spPr>
          <a:xfrm>
            <a:off x="457200" y="1828800"/>
            <a:ext cx="3931920" cy="2377440"/>
          </a:xfrm>
          <a:prstGeom prst="roundRect">
            <a:avLst>
              <a:gd fmla="val 3077" name="adj"/>
            </a:avLst>
          </a:prstGeom>
          <a:solidFill>
            <a:srgbClr val="E0F2FE"/>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t_sky.png" id="78" name="Google Shape;78;p7"/>
          <p:cNvPicPr preferRelativeResize="0"/>
          <p:nvPr/>
        </p:nvPicPr>
        <p:blipFill rotWithShape="1">
          <a:blip r:embed="rId3">
            <a:alphaModFix/>
          </a:blip>
          <a:srcRect b="0" l="0" r="0" t="0"/>
          <a:stretch/>
        </p:blipFill>
        <p:spPr>
          <a:xfrm>
            <a:off x="3822192" y="2029968"/>
            <a:ext cx="365760" cy="365760"/>
          </a:xfrm>
          <a:prstGeom prst="rect">
            <a:avLst/>
          </a:prstGeom>
          <a:noFill/>
          <a:ln>
            <a:noFill/>
          </a:ln>
        </p:spPr>
      </p:pic>
      <p:sp>
        <p:nvSpPr>
          <p:cNvPr id="79" name="Google Shape;79;p7"/>
          <p:cNvSpPr/>
          <p:nvPr/>
        </p:nvSpPr>
        <p:spPr>
          <a:xfrm>
            <a:off x="685800" y="2011680"/>
            <a:ext cx="301752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الذكاء الاصطناعي لا يقرأ نيتك</a:t>
            </a:r>
            <a:endParaRPr b="0" i="0" sz="1400" u="none" cap="none" strike="noStrike">
              <a:solidFill>
                <a:schemeClr val="dk1"/>
              </a:solidFill>
              <a:latin typeface="Calibri"/>
              <a:ea typeface="Calibri"/>
              <a:cs typeface="Calibri"/>
              <a:sym typeface="Calibri"/>
            </a:endParaRPr>
          </a:p>
        </p:txBody>
      </p:sp>
      <p:sp>
        <p:nvSpPr>
          <p:cNvPr id="80" name="Google Shape;80;p7"/>
          <p:cNvSpPr/>
          <p:nvPr/>
        </p:nvSpPr>
        <p:spPr>
          <a:xfrm>
            <a:off x="685800" y="2595050"/>
            <a:ext cx="3474600" cy="14466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يستجيب فقط لما هو مكتوب أمامه فعلياً. كل ما لم تذكره، هو ببساطة لا يعرفه.</a:t>
            </a:r>
            <a:endParaRPr b="0" i="0" sz="1100" u="none" cap="none" strike="noStrike">
              <a:solidFill>
                <a:schemeClr val="dk1"/>
              </a:solidFill>
              <a:latin typeface="Calibri"/>
              <a:ea typeface="Calibri"/>
              <a:cs typeface="Calibri"/>
              <a:sym typeface="Calibri"/>
            </a:endParaRPr>
          </a:p>
        </p:txBody>
      </p:sp>
      <p:sp>
        <p:nvSpPr>
          <p:cNvPr id="81" name="Google Shape;81;p7"/>
          <p:cNvSpPr/>
          <p:nvPr/>
        </p:nvSpPr>
        <p:spPr>
          <a:xfrm>
            <a:off x="4572000" y="1828800"/>
            <a:ext cx="4114800" cy="2377440"/>
          </a:xfrm>
          <a:prstGeom prst="roundRect">
            <a:avLst>
              <a:gd fmla="val 3077"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magic_sky.png" id="82" name="Google Shape;82;p7"/>
          <p:cNvPicPr preferRelativeResize="0"/>
          <p:nvPr/>
        </p:nvPicPr>
        <p:blipFill rotWithShape="1">
          <a:blip r:embed="rId4">
            <a:alphaModFix/>
          </a:blip>
          <a:srcRect b="0" l="0" r="0" t="0"/>
          <a:stretch/>
        </p:blipFill>
        <p:spPr>
          <a:xfrm>
            <a:off x="8119872" y="2029968"/>
            <a:ext cx="365760" cy="365760"/>
          </a:xfrm>
          <a:prstGeom prst="rect">
            <a:avLst/>
          </a:prstGeom>
          <a:noFill/>
          <a:ln>
            <a:noFill/>
          </a:ln>
        </p:spPr>
      </p:pic>
      <p:sp>
        <p:nvSpPr>
          <p:cNvPr id="83" name="Google Shape;83;p7"/>
          <p:cNvSpPr/>
          <p:nvPr/>
        </p:nvSpPr>
        <p:spPr>
          <a:xfrm>
            <a:off x="4800600" y="2011680"/>
            <a:ext cx="32004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تشبيه: الطبّاخ الماهر</a:t>
            </a:r>
            <a:endParaRPr b="0" i="0" sz="1400" u="none" cap="none" strike="noStrike">
              <a:solidFill>
                <a:schemeClr val="dk1"/>
              </a:solidFill>
              <a:latin typeface="Calibri"/>
              <a:ea typeface="Calibri"/>
              <a:cs typeface="Calibri"/>
              <a:sym typeface="Calibri"/>
            </a:endParaRPr>
          </a:p>
        </p:txBody>
      </p:sp>
      <p:sp>
        <p:nvSpPr>
          <p:cNvPr id="84" name="Google Shape;84;p7"/>
          <p:cNvSpPr/>
          <p:nvPr/>
        </p:nvSpPr>
        <p:spPr>
          <a:xfrm>
            <a:off x="4800600" y="2595150"/>
            <a:ext cx="3657600" cy="14466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لو قلت له "سوّ لي أكل" سيعطيك أي شيء. لو حددت نوع الوجبة والوقت والقيود، ستحصل على ما تريد فعلاً. نفس الطبّاخ، لكن الطلب اختلف.</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8"/>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الأول: ما هو الأمر الجيد؟</a:t>
            </a:r>
            <a:endParaRPr b="0" i="0" sz="1100" u="none" cap="none" strike="noStrike">
              <a:solidFill>
                <a:schemeClr val="dk1"/>
              </a:solidFill>
              <a:latin typeface="Calibri"/>
              <a:ea typeface="Calibri"/>
              <a:cs typeface="Calibri"/>
              <a:sym typeface="Calibri"/>
            </a:endParaRPr>
          </a:p>
        </p:txBody>
      </p:sp>
      <p:sp>
        <p:nvSpPr>
          <p:cNvPr id="91" name="Google Shape;91;p8"/>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لماذا يحصل البعض على نتائج أفضل؟</a:t>
            </a:r>
            <a:endParaRPr b="0" i="0" sz="2600" u="none" cap="none" strike="noStrike">
              <a:solidFill>
                <a:schemeClr val="dk1"/>
              </a:solidFill>
              <a:latin typeface="Calibri"/>
              <a:ea typeface="Calibri"/>
              <a:cs typeface="Calibri"/>
              <a:sym typeface="Calibri"/>
            </a:endParaRPr>
          </a:p>
        </p:txBody>
      </p:sp>
      <p:sp>
        <p:nvSpPr>
          <p:cNvPr id="92" name="Google Shape;92;p8"/>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93" name="Google Shape;93;p8"/>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نفس الأداة، نفس النموذج، لكن نتائج مختلفة تماماً. السبب غالباً: جودة السؤال نفسه.</a:t>
            </a:r>
            <a:endParaRPr b="0" i="0" sz="1300" u="none" cap="none" strike="noStrike">
              <a:solidFill>
                <a:schemeClr val="dk1"/>
              </a:solidFill>
              <a:latin typeface="Calibri"/>
              <a:ea typeface="Calibri"/>
              <a:cs typeface="Calibri"/>
              <a:sym typeface="Calibri"/>
            </a:endParaRPr>
          </a:p>
        </p:txBody>
      </p:sp>
      <p:sp>
        <p:nvSpPr>
          <p:cNvPr id="94" name="Google Shape;94;p8"/>
          <p:cNvSpPr/>
          <p:nvPr/>
        </p:nvSpPr>
        <p:spPr>
          <a:xfrm>
            <a:off x="457200" y="1783080"/>
            <a:ext cx="1938528" cy="2377440"/>
          </a:xfrm>
          <a:prstGeom prst="roundRect">
            <a:avLst>
              <a:gd fmla="val 3774"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question_orange.png" id="95" name="Google Shape;95;p8"/>
          <p:cNvPicPr preferRelativeResize="0"/>
          <p:nvPr/>
        </p:nvPicPr>
        <p:blipFill rotWithShape="1">
          <a:blip r:embed="rId3">
            <a:alphaModFix/>
          </a:blip>
          <a:srcRect b="0" l="0" r="0" t="0"/>
          <a:stretch/>
        </p:blipFill>
        <p:spPr>
          <a:xfrm>
            <a:off x="1828800" y="1984248"/>
            <a:ext cx="365760" cy="365760"/>
          </a:xfrm>
          <a:prstGeom prst="rect">
            <a:avLst/>
          </a:prstGeom>
          <a:noFill/>
          <a:ln>
            <a:noFill/>
          </a:ln>
        </p:spPr>
      </p:pic>
      <p:sp>
        <p:nvSpPr>
          <p:cNvPr id="96" name="Google Shape;96;p8"/>
          <p:cNvSpPr/>
          <p:nvPr/>
        </p:nvSpPr>
        <p:spPr>
          <a:xfrm>
            <a:off x="685800" y="1965960"/>
            <a:ext cx="1024128"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هدف غير واضح</a:t>
            </a:r>
            <a:endParaRPr b="0" i="0" sz="1400" u="none" cap="none" strike="noStrike">
              <a:solidFill>
                <a:schemeClr val="dk1"/>
              </a:solidFill>
              <a:latin typeface="Calibri"/>
              <a:ea typeface="Calibri"/>
              <a:cs typeface="Calibri"/>
              <a:sym typeface="Calibri"/>
            </a:endParaRPr>
          </a:p>
        </p:txBody>
      </p:sp>
      <p:sp>
        <p:nvSpPr>
          <p:cNvPr id="97" name="Google Shape;97;p8"/>
          <p:cNvSpPr/>
          <p:nvPr/>
        </p:nvSpPr>
        <p:spPr>
          <a:xfrm>
            <a:off x="685800" y="2516925"/>
            <a:ext cx="1481400" cy="1479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الطالب نفسه لا يعرف ماذا يريد بالضبط</a:t>
            </a:r>
            <a:endParaRPr b="0" i="0" sz="1100" u="none" cap="none" strike="noStrike">
              <a:solidFill>
                <a:schemeClr val="dk1"/>
              </a:solidFill>
              <a:latin typeface="Calibri"/>
              <a:ea typeface="Calibri"/>
              <a:cs typeface="Calibri"/>
              <a:sym typeface="Calibri"/>
            </a:endParaRPr>
          </a:p>
        </p:txBody>
      </p:sp>
      <p:sp>
        <p:nvSpPr>
          <p:cNvPr id="98" name="Google Shape;98;p8"/>
          <p:cNvSpPr/>
          <p:nvPr/>
        </p:nvSpPr>
        <p:spPr>
          <a:xfrm>
            <a:off x="2505456" y="1783080"/>
            <a:ext cx="1938528" cy="2377440"/>
          </a:xfrm>
          <a:prstGeom prst="roundRect">
            <a:avLst>
              <a:gd fmla="val 3774"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ntext_orange.png" id="99" name="Google Shape;99;p8"/>
          <p:cNvPicPr preferRelativeResize="0"/>
          <p:nvPr/>
        </p:nvPicPr>
        <p:blipFill rotWithShape="1">
          <a:blip r:embed="rId4">
            <a:alphaModFix/>
          </a:blip>
          <a:srcRect b="0" l="0" r="0" t="0"/>
          <a:stretch/>
        </p:blipFill>
        <p:spPr>
          <a:xfrm>
            <a:off x="3877056" y="1984248"/>
            <a:ext cx="365760" cy="365760"/>
          </a:xfrm>
          <a:prstGeom prst="rect">
            <a:avLst/>
          </a:prstGeom>
          <a:noFill/>
          <a:ln>
            <a:noFill/>
          </a:ln>
        </p:spPr>
      </p:pic>
      <p:sp>
        <p:nvSpPr>
          <p:cNvPr id="100" name="Google Shape;100;p8"/>
          <p:cNvSpPr/>
          <p:nvPr/>
        </p:nvSpPr>
        <p:spPr>
          <a:xfrm>
            <a:off x="2734056" y="1965960"/>
            <a:ext cx="1024128"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غياب السياق</a:t>
            </a:r>
            <a:endParaRPr b="0" i="0" sz="1400" u="none" cap="none" strike="noStrike">
              <a:solidFill>
                <a:schemeClr val="dk1"/>
              </a:solidFill>
              <a:latin typeface="Calibri"/>
              <a:ea typeface="Calibri"/>
              <a:cs typeface="Calibri"/>
              <a:sym typeface="Calibri"/>
            </a:endParaRPr>
          </a:p>
        </p:txBody>
      </p:sp>
      <p:sp>
        <p:nvSpPr>
          <p:cNvPr id="101" name="Google Shape;101;p8"/>
          <p:cNvSpPr/>
          <p:nvPr/>
        </p:nvSpPr>
        <p:spPr>
          <a:xfrm>
            <a:off x="2734050" y="2516925"/>
            <a:ext cx="1481400" cy="1479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معلومات مهمة افترضها "معروفة" تلقائياً</a:t>
            </a:r>
            <a:endParaRPr b="0" i="0" sz="1100" u="none" cap="none" strike="noStrike">
              <a:solidFill>
                <a:schemeClr val="dk1"/>
              </a:solidFill>
              <a:latin typeface="Calibri"/>
              <a:ea typeface="Calibri"/>
              <a:cs typeface="Calibri"/>
              <a:sym typeface="Calibri"/>
            </a:endParaRPr>
          </a:p>
        </p:txBody>
      </p:sp>
      <p:sp>
        <p:nvSpPr>
          <p:cNvPr id="102" name="Google Shape;102;p8"/>
          <p:cNvSpPr/>
          <p:nvPr/>
        </p:nvSpPr>
        <p:spPr>
          <a:xfrm>
            <a:off x="4553712" y="1783080"/>
            <a:ext cx="1938528" cy="2377440"/>
          </a:xfrm>
          <a:prstGeom prst="roundRect">
            <a:avLst>
              <a:gd fmla="val 3774"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nstraints_orange.png" id="103" name="Google Shape;103;p8"/>
          <p:cNvPicPr preferRelativeResize="0"/>
          <p:nvPr/>
        </p:nvPicPr>
        <p:blipFill rotWithShape="1">
          <a:blip r:embed="rId5">
            <a:alphaModFix/>
          </a:blip>
          <a:srcRect b="0" l="0" r="0" t="0"/>
          <a:stretch/>
        </p:blipFill>
        <p:spPr>
          <a:xfrm>
            <a:off x="5925312" y="1984248"/>
            <a:ext cx="365760" cy="365760"/>
          </a:xfrm>
          <a:prstGeom prst="rect">
            <a:avLst/>
          </a:prstGeom>
          <a:noFill/>
          <a:ln>
            <a:noFill/>
          </a:ln>
        </p:spPr>
      </p:pic>
      <p:sp>
        <p:nvSpPr>
          <p:cNvPr id="104" name="Google Shape;104;p8"/>
          <p:cNvSpPr/>
          <p:nvPr/>
        </p:nvSpPr>
        <p:spPr>
          <a:xfrm>
            <a:off x="4782312" y="1965960"/>
            <a:ext cx="1024128"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بدون قيود</a:t>
            </a:r>
            <a:endParaRPr b="0" i="0" sz="1400" u="none" cap="none" strike="noStrike">
              <a:solidFill>
                <a:schemeClr val="dk1"/>
              </a:solidFill>
              <a:latin typeface="Calibri"/>
              <a:ea typeface="Calibri"/>
              <a:cs typeface="Calibri"/>
              <a:sym typeface="Calibri"/>
            </a:endParaRPr>
          </a:p>
        </p:txBody>
      </p:sp>
      <p:sp>
        <p:nvSpPr>
          <p:cNvPr id="105" name="Google Shape;105;p8"/>
          <p:cNvSpPr/>
          <p:nvPr/>
        </p:nvSpPr>
        <p:spPr>
          <a:xfrm>
            <a:off x="4782300" y="2516925"/>
            <a:ext cx="1481400" cy="1479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لم يذكر الوقت أو المستوى أو الطول</a:t>
            </a:r>
            <a:endParaRPr b="0" i="0" sz="1100" u="none" cap="none" strike="noStrike">
              <a:solidFill>
                <a:schemeClr val="dk1"/>
              </a:solidFill>
              <a:latin typeface="Calibri"/>
              <a:ea typeface="Calibri"/>
              <a:cs typeface="Calibri"/>
              <a:sym typeface="Calibri"/>
            </a:endParaRPr>
          </a:p>
        </p:txBody>
      </p:sp>
      <p:sp>
        <p:nvSpPr>
          <p:cNvPr id="106" name="Google Shape;106;p8"/>
          <p:cNvSpPr/>
          <p:nvPr/>
        </p:nvSpPr>
        <p:spPr>
          <a:xfrm>
            <a:off x="6601968" y="1783080"/>
            <a:ext cx="1938528" cy="2377440"/>
          </a:xfrm>
          <a:prstGeom prst="roundRect">
            <a:avLst>
              <a:gd fmla="val 3774"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ormat_orange.png" id="107" name="Google Shape;107;p8"/>
          <p:cNvPicPr preferRelativeResize="0"/>
          <p:nvPr/>
        </p:nvPicPr>
        <p:blipFill rotWithShape="1">
          <a:blip r:embed="rId6">
            <a:alphaModFix/>
          </a:blip>
          <a:srcRect b="0" l="0" r="0" t="0"/>
          <a:stretch/>
        </p:blipFill>
        <p:spPr>
          <a:xfrm>
            <a:off x="7973568" y="1984248"/>
            <a:ext cx="365760" cy="365760"/>
          </a:xfrm>
          <a:prstGeom prst="rect">
            <a:avLst/>
          </a:prstGeom>
          <a:noFill/>
          <a:ln>
            <a:noFill/>
          </a:ln>
        </p:spPr>
      </p:pic>
      <p:sp>
        <p:nvSpPr>
          <p:cNvPr id="108" name="Google Shape;108;p8"/>
          <p:cNvSpPr/>
          <p:nvPr/>
        </p:nvSpPr>
        <p:spPr>
          <a:xfrm>
            <a:off x="6830568" y="1965960"/>
            <a:ext cx="1024128"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شكل غير محدد</a:t>
            </a:r>
            <a:endParaRPr b="0" i="0" sz="1400" u="none" cap="none" strike="noStrike">
              <a:solidFill>
                <a:schemeClr val="dk1"/>
              </a:solidFill>
              <a:latin typeface="Calibri"/>
              <a:ea typeface="Calibri"/>
              <a:cs typeface="Calibri"/>
              <a:sym typeface="Calibri"/>
            </a:endParaRPr>
          </a:p>
        </p:txBody>
      </p:sp>
      <p:sp>
        <p:nvSpPr>
          <p:cNvPr id="109" name="Google Shape;109;p8"/>
          <p:cNvSpPr/>
          <p:nvPr/>
        </p:nvSpPr>
        <p:spPr>
          <a:xfrm>
            <a:off x="6830575" y="2516800"/>
            <a:ext cx="1481400" cy="1479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طلب "معلومات" بدل جدول أو نقاط</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9"/>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الأول: ما هو الأمر الجيد؟</a:t>
            </a:r>
            <a:endParaRPr b="0" i="0" sz="1100" u="none" cap="none" strike="noStrike">
              <a:solidFill>
                <a:schemeClr val="dk1"/>
              </a:solidFill>
              <a:latin typeface="Calibri"/>
              <a:ea typeface="Calibri"/>
              <a:cs typeface="Calibri"/>
              <a:sym typeface="Calibri"/>
            </a:endParaRPr>
          </a:p>
        </p:txBody>
      </p:sp>
      <p:sp>
        <p:nvSpPr>
          <p:cNvPr id="116" name="Google Shape;116;p9"/>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أمر ضعيف مقابل أمر محسّن</a:t>
            </a:r>
            <a:endParaRPr b="0" i="0" sz="2600" u="none" cap="none" strike="noStrike">
              <a:solidFill>
                <a:schemeClr val="dk1"/>
              </a:solidFill>
              <a:latin typeface="Calibri"/>
              <a:ea typeface="Calibri"/>
              <a:cs typeface="Calibri"/>
              <a:sym typeface="Calibri"/>
            </a:endParaRPr>
          </a:p>
        </p:txBody>
      </p:sp>
      <p:sp>
        <p:nvSpPr>
          <p:cNvPr id="117" name="Google Shape;117;p9"/>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graphicFrame>
        <p:nvGraphicFramePr>
          <p:cNvPr id="118" name="Google Shape;118;p9"/>
          <p:cNvGraphicFramePr/>
          <p:nvPr/>
        </p:nvGraphicFramePr>
        <p:xfrm>
          <a:off x="457200" y="1371600"/>
          <a:ext cx="3000000" cy="3000000"/>
        </p:xfrm>
        <a:graphic>
          <a:graphicData uri="http://schemas.openxmlformats.org/drawingml/2006/table">
            <a:tbl>
              <a:tblPr>
                <a:noFill/>
                <a:tableStyleId>{6ABD01A6-4E11-4249-9B88-50B7CE4EA520}</a:tableStyleId>
              </a:tblPr>
              <a:tblGrid>
                <a:gridCol w="3835025"/>
                <a:gridCol w="2415425"/>
                <a:gridCol w="1979150"/>
              </a:tblGrid>
              <a:tr h="777250">
                <a:tc>
                  <a:txBody>
                    <a:bodyPr/>
                    <a:lstStyle/>
                    <a:p>
                      <a:pPr indent="0" lvl="0" marL="0" marR="0" rtl="1" algn="r">
                        <a:spcBef>
                          <a:spcPts val="0"/>
                        </a:spcBef>
                        <a:spcAft>
                          <a:spcPts val="0"/>
                        </a:spcAft>
                        <a:buClr>
                          <a:srgbClr val="FFFFFF"/>
                        </a:buClr>
                        <a:buSzPts val="1200"/>
                        <a:buFont typeface="Cairo"/>
                        <a:buNone/>
                      </a:pPr>
                      <a:r>
                        <a:rPr b="1" lang="en-US" sz="1200" u="none" cap="none" strike="noStrike">
                          <a:solidFill>
                            <a:srgbClr val="FFFFFF"/>
                          </a:solidFill>
                          <a:latin typeface="Cairo"/>
                          <a:ea typeface="Cairo"/>
                          <a:cs typeface="Cairo"/>
                          <a:sym typeface="Cairo"/>
                        </a:rPr>
                        <a:t>أمر محسّن</a:t>
                      </a:r>
                      <a:endParaRPr b="1" sz="1200" u="none" cap="none" strike="noStrike">
                        <a:solidFill>
                          <a:srgbClr val="FFFFFF"/>
                        </a:solidFill>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c>
                  <a:txBody>
                    <a:bodyPr/>
                    <a:lstStyle/>
                    <a:p>
                      <a:pPr indent="0" lvl="0" marL="0" marR="0" rtl="1" algn="r">
                        <a:spcBef>
                          <a:spcPts val="0"/>
                        </a:spcBef>
                        <a:spcAft>
                          <a:spcPts val="0"/>
                        </a:spcAft>
                        <a:buClr>
                          <a:srgbClr val="FFFFFF"/>
                        </a:buClr>
                        <a:buSzPts val="1200"/>
                        <a:buFont typeface="Cairo"/>
                        <a:buNone/>
                      </a:pPr>
                      <a:r>
                        <a:rPr b="1" lang="en-US" sz="1200" u="none" cap="none" strike="noStrike">
                          <a:solidFill>
                            <a:srgbClr val="FFFFFF"/>
                          </a:solidFill>
                          <a:latin typeface="Cairo"/>
                          <a:ea typeface="Cairo"/>
                          <a:cs typeface="Cairo"/>
                          <a:sym typeface="Cairo"/>
                        </a:rPr>
                        <a:t>أمر ضعيف</a:t>
                      </a:r>
                      <a:endParaRPr sz="1200" u="none" cap="none" strike="noStrike">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c>
                  <a:txBody>
                    <a:bodyPr/>
                    <a:lstStyle/>
                    <a:p>
                      <a:pPr indent="0" lvl="0" marL="0" marR="0" rtl="1" algn="r">
                        <a:spcBef>
                          <a:spcPts val="0"/>
                        </a:spcBef>
                        <a:spcAft>
                          <a:spcPts val="0"/>
                        </a:spcAft>
                        <a:buClr>
                          <a:srgbClr val="FFFFFF"/>
                        </a:buClr>
                        <a:buSzPts val="1200"/>
                        <a:buFont typeface="Cairo"/>
                        <a:buNone/>
                      </a:pPr>
                      <a:r>
                        <a:rPr b="1" lang="en-US" sz="1200" u="none" cap="none" strike="noStrike">
                          <a:solidFill>
                            <a:srgbClr val="FFFFFF"/>
                          </a:solidFill>
                          <a:latin typeface="Cairo"/>
                          <a:ea typeface="Cairo"/>
                          <a:cs typeface="Cairo"/>
                          <a:sym typeface="Cairo"/>
                        </a:rPr>
                        <a:t>الموقف</a:t>
                      </a:r>
                      <a:endParaRPr sz="1200" u="none" cap="none" strike="noStrike">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r>
              <a:tr h="777250">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اشرح "شدة التيار" لطالب أول ثانوي، بمثال يومي، في ١٠ أسطر</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اشرح لي الكهرباء</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مساعدة دراسية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777250">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خطة مذاكرة أحياء، أسبوعين، ساعة يومياً، كجدول أيام</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سوّ لي خطة مذاكرة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خطة دراسة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777250">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٥ تمارين كرة قدم في البيت، بدون أدوات، من الأسهل للأصعب</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كيف أصير لاعب أفضل</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رياضة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10"/>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الأول: فن كتابة التعليمات</a:t>
            </a:r>
            <a:endParaRPr b="0" i="0" sz="1100" u="none" cap="none" strike="noStrike">
              <a:solidFill>
                <a:schemeClr val="dk1"/>
              </a:solidFill>
              <a:latin typeface="Calibri"/>
              <a:ea typeface="Calibri"/>
              <a:cs typeface="Calibri"/>
              <a:sym typeface="Calibri"/>
            </a:endParaRPr>
          </a:p>
        </p:txBody>
      </p:sp>
      <p:sp>
        <p:nvSpPr>
          <p:cNvPr id="125" name="Google Shape;125;p10"/>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سريع — ما الناقص؟</a:t>
            </a:r>
            <a:endParaRPr b="0" i="0" sz="2600" u="none" cap="none" strike="noStrike">
              <a:solidFill>
                <a:schemeClr val="dk1"/>
              </a:solidFill>
              <a:latin typeface="Calibri"/>
              <a:ea typeface="Calibri"/>
              <a:cs typeface="Calibri"/>
              <a:sym typeface="Calibri"/>
            </a:endParaRPr>
          </a:p>
        </p:txBody>
      </p:sp>
      <p:sp>
        <p:nvSpPr>
          <p:cNvPr id="126" name="Google Shape;126;p10"/>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127" name="Google Shape;127;p10"/>
          <p:cNvSpPr/>
          <p:nvPr/>
        </p:nvSpPr>
        <p:spPr>
          <a:xfrm>
            <a:off x="457200" y="1261872"/>
            <a:ext cx="8229600" cy="475500"/>
          </a:xfrm>
          <a:prstGeom prst="roundRect">
            <a:avLst>
              <a:gd fmla="val 11538"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p:cNvSpPr/>
          <p:nvPr/>
        </p:nvSpPr>
        <p:spPr>
          <a:xfrm>
            <a:off x="457200" y="1261872"/>
            <a:ext cx="8229600" cy="4755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٥ دقائق · فردي · فكّر ثم شارك</a:t>
            </a:r>
            <a:endParaRPr b="0" i="0" sz="1200" u="none" cap="none" strike="noStrike">
              <a:solidFill>
                <a:schemeClr val="dk1"/>
              </a:solidFill>
              <a:latin typeface="Calibri"/>
              <a:ea typeface="Calibri"/>
              <a:cs typeface="Calibri"/>
              <a:sym typeface="Calibri"/>
            </a:endParaRPr>
          </a:p>
        </p:txBody>
      </p:sp>
      <p:sp>
        <p:nvSpPr>
          <p:cNvPr id="129" name="Google Shape;129;p10"/>
          <p:cNvSpPr/>
          <p:nvPr/>
        </p:nvSpPr>
        <p:spPr>
          <a:xfrm>
            <a:off x="457200" y="1920240"/>
            <a:ext cx="8229600" cy="457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600"/>
              <a:buFont typeface="Cairo"/>
              <a:buNone/>
            </a:pPr>
            <a:r>
              <a:rPr b="1" i="0" lang="en-US" sz="1600" u="none" cap="none" strike="noStrike">
                <a:solidFill>
                  <a:srgbClr val="0F172A"/>
                </a:solidFill>
                <a:latin typeface="Cairo"/>
                <a:ea typeface="Cairo"/>
                <a:cs typeface="Cairo"/>
                <a:sym typeface="Cairo"/>
              </a:rPr>
              <a:t>الأمر التالي: «اكتب لي شيئاً عن الرياضة»</a:t>
            </a:r>
            <a:endParaRPr b="0" i="0" sz="1600" u="none" cap="none" strike="noStrike">
              <a:solidFill>
                <a:schemeClr val="dk1"/>
              </a:solidFill>
              <a:latin typeface="Calibri"/>
              <a:ea typeface="Calibri"/>
              <a:cs typeface="Calibri"/>
              <a:sym typeface="Calibri"/>
            </a:endParaRPr>
          </a:p>
        </p:txBody>
      </p:sp>
      <p:sp>
        <p:nvSpPr>
          <p:cNvPr id="130" name="Google Shape;130;p10"/>
          <p:cNvSpPr/>
          <p:nvPr/>
        </p:nvSpPr>
        <p:spPr>
          <a:xfrm>
            <a:off x="457200" y="2487168"/>
            <a:ext cx="8229600" cy="4116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اكتب ثلاثة أسئلة كنت ستسأل كاتب هذا الأمر قبل أن تبدأ في تنفيذه.</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1"/>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الأول: فن كتابة التعليمات</a:t>
            </a:r>
            <a:endParaRPr b="0" i="0" sz="1100" u="none" cap="none" strike="noStrike">
              <a:solidFill>
                <a:schemeClr val="dk1"/>
              </a:solidFill>
              <a:latin typeface="Calibri"/>
              <a:ea typeface="Calibri"/>
              <a:cs typeface="Calibri"/>
              <a:sym typeface="Calibri"/>
            </a:endParaRPr>
          </a:p>
        </p:txBody>
      </p:sp>
      <p:sp>
        <p:nvSpPr>
          <p:cNvPr id="137" name="Google Shape;137;p11"/>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سريع — ما الناقص؟</a:t>
            </a:r>
            <a:endParaRPr b="0" i="0" sz="2600" u="none" cap="none" strike="noStrike">
              <a:solidFill>
                <a:schemeClr val="dk1"/>
              </a:solidFill>
              <a:latin typeface="Calibri"/>
              <a:ea typeface="Calibri"/>
              <a:cs typeface="Calibri"/>
              <a:sym typeface="Calibri"/>
            </a:endParaRPr>
          </a:p>
        </p:txBody>
      </p:sp>
      <p:sp>
        <p:nvSpPr>
          <p:cNvPr id="138" name="Google Shape;138;p11"/>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139" name="Google Shape;139;p11"/>
          <p:cNvSpPr/>
          <p:nvPr/>
        </p:nvSpPr>
        <p:spPr>
          <a:xfrm>
            <a:off x="457200" y="1261872"/>
            <a:ext cx="8229600" cy="475500"/>
          </a:xfrm>
          <a:prstGeom prst="roundRect">
            <a:avLst>
              <a:gd fmla="val 11538"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
          <p:cNvSpPr/>
          <p:nvPr/>
        </p:nvSpPr>
        <p:spPr>
          <a:xfrm>
            <a:off x="457200" y="1261872"/>
            <a:ext cx="8229600" cy="4755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٥ دقائق · فردي · فكّر ثم شارك</a:t>
            </a:r>
            <a:endParaRPr b="0" i="0" sz="1200" u="none" cap="none" strike="noStrike">
              <a:solidFill>
                <a:schemeClr val="dk1"/>
              </a:solidFill>
              <a:latin typeface="Calibri"/>
              <a:ea typeface="Calibri"/>
              <a:cs typeface="Calibri"/>
              <a:sym typeface="Calibri"/>
            </a:endParaRPr>
          </a:p>
        </p:txBody>
      </p:sp>
      <p:sp>
        <p:nvSpPr>
          <p:cNvPr id="141" name="Google Shape;141;p11"/>
          <p:cNvSpPr/>
          <p:nvPr/>
        </p:nvSpPr>
        <p:spPr>
          <a:xfrm>
            <a:off x="457200" y="1920240"/>
            <a:ext cx="8229600" cy="457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600"/>
              <a:buFont typeface="Cairo"/>
              <a:buNone/>
            </a:pPr>
            <a:r>
              <a:rPr b="1" i="0" lang="en-US" sz="1600" u="none" cap="none" strike="noStrike">
                <a:solidFill>
                  <a:srgbClr val="0F172A"/>
                </a:solidFill>
                <a:latin typeface="Cairo"/>
                <a:ea typeface="Cairo"/>
                <a:cs typeface="Cairo"/>
                <a:sym typeface="Cairo"/>
              </a:rPr>
              <a:t>الأمر التالي: «اكتب لي شيئاً عن الرياضة»</a:t>
            </a:r>
            <a:endParaRPr b="0" i="0" sz="1600" u="none" cap="none" strike="noStrike">
              <a:solidFill>
                <a:schemeClr val="dk1"/>
              </a:solidFill>
              <a:latin typeface="Calibri"/>
              <a:ea typeface="Calibri"/>
              <a:cs typeface="Calibri"/>
              <a:sym typeface="Calibri"/>
            </a:endParaRPr>
          </a:p>
        </p:txBody>
      </p:sp>
      <p:sp>
        <p:nvSpPr>
          <p:cNvPr id="142" name="Google Shape;142;p11"/>
          <p:cNvSpPr/>
          <p:nvPr/>
        </p:nvSpPr>
        <p:spPr>
          <a:xfrm>
            <a:off x="457200" y="2487168"/>
            <a:ext cx="8229600" cy="4116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اكتب ثلاثة أسئلة كنت ستسأل كاتب هذا الأمر قبل أن تبدأ في تنفيذه.</a:t>
            </a:r>
            <a:endParaRPr b="0" i="0" sz="1300" u="none" cap="none" strike="noStrike">
              <a:solidFill>
                <a:schemeClr val="dk1"/>
              </a:solidFill>
              <a:latin typeface="Calibri"/>
              <a:ea typeface="Calibri"/>
              <a:cs typeface="Calibri"/>
              <a:sym typeface="Calibri"/>
            </a:endParaRPr>
          </a:p>
        </p:txBody>
      </p:sp>
      <p:sp>
        <p:nvSpPr>
          <p:cNvPr id="143" name="Google Shape;143;p11"/>
          <p:cNvSpPr/>
          <p:nvPr/>
        </p:nvSpPr>
        <p:spPr>
          <a:xfrm>
            <a:off x="457200" y="3063240"/>
            <a:ext cx="1920300" cy="64020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a:off x="457200" y="3063240"/>
            <a:ext cx="19203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iro"/>
              <a:buNone/>
            </a:pPr>
            <a:r>
              <a:rPr b="0" i="1" lang="en-US" sz="1200" u="none" cap="none" strike="noStrike">
                <a:solidFill>
                  <a:srgbClr val="64748B"/>
                </a:solidFill>
                <a:latin typeface="Cairo"/>
                <a:ea typeface="Cairo"/>
                <a:cs typeface="Cairo"/>
                <a:sym typeface="Cairo"/>
              </a:rPr>
              <a:t>لمن النص؟</a:t>
            </a:r>
            <a:endParaRPr b="0" i="0" sz="1200" u="none" cap="none" strike="noStrike">
              <a:solidFill>
                <a:schemeClr val="dk1"/>
              </a:solidFill>
              <a:latin typeface="Calibri"/>
              <a:ea typeface="Calibri"/>
              <a:cs typeface="Calibri"/>
              <a:sym typeface="Calibri"/>
            </a:endParaRPr>
          </a:p>
        </p:txBody>
      </p:sp>
      <p:sp>
        <p:nvSpPr>
          <p:cNvPr id="145" name="Google Shape;145;p11"/>
          <p:cNvSpPr/>
          <p:nvPr/>
        </p:nvSpPr>
        <p:spPr>
          <a:xfrm>
            <a:off x="2560320" y="3063240"/>
            <a:ext cx="1920300" cy="64020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2560320" y="3063240"/>
            <a:ext cx="19203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iro"/>
              <a:buNone/>
            </a:pPr>
            <a:r>
              <a:rPr b="0" i="1" lang="en-US" sz="1200" u="none" cap="none" strike="noStrike">
                <a:solidFill>
                  <a:srgbClr val="64748B"/>
                </a:solidFill>
                <a:latin typeface="Cairo"/>
                <a:ea typeface="Cairo"/>
                <a:cs typeface="Cairo"/>
                <a:sym typeface="Cairo"/>
              </a:rPr>
              <a:t>أي رياضة؟</a:t>
            </a:r>
            <a:endParaRPr b="0" i="0" sz="1200" u="none" cap="none" strike="noStrike">
              <a:solidFill>
                <a:schemeClr val="dk1"/>
              </a:solidFill>
              <a:latin typeface="Calibri"/>
              <a:ea typeface="Calibri"/>
              <a:cs typeface="Calibri"/>
              <a:sym typeface="Calibri"/>
            </a:endParaRPr>
          </a:p>
        </p:txBody>
      </p:sp>
      <p:sp>
        <p:nvSpPr>
          <p:cNvPr id="147" name="Google Shape;147;p11"/>
          <p:cNvSpPr/>
          <p:nvPr/>
        </p:nvSpPr>
        <p:spPr>
          <a:xfrm>
            <a:off x="4663440" y="3063240"/>
            <a:ext cx="1920300" cy="64020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a:off x="4663440" y="3063240"/>
            <a:ext cx="19203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iro"/>
              <a:buNone/>
            </a:pPr>
            <a:r>
              <a:rPr b="0" i="1" lang="en-US" sz="1200" u="none" cap="none" strike="noStrike">
                <a:solidFill>
                  <a:srgbClr val="64748B"/>
                </a:solidFill>
                <a:latin typeface="Cairo"/>
                <a:ea typeface="Cairo"/>
                <a:cs typeface="Cairo"/>
                <a:sym typeface="Cairo"/>
              </a:rPr>
              <a:t>كم الطول؟</a:t>
            </a:r>
            <a:endParaRPr b="0" i="0" sz="1200" u="none" cap="none" strike="noStrike">
              <a:solidFill>
                <a:schemeClr val="dk1"/>
              </a:solidFill>
              <a:latin typeface="Calibri"/>
              <a:ea typeface="Calibri"/>
              <a:cs typeface="Calibri"/>
              <a:sym typeface="Calibri"/>
            </a:endParaRPr>
          </a:p>
        </p:txBody>
      </p:sp>
      <p:sp>
        <p:nvSpPr>
          <p:cNvPr id="149" name="Google Shape;149;p11"/>
          <p:cNvSpPr/>
          <p:nvPr/>
        </p:nvSpPr>
        <p:spPr>
          <a:xfrm>
            <a:off x="6766560" y="3063240"/>
            <a:ext cx="1920300" cy="64020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a:off x="6766560" y="3063240"/>
            <a:ext cx="19203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iro"/>
              <a:buNone/>
            </a:pPr>
            <a:r>
              <a:rPr b="0" i="1" lang="en-US" sz="1200" u="none" cap="none" strike="noStrike">
                <a:solidFill>
                  <a:srgbClr val="64748B"/>
                </a:solidFill>
                <a:latin typeface="Cairo"/>
                <a:ea typeface="Cairo"/>
                <a:cs typeface="Cairo"/>
                <a:sym typeface="Cairo"/>
              </a:rPr>
              <a:t>ما الهدف؟</a:t>
            </a:r>
            <a:endParaRPr b="0" i="0" sz="1200" u="none" cap="none" strike="noStrike">
              <a:solidFill>
                <a:schemeClr val="dk1"/>
              </a:solidFill>
              <a:latin typeface="Calibri"/>
              <a:ea typeface="Calibri"/>
              <a:cs typeface="Calibri"/>
              <a:sym typeface="Calibri"/>
            </a:endParaRPr>
          </a:p>
        </p:txBody>
      </p:sp>
      <p:sp>
        <p:nvSpPr>
          <p:cNvPr id="151" name="Google Shape;151;p11"/>
          <p:cNvSpPr/>
          <p:nvPr/>
        </p:nvSpPr>
        <p:spPr>
          <a:xfrm>
            <a:off x="457200" y="3886200"/>
            <a:ext cx="8229600" cy="320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0" i="1" lang="en-US" sz="1100" u="none" cap="none" strike="noStrike">
                <a:solidFill>
                  <a:srgbClr val="0284C7"/>
                </a:solidFill>
                <a:latin typeface="Cairo"/>
                <a:ea typeface="Cairo"/>
                <a:cs typeface="Cairo"/>
                <a:sym typeface="Cairo"/>
              </a:rPr>
              <a:t>هذه الأسئلة هي بالضبط عناصر الإطار الذي ستتعلمه الآن</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2"/>
          <p:cNvSpPr/>
          <p:nvPr/>
        </p:nvSpPr>
        <p:spPr>
          <a:xfrm>
            <a:off x="7040880" y="640080"/>
            <a:ext cx="822960" cy="822960"/>
          </a:xfrm>
          <a:prstGeom prst="ellipse">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
          <p:cNvSpPr/>
          <p:nvPr/>
        </p:nvSpPr>
        <p:spPr>
          <a:xfrm>
            <a:off x="7040880" y="6400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4C7"/>
              </a:buClr>
              <a:buSzPts val="2200"/>
              <a:buFont typeface="Cairo"/>
              <a:buNone/>
            </a:pPr>
            <a:r>
              <a:rPr b="1" i="0" lang="en-US" sz="2200" u="none" cap="none" strike="noStrike">
                <a:solidFill>
                  <a:srgbClr val="0284C7"/>
                </a:solidFill>
                <a:latin typeface="Cairo"/>
                <a:ea typeface="Cairo"/>
                <a:cs typeface="Cairo"/>
                <a:sym typeface="Cairo"/>
              </a:rPr>
              <a:t>02</a:t>
            </a:r>
            <a:endParaRPr b="0" i="0" sz="2200" u="none" cap="none" strike="noStrike">
              <a:solidFill>
                <a:schemeClr val="dk1"/>
              </a:solidFill>
              <a:latin typeface="Calibri"/>
              <a:ea typeface="Calibri"/>
              <a:cs typeface="Calibri"/>
              <a:sym typeface="Calibri"/>
            </a:endParaRPr>
          </a:p>
        </p:txBody>
      </p:sp>
      <p:cxnSp>
        <p:nvCxnSpPr>
          <p:cNvPr id="159" name="Google Shape;159;p12"/>
          <p:cNvCxnSpPr/>
          <p:nvPr/>
        </p:nvCxnSpPr>
        <p:spPr>
          <a:xfrm>
            <a:off x="6309360" y="2331720"/>
            <a:ext cx="1280160" cy="0"/>
          </a:xfrm>
          <a:prstGeom prst="straightConnector1">
            <a:avLst/>
          </a:prstGeom>
          <a:noFill/>
          <a:ln cap="flat" cmpd="sng" w="31750">
            <a:solidFill>
              <a:srgbClr val="EA580C"/>
            </a:solidFill>
            <a:prstDash val="solid"/>
            <a:round/>
            <a:headEnd len="sm" w="sm" type="none"/>
            <a:tailEnd len="sm" w="sm" type="none"/>
          </a:ln>
        </p:spPr>
      </p:cxnSp>
      <p:sp>
        <p:nvSpPr>
          <p:cNvPr id="160" name="Google Shape;160;p12"/>
          <p:cNvSpPr/>
          <p:nvPr/>
        </p:nvSpPr>
        <p:spPr>
          <a:xfrm>
            <a:off x="548640" y="2468880"/>
            <a:ext cx="7315200" cy="8229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3200"/>
              <a:buFont typeface="Cairo"/>
              <a:buNone/>
            </a:pPr>
            <a:r>
              <a:rPr b="1" i="0" lang="en-US" sz="3200" u="none" cap="none" strike="noStrike">
                <a:solidFill>
                  <a:srgbClr val="0F172A"/>
                </a:solidFill>
                <a:latin typeface="Cairo"/>
                <a:ea typeface="Cairo"/>
                <a:cs typeface="Cairo"/>
                <a:sym typeface="Cairo"/>
              </a:rPr>
              <a:t>إطار عمل بسيط لكتابة أمر جيد</a:t>
            </a:r>
            <a:endParaRPr b="0" i="0" sz="3200" u="none" cap="none" strike="noStrike">
              <a:solidFill>
                <a:schemeClr val="dk1"/>
              </a:solidFill>
              <a:latin typeface="Calibri"/>
              <a:ea typeface="Calibri"/>
              <a:cs typeface="Calibri"/>
              <a:sym typeface="Calibri"/>
            </a:endParaRPr>
          </a:p>
        </p:txBody>
      </p:sp>
      <p:sp>
        <p:nvSpPr>
          <p:cNvPr id="161" name="Google Shape;161;p12"/>
          <p:cNvSpPr/>
          <p:nvPr/>
        </p:nvSpPr>
        <p:spPr>
          <a:xfrm>
            <a:off x="548640" y="3246120"/>
            <a:ext cx="713232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lang="en-US" sz="1500">
                <a:solidFill>
                  <a:srgbClr val="475569"/>
                </a:solidFill>
                <a:latin typeface="Cairo"/>
                <a:ea typeface="Cairo"/>
                <a:cs typeface="Cairo"/>
                <a:sym typeface="Cairo"/>
              </a:rPr>
              <a:t>إطار الRCTF</a:t>
            </a:r>
            <a:endParaRPr b="0" i="0" sz="1500" u="none" cap="none" strike="noStrike">
              <a:solidFill>
                <a:schemeClr val="dk1"/>
              </a:solidFill>
              <a:latin typeface="Calibri"/>
              <a:ea typeface="Calibri"/>
              <a:cs typeface="Calibri"/>
              <a:sym typeface="Calibri"/>
            </a:endParaRPr>
          </a:p>
        </p:txBody>
      </p:sp>
      <p:sp>
        <p:nvSpPr>
          <p:cNvPr id="162" name="Google Shape;162;p12"/>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13"/>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169" name="Google Shape;169;p13"/>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أربعة عناصر — أمر واحد متكامل</a:t>
            </a:r>
            <a:endParaRPr b="0" i="0" sz="2600" u="none" cap="none" strike="noStrike">
              <a:solidFill>
                <a:schemeClr val="dk1"/>
              </a:solidFill>
              <a:latin typeface="Calibri"/>
              <a:ea typeface="Calibri"/>
              <a:cs typeface="Calibri"/>
              <a:sym typeface="Calibri"/>
            </a:endParaRPr>
          </a:p>
        </p:txBody>
      </p:sp>
      <p:sp>
        <p:nvSpPr>
          <p:cNvPr id="170" name="Google Shape;170;p13"/>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171" name="Google Shape;171;p13"/>
          <p:cNvSpPr/>
          <p:nvPr/>
        </p:nvSpPr>
        <p:spPr>
          <a:xfrm>
            <a:off x="1132539" y="1660100"/>
            <a:ext cx="1103100" cy="1103100"/>
          </a:xfrm>
          <a:prstGeom prst="ellipse">
            <a:avLst/>
          </a:prstGeom>
          <a:solidFill>
            <a:srgbClr val="0284C7"/>
          </a:solidFill>
          <a:ln>
            <a:noFill/>
          </a:ln>
        </p:spPr>
        <p:txBody>
          <a:bodyPr anchorCtr="0" anchor="ctr" bIns="100250" lIns="100250" spcFirstLastPara="1" rIns="100250" wrap="square" tIns="100250">
            <a:noAutofit/>
          </a:bodyPr>
          <a:lstStyle/>
          <a:p>
            <a:pPr indent="0" lvl="0" marL="0" rtl="0" algn="l">
              <a:spcBef>
                <a:spcPts val="0"/>
              </a:spcBef>
              <a:spcAft>
                <a:spcPts val="0"/>
              </a:spcAft>
              <a:buNone/>
            </a:pPr>
            <a:r>
              <a:t/>
            </a:r>
            <a:endParaRPr/>
          </a:p>
        </p:txBody>
      </p:sp>
      <p:sp>
        <p:nvSpPr>
          <p:cNvPr id="172" name="Google Shape;172;p13"/>
          <p:cNvSpPr/>
          <p:nvPr/>
        </p:nvSpPr>
        <p:spPr>
          <a:xfrm>
            <a:off x="1132539" y="1660100"/>
            <a:ext cx="1103100" cy="11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729"/>
              <a:buFont typeface="Cairo"/>
              <a:buNone/>
            </a:pPr>
            <a:r>
              <a:rPr b="1" i="0" lang="en-US" sz="3729" u="none" cap="none" strike="noStrike">
                <a:solidFill>
                  <a:srgbClr val="FFFFFF"/>
                </a:solidFill>
                <a:latin typeface="Cairo"/>
                <a:ea typeface="Cairo"/>
                <a:cs typeface="Cairo"/>
                <a:sym typeface="Cairo"/>
              </a:rPr>
              <a:t>R</a:t>
            </a:r>
            <a:endParaRPr b="0" i="0" sz="3729" u="none" cap="none" strike="noStrike">
              <a:solidFill>
                <a:schemeClr val="dk1"/>
              </a:solidFill>
              <a:latin typeface="Calibri"/>
              <a:ea typeface="Calibri"/>
              <a:cs typeface="Calibri"/>
              <a:sym typeface="Calibri"/>
            </a:endParaRPr>
          </a:p>
        </p:txBody>
      </p:sp>
      <p:sp>
        <p:nvSpPr>
          <p:cNvPr id="173" name="Google Shape;173;p13"/>
          <p:cNvSpPr/>
          <p:nvPr/>
        </p:nvSpPr>
        <p:spPr>
          <a:xfrm>
            <a:off x="831677" y="2813392"/>
            <a:ext cx="1704900" cy="35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6"/>
              <a:buFont typeface="Cairo"/>
              <a:buNone/>
            </a:pPr>
            <a:r>
              <a:rPr b="1" i="0" lang="en-US" sz="1206" u="none" cap="none" strike="noStrike">
                <a:solidFill>
                  <a:srgbClr val="0F172A"/>
                </a:solidFill>
                <a:latin typeface="Cairo"/>
                <a:ea typeface="Cairo"/>
                <a:cs typeface="Cairo"/>
                <a:sym typeface="Cairo"/>
              </a:rPr>
              <a:t>Role · الدور</a:t>
            </a:r>
            <a:endParaRPr b="0" i="0" sz="1206" u="none" cap="none" strike="noStrike">
              <a:solidFill>
                <a:schemeClr val="dk1"/>
              </a:solidFill>
              <a:latin typeface="Calibri"/>
              <a:ea typeface="Calibri"/>
              <a:cs typeface="Calibri"/>
              <a:sym typeface="Calibri"/>
            </a:endParaRPr>
          </a:p>
        </p:txBody>
      </p:sp>
      <p:sp>
        <p:nvSpPr>
          <p:cNvPr id="174" name="Google Shape;174;p13"/>
          <p:cNvSpPr/>
          <p:nvPr/>
        </p:nvSpPr>
        <p:spPr>
          <a:xfrm>
            <a:off x="3439281" y="1660100"/>
            <a:ext cx="1103100" cy="1103100"/>
          </a:xfrm>
          <a:prstGeom prst="ellipse">
            <a:avLst/>
          </a:prstGeom>
          <a:solidFill>
            <a:srgbClr val="EA580C"/>
          </a:solidFill>
          <a:ln>
            <a:noFill/>
          </a:ln>
        </p:spPr>
        <p:txBody>
          <a:bodyPr anchorCtr="0" anchor="ctr" bIns="100250" lIns="100250" spcFirstLastPara="1" rIns="100250" wrap="square" tIns="100250">
            <a:noAutofit/>
          </a:bodyPr>
          <a:lstStyle/>
          <a:p>
            <a:pPr indent="0" lvl="0" marL="0" rtl="0" algn="l">
              <a:spcBef>
                <a:spcPts val="0"/>
              </a:spcBef>
              <a:spcAft>
                <a:spcPts val="0"/>
              </a:spcAft>
              <a:buNone/>
            </a:pPr>
            <a:r>
              <a:t/>
            </a:r>
            <a:endParaRPr/>
          </a:p>
        </p:txBody>
      </p:sp>
      <p:sp>
        <p:nvSpPr>
          <p:cNvPr id="175" name="Google Shape;175;p13"/>
          <p:cNvSpPr/>
          <p:nvPr/>
        </p:nvSpPr>
        <p:spPr>
          <a:xfrm>
            <a:off x="3439281" y="1660100"/>
            <a:ext cx="1103100" cy="11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729"/>
              <a:buFont typeface="Cairo"/>
              <a:buNone/>
            </a:pPr>
            <a:r>
              <a:rPr b="1" i="0" lang="en-US" sz="3729" u="none" cap="none" strike="noStrike">
                <a:solidFill>
                  <a:srgbClr val="FFFFFF"/>
                </a:solidFill>
                <a:latin typeface="Cairo"/>
                <a:ea typeface="Cairo"/>
                <a:cs typeface="Cairo"/>
                <a:sym typeface="Cairo"/>
              </a:rPr>
              <a:t>C</a:t>
            </a:r>
            <a:endParaRPr b="0" i="0" sz="3729" u="none" cap="none" strike="noStrike">
              <a:solidFill>
                <a:schemeClr val="dk1"/>
              </a:solidFill>
              <a:latin typeface="Calibri"/>
              <a:ea typeface="Calibri"/>
              <a:cs typeface="Calibri"/>
              <a:sym typeface="Calibri"/>
            </a:endParaRPr>
          </a:p>
        </p:txBody>
      </p:sp>
      <p:sp>
        <p:nvSpPr>
          <p:cNvPr id="176" name="Google Shape;176;p13"/>
          <p:cNvSpPr/>
          <p:nvPr/>
        </p:nvSpPr>
        <p:spPr>
          <a:xfrm>
            <a:off x="3138420" y="2813392"/>
            <a:ext cx="1704900" cy="35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6"/>
              <a:buFont typeface="Cairo"/>
              <a:buNone/>
            </a:pPr>
            <a:r>
              <a:rPr b="1" i="0" lang="en-US" sz="1206" u="none" cap="none" strike="noStrike">
                <a:solidFill>
                  <a:srgbClr val="0F172A"/>
                </a:solidFill>
                <a:latin typeface="Cairo"/>
                <a:ea typeface="Cairo"/>
                <a:cs typeface="Cairo"/>
                <a:sym typeface="Cairo"/>
              </a:rPr>
              <a:t>Context · السياق</a:t>
            </a:r>
            <a:endParaRPr b="0" i="0" sz="1206" u="none" cap="none" strike="noStrike">
              <a:solidFill>
                <a:schemeClr val="dk1"/>
              </a:solidFill>
              <a:latin typeface="Calibri"/>
              <a:ea typeface="Calibri"/>
              <a:cs typeface="Calibri"/>
              <a:sym typeface="Calibri"/>
            </a:endParaRPr>
          </a:p>
        </p:txBody>
      </p:sp>
      <p:sp>
        <p:nvSpPr>
          <p:cNvPr id="177" name="Google Shape;177;p13"/>
          <p:cNvSpPr/>
          <p:nvPr/>
        </p:nvSpPr>
        <p:spPr>
          <a:xfrm>
            <a:off x="5445003" y="1660100"/>
            <a:ext cx="1103100" cy="1103100"/>
          </a:xfrm>
          <a:prstGeom prst="ellipse">
            <a:avLst/>
          </a:prstGeom>
          <a:solidFill>
            <a:srgbClr val="1D4ED8"/>
          </a:solidFill>
          <a:ln>
            <a:noFill/>
          </a:ln>
        </p:spPr>
        <p:txBody>
          <a:bodyPr anchorCtr="0" anchor="ctr" bIns="100250" lIns="100250" spcFirstLastPara="1" rIns="100250" wrap="square" tIns="100250">
            <a:noAutofit/>
          </a:bodyPr>
          <a:lstStyle/>
          <a:p>
            <a:pPr indent="0" lvl="0" marL="0" rtl="0" algn="l">
              <a:spcBef>
                <a:spcPts val="0"/>
              </a:spcBef>
              <a:spcAft>
                <a:spcPts val="0"/>
              </a:spcAft>
              <a:buNone/>
            </a:pPr>
            <a:r>
              <a:t/>
            </a:r>
            <a:endParaRPr/>
          </a:p>
        </p:txBody>
      </p:sp>
      <p:sp>
        <p:nvSpPr>
          <p:cNvPr id="178" name="Google Shape;178;p13"/>
          <p:cNvSpPr/>
          <p:nvPr/>
        </p:nvSpPr>
        <p:spPr>
          <a:xfrm>
            <a:off x="5445003" y="1660100"/>
            <a:ext cx="1103100" cy="11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729"/>
              <a:buFont typeface="Cairo"/>
              <a:buNone/>
            </a:pPr>
            <a:r>
              <a:rPr b="1" i="0" lang="en-US" sz="3729" u="none" cap="none" strike="noStrike">
                <a:solidFill>
                  <a:srgbClr val="FFFFFF"/>
                </a:solidFill>
                <a:latin typeface="Cairo"/>
                <a:ea typeface="Cairo"/>
                <a:cs typeface="Cairo"/>
                <a:sym typeface="Cairo"/>
              </a:rPr>
              <a:t>T</a:t>
            </a:r>
            <a:endParaRPr b="0" i="0" sz="3729" u="none" cap="none" strike="noStrike">
              <a:solidFill>
                <a:schemeClr val="dk1"/>
              </a:solidFill>
              <a:latin typeface="Calibri"/>
              <a:ea typeface="Calibri"/>
              <a:cs typeface="Calibri"/>
              <a:sym typeface="Calibri"/>
            </a:endParaRPr>
          </a:p>
        </p:txBody>
      </p:sp>
      <p:sp>
        <p:nvSpPr>
          <p:cNvPr id="179" name="Google Shape;179;p13"/>
          <p:cNvSpPr/>
          <p:nvPr/>
        </p:nvSpPr>
        <p:spPr>
          <a:xfrm>
            <a:off x="5144142" y="2813392"/>
            <a:ext cx="1704900" cy="35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6"/>
              <a:buFont typeface="Cairo"/>
              <a:buNone/>
            </a:pPr>
            <a:r>
              <a:rPr b="1" i="0" lang="en-US" sz="1206" u="none" cap="none" strike="noStrike">
                <a:solidFill>
                  <a:srgbClr val="0F172A"/>
                </a:solidFill>
                <a:latin typeface="Cairo"/>
                <a:ea typeface="Cairo"/>
                <a:cs typeface="Cairo"/>
                <a:sym typeface="Cairo"/>
              </a:rPr>
              <a:t>Task · المهمة</a:t>
            </a:r>
            <a:endParaRPr b="0" i="0" sz="1206" u="none" cap="none" strike="noStrike">
              <a:solidFill>
                <a:schemeClr val="dk1"/>
              </a:solidFill>
              <a:latin typeface="Calibri"/>
              <a:ea typeface="Calibri"/>
              <a:cs typeface="Calibri"/>
              <a:sym typeface="Calibri"/>
            </a:endParaRPr>
          </a:p>
        </p:txBody>
      </p:sp>
      <p:sp>
        <p:nvSpPr>
          <p:cNvPr id="180" name="Google Shape;180;p13"/>
          <p:cNvSpPr/>
          <p:nvPr/>
        </p:nvSpPr>
        <p:spPr>
          <a:xfrm>
            <a:off x="7450753" y="1660100"/>
            <a:ext cx="1103100" cy="1103100"/>
          </a:xfrm>
          <a:prstGeom prst="ellipse">
            <a:avLst/>
          </a:prstGeom>
          <a:solidFill>
            <a:srgbClr val="059669"/>
          </a:solidFill>
          <a:ln>
            <a:noFill/>
          </a:ln>
        </p:spPr>
        <p:txBody>
          <a:bodyPr anchorCtr="0" anchor="ctr" bIns="100250" lIns="100250" spcFirstLastPara="1" rIns="100250" wrap="square" tIns="100250">
            <a:noAutofit/>
          </a:bodyPr>
          <a:lstStyle/>
          <a:p>
            <a:pPr indent="0" lvl="0" marL="0" rtl="0" algn="l">
              <a:spcBef>
                <a:spcPts val="0"/>
              </a:spcBef>
              <a:spcAft>
                <a:spcPts val="0"/>
              </a:spcAft>
              <a:buNone/>
            </a:pPr>
            <a:r>
              <a:t/>
            </a:r>
            <a:endParaRPr/>
          </a:p>
        </p:txBody>
      </p:sp>
      <p:sp>
        <p:nvSpPr>
          <p:cNvPr id="181" name="Google Shape;181;p13"/>
          <p:cNvSpPr/>
          <p:nvPr/>
        </p:nvSpPr>
        <p:spPr>
          <a:xfrm>
            <a:off x="7450753" y="1660100"/>
            <a:ext cx="1103100" cy="110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729"/>
              <a:buFont typeface="Cairo"/>
              <a:buNone/>
            </a:pPr>
            <a:r>
              <a:rPr b="1" i="0" lang="en-US" sz="3729" u="none" cap="none" strike="noStrike">
                <a:solidFill>
                  <a:srgbClr val="FFFFFF"/>
                </a:solidFill>
                <a:latin typeface="Cairo"/>
                <a:ea typeface="Cairo"/>
                <a:cs typeface="Cairo"/>
                <a:sym typeface="Cairo"/>
              </a:rPr>
              <a:t>F</a:t>
            </a:r>
            <a:endParaRPr b="0" i="0" sz="3729" u="none" cap="none" strike="noStrike">
              <a:solidFill>
                <a:schemeClr val="dk1"/>
              </a:solidFill>
              <a:latin typeface="Calibri"/>
              <a:ea typeface="Calibri"/>
              <a:cs typeface="Calibri"/>
              <a:sym typeface="Calibri"/>
            </a:endParaRPr>
          </a:p>
        </p:txBody>
      </p:sp>
      <p:sp>
        <p:nvSpPr>
          <p:cNvPr id="182" name="Google Shape;182;p13"/>
          <p:cNvSpPr/>
          <p:nvPr/>
        </p:nvSpPr>
        <p:spPr>
          <a:xfrm>
            <a:off x="7149891" y="2813392"/>
            <a:ext cx="1704900" cy="35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206"/>
              <a:buFont typeface="Cairo"/>
              <a:buNone/>
            </a:pPr>
            <a:r>
              <a:rPr b="1" i="0" lang="en-US" sz="1206" u="none" cap="none" strike="noStrike">
                <a:solidFill>
                  <a:srgbClr val="0F172A"/>
                </a:solidFill>
                <a:latin typeface="Cairo"/>
                <a:ea typeface="Cairo"/>
                <a:cs typeface="Cairo"/>
                <a:sym typeface="Cairo"/>
              </a:rPr>
              <a:t>Format · الشكل</a:t>
            </a:r>
            <a:endParaRPr b="0" i="0" sz="1206" u="none" cap="none" strike="noStrike">
              <a:solidFill>
                <a:schemeClr val="dk1"/>
              </a:solidFill>
              <a:latin typeface="Calibri"/>
              <a:ea typeface="Calibri"/>
              <a:cs typeface="Calibri"/>
              <a:sym typeface="Calibri"/>
            </a:endParaRPr>
          </a:p>
        </p:txBody>
      </p:sp>
      <p:sp>
        <p:nvSpPr>
          <p:cNvPr id="183" name="Google Shape;183;p13"/>
          <p:cNvSpPr/>
          <p:nvPr/>
        </p:nvSpPr>
        <p:spPr>
          <a:xfrm>
            <a:off x="457200" y="3555645"/>
            <a:ext cx="8229600" cy="5028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كل عنصر يجيب على سؤال واحد محدد — معاً يصنعون أمراً لا يستطيع الذكاء الاصطناعي أن يفهمه بطريقة خاطئة.</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4"/>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190" name="Google Shape;190;p14"/>
          <p:cNvSpPr/>
          <p:nvPr/>
        </p:nvSpPr>
        <p:spPr>
          <a:xfrm>
            <a:off x="404300" y="566800"/>
            <a:ext cx="71637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lang="en-US" sz="2600">
                <a:solidFill>
                  <a:srgbClr val="0F172A"/>
                </a:solidFill>
                <a:latin typeface="Cairo"/>
                <a:ea typeface="Cairo"/>
                <a:cs typeface="Cairo"/>
                <a:sym typeface="Cairo"/>
              </a:rPr>
              <a:t>الدور </a:t>
            </a:r>
            <a:r>
              <a:rPr b="1" i="0" lang="en-US" sz="2600" u="none" cap="none" strike="noStrike">
                <a:solidFill>
                  <a:srgbClr val="0F172A"/>
                </a:solidFill>
                <a:latin typeface="Cairo"/>
                <a:ea typeface="Cairo"/>
                <a:cs typeface="Cairo"/>
                <a:sym typeface="Cairo"/>
              </a:rPr>
              <a:t>= Role · من تريد أن يكون الذكاء الاصطناعي؟</a:t>
            </a:r>
            <a:endParaRPr b="0" i="0" sz="2600" u="none" cap="none" strike="noStrike">
              <a:solidFill>
                <a:schemeClr val="dk1"/>
              </a:solidFill>
              <a:latin typeface="Calibri"/>
              <a:ea typeface="Calibri"/>
              <a:cs typeface="Calibri"/>
              <a:sym typeface="Calibri"/>
            </a:endParaRPr>
          </a:p>
        </p:txBody>
      </p:sp>
      <p:sp>
        <p:nvSpPr>
          <p:cNvPr id="191" name="Google Shape;191;p14"/>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192" name="Google Shape;192;p14"/>
          <p:cNvSpPr/>
          <p:nvPr/>
        </p:nvSpPr>
        <p:spPr>
          <a:xfrm>
            <a:off x="7733805" y="639970"/>
            <a:ext cx="1005900" cy="10059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7733805" y="63997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iro"/>
              <a:buNone/>
            </a:pPr>
            <a:r>
              <a:rPr b="1" i="0" lang="en-US" sz="3400" u="none" cap="none" strike="noStrike">
                <a:solidFill>
                  <a:srgbClr val="FFFFFF"/>
                </a:solidFill>
                <a:latin typeface="Cairo"/>
                <a:ea typeface="Cairo"/>
                <a:cs typeface="Cairo"/>
                <a:sym typeface="Cairo"/>
              </a:rPr>
              <a:t>R</a:t>
            </a:r>
            <a:endParaRPr b="0" i="0" sz="3400" u="none" cap="none" strike="noStrike">
              <a:solidFill>
                <a:schemeClr val="dk1"/>
              </a:solidFill>
              <a:latin typeface="Calibri"/>
              <a:ea typeface="Calibri"/>
              <a:cs typeface="Calibri"/>
              <a:sym typeface="Calibri"/>
            </a:endParaRPr>
          </a:p>
        </p:txBody>
      </p:sp>
      <p:sp>
        <p:nvSpPr>
          <p:cNvPr id="194" name="Google Shape;194;p14"/>
          <p:cNvSpPr/>
          <p:nvPr/>
        </p:nvSpPr>
        <p:spPr>
          <a:xfrm>
            <a:off x="7223760" y="1554480"/>
            <a:ext cx="1554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95" name="Google Shape;195;p14"/>
          <p:cNvSpPr/>
          <p:nvPr/>
        </p:nvSpPr>
        <p:spPr>
          <a:xfrm>
            <a:off x="692900" y="1261875"/>
            <a:ext cx="65865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امنح الذكاء الاصطناعي هوية محددة قبل أن تطلب منه أي شيء.</a:t>
            </a:r>
            <a:endParaRPr b="0" i="0" sz="1300" u="none" cap="none" strike="noStrike">
              <a:solidFill>
                <a:schemeClr val="dk1"/>
              </a:solidFill>
              <a:latin typeface="Calibri"/>
              <a:ea typeface="Calibri"/>
              <a:cs typeface="Calibri"/>
              <a:sym typeface="Calibri"/>
            </a:endParaRPr>
          </a:p>
        </p:txBody>
      </p:sp>
      <p:graphicFrame>
        <p:nvGraphicFramePr>
          <p:cNvPr id="196" name="Google Shape;196;p14"/>
          <p:cNvGraphicFramePr/>
          <p:nvPr/>
        </p:nvGraphicFramePr>
        <p:xfrm>
          <a:off x="457200" y="1961655"/>
          <a:ext cx="3000000" cy="3000000"/>
        </p:xfrm>
        <a:graphic>
          <a:graphicData uri="http://schemas.openxmlformats.org/drawingml/2006/table">
            <a:tbl>
              <a:tblPr>
                <a:noFill/>
                <a:tableStyleId>{6ABD01A6-4E11-4249-9B88-50B7CE4EA520}</a:tableStyleId>
              </a:tblPr>
              <a:tblGrid>
                <a:gridCol w="6243600"/>
                <a:gridCol w="1649175"/>
              </a:tblGrid>
              <a:tr h="479800">
                <a:tc>
                  <a:txBody>
                    <a:bodyPr/>
                    <a:lstStyle/>
                    <a:p>
                      <a:pPr indent="0" lvl="0" marL="0" marR="0" rtl="1" algn="r">
                        <a:spcBef>
                          <a:spcPts val="0"/>
                        </a:spcBef>
                        <a:spcAft>
                          <a:spcPts val="0"/>
                        </a:spcAft>
                        <a:buClr>
                          <a:srgbClr val="FFFFFF"/>
                        </a:buClr>
                        <a:buSzPts val="1100"/>
                        <a:buFont typeface="Cairo"/>
                        <a:buNone/>
                      </a:pPr>
                      <a:r>
                        <a:rPr b="1" lang="en-US" sz="1100" u="none" cap="none" strike="noStrike">
                          <a:solidFill>
                            <a:srgbClr val="FFFFFF"/>
                          </a:solidFill>
                          <a:latin typeface="Cairo"/>
                          <a:ea typeface="Cairo"/>
                          <a:cs typeface="Cairo"/>
                          <a:sym typeface="Cairo"/>
                        </a:rPr>
                        <a:t>مع </a:t>
                      </a:r>
                      <a:r>
                        <a:rPr b="1" lang="en-US" sz="1100">
                          <a:solidFill>
                            <a:srgbClr val="FFFFFF"/>
                          </a:solidFill>
                          <a:latin typeface="Cairo"/>
                          <a:ea typeface="Cairo"/>
                          <a:cs typeface="Cairo"/>
                          <a:sym typeface="Cairo"/>
                        </a:rPr>
                        <a:t>الدور</a:t>
                      </a:r>
                      <a:endParaRPr b="1" sz="1100" u="none" cap="none" strike="noStrike">
                        <a:solidFill>
                          <a:srgbClr val="FFFFFF"/>
                        </a:solidFill>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284C7"/>
                    </a:solidFill>
                  </a:tcPr>
                </a:tc>
                <a:tc>
                  <a:txBody>
                    <a:bodyPr/>
                    <a:lstStyle/>
                    <a:p>
                      <a:pPr indent="0" lvl="0" marL="0" marR="0" rtl="1" algn="r">
                        <a:spcBef>
                          <a:spcPts val="0"/>
                        </a:spcBef>
                        <a:spcAft>
                          <a:spcPts val="0"/>
                        </a:spcAft>
                        <a:buClr>
                          <a:srgbClr val="FFFFFF"/>
                        </a:buClr>
                        <a:buSzPts val="1100"/>
                        <a:buFont typeface="Cairo"/>
                        <a:buNone/>
                      </a:pPr>
                      <a:r>
                        <a:rPr b="1" lang="en-US" sz="1100" u="none" cap="none" strike="noStrike">
                          <a:solidFill>
                            <a:srgbClr val="FFFFFF"/>
                          </a:solidFill>
                          <a:latin typeface="Cairo"/>
                          <a:ea typeface="Cairo"/>
                          <a:cs typeface="Cairo"/>
                          <a:sym typeface="Cairo"/>
                        </a:rPr>
                        <a:t>بدون </a:t>
                      </a:r>
                      <a:r>
                        <a:rPr b="1" lang="en-US" sz="1100">
                          <a:solidFill>
                            <a:srgbClr val="FFFFFF"/>
                          </a:solidFill>
                          <a:latin typeface="Cairo"/>
                          <a:ea typeface="Cairo"/>
                          <a:cs typeface="Cairo"/>
                          <a:sym typeface="Cairo"/>
                        </a:rPr>
                        <a:t>الدور</a:t>
                      </a:r>
                      <a:endParaRPr sz="1100" u="none" cap="none" strike="noStrike">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r>
              <a:tr h="658375">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أنت محامٍ سعودي متخصص في قانون الأسرة. اشرح...</a:t>
                      </a:r>
                      <a:endParaRPr sz="10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اشرح لي القانون</a:t>
                      </a:r>
                      <a:endParaRPr sz="10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658375">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أنت مسوّق رقمي محترف يعمل مع جمهور عربي شبابي. اكتب...</a:t>
                      </a:r>
                      <a:endParaRPr sz="10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اكتب لي إعلاناً</a:t>
                      </a:r>
                      <a:endParaRPr sz="10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658375">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أنت مدير موارد بشرية في شركة تقنية. أجرِ معي مقابلة عمل...</a:t>
                      </a:r>
                      <a:endParaRPr sz="10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000"/>
                        <a:buFont typeface="Cairo"/>
                        <a:buNone/>
                      </a:pPr>
                      <a:r>
                        <a:rPr lang="en-US" sz="1000" u="none" cap="none" strike="noStrike">
                          <a:solidFill>
                            <a:srgbClr val="475569"/>
                          </a:solidFill>
                          <a:latin typeface="Cairo"/>
                          <a:ea typeface="Cairo"/>
                          <a:cs typeface="Cairo"/>
                          <a:sym typeface="Cairo"/>
                        </a:rPr>
                        <a:t>ساعدني في مقابلة</a:t>
                      </a:r>
                      <a:endParaRPr sz="10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5"/>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203" name="Google Shape;203;p15"/>
          <p:cNvSpPr/>
          <p:nvPr/>
        </p:nvSpPr>
        <p:spPr>
          <a:xfrm>
            <a:off x="457200" y="566925"/>
            <a:ext cx="69315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lang="en-US" sz="2600">
                <a:solidFill>
                  <a:srgbClr val="0F172A"/>
                </a:solidFill>
                <a:latin typeface="Cairo"/>
                <a:ea typeface="Cairo"/>
                <a:cs typeface="Cairo"/>
                <a:sym typeface="Cairo"/>
              </a:rPr>
              <a:t>السياق </a:t>
            </a:r>
            <a:r>
              <a:rPr b="1" i="0" lang="en-US" sz="2600" u="none" cap="none" strike="noStrike">
                <a:solidFill>
                  <a:srgbClr val="0F172A"/>
                </a:solidFill>
                <a:latin typeface="Cairo"/>
                <a:ea typeface="Cairo"/>
                <a:cs typeface="Cairo"/>
                <a:sym typeface="Cairo"/>
              </a:rPr>
              <a:t>= Context · ما الخلفية التي يحتاجها؟</a:t>
            </a:r>
            <a:endParaRPr b="0" i="0" sz="2600" u="none" cap="none" strike="noStrike">
              <a:solidFill>
                <a:schemeClr val="dk1"/>
              </a:solidFill>
              <a:latin typeface="Calibri"/>
              <a:ea typeface="Calibri"/>
              <a:cs typeface="Calibri"/>
              <a:sym typeface="Calibri"/>
            </a:endParaRPr>
          </a:p>
        </p:txBody>
      </p:sp>
      <p:sp>
        <p:nvSpPr>
          <p:cNvPr id="204" name="Google Shape;204;p15"/>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205" name="Google Shape;205;p15"/>
          <p:cNvSpPr/>
          <p:nvPr/>
        </p:nvSpPr>
        <p:spPr>
          <a:xfrm>
            <a:off x="7498105" y="639970"/>
            <a:ext cx="1005900" cy="1005900"/>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7498105" y="63997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iro"/>
              <a:buNone/>
            </a:pPr>
            <a:r>
              <a:rPr b="1" i="0" lang="en-US" sz="3400" u="none" cap="none" strike="noStrike">
                <a:solidFill>
                  <a:srgbClr val="FFFFFF"/>
                </a:solidFill>
                <a:latin typeface="Cairo"/>
                <a:ea typeface="Cairo"/>
                <a:cs typeface="Cairo"/>
                <a:sym typeface="Cairo"/>
              </a:rPr>
              <a:t>C</a:t>
            </a:r>
            <a:endParaRPr b="0" i="0" sz="3400" u="none" cap="none" strike="noStrike">
              <a:solidFill>
                <a:schemeClr val="dk1"/>
              </a:solidFill>
              <a:latin typeface="Calibri"/>
              <a:ea typeface="Calibri"/>
              <a:cs typeface="Calibri"/>
              <a:sym typeface="Calibri"/>
            </a:endParaRPr>
          </a:p>
        </p:txBody>
      </p:sp>
      <p:sp>
        <p:nvSpPr>
          <p:cNvPr id="207" name="Google Shape;207;p15"/>
          <p:cNvSpPr/>
          <p:nvPr/>
        </p:nvSpPr>
        <p:spPr>
          <a:xfrm>
            <a:off x="7223760" y="1554480"/>
            <a:ext cx="1554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08" name="Google Shape;208;p15"/>
          <p:cNvSpPr/>
          <p:nvPr/>
        </p:nvSpPr>
        <p:spPr>
          <a:xfrm>
            <a:off x="457200" y="1261875"/>
            <a:ext cx="69315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السياق هو المعلومات التي لو لم تذكرها، سيتخيلها الذكاء الاصطناعي من تلقاء نفسه.</a:t>
            </a:r>
            <a:endParaRPr b="0" i="0" sz="1300" u="none" cap="none" strike="noStrike">
              <a:solidFill>
                <a:schemeClr val="dk1"/>
              </a:solidFill>
              <a:latin typeface="Calibri"/>
              <a:ea typeface="Calibri"/>
              <a:cs typeface="Calibri"/>
              <a:sym typeface="Calibri"/>
            </a:endParaRPr>
          </a:p>
        </p:txBody>
      </p:sp>
      <p:sp>
        <p:nvSpPr>
          <p:cNvPr id="209" name="Google Shape;209;p15"/>
          <p:cNvSpPr/>
          <p:nvPr/>
        </p:nvSpPr>
        <p:spPr>
          <a:xfrm>
            <a:off x="457200" y="1828800"/>
            <a:ext cx="3931800" cy="2331600"/>
          </a:xfrm>
          <a:prstGeom prst="roundRect">
            <a:avLst>
              <a:gd fmla="val 3137" name="adj"/>
            </a:avLst>
          </a:prstGeom>
          <a:solidFill>
            <a:srgbClr val="FFEDD5"/>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question_orange.png" id="210" name="Google Shape;210;p15"/>
          <p:cNvPicPr preferRelativeResize="0"/>
          <p:nvPr/>
        </p:nvPicPr>
        <p:blipFill rotWithShape="1">
          <a:blip r:embed="rId3">
            <a:alphaModFix/>
          </a:blip>
          <a:srcRect b="0" l="0" r="0" t="0"/>
          <a:stretch/>
        </p:blipFill>
        <p:spPr>
          <a:xfrm>
            <a:off x="3822192" y="2029968"/>
            <a:ext cx="365760" cy="365760"/>
          </a:xfrm>
          <a:prstGeom prst="rect">
            <a:avLst/>
          </a:prstGeom>
          <a:noFill/>
          <a:ln>
            <a:noFill/>
          </a:ln>
        </p:spPr>
      </p:pic>
      <p:sp>
        <p:nvSpPr>
          <p:cNvPr id="211" name="Google Shape;211;p15"/>
          <p:cNvSpPr/>
          <p:nvPr/>
        </p:nvSpPr>
        <p:spPr>
          <a:xfrm>
            <a:off x="685800" y="2011680"/>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بدون </a:t>
            </a:r>
            <a:r>
              <a:rPr b="1" lang="en-US" sz="1300">
                <a:solidFill>
                  <a:srgbClr val="0F172A"/>
                </a:solidFill>
                <a:latin typeface="Cairo"/>
                <a:ea typeface="Cairo"/>
                <a:cs typeface="Cairo"/>
                <a:sym typeface="Cairo"/>
              </a:rPr>
              <a:t>السياق</a:t>
            </a:r>
            <a:endParaRPr b="0" i="0" sz="1300" u="none" cap="none" strike="noStrike">
              <a:solidFill>
                <a:schemeClr val="dk1"/>
              </a:solidFill>
              <a:latin typeface="Calibri"/>
              <a:ea typeface="Calibri"/>
              <a:cs typeface="Calibri"/>
              <a:sym typeface="Calibri"/>
            </a:endParaRPr>
          </a:p>
        </p:txBody>
      </p:sp>
      <p:sp>
        <p:nvSpPr>
          <p:cNvPr id="212" name="Google Shape;212;p15"/>
          <p:cNvSpPr/>
          <p:nvPr/>
        </p:nvSpPr>
        <p:spPr>
          <a:xfrm>
            <a:off x="685800" y="2531925"/>
            <a:ext cx="3474600" cy="1464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اعطني أفكاراً لمشروع مدرسي.</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 الذكاء الاصطناعي يخمن: أي مرحلة؟ أي مادة؟ أي مهارات؟</a:t>
            </a:r>
            <a:endParaRPr b="0" i="0" sz="1050" u="none" cap="none" strike="noStrike">
              <a:solidFill>
                <a:schemeClr val="dk1"/>
              </a:solidFill>
              <a:latin typeface="Calibri"/>
              <a:ea typeface="Calibri"/>
              <a:cs typeface="Calibri"/>
              <a:sym typeface="Calibri"/>
            </a:endParaRPr>
          </a:p>
        </p:txBody>
      </p:sp>
      <p:sp>
        <p:nvSpPr>
          <p:cNvPr id="213" name="Google Shape;213;p15"/>
          <p:cNvSpPr/>
          <p:nvPr/>
        </p:nvSpPr>
        <p:spPr>
          <a:xfrm>
            <a:off x="4572000" y="1828800"/>
            <a:ext cx="4114800" cy="2331600"/>
          </a:xfrm>
          <a:prstGeom prst="roundRect">
            <a:avLst>
              <a:gd fmla="val 3137" name="adj"/>
            </a:avLst>
          </a:prstGeom>
          <a:solidFill>
            <a:srgbClr val="E0F2FE"/>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eck_sky.png" id="214" name="Google Shape;214;p15"/>
          <p:cNvPicPr preferRelativeResize="0"/>
          <p:nvPr/>
        </p:nvPicPr>
        <p:blipFill rotWithShape="1">
          <a:blip r:embed="rId4">
            <a:alphaModFix/>
          </a:blip>
          <a:srcRect b="0" l="0" r="0" t="0"/>
          <a:stretch/>
        </p:blipFill>
        <p:spPr>
          <a:xfrm>
            <a:off x="8119872" y="2029968"/>
            <a:ext cx="365760" cy="365760"/>
          </a:xfrm>
          <a:prstGeom prst="rect">
            <a:avLst/>
          </a:prstGeom>
          <a:noFill/>
          <a:ln>
            <a:noFill/>
          </a:ln>
        </p:spPr>
      </p:pic>
      <p:sp>
        <p:nvSpPr>
          <p:cNvPr id="215" name="Google Shape;215;p15"/>
          <p:cNvSpPr/>
          <p:nvPr/>
        </p:nvSpPr>
        <p:spPr>
          <a:xfrm>
            <a:off x="4800600" y="2011680"/>
            <a:ext cx="3200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مع </a:t>
            </a:r>
            <a:r>
              <a:rPr b="1" lang="en-US" sz="1300">
                <a:solidFill>
                  <a:srgbClr val="0F172A"/>
                </a:solidFill>
                <a:latin typeface="Cairo"/>
                <a:ea typeface="Cairo"/>
                <a:cs typeface="Cairo"/>
                <a:sym typeface="Cairo"/>
              </a:rPr>
              <a:t>السياق</a:t>
            </a:r>
            <a:endParaRPr b="0" i="0" sz="1300" u="none" cap="none" strike="noStrike">
              <a:solidFill>
                <a:schemeClr val="dk1"/>
              </a:solidFill>
              <a:latin typeface="Calibri"/>
              <a:ea typeface="Calibri"/>
              <a:cs typeface="Calibri"/>
              <a:sym typeface="Calibri"/>
            </a:endParaRPr>
          </a:p>
        </p:txBody>
      </p:sp>
      <p:sp>
        <p:nvSpPr>
          <p:cNvPr id="216" name="Google Shape;216;p15"/>
          <p:cNvSpPr/>
          <p:nvPr/>
        </p:nvSpPr>
        <p:spPr>
          <a:xfrm>
            <a:off x="4800600" y="2531988"/>
            <a:ext cx="3657600" cy="14640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أنا طالب أول ثانوي في مقرر الحاسب، المشروع عن الذكاء الاصطناعي، لدي أسبوعان.</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 إجابة دقيقة تناسب وضعك تماماً.</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16"/>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223" name="Google Shape;223;p16"/>
          <p:cNvSpPr/>
          <p:nvPr/>
        </p:nvSpPr>
        <p:spPr>
          <a:xfrm>
            <a:off x="457200" y="566925"/>
            <a:ext cx="68595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lang="en-US" sz="2600">
                <a:solidFill>
                  <a:srgbClr val="0F172A"/>
                </a:solidFill>
                <a:latin typeface="Cairo"/>
                <a:ea typeface="Cairo"/>
                <a:cs typeface="Cairo"/>
                <a:sym typeface="Cairo"/>
              </a:rPr>
              <a:t>المهمة </a:t>
            </a:r>
            <a:r>
              <a:rPr b="1" i="0" lang="en-US" sz="2600" u="none" cap="none" strike="noStrike">
                <a:solidFill>
                  <a:srgbClr val="0F172A"/>
                </a:solidFill>
                <a:latin typeface="Cairo"/>
                <a:ea typeface="Cairo"/>
                <a:cs typeface="Cairo"/>
                <a:sym typeface="Cairo"/>
              </a:rPr>
              <a:t>= Task · ما المهمة المحددة المطلوبة؟</a:t>
            </a:r>
            <a:endParaRPr b="0" i="0" sz="2600" u="none" cap="none" strike="noStrike">
              <a:solidFill>
                <a:schemeClr val="dk1"/>
              </a:solidFill>
              <a:latin typeface="Calibri"/>
              <a:ea typeface="Calibri"/>
              <a:cs typeface="Calibri"/>
              <a:sym typeface="Calibri"/>
            </a:endParaRPr>
          </a:p>
        </p:txBody>
      </p:sp>
      <p:sp>
        <p:nvSpPr>
          <p:cNvPr id="224" name="Google Shape;224;p16"/>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225" name="Google Shape;225;p16"/>
          <p:cNvSpPr/>
          <p:nvPr/>
        </p:nvSpPr>
        <p:spPr>
          <a:xfrm>
            <a:off x="7546105" y="639970"/>
            <a:ext cx="1005900" cy="1005900"/>
          </a:xfrm>
          <a:prstGeom prst="ellipse">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
          <p:cNvSpPr/>
          <p:nvPr/>
        </p:nvSpPr>
        <p:spPr>
          <a:xfrm>
            <a:off x="7546105" y="63997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iro"/>
              <a:buNone/>
            </a:pPr>
            <a:r>
              <a:rPr b="1" i="0" lang="en-US" sz="3400" u="none" cap="none" strike="noStrike">
                <a:solidFill>
                  <a:srgbClr val="FFFFFF"/>
                </a:solidFill>
                <a:latin typeface="Cairo"/>
                <a:ea typeface="Cairo"/>
                <a:cs typeface="Cairo"/>
                <a:sym typeface="Cairo"/>
              </a:rPr>
              <a:t>T</a:t>
            </a:r>
            <a:endParaRPr b="0" i="0" sz="3400" u="none" cap="none" strike="noStrike">
              <a:solidFill>
                <a:schemeClr val="dk1"/>
              </a:solidFill>
              <a:latin typeface="Calibri"/>
              <a:ea typeface="Calibri"/>
              <a:cs typeface="Calibri"/>
              <a:sym typeface="Calibri"/>
            </a:endParaRPr>
          </a:p>
        </p:txBody>
      </p:sp>
      <p:sp>
        <p:nvSpPr>
          <p:cNvPr id="227" name="Google Shape;227;p16"/>
          <p:cNvSpPr/>
          <p:nvPr/>
        </p:nvSpPr>
        <p:spPr>
          <a:xfrm>
            <a:off x="5270735" y="1898655"/>
            <a:ext cx="1554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28" name="Google Shape;228;p16"/>
          <p:cNvSpPr/>
          <p:nvPr/>
        </p:nvSpPr>
        <p:spPr>
          <a:xfrm>
            <a:off x="457200" y="1261875"/>
            <a:ext cx="67875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المهمة هي الفعل الذي تريده. كلما كانت أكثر تحديداً، كان الناتج أكثر دقة.</a:t>
            </a:r>
            <a:endParaRPr b="0" i="0" sz="1300" u="none" cap="none" strike="noStrike">
              <a:solidFill>
                <a:schemeClr val="dk1"/>
              </a:solidFill>
              <a:latin typeface="Calibri"/>
              <a:ea typeface="Calibri"/>
              <a:cs typeface="Calibri"/>
              <a:sym typeface="Calibri"/>
            </a:endParaRPr>
          </a:p>
        </p:txBody>
      </p:sp>
      <p:sp>
        <p:nvSpPr>
          <p:cNvPr id="229" name="Google Shape;229;p16"/>
          <p:cNvSpPr/>
          <p:nvPr/>
        </p:nvSpPr>
        <p:spPr>
          <a:xfrm>
            <a:off x="5315750" y="1915628"/>
            <a:ext cx="3566100" cy="658500"/>
          </a:xfrm>
          <a:prstGeom prst="roundRect">
            <a:avLst>
              <a:gd fmla="val 8333" name="adj"/>
            </a:avLst>
          </a:prstGeom>
          <a:solidFill>
            <a:srgbClr val="FFED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5498630" y="1915628"/>
            <a:ext cx="32004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A580C"/>
              </a:buClr>
              <a:buSzPts val="1200"/>
              <a:buFont typeface="Cairo"/>
              <a:buNone/>
            </a:pPr>
            <a:r>
              <a:rPr b="1" i="0" lang="en-US" sz="1200" u="none" cap="none" strike="noStrike">
                <a:solidFill>
                  <a:srgbClr val="EA580C"/>
                </a:solidFill>
                <a:latin typeface="Cairo"/>
                <a:ea typeface="Cairo"/>
                <a:cs typeface="Cairo"/>
                <a:sym typeface="Cairo"/>
              </a:rPr>
              <a:t>ساعدني</a:t>
            </a:r>
            <a:endParaRPr b="0" i="0" sz="1200" u="none" cap="none" strike="noStrike">
              <a:solidFill>
                <a:schemeClr val="dk1"/>
              </a:solidFill>
              <a:latin typeface="Calibri"/>
              <a:ea typeface="Calibri"/>
              <a:cs typeface="Calibri"/>
              <a:sym typeface="Calibri"/>
            </a:endParaRPr>
          </a:p>
        </p:txBody>
      </p:sp>
      <p:sp>
        <p:nvSpPr>
          <p:cNvPr id="231" name="Google Shape;231;p16"/>
          <p:cNvSpPr/>
          <p:nvPr/>
        </p:nvSpPr>
        <p:spPr>
          <a:xfrm>
            <a:off x="227895" y="1915628"/>
            <a:ext cx="3840600" cy="658500"/>
          </a:xfrm>
          <a:prstGeom prst="roundRect">
            <a:avLst>
              <a:gd fmla="val 8333" name="adj"/>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410775" y="1915628"/>
            <a:ext cx="34746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200"/>
              <a:buFont typeface="Cairo"/>
              <a:buNone/>
            </a:pPr>
            <a:r>
              <a:rPr b="1" i="0" lang="en-US" sz="1200" u="none" cap="none" strike="noStrike">
                <a:solidFill>
                  <a:srgbClr val="0284C7"/>
                </a:solidFill>
                <a:latin typeface="Cairo"/>
                <a:ea typeface="Cairo"/>
                <a:cs typeface="Cairo"/>
                <a:sym typeface="Cairo"/>
              </a:rPr>
              <a:t>اكتب خطة مذاكرة أسبوعية</a:t>
            </a:r>
            <a:endParaRPr b="0" i="0" sz="1200" u="none" cap="none" strike="noStrike">
              <a:solidFill>
                <a:schemeClr val="dk1"/>
              </a:solidFill>
              <a:latin typeface="Calibri"/>
              <a:ea typeface="Calibri"/>
              <a:cs typeface="Calibri"/>
              <a:sym typeface="Calibri"/>
            </a:endParaRPr>
          </a:p>
        </p:txBody>
      </p:sp>
      <p:sp>
        <p:nvSpPr>
          <p:cNvPr id="233" name="Google Shape;233;p16"/>
          <p:cNvSpPr/>
          <p:nvPr/>
        </p:nvSpPr>
        <p:spPr>
          <a:xfrm>
            <a:off x="5315750" y="2692867"/>
            <a:ext cx="3566100" cy="658500"/>
          </a:xfrm>
          <a:prstGeom prst="roundRect">
            <a:avLst>
              <a:gd fmla="val 8333" name="adj"/>
            </a:avLst>
          </a:prstGeom>
          <a:solidFill>
            <a:srgbClr val="FFED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5498630" y="2692867"/>
            <a:ext cx="32004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A580C"/>
              </a:buClr>
              <a:buSzPts val="1200"/>
              <a:buFont typeface="Cairo"/>
              <a:buNone/>
            </a:pPr>
            <a:r>
              <a:rPr b="1" i="0" lang="en-US" sz="1200" u="none" cap="none" strike="noStrike">
                <a:solidFill>
                  <a:srgbClr val="EA580C"/>
                </a:solidFill>
                <a:latin typeface="Cairo"/>
                <a:ea typeface="Cairo"/>
                <a:cs typeface="Cairo"/>
                <a:sym typeface="Cairo"/>
              </a:rPr>
              <a:t>أخبرني عن كذا</a:t>
            </a:r>
            <a:endParaRPr b="0" i="0" sz="1200" u="none" cap="none" strike="noStrike">
              <a:solidFill>
                <a:schemeClr val="dk1"/>
              </a:solidFill>
              <a:latin typeface="Calibri"/>
              <a:ea typeface="Calibri"/>
              <a:cs typeface="Calibri"/>
              <a:sym typeface="Calibri"/>
            </a:endParaRPr>
          </a:p>
        </p:txBody>
      </p:sp>
      <p:sp>
        <p:nvSpPr>
          <p:cNvPr id="235" name="Google Shape;235;p16"/>
          <p:cNvSpPr/>
          <p:nvPr/>
        </p:nvSpPr>
        <p:spPr>
          <a:xfrm>
            <a:off x="227895" y="2692867"/>
            <a:ext cx="3840600" cy="658500"/>
          </a:xfrm>
          <a:prstGeom prst="roundRect">
            <a:avLst>
              <a:gd fmla="val 8333" name="adj"/>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410775" y="2692867"/>
            <a:ext cx="34746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200"/>
              <a:buFont typeface="Cairo"/>
              <a:buNone/>
            </a:pPr>
            <a:r>
              <a:rPr b="1" i="0" lang="en-US" sz="1200" u="none" cap="none" strike="noStrike">
                <a:solidFill>
                  <a:srgbClr val="0284C7"/>
                </a:solidFill>
                <a:latin typeface="Cairo"/>
                <a:ea typeface="Cairo"/>
                <a:cs typeface="Cairo"/>
                <a:sym typeface="Cairo"/>
              </a:rPr>
              <a:t>لخّص المفهوم في ٥ نقاط</a:t>
            </a:r>
            <a:endParaRPr b="0" i="0" sz="1200" u="none" cap="none" strike="noStrike">
              <a:solidFill>
                <a:schemeClr val="dk1"/>
              </a:solidFill>
              <a:latin typeface="Calibri"/>
              <a:ea typeface="Calibri"/>
              <a:cs typeface="Calibri"/>
              <a:sym typeface="Calibri"/>
            </a:endParaRPr>
          </a:p>
        </p:txBody>
      </p:sp>
      <p:sp>
        <p:nvSpPr>
          <p:cNvPr id="237" name="Google Shape;237;p16"/>
          <p:cNvSpPr/>
          <p:nvPr/>
        </p:nvSpPr>
        <p:spPr>
          <a:xfrm>
            <a:off x="5315750" y="3470107"/>
            <a:ext cx="3566100" cy="658500"/>
          </a:xfrm>
          <a:prstGeom prst="roundRect">
            <a:avLst>
              <a:gd fmla="val 8333" name="adj"/>
            </a:avLst>
          </a:prstGeom>
          <a:solidFill>
            <a:srgbClr val="FFED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5498630" y="3470107"/>
            <a:ext cx="32004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A580C"/>
              </a:buClr>
              <a:buSzPts val="1200"/>
              <a:buFont typeface="Cairo"/>
              <a:buNone/>
            </a:pPr>
            <a:r>
              <a:rPr b="1" lang="en-US" sz="1200">
                <a:solidFill>
                  <a:srgbClr val="EA580C"/>
                </a:solidFill>
                <a:latin typeface="Cairo"/>
                <a:ea typeface="Cairo"/>
                <a:cs typeface="Cairo"/>
                <a:sym typeface="Cairo"/>
              </a:rPr>
              <a:t>اسألني</a:t>
            </a:r>
            <a:endParaRPr b="0" i="0" sz="1200" u="none" cap="none" strike="noStrike">
              <a:solidFill>
                <a:schemeClr val="dk1"/>
              </a:solidFill>
              <a:latin typeface="Calibri"/>
              <a:ea typeface="Calibri"/>
              <a:cs typeface="Calibri"/>
              <a:sym typeface="Calibri"/>
            </a:endParaRPr>
          </a:p>
        </p:txBody>
      </p:sp>
      <p:sp>
        <p:nvSpPr>
          <p:cNvPr id="239" name="Google Shape;239;p16"/>
          <p:cNvSpPr/>
          <p:nvPr/>
        </p:nvSpPr>
        <p:spPr>
          <a:xfrm flipH="1">
            <a:off x="4315319" y="3639300"/>
            <a:ext cx="640500" cy="320100"/>
          </a:xfrm>
          <a:prstGeom prst="rightArrow">
            <a:avLst>
              <a:gd fmla="val 37246" name="adj1"/>
              <a:gd fmla="val 50000" name="adj2"/>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227895" y="3470107"/>
            <a:ext cx="3840600" cy="658500"/>
          </a:xfrm>
          <a:prstGeom prst="roundRect">
            <a:avLst>
              <a:gd fmla="val 8333" name="adj"/>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p:nvPr/>
        </p:nvSpPr>
        <p:spPr>
          <a:xfrm>
            <a:off x="410775" y="3470107"/>
            <a:ext cx="3474600" cy="658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200"/>
              <a:buFont typeface="Cairo"/>
              <a:buNone/>
            </a:pPr>
            <a:r>
              <a:rPr b="1" i="0" lang="en-US" sz="1200" u="none" cap="none" strike="noStrike">
                <a:solidFill>
                  <a:srgbClr val="0284C7"/>
                </a:solidFill>
                <a:latin typeface="Cairo"/>
                <a:ea typeface="Cairo"/>
                <a:cs typeface="Cairo"/>
                <a:sym typeface="Cairo"/>
              </a:rPr>
              <a:t>صمّم ٣ أسئلة اختيار من متعدد</a:t>
            </a:r>
            <a:endParaRPr b="0" i="0" sz="1200" u="none" cap="none" strike="noStrike">
              <a:solidFill>
                <a:schemeClr val="dk1"/>
              </a:solidFill>
              <a:latin typeface="Calibri"/>
              <a:ea typeface="Calibri"/>
              <a:cs typeface="Calibri"/>
              <a:sym typeface="Calibri"/>
            </a:endParaRPr>
          </a:p>
        </p:txBody>
      </p:sp>
      <p:sp>
        <p:nvSpPr>
          <p:cNvPr id="242" name="Google Shape;242;p16"/>
          <p:cNvSpPr/>
          <p:nvPr/>
        </p:nvSpPr>
        <p:spPr>
          <a:xfrm flipH="1">
            <a:off x="4315332" y="2862075"/>
            <a:ext cx="640500" cy="320100"/>
          </a:xfrm>
          <a:prstGeom prst="rightArrow">
            <a:avLst>
              <a:gd fmla="val 37246" name="adj1"/>
              <a:gd fmla="val 50000" name="adj2"/>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
          <p:cNvSpPr/>
          <p:nvPr/>
        </p:nvSpPr>
        <p:spPr>
          <a:xfrm flipH="1">
            <a:off x="4257807" y="2093925"/>
            <a:ext cx="640500" cy="320100"/>
          </a:xfrm>
          <a:prstGeom prst="rightArrow">
            <a:avLst>
              <a:gd fmla="val 37246" name="adj1"/>
              <a:gd fmla="val 50000" name="adj2"/>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17"/>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250" name="Google Shape;250;p17"/>
          <p:cNvSpPr/>
          <p:nvPr/>
        </p:nvSpPr>
        <p:spPr>
          <a:xfrm>
            <a:off x="457200" y="566925"/>
            <a:ext cx="68355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lang="en-US" sz="2600">
                <a:solidFill>
                  <a:srgbClr val="0F172A"/>
                </a:solidFill>
                <a:latin typeface="Cairo"/>
                <a:ea typeface="Cairo"/>
                <a:cs typeface="Cairo"/>
                <a:sym typeface="Cairo"/>
              </a:rPr>
              <a:t>الشكل </a:t>
            </a:r>
            <a:r>
              <a:rPr b="1" i="0" lang="en-US" sz="2600" u="none" cap="none" strike="noStrike">
                <a:solidFill>
                  <a:srgbClr val="0F172A"/>
                </a:solidFill>
                <a:latin typeface="Cairo"/>
                <a:ea typeface="Cairo"/>
                <a:cs typeface="Cairo"/>
                <a:sym typeface="Cairo"/>
              </a:rPr>
              <a:t>= Format · كيف تريد المخرج؟</a:t>
            </a:r>
            <a:endParaRPr b="0" i="0" sz="2600" u="none" cap="none" strike="noStrike">
              <a:solidFill>
                <a:schemeClr val="dk1"/>
              </a:solidFill>
              <a:latin typeface="Calibri"/>
              <a:ea typeface="Calibri"/>
              <a:cs typeface="Calibri"/>
              <a:sym typeface="Calibri"/>
            </a:endParaRPr>
          </a:p>
        </p:txBody>
      </p:sp>
      <p:sp>
        <p:nvSpPr>
          <p:cNvPr id="251" name="Google Shape;251;p17"/>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252" name="Google Shape;252;p17"/>
          <p:cNvSpPr/>
          <p:nvPr/>
        </p:nvSpPr>
        <p:spPr>
          <a:xfrm>
            <a:off x="7562130" y="639970"/>
            <a:ext cx="1005900" cy="1005900"/>
          </a:xfrm>
          <a:prstGeom prst="ellipse">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
          <p:cNvSpPr/>
          <p:nvPr/>
        </p:nvSpPr>
        <p:spPr>
          <a:xfrm>
            <a:off x="7562130" y="63997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airo"/>
              <a:buNone/>
            </a:pPr>
            <a:r>
              <a:rPr b="1" i="0" lang="en-US" sz="3400" u="none" cap="none" strike="noStrike">
                <a:solidFill>
                  <a:srgbClr val="FFFFFF"/>
                </a:solidFill>
                <a:latin typeface="Cairo"/>
                <a:ea typeface="Cairo"/>
                <a:cs typeface="Cairo"/>
                <a:sym typeface="Cairo"/>
              </a:rPr>
              <a:t>F</a:t>
            </a:r>
            <a:endParaRPr b="0" i="0" sz="3400" u="none" cap="none" strike="noStrike">
              <a:solidFill>
                <a:schemeClr val="dk1"/>
              </a:solidFill>
              <a:latin typeface="Calibri"/>
              <a:ea typeface="Calibri"/>
              <a:cs typeface="Calibri"/>
              <a:sym typeface="Calibri"/>
            </a:endParaRPr>
          </a:p>
        </p:txBody>
      </p:sp>
      <p:sp>
        <p:nvSpPr>
          <p:cNvPr id="254" name="Google Shape;254;p17"/>
          <p:cNvSpPr/>
          <p:nvPr/>
        </p:nvSpPr>
        <p:spPr>
          <a:xfrm>
            <a:off x="7223760" y="1554480"/>
            <a:ext cx="1554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255" name="Google Shape;255;p17"/>
          <p:cNvSpPr/>
          <p:nvPr/>
        </p:nvSpPr>
        <p:spPr>
          <a:xfrm>
            <a:off x="457200" y="1261875"/>
            <a:ext cx="68355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شكل المخرج يحدد كيف يُقدَّم المحتوى. بدونه، الذكاء الاصطناعي يختار بنفسه.</a:t>
            </a:r>
            <a:endParaRPr b="0" i="0" sz="1300" u="none" cap="none" strike="noStrike">
              <a:solidFill>
                <a:schemeClr val="dk1"/>
              </a:solidFill>
              <a:latin typeface="Calibri"/>
              <a:ea typeface="Calibri"/>
              <a:cs typeface="Calibri"/>
              <a:sym typeface="Calibri"/>
            </a:endParaRPr>
          </a:p>
        </p:txBody>
      </p:sp>
      <p:sp>
        <p:nvSpPr>
          <p:cNvPr id="256" name="Google Shape;256;p17"/>
          <p:cNvSpPr/>
          <p:nvPr/>
        </p:nvSpPr>
        <p:spPr>
          <a:xfrm>
            <a:off x="457200" y="1874524"/>
            <a:ext cx="1874400" cy="1801200"/>
          </a:xfrm>
          <a:prstGeom prst="roundRect">
            <a:avLst>
              <a:gd fmla="val 3902" name="adj"/>
            </a:avLst>
          </a:prstGeom>
          <a:solidFill>
            <a:srgbClr val="F1F5F9"/>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listul_sky.png" id="257" name="Google Shape;257;p17"/>
          <p:cNvPicPr preferRelativeResize="0"/>
          <p:nvPr/>
        </p:nvPicPr>
        <p:blipFill rotWithShape="1">
          <a:blip r:embed="rId3">
            <a:alphaModFix/>
          </a:blip>
          <a:srcRect b="0" l="0" r="0" t="0"/>
          <a:stretch/>
        </p:blipFill>
        <p:spPr>
          <a:xfrm>
            <a:off x="1764792" y="2075688"/>
            <a:ext cx="365760" cy="365760"/>
          </a:xfrm>
          <a:prstGeom prst="rect">
            <a:avLst/>
          </a:prstGeom>
          <a:noFill/>
          <a:ln>
            <a:noFill/>
          </a:ln>
        </p:spPr>
      </p:pic>
      <p:sp>
        <p:nvSpPr>
          <p:cNvPr id="258" name="Google Shape;258;p17"/>
          <p:cNvSpPr/>
          <p:nvPr/>
        </p:nvSpPr>
        <p:spPr>
          <a:xfrm>
            <a:off x="685800" y="2057400"/>
            <a:ext cx="9600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نقاط مرقمة</a:t>
            </a:r>
            <a:endParaRPr b="0" i="0" sz="1300" u="none" cap="none" strike="noStrike">
              <a:solidFill>
                <a:schemeClr val="dk1"/>
              </a:solidFill>
              <a:latin typeface="Calibri"/>
              <a:ea typeface="Calibri"/>
              <a:cs typeface="Calibri"/>
              <a:sym typeface="Calibri"/>
            </a:endParaRPr>
          </a:p>
        </p:txBody>
      </p:sp>
      <p:sp>
        <p:nvSpPr>
          <p:cNvPr id="259" name="Google Shape;259;p17"/>
          <p:cNvSpPr/>
          <p:nvPr/>
        </p:nvSpPr>
        <p:spPr>
          <a:xfrm>
            <a:off x="685800" y="2542851"/>
            <a:ext cx="1417200" cy="10059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مثالي للخطوات والتعليمات</a:t>
            </a:r>
            <a:endParaRPr b="0" i="0" sz="1050" u="none" cap="none" strike="noStrike">
              <a:solidFill>
                <a:schemeClr val="dk1"/>
              </a:solidFill>
              <a:latin typeface="Calibri"/>
              <a:ea typeface="Calibri"/>
              <a:cs typeface="Calibri"/>
              <a:sym typeface="Calibri"/>
            </a:endParaRPr>
          </a:p>
        </p:txBody>
      </p:sp>
      <p:sp>
        <p:nvSpPr>
          <p:cNvPr id="260" name="Google Shape;260;p17"/>
          <p:cNvSpPr/>
          <p:nvPr/>
        </p:nvSpPr>
        <p:spPr>
          <a:xfrm>
            <a:off x="2441450" y="1874524"/>
            <a:ext cx="1874400" cy="1801200"/>
          </a:xfrm>
          <a:prstGeom prst="roundRect">
            <a:avLst>
              <a:gd fmla="val 3902" name="adj"/>
            </a:avLst>
          </a:prstGeom>
          <a:solidFill>
            <a:srgbClr val="F1F5F9"/>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rt_sky.png" id="261" name="Google Shape;261;p17"/>
          <p:cNvPicPr preferRelativeResize="0"/>
          <p:nvPr/>
        </p:nvPicPr>
        <p:blipFill rotWithShape="1">
          <a:blip r:embed="rId4">
            <a:alphaModFix/>
          </a:blip>
          <a:srcRect b="0" l="0" r="0" t="0"/>
          <a:stretch/>
        </p:blipFill>
        <p:spPr>
          <a:xfrm>
            <a:off x="3749040" y="2075688"/>
            <a:ext cx="365760" cy="365760"/>
          </a:xfrm>
          <a:prstGeom prst="rect">
            <a:avLst/>
          </a:prstGeom>
          <a:noFill/>
          <a:ln>
            <a:noFill/>
          </a:ln>
        </p:spPr>
      </p:pic>
      <p:sp>
        <p:nvSpPr>
          <p:cNvPr id="262" name="Google Shape;262;p17"/>
          <p:cNvSpPr/>
          <p:nvPr/>
        </p:nvSpPr>
        <p:spPr>
          <a:xfrm>
            <a:off x="2670048" y="2057400"/>
            <a:ext cx="9600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جدول</a:t>
            </a:r>
            <a:endParaRPr b="0" i="0" sz="1300" u="none" cap="none" strike="noStrike">
              <a:solidFill>
                <a:schemeClr val="dk1"/>
              </a:solidFill>
              <a:latin typeface="Calibri"/>
              <a:ea typeface="Calibri"/>
              <a:cs typeface="Calibri"/>
              <a:sym typeface="Calibri"/>
            </a:endParaRPr>
          </a:p>
        </p:txBody>
      </p:sp>
      <p:sp>
        <p:nvSpPr>
          <p:cNvPr id="263" name="Google Shape;263;p17"/>
          <p:cNvSpPr/>
          <p:nvPr/>
        </p:nvSpPr>
        <p:spPr>
          <a:xfrm>
            <a:off x="2670050" y="2542851"/>
            <a:ext cx="1417200" cy="10059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مثالي للمقارنات والبيانات</a:t>
            </a:r>
            <a:endParaRPr b="0" i="0" sz="1050" u="none" cap="none" strike="noStrike">
              <a:solidFill>
                <a:schemeClr val="dk1"/>
              </a:solidFill>
              <a:latin typeface="Calibri"/>
              <a:ea typeface="Calibri"/>
              <a:cs typeface="Calibri"/>
              <a:sym typeface="Calibri"/>
            </a:endParaRPr>
          </a:p>
        </p:txBody>
      </p:sp>
      <p:sp>
        <p:nvSpPr>
          <p:cNvPr id="264" name="Google Shape;264;p17"/>
          <p:cNvSpPr/>
          <p:nvPr/>
        </p:nvSpPr>
        <p:spPr>
          <a:xfrm>
            <a:off x="4425699" y="1874524"/>
            <a:ext cx="1874400" cy="1801200"/>
          </a:xfrm>
          <a:prstGeom prst="roundRect">
            <a:avLst>
              <a:gd fmla="val 3902" name="adj"/>
            </a:avLst>
          </a:prstGeom>
          <a:solidFill>
            <a:srgbClr val="F1F5F9"/>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extfile_sky.png" id="265" name="Google Shape;265;p17"/>
          <p:cNvPicPr preferRelativeResize="0"/>
          <p:nvPr/>
        </p:nvPicPr>
        <p:blipFill rotWithShape="1">
          <a:blip r:embed="rId5">
            <a:alphaModFix/>
          </a:blip>
          <a:srcRect b="0" l="0" r="0" t="0"/>
          <a:stretch/>
        </p:blipFill>
        <p:spPr>
          <a:xfrm>
            <a:off x="5733288" y="2075688"/>
            <a:ext cx="365760" cy="365760"/>
          </a:xfrm>
          <a:prstGeom prst="rect">
            <a:avLst/>
          </a:prstGeom>
          <a:noFill/>
          <a:ln>
            <a:noFill/>
          </a:ln>
        </p:spPr>
      </p:pic>
      <p:sp>
        <p:nvSpPr>
          <p:cNvPr id="266" name="Google Shape;266;p17"/>
          <p:cNvSpPr/>
          <p:nvPr/>
        </p:nvSpPr>
        <p:spPr>
          <a:xfrm>
            <a:off x="4654296" y="2057400"/>
            <a:ext cx="9600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فقرة نثرية</a:t>
            </a:r>
            <a:endParaRPr b="0" i="0" sz="1300" u="none" cap="none" strike="noStrike">
              <a:solidFill>
                <a:schemeClr val="dk1"/>
              </a:solidFill>
              <a:latin typeface="Calibri"/>
              <a:ea typeface="Calibri"/>
              <a:cs typeface="Calibri"/>
              <a:sym typeface="Calibri"/>
            </a:endParaRPr>
          </a:p>
        </p:txBody>
      </p:sp>
      <p:sp>
        <p:nvSpPr>
          <p:cNvPr id="267" name="Google Shape;267;p17"/>
          <p:cNvSpPr/>
          <p:nvPr/>
        </p:nvSpPr>
        <p:spPr>
          <a:xfrm>
            <a:off x="4654300" y="2542824"/>
            <a:ext cx="1417200" cy="10059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مثالي للشرح والمقالات</a:t>
            </a:r>
            <a:endParaRPr b="0" i="0" sz="1050" u="none" cap="none" strike="noStrike">
              <a:solidFill>
                <a:schemeClr val="dk1"/>
              </a:solidFill>
              <a:latin typeface="Calibri"/>
              <a:ea typeface="Calibri"/>
              <a:cs typeface="Calibri"/>
              <a:sym typeface="Calibri"/>
            </a:endParaRPr>
          </a:p>
        </p:txBody>
      </p:sp>
      <p:sp>
        <p:nvSpPr>
          <p:cNvPr id="268" name="Google Shape;268;p17"/>
          <p:cNvSpPr/>
          <p:nvPr/>
        </p:nvSpPr>
        <p:spPr>
          <a:xfrm>
            <a:off x="6409949" y="1874524"/>
            <a:ext cx="1874400" cy="1801200"/>
          </a:xfrm>
          <a:prstGeom prst="roundRect">
            <a:avLst>
              <a:gd fmla="val 3902" name="adj"/>
            </a:avLst>
          </a:prstGeom>
          <a:solidFill>
            <a:srgbClr val="F1F5F9"/>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image_sky.png" id="269" name="Google Shape;269;p17"/>
          <p:cNvPicPr preferRelativeResize="0"/>
          <p:nvPr/>
        </p:nvPicPr>
        <p:blipFill rotWithShape="1">
          <a:blip r:embed="rId6">
            <a:alphaModFix/>
          </a:blip>
          <a:srcRect b="0" l="0" r="0" t="0"/>
          <a:stretch/>
        </p:blipFill>
        <p:spPr>
          <a:xfrm>
            <a:off x="7717536" y="2075688"/>
            <a:ext cx="365760" cy="365760"/>
          </a:xfrm>
          <a:prstGeom prst="rect">
            <a:avLst/>
          </a:prstGeom>
          <a:noFill/>
          <a:ln>
            <a:noFill/>
          </a:ln>
        </p:spPr>
      </p:pic>
      <p:sp>
        <p:nvSpPr>
          <p:cNvPr id="270" name="Google Shape;270;p17"/>
          <p:cNvSpPr/>
          <p:nvPr/>
        </p:nvSpPr>
        <p:spPr>
          <a:xfrm>
            <a:off x="6638544" y="2057400"/>
            <a:ext cx="9600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وصف بصري</a:t>
            </a:r>
            <a:endParaRPr b="0" i="0" sz="1300" u="none" cap="none" strike="noStrike">
              <a:solidFill>
                <a:schemeClr val="dk1"/>
              </a:solidFill>
              <a:latin typeface="Calibri"/>
              <a:ea typeface="Calibri"/>
              <a:cs typeface="Calibri"/>
              <a:sym typeface="Calibri"/>
            </a:endParaRPr>
          </a:p>
        </p:txBody>
      </p:sp>
      <p:sp>
        <p:nvSpPr>
          <p:cNvPr id="271" name="Google Shape;271;p17"/>
          <p:cNvSpPr/>
          <p:nvPr/>
        </p:nvSpPr>
        <p:spPr>
          <a:xfrm>
            <a:off x="6638550" y="2542924"/>
            <a:ext cx="1417200" cy="10059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مثالي لأوامر توليد الصور</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8"/>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278" name="Google Shape;278;p18"/>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مثال متكامل بإطار RCTF</a:t>
            </a:r>
            <a:endParaRPr b="0" i="0" sz="2600" u="none" cap="none" strike="noStrike">
              <a:solidFill>
                <a:schemeClr val="dk1"/>
              </a:solidFill>
              <a:latin typeface="Calibri"/>
              <a:ea typeface="Calibri"/>
              <a:cs typeface="Calibri"/>
              <a:sym typeface="Calibri"/>
            </a:endParaRPr>
          </a:p>
        </p:txBody>
      </p:sp>
      <p:sp>
        <p:nvSpPr>
          <p:cNvPr id="279" name="Google Shape;279;p18"/>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280" name="Google Shape;280;p18"/>
          <p:cNvSpPr/>
          <p:nvPr/>
        </p:nvSpPr>
        <p:spPr>
          <a:xfrm>
            <a:off x="7955280" y="1481328"/>
            <a:ext cx="502800" cy="5028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8"/>
          <p:cNvSpPr/>
          <p:nvPr/>
        </p:nvSpPr>
        <p:spPr>
          <a:xfrm>
            <a:off x="7955280" y="1481328"/>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iro"/>
              <a:buNone/>
            </a:pPr>
            <a:r>
              <a:rPr b="1" i="0" lang="en-US" sz="1600" u="none" cap="none" strike="noStrike">
                <a:solidFill>
                  <a:srgbClr val="FFFFFF"/>
                </a:solidFill>
                <a:latin typeface="Cairo"/>
                <a:ea typeface="Cairo"/>
                <a:cs typeface="Cairo"/>
                <a:sym typeface="Cairo"/>
              </a:rPr>
              <a:t>R</a:t>
            </a:r>
            <a:endParaRPr b="0" i="0" sz="1600" u="none" cap="none" strike="noStrike">
              <a:solidFill>
                <a:schemeClr val="dk1"/>
              </a:solidFill>
              <a:latin typeface="Calibri"/>
              <a:ea typeface="Calibri"/>
              <a:cs typeface="Calibri"/>
              <a:sym typeface="Calibri"/>
            </a:endParaRPr>
          </a:p>
        </p:txBody>
      </p:sp>
      <p:sp>
        <p:nvSpPr>
          <p:cNvPr id="282" name="Google Shape;282;p18"/>
          <p:cNvSpPr/>
          <p:nvPr/>
        </p:nvSpPr>
        <p:spPr>
          <a:xfrm>
            <a:off x="457200" y="1371600"/>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p:nvPr/>
        </p:nvSpPr>
        <p:spPr>
          <a:xfrm>
            <a:off x="640080" y="1371600"/>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أنت معلم لغة عربية لديه خبرة ١٠ سنوات مع طلاب الثانوية.</a:t>
            </a:r>
            <a:endParaRPr b="0" i="0" sz="1200" u="none" cap="none" strike="noStrike">
              <a:solidFill>
                <a:schemeClr val="dk1"/>
              </a:solidFill>
              <a:latin typeface="Calibri"/>
              <a:ea typeface="Calibri"/>
              <a:cs typeface="Calibri"/>
              <a:sym typeface="Calibri"/>
            </a:endParaRPr>
          </a:p>
        </p:txBody>
      </p:sp>
      <p:sp>
        <p:nvSpPr>
          <p:cNvPr id="284" name="Google Shape;284;p18"/>
          <p:cNvSpPr/>
          <p:nvPr/>
        </p:nvSpPr>
        <p:spPr>
          <a:xfrm>
            <a:off x="7955280" y="2286000"/>
            <a:ext cx="502800" cy="502800"/>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8"/>
          <p:cNvSpPr/>
          <p:nvPr/>
        </p:nvSpPr>
        <p:spPr>
          <a:xfrm>
            <a:off x="7955280" y="2286000"/>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iro"/>
              <a:buNone/>
            </a:pPr>
            <a:r>
              <a:rPr b="1" i="0" lang="en-US" sz="1600" u="none" cap="none" strike="noStrike">
                <a:solidFill>
                  <a:srgbClr val="FFFFFF"/>
                </a:solidFill>
                <a:latin typeface="Cairo"/>
                <a:ea typeface="Cairo"/>
                <a:cs typeface="Cairo"/>
                <a:sym typeface="Cairo"/>
              </a:rPr>
              <a:t>C</a:t>
            </a:r>
            <a:endParaRPr b="0" i="0" sz="1600" u="none" cap="none" strike="noStrike">
              <a:solidFill>
                <a:schemeClr val="dk1"/>
              </a:solidFill>
              <a:latin typeface="Calibri"/>
              <a:ea typeface="Calibri"/>
              <a:cs typeface="Calibri"/>
              <a:sym typeface="Calibri"/>
            </a:endParaRPr>
          </a:p>
        </p:txBody>
      </p:sp>
      <p:sp>
        <p:nvSpPr>
          <p:cNvPr id="286" name="Google Shape;286;p18"/>
          <p:cNvSpPr/>
          <p:nvPr/>
        </p:nvSpPr>
        <p:spPr>
          <a:xfrm>
            <a:off x="457200" y="2176272"/>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8"/>
          <p:cNvSpPr/>
          <p:nvPr/>
        </p:nvSpPr>
        <p:spPr>
          <a:xfrm>
            <a:off x="640080" y="2176272"/>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طالبتي في الصف الأول الثانوي تجد صعوبة في فهم النحو.</a:t>
            </a:r>
            <a:endParaRPr b="0" i="0" sz="1200" u="none" cap="none" strike="noStrike">
              <a:solidFill>
                <a:schemeClr val="dk1"/>
              </a:solidFill>
              <a:latin typeface="Calibri"/>
              <a:ea typeface="Calibri"/>
              <a:cs typeface="Calibri"/>
              <a:sym typeface="Calibri"/>
            </a:endParaRPr>
          </a:p>
        </p:txBody>
      </p:sp>
      <p:sp>
        <p:nvSpPr>
          <p:cNvPr id="288" name="Google Shape;288;p18"/>
          <p:cNvSpPr/>
          <p:nvPr/>
        </p:nvSpPr>
        <p:spPr>
          <a:xfrm>
            <a:off x="7955280" y="3090672"/>
            <a:ext cx="502800" cy="502800"/>
          </a:xfrm>
          <a:prstGeom prst="ellipse">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p:nvPr/>
        </p:nvSpPr>
        <p:spPr>
          <a:xfrm>
            <a:off x="7955280" y="3090672"/>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iro"/>
              <a:buNone/>
            </a:pPr>
            <a:r>
              <a:rPr b="1" i="0" lang="en-US" sz="1600" u="none" cap="none" strike="noStrike">
                <a:solidFill>
                  <a:srgbClr val="FFFFFF"/>
                </a:solidFill>
                <a:latin typeface="Cairo"/>
                <a:ea typeface="Cairo"/>
                <a:cs typeface="Cairo"/>
                <a:sym typeface="Cairo"/>
              </a:rPr>
              <a:t>T</a:t>
            </a:r>
            <a:endParaRPr b="0" i="0" sz="1600" u="none" cap="none" strike="noStrike">
              <a:solidFill>
                <a:schemeClr val="dk1"/>
              </a:solidFill>
              <a:latin typeface="Calibri"/>
              <a:ea typeface="Calibri"/>
              <a:cs typeface="Calibri"/>
              <a:sym typeface="Calibri"/>
            </a:endParaRPr>
          </a:p>
        </p:txBody>
      </p:sp>
      <p:sp>
        <p:nvSpPr>
          <p:cNvPr id="290" name="Google Shape;290;p18"/>
          <p:cNvSpPr/>
          <p:nvPr/>
        </p:nvSpPr>
        <p:spPr>
          <a:xfrm>
            <a:off x="457200" y="2980944"/>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640080" y="2980944"/>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اشرح قاعدة المبتدأ والخبر بطريقة مبسطة.</a:t>
            </a:r>
            <a:endParaRPr b="0" i="0" sz="1200" u="none" cap="none" strike="noStrike">
              <a:solidFill>
                <a:schemeClr val="dk1"/>
              </a:solidFill>
              <a:latin typeface="Calibri"/>
              <a:ea typeface="Calibri"/>
              <a:cs typeface="Calibri"/>
              <a:sym typeface="Calibri"/>
            </a:endParaRPr>
          </a:p>
        </p:txBody>
      </p:sp>
      <p:sp>
        <p:nvSpPr>
          <p:cNvPr id="292" name="Google Shape;292;p18"/>
          <p:cNvSpPr/>
          <p:nvPr/>
        </p:nvSpPr>
        <p:spPr>
          <a:xfrm>
            <a:off x="7955280" y="3895344"/>
            <a:ext cx="502800" cy="502800"/>
          </a:xfrm>
          <a:prstGeom prst="ellipse">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8"/>
          <p:cNvSpPr/>
          <p:nvPr/>
        </p:nvSpPr>
        <p:spPr>
          <a:xfrm>
            <a:off x="7955280" y="3895344"/>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iro"/>
              <a:buNone/>
            </a:pPr>
            <a:r>
              <a:rPr b="1" i="0" lang="en-US" sz="1600" u="none" cap="none" strike="noStrike">
                <a:solidFill>
                  <a:srgbClr val="FFFFFF"/>
                </a:solidFill>
                <a:latin typeface="Cairo"/>
                <a:ea typeface="Cairo"/>
                <a:cs typeface="Cairo"/>
                <a:sym typeface="Cairo"/>
              </a:rPr>
              <a:t>F</a:t>
            </a:r>
            <a:endParaRPr b="0" i="0" sz="1600" u="none" cap="none" strike="noStrike">
              <a:solidFill>
                <a:schemeClr val="dk1"/>
              </a:solidFill>
              <a:latin typeface="Calibri"/>
              <a:ea typeface="Calibri"/>
              <a:cs typeface="Calibri"/>
              <a:sym typeface="Calibri"/>
            </a:endParaRPr>
          </a:p>
        </p:txBody>
      </p:sp>
      <p:sp>
        <p:nvSpPr>
          <p:cNvPr id="294" name="Google Shape;294;p18"/>
          <p:cNvSpPr/>
          <p:nvPr/>
        </p:nvSpPr>
        <p:spPr>
          <a:xfrm>
            <a:off x="457200" y="3785616"/>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
          <p:cNvSpPr/>
          <p:nvPr/>
        </p:nvSpPr>
        <p:spPr>
          <a:xfrm>
            <a:off x="640080" y="3785616"/>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استخدم ٣ أمثلة من الحياة اليومية، ثم ضع سؤالاً تدريبياً واحداً.</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00" name="Shape 300"/>
        <p:cNvGrpSpPr/>
        <p:nvPr/>
      </p:nvGrpSpPr>
      <p:grpSpPr>
        <a:xfrm>
          <a:off x="0" y="0"/>
          <a:ext cx="0" cy="0"/>
          <a:chOff x="0" y="0"/>
          <a:chExt cx="0" cy="0"/>
        </a:xfrm>
      </p:grpSpPr>
      <p:sp>
        <p:nvSpPr>
          <p:cNvPr id="301" name="Google Shape;301;p19"/>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الإطار والتطبيق</a:t>
            </a:r>
            <a:endParaRPr b="0" i="0" sz="1100" u="none" cap="none" strike="noStrike">
              <a:solidFill>
                <a:schemeClr val="dk1"/>
              </a:solidFill>
              <a:latin typeface="Calibri"/>
              <a:ea typeface="Calibri"/>
              <a:cs typeface="Calibri"/>
              <a:sym typeface="Calibri"/>
            </a:endParaRPr>
          </a:p>
        </p:txBody>
      </p:sp>
      <p:sp>
        <p:nvSpPr>
          <p:cNvPr id="302" name="Google Shape;302;p19"/>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الهدف + السياق + القيود + شكل الإجابة</a:t>
            </a:r>
            <a:endParaRPr b="0" i="0" sz="2600" u="none" cap="none" strike="noStrike">
              <a:solidFill>
                <a:schemeClr val="dk1"/>
              </a:solidFill>
              <a:latin typeface="Calibri"/>
              <a:ea typeface="Calibri"/>
              <a:cs typeface="Calibri"/>
              <a:sym typeface="Calibri"/>
            </a:endParaRPr>
          </a:p>
        </p:txBody>
      </p:sp>
      <p:sp>
        <p:nvSpPr>
          <p:cNvPr id="303" name="Google Shape;303;p19"/>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304" name="Google Shape;304;p19"/>
          <p:cNvSpPr/>
          <p:nvPr/>
        </p:nvSpPr>
        <p:spPr>
          <a:xfrm>
            <a:off x="4843725" y="1451668"/>
            <a:ext cx="3931800" cy="1417200"/>
          </a:xfrm>
          <a:prstGeom prst="roundRect">
            <a:avLst>
              <a:gd fmla="val 5161" name="adj"/>
            </a:avLst>
          </a:prstGeom>
          <a:solidFill>
            <a:srgbClr val="E0F2FE"/>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oal_sky.png" id="305" name="Google Shape;305;p19"/>
          <p:cNvPicPr preferRelativeResize="0"/>
          <p:nvPr/>
        </p:nvPicPr>
        <p:blipFill rotWithShape="1">
          <a:blip r:embed="rId3">
            <a:alphaModFix/>
          </a:blip>
          <a:srcRect b="0" l="0" r="0" t="0"/>
          <a:stretch/>
        </p:blipFill>
        <p:spPr>
          <a:xfrm>
            <a:off x="8208717" y="1652836"/>
            <a:ext cx="365760" cy="365760"/>
          </a:xfrm>
          <a:prstGeom prst="rect">
            <a:avLst/>
          </a:prstGeom>
          <a:noFill/>
          <a:ln>
            <a:noFill/>
          </a:ln>
        </p:spPr>
      </p:pic>
      <p:sp>
        <p:nvSpPr>
          <p:cNvPr id="306" name="Google Shape;306;p19"/>
          <p:cNvSpPr/>
          <p:nvPr/>
        </p:nvSpPr>
        <p:spPr>
          <a:xfrm>
            <a:off x="5072325" y="1634547"/>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الهدف (Goal)</a:t>
            </a:r>
            <a:endParaRPr b="0" i="0" sz="1400" u="none" cap="none" strike="noStrike">
              <a:solidFill>
                <a:schemeClr val="dk1"/>
              </a:solidFill>
              <a:latin typeface="Calibri"/>
              <a:ea typeface="Calibri"/>
              <a:cs typeface="Calibri"/>
              <a:sym typeface="Calibri"/>
            </a:endParaRPr>
          </a:p>
        </p:txBody>
      </p:sp>
      <p:sp>
        <p:nvSpPr>
          <p:cNvPr id="307" name="Google Shape;307;p19"/>
          <p:cNvSpPr/>
          <p:nvPr/>
        </p:nvSpPr>
        <p:spPr>
          <a:xfrm>
            <a:off x="5072325" y="2018596"/>
            <a:ext cx="3474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ماذا أريد بالضبط؟ اشرح، رتّب، اقترح، صحّح</a:t>
            </a:r>
            <a:endParaRPr b="0" i="0" sz="1100" u="none" cap="none" strike="noStrike">
              <a:solidFill>
                <a:schemeClr val="dk1"/>
              </a:solidFill>
              <a:latin typeface="Calibri"/>
              <a:ea typeface="Calibri"/>
              <a:cs typeface="Calibri"/>
              <a:sym typeface="Calibri"/>
            </a:endParaRPr>
          </a:p>
        </p:txBody>
      </p:sp>
      <p:sp>
        <p:nvSpPr>
          <p:cNvPr id="308" name="Google Shape;308;p19"/>
          <p:cNvSpPr/>
          <p:nvPr/>
        </p:nvSpPr>
        <p:spPr>
          <a:xfrm>
            <a:off x="365740" y="1451680"/>
            <a:ext cx="3931800" cy="1417200"/>
          </a:xfrm>
          <a:prstGeom prst="roundRect">
            <a:avLst>
              <a:gd fmla="val 5161"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ntext_sky.png" id="309" name="Google Shape;309;p19"/>
          <p:cNvPicPr preferRelativeResize="0"/>
          <p:nvPr/>
        </p:nvPicPr>
        <p:blipFill rotWithShape="1">
          <a:blip r:embed="rId4">
            <a:alphaModFix/>
          </a:blip>
          <a:srcRect b="0" l="0" r="0" t="0"/>
          <a:stretch/>
        </p:blipFill>
        <p:spPr>
          <a:xfrm>
            <a:off x="3730732" y="1652848"/>
            <a:ext cx="365760" cy="365760"/>
          </a:xfrm>
          <a:prstGeom prst="rect">
            <a:avLst/>
          </a:prstGeom>
          <a:noFill/>
          <a:ln>
            <a:noFill/>
          </a:ln>
        </p:spPr>
      </p:pic>
      <p:sp>
        <p:nvSpPr>
          <p:cNvPr id="310" name="Google Shape;310;p19"/>
          <p:cNvSpPr/>
          <p:nvPr/>
        </p:nvSpPr>
        <p:spPr>
          <a:xfrm>
            <a:off x="594340" y="1634560"/>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السياق (Context)</a:t>
            </a:r>
            <a:endParaRPr b="0" i="0" sz="1400" u="none" cap="none" strike="noStrike">
              <a:solidFill>
                <a:schemeClr val="dk1"/>
              </a:solidFill>
              <a:latin typeface="Calibri"/>
              <a:ea typeface="Calibri"/>
              <a:cs typeface="Calibri"/>
              <a:sym typeface="Calibri"/>
            </a:endParaRPr>
          </a:p>
        </p:txBody>
      </p:sp>
      <p:sp>
        <p:nvSpPr>
          <p:cNvPr id="311" name="Google Shape;311;p19"/>
          <p:cNvSpPr/>
          <p:nvPr/>
        </p:nvSpPr>
        <p:spPr>
          <a:xfrm>
            <a:off x="594340" y="2018608"/>
            <a:ext cx="3474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من أنا؟ ما مستواي؟ ما الموضوع بالتحديد؟</a:t>
            </a:r>
            <a:endParaRPr b="0" i="0" sz="1100" u="none" cap="none" strike="noStrike">
              <a:solidFill>
                <a:schemeClr val="dk1"/>
              </a:solidFill>
              <a:latin typeface="Calibri"/>
              <a:ea typeface="Calibri"/>
              <a:cs typeface="Calibri"/>
              <a:sym typeface="Calibri"/>
            </a:endParaRPr>
          </a:p>
        </p:txBody>
      </p:sp>
      <p:sp>
        <p:nvSpPr>
          <p:cNvPr id="312" name="Google Shape;312;p19"/>
          <p:cNvSpPr/>
          <p:nvPr/>
        </p:nvSpPr>
        <p:spPr>
          <a:xfrm>
            <a:off x="4843725" y="3097588"/>
            <a:ext cx="3931800" cy="1417200"/>
          </a:xfrm>
          <a:prstGeom prst="roundRect">
            <a:avLst>
              <a:gd fmla="val 5161" name="adj"/>
            </a:avLst>
          </a:prstGeom>
          <a:solidFill>
            <a:srgbClr val="E0F2FE"/>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nstraints_sky.png" id="313" name="Google Shape;313;p19"/>
          <p:cNvPicPr preferRelativeResize="0"/>
          <p:nvPr/>
        </p:nvPicPr>
        <p:blipFill rotWithShape="1">
          <a:blip r:embed="rId5">
            <a:alphaModFix/>
          </a:blip>
          <a:srcRect b="0" l="0" r="0" t="0"/>
          <a:stretch/>
        </p:blipFill>
        <p:spPr>
          <a:xfrm>
            <a:off x="8208717" y="3298756"/>
            <a:ext cx="365760" cy="365760"/>
          </a:xfrm>
          <a:prstGeom prst="rect">
            <a:avLst/>
          </a:prstGeom>
          <a:noFill/>
          <a:ln>
            <a:noFill/>
          </a:ln>
        </p:spPr>
      </p:pic>
      <p:sp>
        <p:nvSpPr>
          <p:cNvPr id="314" name="Google Shape;314;p19"/>
          <p:cNvSpPr/>
          <p:nvPr/>
        </p:nvSpPr>
        <p:spPr>
          <a:xfrm>
            <a:off x="5072325" y="3280468"/>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القيود (Constraints)</a:t>
            </a:r>
            <a:endParaRPr b="0" i="0" sz="1400" u="none" cap="none" strike="noStrike">
              <a:solidFill>
                <a:schemeClr val="dk1"/>
              </a:solidFill>
              <a:latin typeface="Calibri"/>
              <a:ea typeface="Calibri"/>
              <a:cs typeface="Calibri"/>
              <a:sym typeface="Calibri"/>
            </a:endParaRPr>
          </a:p>
        </p:txBody>
      </p:sp>
      <p:sp>
        <p:nvSpPr>
          <p:cNvPr id="315" name="Google Shape;315;p19"/>
          <p:cNvSpPr/>
          <p:nvPr/>
        </p:nvSpPr>
        <p:spPr>
          <a:xfrm>
            <a:off x="5072325" y="3664516"/>
            <a:ext cx="3474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الوقت، الطول، المستوى، الممنوعات</a:t>
            </a:r>
            <a:endParaRPr b="0" i="0" sz="1100" u="none" cap="none" strike="noStrike">
              <a:solidFill>
                <a:schemeClr val="dk1"/>
              </a:solidFill>
              <a:latin typeface="Calibri"/>
              <a:ea typeface="Calibri"/>
              <a:cs typeface="Calibri"/>
              <a:sym typeface="Calibri"/>
            </a:endParaRPr>
          </a:p>
        </p:txBody>
      </p:sp>
      <p:sp>
        <p:nvSpPr>
          <p:cNvPr id="316" name="Google Shape;316;p19"/>
          <p:cNvSpPr/>
          <p:nvPr/>
        </p:nvSpPr>
        <p:spPr>
          <a:xfrm>
            <a:off x="365740" y="3097600"/>
            <a:ext cx="3931800" cy="1417200"/>
          </a:xfrm>
          <a:prstGeom prst="roundRect">
            <a:avLst>
              <a:gd fmla="val 5161"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ormat_sky.png" id="317" name="Google Shape;317;p19"/>
          <p:cNvPicPr preferRelativeResize="0"/>
          <p:nvPr/>
        </p:nvPicPr>
        <p:blipFill rotWithShape="1">
          <a:blip r:embed="rId6">
            <a:alphaModFix/>
          </a:blip>
          <a:srcRect b="0" l="0" r="0" t="0"/>
          <a:stretch/>
        </p:blipFill>
        <p:spPr>
          <a:xfrm>
            <a:off x="3730732" y="3298768"/>
            <a:ext cx="365760" cy="365760"/>
          </a:xfrm>
          <a:prstGeom prst="rect">
            <a:avLst/>
          </a:prstGeom>
          <a:noFill/>
          <a:ln>
            <a:noFill/>
          </a:ln>
        </p:spPr>
      </p:pic>
      <p:sp>
        <p:nvSpPr>
          <p:cNvPr id="318" name="Google Shape;318;p19"/>
          <p:cNvSpPr/>
          <p:nvPr/>
        </p:nvSpPr>
        <p:spPr>
          <a:xfrm>
            <a:off x="594340" y="3280480"/>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شكل الإجابة (Format)</a:t>
            </a:r>
            <a:endParaRPr b="0" i="0" sz="1400" u="none" cap="none" strike="noStrike">
              <a:solidFill>
                <a:schemeClr val="dk1"/>
              </a:solidFill>
              <a:latin typeface="Calibri"/>
              <a:ea typeface="Calibri"/>
              <a:cs typeface="Calibri"/>
              <a:sym typeface="Calibri"/>
            </a:endParaRPr>
          </a:p>
        </p:txBody>
      </p:sp>
      <p:sp>
        <p:nvSpPr>
          <p:cNvPr id="319" name="Google Shape;319;p19"/>
          <p:cNvSpPr/>
          <p:nvPr/>
        </p:nvSpPr>
        <p:spPr>
          <a:xfrm>
            <a:off x="594340" y="3664528"/>
            <a:ext cx="3474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نقاط، جدول، فقرة، خطوات مرقّمة</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24" name="Shape 324"/>
        <p:cNvGrpSpPr/>
        <p:nvPr/>
      </p:nvGrpSpPr>
      <p:grpSpPr>
        <a:xfrm>
          <a:off x="0" y="0"/>
          <a:ext cx="0" cy="0"/>
          <a:chOff x="0" y="0"/>
          <a:chExt cx="0" cy="0"/>
        </a:xfrm>
      </p:grpSpPr>
      <p:sp>
        <p:nvSpPr>
          <p:cNvPr id="325" name="Google Shape;325;p20"/>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الإطار والتطبيق</a:t>
            </a:r>
            <a:endParaRPr b="0" i="0" sz="1100" u="none" cap="none" strike="noStrike">
              <a:solidFill>
                <a:schemeClr val="dk1"/>
              </a:solidFill>
              <a:latin typeface="Calibri"/>
              <a:ea typeface="Calibri"/>
              <a:cs typeface="Calibri"/>
              <a:sym typeface="Calibri"/>
            </a:endParaRPr>
          </a:p>
        </p:txBody>
      </p:sp>
      <p:sp>
        <p:nvSpPr>
          <p:cNvPr id="326" name="Google Shape;326;p20"/>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نفس الإطار، مواضيع مختلفة</a:t>
            </a:r>
            <a:endParaRPr b="0" i="0" sz="2600" u="none" cap="none" strike="noStrike">
              <a:solidFill>
                <a:schemeClr val="dk1"/>
              </a:solidFill>
              <a:latin typeface="Calibri"/>
              <a:ea typeface="Calibri"/>
              <a:cs typeface="Calibri"/>
              <a:sym typeface="Calibri"/>
            </a:endParaRPr>
          </a:p>
        </p:txBody>
      </p:sp>
      <p:sp>
        <p:nvSpPr>
          <p:cNvPr id="327" name="Google Shape;327;p20"/>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graphicFrame>
        <p:nvGraphicFramePr>
          <p:cNvPr id="328" name="Google Shape;328;p20"/>
          <p:cNvGraphicFramePr/>
          <p:nvPr/>
        </p:nvGraphicFramePr>
        <p:xfrm>
          <a:off x="457200" y="1371600"/>
          <a:ext cx="3000000" cy="3000000"/>
        </p:xfrm>
        <a:graphic>
          <a:graphicData uri="http://schemas.openxmlformats.org/drawingml/2006/table">
            <a:tbl>
              <a:tblPr>
                <a:noFill/>
                <a:tableStyleId>{6ABD01A6-4E11-4249-9B88-50B7CE4EA520}</a:tableStyleId>
              </a:tblPr>
              <a:tblGrid>
                <a:gridCol w="5930300"/>
                <a:gridCol w="2299300"/>
              </a:tblGrid>
              <a:tr h="640075">
                <a:tc>
                  <a:txBody>
                    <a:bodyPr/>
                    <a:lstStyle/>
                    <a:p>
                      <a:pPr indent="0" lvl="0" marL="0" marR="0" rtl="1" algn="r">
                        <a:spcBef>
                          <a:spcPts val="0"/>
                        </a:spcBef>
                        <a:spcAft>
                          <a:spcPts val="0"/>
                        </a:spcAft>
                        <a:buClr>
                          <a:srgbClr val="FFFFFF"/>
                        </a:buClr>
                        <a:buSzPts val="1200"/>
                        <a:buFont typeface="Cairo"/>
                        <a:buNone/>
                      </a:pPr>
                      <a:r>
                        <a:rPr b="1" lang="en-US" sz="1200" u="none" cap="none" strike="noStrike">
                          <a:solidFill>
                            <a:srgbClr val="FFFFFF"/>
                          </a:solidFill>
                          <a:latin typeface="Cairo"/>
                          <a:ea typeface="Cairo"/>
                          <a:cs typeface="Cairo"/>
                          <a:sym typeface="Cairo"/>
                        </a:rPr>
                        <a:t>مثال على أمر متكامل</a:t>
                      </a:r>
                      <a:endParaRPr b="1" sz="1200" u="none" cap="none" strike="noStrike">
                        <a:solidFill>
                          <a:srgbClr val="FFFFFF"/>
                        </a:solidFill>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c>
                  <a:txBody>
                    <a:bodyPr/>
                    <a:lstStyle/>
                    <a:p>
                      <a:pPr indent="0" lvl="0" marL="0" marR="0" rtl="1" algn="r">
                        <a:spcBef>
                          <a:spcPts val="0"/>
                        </a:spcBef>
                        <a:spcAft>
                          <a:spcPts val="0"/>
                        </a:spcAft>
                        <a:buClr>
                          <a:srgbClr val="FFFFFF"/>
                        </a:buClr>
                        <a:buSzPts val="1200"/>
                        <a:buFont typeface="Cairo"/>
                        <a:buNone/>
                      </a:pPr>
                      <a:r>
                        <a:rPr b="1" lang="en-US" sz="1200" u="none" cap="none" strike="noStrike">
                          <a:solidFill>
                            <a:srgbClr val="FFFFFF"/>
                          </a:solidFill>
                          <a:latin typeface="Cairo"/>
                          <a:ea typeface="Cairo"/>
                          <a:cs typeface="Cairo"/>
                          <a:sym typeface="Cairo"/>
                        </a:rPr>
                        <a:t>المجال</a:t>
                      </a:r>
                      <a:endParaRPr sz="1200" u="none" cap="none" strike="noStrike">
                        <a:latin typeface="Cairo"/>
                        <a:ea typeface="Cairo"/>
                        <a:cs typeface="Cairo"/>
                        <a:sym typeface="Cairo"/>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172A"/>
                    </a:solidFill>
                  </a:tcPr>
                </a:tc>
              </a:tr>
              <a:tr h="640075">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تعليق إنستقرام، سطرين، أسلوب خفيف فيه فكاهة، لجمهور عربي بعمري</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محتوى سوشال ميديا</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640075">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حفلة تخرج لـ٣٠ طالب، ميزانية ١٥٠٠ ريال، قائمة مهام مرتبة حسب الأولوية</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تنظيم فعالية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r h="640075">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تمارين منزلية لتحسين السرعة، بدون أدوات، مرتبة من الأسهل للأصعب</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رياضة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640075">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خطة مراجعة لمادة الأحياء، أسبوعين، ساعة يومياً فقط</a:t>
                      </a:r>
                      <a:endParaRPr sz="1100" u="none" cap="none" strike="noStrike">
                        <a:solidFill>
                          <a:srgbClr val="475569"/>
                        </a:solidFill>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c>
                  <a:txBody>
                    <a:bodyPr/>
                    <a:lstStyle/>
                    <a:p>
                      <a:pPr indent="0" lvl="0" marL="0" marR="0" rtl="1" algn="r">
                        <a:spcBef>
                          <a:spcPts val="0"/>
                        </a:spcBef>
                        <a:spcAft>
                          <a:spcPts val="0"/>
                        </a:spcAft>
                        <a:buClr>
                          <a:srgbClr val="475569"/>
                        </a:buClr>
                        <a:buSzPts val="1100"/>
                        <a:buFont typeface="Cairo"/>
                        <a:buNone/>
                      </a:pPr>
                      <a:r>
                        <a:rPr lang="en-US" sz="1100" u="none" cap="none" strike="noStrike">
                          <a:solidFill>
                            <a:srgbClr val="475569"/>
                          </a:solidFill>
                          <a:latin typeface="Cairo"/>
                          <a:ea typeface="Cairo"/>
                          <a:cs typeface="Cairo"/>
                          <a:sym typeface="Cairo"/>
                        </a:rPr>
                        <a:t>دراسة</a:t>
                      </a:r>
                      <a:endParaRPr sz="1100" u="none" cap="none" strike="noStrike">
                        <a:latin typeface="Cairo"/>
                        <a:ea typeface="Cairo"/>
                        <a:cs typeface="Cairo"/>
                        <a:sym typeface="Cairo"/>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1F5F9"/>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33" name="Shape 333"/>
        <p:cNvGrpSpPr/>
        <p:nvPr/>
      </p:nvGrpSpPr>
      <p:grpSpPr>
        <a:xfrm>
          <a:off x="0" y="0"/>
          <a:ext cx="0" cy="0"/>
          <a:chOff x="0" y="0"/>
          <a:chExt cx="0" cy="0"/>
        </a:xfrm>
      </p:grpSpPr>
      <p:sp>
        <p:nvSpPr>
          <p:cNvPr id="334" name="Google Shape;334;p21"/>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الإطار والتطبيق</a:t>
            </a:r>
            <a:endParaRPr b="0" i="0" sz="1100" u="none" cap="none" strike="noStrike">
              <a:solidFill>
                <a:schemeClr val="dk1"/>
              </a:solidFill>
              <a:latin typeface="Calibri"/>
              <a:ea typeface="Calibri"/>
              <a:cs typeface="Calibri"/>
              <a:sym typeface="Calibri"/>
            </a:endParaRPr>
          </a:p>
        </p:txBody>
      </p:sp>
      <p:sp>
        <p:nvSpPr>
          <p:cNvPr id="335" name="Google Shape;335;p21"/>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جماعي: حسّن الأمر</a:t>
            </a:r>
            <a:endParaRPr b="0" i="0" sz="2600" u="none" cap="none" strike="noStrike">
              <a:solidFill>
                <a:schemeClr val="dk1"/>
              </a:solidFill>
              <a:latin typeface="Calibri"/>
              <a:ea typeface="Calibri"/>
              <a:cs typeface="Calibri"/>
              <a:sym typeface="Calibri"/>
            </a:endParaRPr>
          </a:p>
        </p:txBody>
      </p:sp>
      <p:sp>
        <p:nvSpPr>
          <p:cNvPr id="336" name="Google Shape;336;p21"/>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337" name="Google Shape;337;p21"/>
          <p:cNvSpPr/>
          <p:nvPr/>
        </p:nvSpPr>
        <p:spPr>
          <a:xfrm>
            <a:off x="457200" y="1280160"/>
            <a:ext cx="8229600" cy="502920"/>
          </a:xfrm>
          <a:prstGeom prst="roundRect">
            <a:avLst>
              <a:gd fmla="val 10909"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1"/>
          <p:cNvSpPr/>
          <p:nvPr/>
        </p:nvSpPr>
        <p:spPr>
          <a:xfrm>
            <a:off x="457200" y="1280160"/>
            <a:ext cx="8229600" cy="5029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300"/>
              <a:buFont typeface="Cairo"/>
              <a:buNone/>
            </a:pPr>
            <a:r>
              <a:rPr b="1" i="0" lang="en-US" sz="1300" u="none" cap="none" strike="noStrike">
                <a:solidFill>
                  <a:srgbClr val="FFFFFF"/>
                </a:solidFill>
                <a:latin typeface="Cairo"/>
                <a:ea typeface="Cairo"/>
                <a:cs typeface="Cairo"/>
                <a:sym typeface="Cairo"/>
              </a:rPr>
              <a:t>مجموعات من ٤ إلى ٥ طلاب</a:t>
            </a:r>
            <a:endParaRPr b="0" i="0" sz="1300" u="none" cap="none" strike="noStrike">
              <a:solidFill>
                <a:schemeClr val="dk1"/>
              </a:solidFill>
              <a:latin typeface="Calibri"/>
              <a:ea typeface="Calibri"/>
              <a:cs typeface="Calibri"/>
              <a:sym typeface="Calibri"/>
            </a:endParaRPr>
          </a:p>
        </p:txBody>
      </p:sp>
      <p:sp>
        <p:nvSpPr>
          <p:cNvPr id="339" name="Google Shape;339;p21"/>
          <p:cNvSpPr/>
          <p:nvPr/>
        </p:nvSpPr>
        <p:spPr>
          <a:xfrm>
            <a:off x="8302752" y="2057400"/>
            <a:ext cx="384048" cy="384048"/>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1"/>
          <p:cNvSpPr/>
          <p:nvPr/>
        </p:nvSpPr>
        <p:spPr>
          <a:xfrm>
            <a:off x="8302752" y="20574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1</a:t>
            </a:r>
            <a:endParaRPr b="0" i="0" sz="1400" u="none" cap="none" strike="noStrike">
              <a:solidFill>
                <a:schemeClr val="dk1"/>
              </a:solidFill>
              <a:latin typeface="Calibri"/>
              <a:ea typeface="Calibri"/>
              <a:cs typeface="Calibri"/>
              <a:sym typeface="Calibri"/>
            </a:endParaRPr>
          </a:p>
        </p:txBody>
      </p:sp>
      <p:sp>
        <p:nvSpPr>
          <p:cNvPr id="341" name="Google Shape;341;p21"/>
          <p:cNvSpPr/>
          <p:nvPr/>
        </p:nvSpPr>
        <p:spPr>
          <a:xfrm>
            <a:off x="457200" y="2039112"/>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كل مجموعة تستلم أمراً ضعيفاً واحداً</a:t>
            </a:r>
            <a:endParaRPr b="0" i="0" sz="1300" u="none" cap="none" strike="noStrike">
              <a:solidFill>
                <a:schemeClr val="dk1"/>
              </a:solidFill>
              <a:latin typeface="Calibri"/>
              <a:ea typeface="Calibri"/>
              <a:cs typeface="Calibri"/>
              <a:sym typeface="Calibri"/>
            </a:endParaRPr>
          </a:p>
        </p:txBody>
      </p:sp>
      <p:sp>
        <p:nvSpPr>
          <p:cNvPr id="342" name="Google Shape;342;p21"/>
          <p:cNvSpPr/>
          <p:nvPr/>
        </p:nvSpPr>
        <p:spPr>
          <a:xfrm>
            <a:off x="8302752" y="2624328"/>
            <a:ext cx="384048" cy="384048"/>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
          <p:cNvSpPr/>
          <p:nvPr/>
        </p:nvSpPr>
        <p:spPr>
          <a:xfrm>
            <a:off x="8302752" y="26243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2</a:t>
            </a:r>
            <a:endParaRPr b="0" i="0" sz="1400" u="none" cap="none" strike="noStrike">
              <a:solidFill>
                <a:schemeClr val="dk1"/>
              </a:solidFill>
              <a:latin typeface="Calibri"/>
              <a:ea typeface="Calibri"/>
              <a:cs typeface="Calibri"/>
              <a:sym typeface="Calibri"/>
            </a:endParaRPr>
          </a:p>
        </p:txBody>
      </p:sp>
      <p:sp>
        <p:nvSpPr>
          <p:cNvPr id="344" name="Google Shape;344;p21"/>
          <p:cNvSpPr/>
          <p:nvPr/>
        </p:nvSpPr>
        <p:spPr>
          <a:xfrm>
            <a:off x="457200" y="2606040"/>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أعد كتابته باستخدام الإطار</a:t>
            </a:r>
            <a:endParaRPr b="0" i="0" sz="1300" u="none" cap="none" strike="noStrike">
              <a:solidFill>
                <a:schemeClr val="dk1"/>
              </a:solidFill>
              <a:latin typeface="Calibri"/>
              <a:ea typeface="Calibri"/>
              <a:cs typeface="Calibri"/>
              <a:sym typeface="Calibri"/>
            </a:endParaRPr>
          </a:p>
        </p:txBody>
      </p:sp>
      <p:sp>
        <p:nvSpPr>
          <p:cNvPr id="345" name="Google Shape;345;p21"/>
          <p:cNvSpPr/>
          <p:nvPr/>
        </p:nvSpPr>
        <p:spPr>
          <a:xfrm>
            <a:off x="8302752" y="3191256"/>
            <a:ext cx="384000" cy="3840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
          <p:cNvSpPr/>
          <p:nvPr/>
        </p:nvSpPr>
        <p:spPr>
          <a:xfrm>
            <a:off x="8302752" y="3191256"/>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3</a:t>
            </a:r>
            <a:endParaRPr b="0" i="0" sz="1400" u="none" cap="none" strike="noStrike">
              <a:solidFill>
                <a:schemeClr val="dk1"/>
              </a:solidFill>
              <a:latin typeface="Calibri"/>
              <a:ea typeface="Calibri"/>
              <a:cs typeface="Calibri"/>
              <a:sym typeface="Calibri"/>
            </a:endParaRPr>
          </a:p>
        </p:txBody>
      </p:sp>
      <p:sp>
        <p:nvSpPr>
          <p:cNvPr id="347" name="Google Shape;347;p21"/>
          <p:cNvSpPr/>
          <p:nvPr/>
        </p:nvSpPr>
        <p:spPr>
          <a:xfrm>
            <a:off x="457200" y="3236946"/>
            <a:ext cx="7662600" cy="292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اعرضوا أمركم المحسّن أمام الصف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2"/>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إطار RCTF</a:t>
            </a:r>
            <a:endParaRPr b="0" i="0" sz="1100" u="none" cap="none" strike="noStrike">
              <a:solidFill>
                <a:schemeClr val="dk1"/>
              </a:solidFill>
              <a:latin typeface="Calibri"/>
              <a:ea typeface="Calibri"/>
              <a:cs typeface="Calibri"/>
              <a:sym typeface="Calibri"/>
            </a:endParaRPr>
          </a:p>
        </p:txBody>
      </p:sp>
      <p:sp>
        <p:nvSpPr>
          <p:cNvPr id="354" name="Google Shape;354;p22"/>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ابنِ أمرك بـ RCTF</a:t>
            </a:r>
            <a:endParaRPr b="0" i="0" sz="2600" u="none" cap="none" strike="noStrike">
              <a:solidFill>
                <a:schemeClr val="dk1"/>
              </a:solidFill>
              <a:latin typeface="Calibri"/>
              <a:ea typeface="Calibri"/>
              <a:cs typeface="Calibri"/>
              <a:sym typeface="Calibri"/>
            </a:endParaRPr>
          </a:p>
        </p:txBody>
      </p:sp>
      <p:sp>
        <p:nvSpPr>
          <p:cNvPr id="355" name="Google Shape;355;p22"/>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356" name="Google Shape;356;p22"/>
          <p:cNvSpPr/>
          <p:nvPr/>
        </p:nvSpPr>
        <p:spPr>
          <a:xfrm>
            <a:off x="457200" y="1261872"/>
            <a:ext cx="8229600" cy="475500"/>
          </a:xfrm>
          <a:prstGeom prst="roundRect">
            <a:avLst>
              <a:gd fmla="val 11538"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457200" y="1261872"/>
            <a:ext cx="8229600" cy="4755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١٥ دقيقة · مجموعات من ٣-٤ طلاب</a:t>
            </a:r>
            <a:endParaRPr b="0" i="0" sz="1200" u="none" cap="none" strike="noStrike">
              <a:solidFill>
                <a:schemeClr val="dk1"/>
              </a:solidFill>
              <a:latin typeface="Calibri"/>
              <a:ea typeface="Calibri"/>
              <a:cs typeface="Calibri"/>
              <a:sym typeface="Calibri"/>
            </a:endParaRPr>
          </a:p>
        </p:txBody>
      </p:sp>
      <p:sp>
        <p:nvSpPr>
          <p:cNvPr id="358" name="Google Shape;358;p22"/>
          <p:cNvSpPr/>
          <p:nvPr/>
        </p:nvSpPr>
        <p:spPr>
          <a:xfrm>
            <a:off x="457200" y="1874520"/>
            <a:ext cx="8229600" cy="347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كل مجموعة تختار موضوعاً واحداً وتبني أمراً كاملاً:</a:t>
            </a:r>
            <a:endParaRPr b="0" i="0" sz="1300" u="none" cap="none" strike="noStrike">
              <a:solidFill>
                <a:schemeClr val="dk1"/>
              </a:solidFill>
              <a:latin typeface="Calibri"/>
              <a:ea typeface="Calibri"/>
              <a:cs typeface="Calibri"/>
              <a:sym typeface="Calibri"/>
            </a:endParaRPr>
          </a:p>
        </p:txBody>
      </p:sp>
      <p:sp>
        <p:nvSpPr>
          <p:cNvPr id="359" name="Google Shape;359;p22"/>
          <p:cNvSpPr/>
          <p:nvPr/>
        </p:nvSpPr>
        <p:spPr>
          <a:xfrm>
            <a:off x="457200" y="2359152"/>
            <a:ext cx="4114800" cy="676800"/>
          </a:xfrm>
          <a:prstGeom prst="roundRect">
            <a:avLst>
              <a:gd fmla="val 810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457200" y="2359152"/>
            <a:ext cx="4114800" cy="6768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خطة مذاكرة قبل اختبار نهائي</a:t>
            </a:r>
            <a:endParaRPr b="0" i="0" sz="1200" u="none" cap="none" strike="noStrike">
              <a:solidFill>
                <a:schemeClr val="dk1"/>
              </a:solidFill>
              <a:latin typeface="Calibri"/>
              <a:ea typeface="Calibri"/>
              <a:cs typeface="Calibri"/>
              <a:sym typeface="Calibri"/>
            </a:endParaRPr>
          </a:p>
        </p:txBody>
      </p:sp>
      <p:sp>
        <p:nvSpPr>
          <p:cNvPr id="361" name="Google Shape;361;p22"/>
          <p:cNvSpPr/>
          <p:nvPr/>
        </p:nvSpPr>
        <p:spPr>
          <a:xfrm>
            <a:off x="4754880" y="2359152"/>
            <a:ext cx="4114800" cy="676800"/>
          </a:xfrm>
          <a:prstGeom prst="roundRect">
            <a:avLst>
              <a:gd fmla="val 810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2"/>
          <p:cNvSpPr/>
          <p:nvPr/>
        </p:nvSpPr>
        <p:spPr>
          <a:xfrm>
            <a:off x="4754880" y="2359152"/>
            <a:ext cx="4114800" cy="6768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منشور توعوي عن ترشيد الطاقة</a:t>
            </a:r>
            <a:endParaRPr b="0" i="0" sz="1200" u="none" cap="none" strike="noStrike">
              <a:solidFill>
                <a:schemeClr val="dk1"/>
              </a:solidFill>
              <a:latin typeface="Calibri"/>
              <a:ea typeface="Calibri"/>
              <a:cs typeface="Calibri"/>
              <a:sym typeface="Calibri"/>
            </a:endParaRPr>
          </a:p>
        </p:txBody>
      </p:sp>
      <p:sp>
        <p:nvSpPr>
          <p:cNvPr id="363" name="Google Shape;363;p22"/>
          <p:cNvSpPr/>
          <p:nvPr/>
        </p:nvSpPr>
        <p:spPr>
          <a:xfrm>
            <a:off x="457200" y="3163824"/>
            <a:ext cx="4114800" cy="676800"/>
          </a:xfrm>
          <a:prstGeom prst="roundRect">
            <a:avLst>
              <a:gd fmla="val 810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457200" y="3163824"/>
            <a:ext cx="4114800" cy="6768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تلخيص موضوع علمي لزملاء الصف</a:t>
            </a:r>
            <a:endParaRPr b="0" i="0" sz="1200" u="none" cap="none" strike="noStrike">
              <a:solidFill>
                <a:schemeClr val="dk1"/>
              </a:solidFill>
              <a:latin typeface="Calibri"/>
              <a:ea typeface="Calibri"/>
              <a:cs typeface="Calibri"/>
              <a:sym typeface="Calibri"/>
            </a:endParaRPr>
          </a:p>
        </p:txBody>
      </p:sp>
      <p:sp>
        <p:nvSpPr>
          <p:cNvPr id="365" name="Google Shape;365;p22"/>
          <p:cNvSpPr/>
          <p:nvPr/>
        </p:nvSpPr>
        <p:spPr>
          <a:xfrm>
            <a:off x="4754880" y="3163824"/>
            <a:ext cx="4114800" cy="676800"/>
          </a:xfrm>
          <a:prstGeom prst="roundRect">
            <a:avLst>
              <a:gd fmla="val 8108"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4754880" y="3163824"/>
            <a:ext cx="4114800" cy="6768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نصيحة غذائية لرياضي مبتدئ</a:t>
            </a:r>
            <a:endParaRPr b="0" i="0" sz="1200" u="none" cap="none" strike="noStrike">
              <a:solidFill>
                <a:schemeClr val="dk1"/>
              </a:solidFill>
              <a:latin typeface="Calibri"/>
              <a:ea typeface="Calibri"/>
              <a:cs typeface="Calibri"/>
              <a:sym typeface="Calibri"/>
            </a:endParaRPr>
          </a:p>
        </p:txBody>
      </p:sp>
      <p:sp>
        <p:nvSpPr>
          <p:cNvPr id="367" name="Google Shape;367;p22"/>
          <p:cNvSpPr/>
          <p:nvPr/>
        </p:nvSpPr>
        <p:spPr>
          <a:xfrm>
            <a:off x="457200" y="4160520"/>
            <a:ext cx="8229600" cy="320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1" lang="en-US" sz="1100" u="none" cap="none" strike="noStrike">
                <a:solidFill>
                  <a:srgbClr val="64748B"/>
                </a:solidFill>
                <a:latin typeface="Cairo"/>
                <a:ea typeface="Cairo"/>
                <a:cs typeface="Cairo"/>
                <a:sym typeface="Cairo"/>
              </a:rPr>
              <a:t>كتابة كل عنصر (R/C/T/F) على ورقة منفصلة ثم تجميعهم في أمر واحد</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3"/>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الثاني: الإطار والتطبيق</a:t>
            </a:r>
            <a:endParaRPr b="0" i="0" sz="1100" u="none" cap="none" strike="noStrike">
              <a:solidFill>
                <a:schemeClr val="dk1"/>
              </a:solidFill>
              <a:latin typeface="Calibri"/>
              <a:ea typeface="Calibri"/>
              <a:cs typeface="Calibri"/>
              <a:sym typeface="Calibri"/>
            </a:endParaRPr>
          </a:p>
        </p:txBody>
      </p:sp>
      <p:sp>
        <p:nvSpPr>
          <p:cNvPr id="374" name="Google Shape;374;p23"/>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مسابقة أفضل نتيجة</a:t>
            </a:r>
            <a:endParaRPr b="0" i="0" sz="2600" u="none" cap="none" strike="noStrike">
              <a:solidFill>
                <a:schemeClr val="dk1"/>
              </a:solidFill>
              <a:latin typeface="Calibri"/>
              <a:ea typeface="Calibri"/>
              <a:cs typeface="Calibri"/>
              <a:sym typeface="Calibri"/>
            </a:endParaRPr>
          </a:p>
        </p:txBody>
      </p:sp>
      <p:sp>
        <p:nvSpPr>
          <p:cNvPr id="375" name="Google Shape;375;p23"/>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376" name="Google Shape;376;p23"/>
          <p:cNvSpPr/>
          <p:nvPr/>
        </p:nvSpPr>
        <p:spPr>
          <a:xfrm>
            <a:off x="457200" y="1280160"/>
            <a:ext cx="8229600" cy="502920"/>
          </a:xfrm>
          <a:prstGeom prst="roundRect">
            <a:avLst>
              <a:gd fmla="val 10909" name="adj"/>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3"/>
          <p:cNvSpPr/>
          <p:nvPr/>
        </p:nvSpPr>
        <p:spPr>
          <a:xfrm>
            <a:off x="457200" y="1280160"/>
            <a:ext cx="8229600" cy="5029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300"/>
              <a:buFont typeface="Cairo"/>
              <a:buNone/>
            </a:pPr>
            <a:r>
              <a:rPr b="1" i="0" lang="en-US" sz="1300" u="none" cap="none" strike="noStrike">
                <a:solidFill>
                  <a:srgbClr val="FFFFFF"/>
                </a:solidFill>
                <a:latin typeface="Cairo"/>
                <a:ea typeface="Cairo"/>
                <a:cs typeface="Cairo"/>
                <a:sym typeface="Cairo"/>
              </a:rPr>
              <a:t>   أي أداة ذكاء اصطناعي متاحة</a:t>
            </a:r>
            <a:endParaRPr b="0" i="0" sz="1300" u="none" cap="none" strike="noStrike">
              <a:solidFill>
                <a:schemeClr val="dk1"/>
              </a:solidFill>
              <a:latin typeface="Calibri"/>
              <a:ea typeface="Calibri"/>
              <a:cs typeface="Calibri"/>
              <a:sym typeface="Calibri"/>
            </a:endParaRPr>
          </a:p>
        </p:txBody>
      </p:sp>
      <p:sp>
        <p:nvSpPr>
          <p:cNvPr id="378" name="Google Shape;378;p23"/>
          <p:cNvSpPr/>
          <p:nvPr/>
        </p:nvSpPr>
        <p:spPr>
          <a:xfrm>
            <a:off x="6088700" y="1965998"/>
            <a:ext cx="2651700" cy="2194500"/>
          </a:xfrm>
          <a:prstGeom prst="roundRect">
            <a:avLst>
              <a:gd fmla="val 3333"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3"/>
          <p:cNvSpPr/>
          <p:nvPr/>
        </p:nvSpPr>
        <p:spPr>
          <a:xfrm>
            <a:off x="6317300" y="2148878"/>
            <a:ext cx="21945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1. الجولة الأولى</a:t>
            </a:r>
            <a:endParaRPr b="0" i="0" sz="1400" u="none" cap="none" strike="noStrike">
              <a:solidFill>
                <a:schemeClr val="dk1"/>
              </a:solidFill>
              <a:latin typeface="Calibri"/>
              <a:ea typeface="Calibri"/>
              <a:cs typeface="Calibri"/>
              <a:sym typeface="Calibri"/>
            </a:endParaRPr>
          </a:p>
        </p:txBody>
      </p:sp>
      <p:sp>
        <p:nvSpPr>
          <p:cNvPr id="380" name="Google Shape;380;p23"/>
          <p:cNvSpPr/>
          <p:nvPr/>
        </p:nvSpPr>
        <p:spPr>
          <a:xfrm>
            <a:off x="6317300" y="2532925"/>
            <a:ext cx="2194500" cy="14631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اكتب أول أمر يخطر ببالك، بدون تفكير زائد</a:t>
            </a:r>
            <a:endParaRPr b="0" i="0" sz="1100" u="none" cap="none" strike="noStrike">
              <a:solidFill>
                <a:schemeClr val="dk1"/>
              </a:solidFill>
              <a:latin typeface="Calibri"/>
              <a:ea typeface="Calibri"/>
              <a:cs typeface="Calibri"/>
              <a:sym typeface="Calibri"/>
            </a:endParaRPr>
          </a:p>
        </p:txBody>
      </p:sp>
      <p:sp>
        <p:nvSpPr>
          <p:cNvPr id="381" name="Google Shape;381;p23"/>
          <p:cNvSpPr/>
          <p:nvPr/>
        </p:nvSpPr>
        <p:spPr>
          <a:xfrm>
            <a:off x="3246120" y="1965960"/>
            <a:ext cx="2651760" cy="2194560"/>
          </a:xfrm>
          <a:prstGeom prst="roundRect">
            <a:avLst>
              <a:gd fmla="val 3333"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
          <p:cNvSpPr/>
          <p:nvPr/>
        </p:nvSpPr>
        <p:spPr>
          <a:xfrm>
            <a:off x="3474720" y="2148840"/>
            <a:ext cx="219456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2. التقييم</a:t>
            </a:r>
            <a:endParaRPr b="0" i="0" sz="1400" u="none" cap="none" strike="noStrike">
              <a:solidFill>
                <a:schemeClr val="dk1"/>
              </a:solidFill>
              <a:latin typeface="Calibri"/>
              <a:ea typeface="Calibri"/>
              <a:cs typeface="Calibri"/>
              <a:sym typeface="Calibri"/>
            </a:endParaRPr>
          </a:p>
        </p:txBody>
      </p:sp>
      <p:sp>
        <p:nvSpPr>
          <p:cNvPr id="383" name="Google Shape;383;p23"/>
          <p:cNvSpPr/>
          <p:nvPr/>
        </p:nvSpPr>
        <p:spPr>
          <a:xfrm>
            <a:off x="3474720" y="2532888"/>
            <a:ext cx="2194560" cy="146304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هل النتيجة قريبة مما أردت؟ ما الناقص؟</a:t>
            </a:r>
            <a:endParaRPr b="0" i="0" sz="1100" u="none" cap="none" strike="noStrike">
              <a:solidFill>
                <a:schemeClr val="dk1"/>
              </a:solidFill>
              <a:latin typeface="Calibri"/>
              <a:ea typeface="Calibri"/>
              <a:cs typeface="Calibri"/>
              <a:sym typeface="Calibri"/>
            </a:endParaRPr>
          </a:p>
        </p:txBody>
      </p:sp>
      <p:sp>
        <p:nvSpPr>
          <p:cNvPr id="384" name="Google Shape;384;p23"/>
          <p:cNvSpPr/>
          <p:nvPr/>
        </p:nvSpPr>
        <p:spPr>
          <a:xfrm>
            <a:off x="403590" y="1965960"/>
            <a:ext cx="2651700" cy="2194500"/>
          </a:xfrm>
          <a:prstGeom prst="roundRect">
            <a:avLst>
              <a:gd fmla="val 3333"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3"/>
          <p:cNvSpPr/>
          <p:nvPr/>
        </p:nvSpPr>
        <p:spPr>
          <a:xfrm>
            <a:off x="632190" y="2148840"/>
            <a:ext cx="21945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3. الجولة الثانية</a:t>
            </a:r>
            <a:endParaRPr b="0" i="0" sz="1400" u="none" cap="none" strike="noStrike">
              <a:solidFill>
                <a:schemeClr val="dk1"/>
              </a:solidFill>
              <a:latin typeface="Calibri"/>
              <a:ea typeface="Calibri"/>
              <a:cs typeface="Calibri"/>
              <a:sym typeface="Calibri"/>
            </a:endParaRPr>
          </a:p>
        </p:txBody>
      </p:sp>
      <p:sp>
        <p:nvSpPr>
          <p:cNvPr id="386" name="Google Shape;386;p23"/>
          <p:cNvSpPr/>
          <p:nvPr/>
        </p:nvSpPr>
        <p:spPr>
          <a:xfrm>
            <a:off x="632190" y="2532888"/>
            <a:ext cx="2194500" cy="14631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أعد الكتابة بالإطار الكامل، وقارن الفرق</a:t>
            </a:r>
            <a:endParaRPr b="0" i="0" sz="1100" u="none" cap="none" strike="noStrike">
              <a:solidFill>
                <a:schemeClr val="dk1"/>
              </a:solidFill>
              <a:latin typeface="Calibri"/>
              <a:ea typeface="Calibri"/>
              <a:cs typeface="Calibri"/>
              <a:sym typeface="Calibri"/>
            </a:endParaRPr>
          </a:p>
        </p:txBody>
      </p:sp>
      <p:sp>
        <p:nvSpPr>
          <p:cNvPr id="387" name="Google Shape;387;p23"/>
          <p:cNvSpPr/>
          <p:nvPr/>
        </p:nvSpPr>
        <p:spPr>
          <a:xfrm>
            <a:off x="457200" y="4343400"/>
            <a:ext cx="8229600" cy="32004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64748B"/>
              </a:buClr>
              <a:buSzPts val="1200"/>
              <a:buFont typeface="Cairo"/>
              <a:buNone/>
            </a:pPr>
            <a:r>
              <a:rPr b="0" i="1" lang="en-US" sz="1200" u="none" cap="none" strike="noStrike">
                <a:solidFill>
                  <a:srgbClr val="64748B"/>
                </a:solidFill>
                <a:latin typeface="Cairo"/>
                <a:ea typeface="Cairo"/>
                <a:cs typeface="Cairo"/>
                <a:sym typeface="Cairo"/>
              </a:rPr>
              <a:t>الفوز: لمن أوضح أكبر فرق بين النتيجتين</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cxnSp>
        <p:nvCxnSpPr>
          <p:cNvPr id="393" name="Google Shape;393;p24"/>
          <p:cNvCxnSpPr/>
          <p:nvPr/>
        </p:nvCxnSpPr>
        <p:spPr>
          <a:xfrm>
            <a:off x="6309360" y="2331720"/>
            <a:ext cx="1280100" cy="0"/>
          </a:xfrm>
          <a:prstGeom prst="straightConnector1">
            <a:avLst/>
          </a:prstGeom>
          <a:noFill/>
          <a:ln cap="flat" cmpd="sng" w="31750">
            <a:solidFill>
              <a:srgbClr val="EA580C"/>
            </a:solidFill>
            <a:prstDash val="solid"/>
            <a:round/>
            <a:headEnd len="sm" w="sm" type="none"/>
            <a:tailEnd len="sm" w="sm" type="none"/>
          </a:ln>
        </p:spPr>
      </p:cxnSp>
      <p:sp>
        <p:nvSpPr>
          <p:cNvPr id="394" name="Google Shape;394;p24"/>
          <p:cNvSpPr/>
          <p:nvPr/>
        </p:nvSpPr>
        <p:spPr>
          <a:xfrm>
            <a:off x="548640" y="2468880"/>
            <a:ext cx="7315200" cy="822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3200"/>
              <a:buFont typeface="Cairo"/>
              <a:buNone/>
            </a:pPr>
            <a:r>
              <a:rPr b="1" i="0" lang="en-US" sz="3200" u="none" cap="none" strike="noStrike">
                <a:solidFill>
                  <a:srgbClr val="0F172A"/>
                </a:solidFill>
                <a:latin typeface="Cairo"/>
                <a:ea typeface="Cairo"/>
                <a:cs typeface="Cairo"/>
                <a:sym typeface="Cairo"/>
              </a:rPr>
              <a:t>القيود المتقدمة</a:t>
            </a:r>
            <a:endParaRPr b="0" i="0" sz="3200" u="none" cap="none" strike="noStrike">
              <a:solidFill>
                <a:schemeClr val="dk1"/>
              </a:solidFill>
              <a:latin typeface="Calibri"/>
              <a:ea typeface="Calibri"/>
              <a:cs typeface="Calibri"/>
              <a:sym typeface="Calibri"/>
            </a:endParaRPr>
          </a:p>
        </p:txBody>
      </p:sp>
      <p:sp>
        <p:nvSpPr>
          <p:cNvPr id="395" name="Google Shape;395;p24"/>
          <p:cNvSpPr/>
          <p:nvPr/>
        </p:nvSpPr>
        <p:spPr>
          <a:xfrm>
            <a:off x="548640" y="3246120"/>
            <a:ext cx="7132200" cy="640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lang="en-US" sz="1500">
                <a:solidFill>
                  <a:srgbClr val="475569"/>
                </a:solidFill>
                <a:latin typeface="Cairo"/>
                <a:ea typeface="Cairo"/>
                <a:cs typeface="Cairo"/>
                <a:sym typeface="Cairo"/>
              </a:rPr>
              <a:t>سلسلة التفكير (Chain of Thought) + القيود السلبية (Negative Constraints)</a:t>
            </a:r>
            <a:endParaRPr b="0" i="0" sz="1500" u="none" cap="none" strike="noStrike">
              <a:solidFill>
                <a:schemeClr val="dk1"/>
              </a:solidFill>
              <a:latin typeface="Calibri"/>
              <a:ea typeface="Calibri"/>
              <a:cs typeface="Calibri"/>
              <a:sym typeface="Calibri"/>
            </a:endParaRPr>
          </a:p>
        </p:txBody>
      </p:sp>
      <p:sp>
        <p:nvSpPr>
          <p:cNvPr id="396" name="Google Shape;396;p24"/>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5"/>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403" name="Google Shape;403;p25"/>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لماذا نحتاج قيوداً متقدمة؟</a:t>
            </a:r>
            <a:endParaRPr b="0" i="0" sz="2600" u="none" cap="none" strike="noStrike">
              <a:solidFill>
                <a:schemeClr val="dk1"/>
              </a:solidFill>
              <a:latin typeface="Calibri"/>
              <a:ea typeface="Calibri"/>
              <a:cs typeface="Calibri"/>
              <a:sym typeface="Calibri"/>
            </a:endParaRPr>
          </a:p>
        </p:txBody>
      </p:sp>
      <p:sp>
        <p:nvSpPr>
          <p:cNvPr id="404" name="Google Shape;404;p25"/>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405" name="Google Shape;405;p25"/>
          <p:cNvSpPr/>
          <p:nvPr/>
        </p:nvSpPr>
        <p:spPr>
          <a:xfrm>
            <a:off x="457200" y="1261872"/>
            <a:ext cx="8229600" cy="457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400"/>
              <a:buFont typeface="Cairo"/>
              <a:buNone/>
            </a:pPr>
            <a:r>
              <a:rPr b="0" i="0" lang="en-US" sz="1400" u="none" cap="none" strike="noStrike">
                <a:solidFill>
                  <a:srgbClr val="475569"/>
                </a:solidFill>
                <a:latin typeface="Cairo"/>
                <a:ea typeface="Cairo"/>
                <a:cs typeface="Cairo"/>
                <a:sym typeface="Cairo"/>
              </a:rPr>
              <a:t>إطار RCTF يحدد ماذا تريد. القيود المتقدمة تحدد كيف تريده — وما الذي تريد تجنبه.</a:t>
            </a:r>
            <a:endParaRPr b="0" i="0" sz="1400" u="none" cap="none" strike="noStrike">
              <a:solidFill>
                <a:schemeClr val="dk1"/>
              </a:solidFill>
              <a:latin typeface="Calibri"/>
              <a:ea typeface="Calibri"/>
              <a:cs typeface="Calibri"/>
              <a:sym typeface="Calibri"/>
            </a:endParaRPr>
          </a:p>
        </p:txBody>
      </p:sp>
      <p:sp>
        <p:nvSpPr>
          <p:cNvPr id="406" name="Google Shape;406;p25"/>
          <p:cNvSpPr/>
          <p:nvPr/>
        </p:nvSpPr>
        <p:spPr>
          <a:xfrm>
            <a:off x="457200" y="1874520"/>
            <a:ext cx="3931800" cy="2377500"/>
          </a:xfrm>
          <a:prstGeom prst="roundRect">
            <a:avLst>
              <a:gd fmla="val 3077" name="adj"/>
            </a:avLst>
          </a:prstGeom>
          <a:solidFill>
            <a:srgbClr val="E0F2FE"/>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rain_sky.png" id="407" name="Google Shape;407;p25"/>
          <p:cNvPicPr preferRelativeResize="0"/>
          <p:nvPr/>
        </p:nvPicPr>
        <p:blipFill rotWithShape="1">
          <a:blip r:embed="rId3">
            <a:alphaModFix/>
          </a:blip>
          <a:srcRect b="0" l="0" r="0" t="0"/>
          <a:stretch/>
        </p:blipFill>
        <p:spPr>
          <a:xfrm>
            <a:off x="3822192" y="2075688"/>
            <a:ext cx="365760" cy="365760"/>
          </a:xfrm>
          <a:prstGeom prst="rect">
            <a:avLst/>
          </a:prstGeom>
          <a:noFill/>
          <a:ln>
            <a:noFill/>
          </a:ln>
        </p:spPr>
      </p:pic>
      <p:sp>
        <p:nvSpPr>
          <p:cNvPr id="408" name="Google Shape;408;p25"/>
          <p:cNvSpPr/>
          <p:nvPr/>
        </p:nvSpPr>
        <p:spPr>
          <a:xfrm>
            <a:off x="685800" y="2057400"/>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lang="en-US" sz="1300">
                <a:solidFill>
                  <a:srgbClr val="0F172A"/>
                </a:solidFill>
                <a:latin typeface="Cairo"/>
                <a:ea typeface="Cairo"/>
                <a:cs typeface="Cairo"/>
                <a:sym typeface="Cairo"/>
              </a:rPr>
              <a:t>سلسلة التفكير (Chain of Thought)</a:t>
            </a:r>
            <a:endParaRPr b="0" i="0" sz="1300" u="none" cap="none" strike="noStrike">
              <a:solidFill>
                <a:schemeClr val="dk1"/>
              </a:solidFill>
              <a:latin typeface="Calibri"/>
              <a:ea typeface="Calibri"/>
              <a:cs typeface="Calibri"/>
              <a:sym typeface="Calibri"/>
            </a:endParaRPr>
          </a:p>
        </p:txBody>
      </p:sp>
      <p:sp>
        <p:nvSpPr>
          <p:cNvPr id="409" name="Google Shape;409;p25"/>
          <p:cNvSpPr/>
          <p:nvPr/>
        </p:nvSpPr>
        <p:spPr>
          <a:xfrm>
            <a:off x="685800" y="2694050"/>
            <a:ext cx="3474600" cy="13932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اطلب من الذكاء الاصطناعي أن يوضح تفكيره خطوة بخطوة</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قبل أن يعطيك الإجابة النهائية.</a:t>
            </a:r>
            <a:endParaRPr b="0" i="0" sz="1050" u="none" cap="none" strike="noStrike">
              <a:solidFill>
                <a:schemeClr val="dk1"/>
              </a:solidFill>
              <a:latin typeface="Calibri"/>
              <a:ea typeface="Calibri"/>
              <a:cs typeface="Calibri"/>
              <a:sym typeface="Calibri"/>
            </a:endParaRPr>
          </a:p>
        </p:txBody>
      </p:sp>
      <p:sp>
        <p:nvSpPr>
          <p:cNvPr id="410" name="Google Shape;410;p25"/>
          <p:cNvSpPr/>
          <p:nvPr/>
        </p:nvSpPr>
        <p:spPr>
          <a:xfrm>
            <a:off x="4572000" y="1874520"/>
            <a:ext cx="4114800" cy="2377500"/>
          </a:xfrm>
          <a:prstGeom prst="roundRect">
            <a:avLst>
              <a:gd fmla="val 3077" name="adj"/>
            </a:avLst>
          </a:prstGeom>
          <a:solidFill>
            <a:srgbClr val="FFEDD5"/>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n_orange.png" id="411" name="Google Shape;411;p25"/>
          <p:cNvPicPr preferRelativeResize="0"/>
          <p:nvPr/>
        </p:nvPicPr>
        <p:blipFill rotWithShape="1">
          <a:blip r:embed="rId4">
            <a:alphaModFix/>
          </a:blip>
          <a:srcRect b="0" l="0" r="0" t="0"/>
          <a:stretch/>
        </p:blipFill>
        <p:spPr>
          <a:xfrm>
            <a:off x="8119872" y="2075688"/>
            <a:ext cx="365760" cy="365760"/>
          </a:xfrm>
          <a:prstGeom prst="rect">
            <a:avLst/>
          </a:prstGeom>
          <a:noFill/>
          <a:ln>
            <a:noFill/>
          </a:ln>
        </p:spPr>
      </p:pic>
      <p:sp>
        <p:nvSpPr>
          <p:cNvPr id="412" name="Google Shape;412;p25"/>
          <p:cNvSpPr/>
          <p:nvPr/>
        </p:nvSpPr>
        <p:spPr>
          <a:xfrm>
            <a:off x="4800600" y="2057400"/>
            <a:ext cx="3200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lang="en-US" sz="1300">
                <a:solidFill>
                  <a:srgbClr val="0F172A"/>
                </a:solidFill>
                <a:latin typeface="Cairo"/>
                <a:ea typeface="Cairo"/>
                <a:cs typeface="Cairo"/>
                <a:sym typeface="Cairo"/>
              </a:rPr>
              <a:t>القيود السلبية (Negative Constraints)</a:t>
            </a:r>
            <a:endParaRPr b="0" i="0" sz="1300" u="none" cap="none" strike="noStrike">
              <a:solidFill>
                <a:schemeClr val="dk1"/>
              </a:solidFill>
              <a:latin typeface="Calibri"/>
              <a:ea typeface="Calibri"/>
              <a:cs typeface="Calibri"/>
              <a:sym typeface="Calibri"/>
            </a:endParaRPr>
          </a:p>
        </p:txBody>
      </p:sp>
      <p:sp>
        <p:nvSpPr>
          <p:cNvPr id="413" name="Google Shape;413;p25"/>
          <p:cNvSpPr/>
          <p:nvPr/>
        </p:nvSpPr>
        <p:spPr>
          <a:xfrm>
            <a:off x="4800600" y="2694175"/>
            <a:ext cx="3657600" cy="13932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أخبر الذكاء الاصطناعي بما لا تريده:</a:t>
            </a:r>
            <a:endParaRPr b="0" i="0" sz="1050" u="none" cap="none" strike="noStrike">
              <a:solidFill>
                <a:schemeClr val="dk1"/>
              </a:solidFill>
              <a:latin typeface="Calibri"/>
              <a:ea typeface="Calibri"/>
              <a:cs typeface="Calibri"/>
              <a:sym typeface="Calibri"/>
            </a:endParaRPr>
          </a:p>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لا جداول، لا مصطلحات معقدة، لا تتجاوز ١٠٠ كلمة.</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26"/>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420" name="Google Shape;420;p26"/>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Chain of Thought — التفكير خطوة بخطوة</a:t>
            </a:r>
            <a:endParaRPr b="0" i="0" sz="2600" u="none" cap="none" strike="noStrike">
              <a:solidFill>
                <a:schemeClr val="dk1"/>
              </a:solidFill>
              <a:latin typeface="Calibri"/>
              <a:ea typeface="Calibri"/>
              <a:cs typeface="Calibri"/>
              <a:sym typeface="Calibri"/>
            </a:endParaRPr>
          </a:p>
        </p:txBody>
      </p:sp>
      <p:sp>
        <p:nvSpPr>
          <p:cNvPr id="421" name="Google Shape;421;p26"/>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422" name="Google Shape;422;p26"/>
          <p:cNvSpPr/>
          <p:nvPr/>
        </p:nvSpPr>
        <p:spPr>
          <a:xfrm>
            <a:off x="457200" y="1261872"/>
            <a:ext cx="82296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بدلاً من طلب الإجابة مباشرة، اطلب من الذكاء الاصطناعي أن يشرح تفكيره أولاً.</a:t>
            </a:r>
            <a:endParaRPr b="0" i="0" sz="1300" u="none" cap="none" strike="noStrike">
              <a:solidFill>
                <a:schemeClr val="dk1"/>
              </a:solidFill>
              <a:latin typeface="Calibri"/>
              <a:ea typeface="Calibri"/>
              <a:cs typeface="Calibri"/>
              <a:sym typeface="Calibri"/>
            </a:endParaRPr>
          </a:p>
        </p:txBody>
      </p:sp>
      <p:sp>
        <p:nvSpPr>
          <p:cNvPr id="423" name="Google Shape;423;p26"/>
          <p:cNvSpPr/>
          <p:nvPr/>
        </p:nvSpPr>
        <p:spPr>
          <a:xfrm>
            <a:off x="457200" y="1783080"/>
            <a:ext cx="3931800" cy="1417200"/>
          </a:xfrm>
          <a:prstGeom prst="roundRect">
            <a:avLst>
              <a:gd fmla="val 5161" name="adj"/>
            </a:avLst>
          </a:prstGeom>
          <a:solidFill>
            <a:srgbClr val="FFEDD5"/>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p:nvPr/>
        </p:nvSpPr>
        <p:spPr>
          <a:xfrm>
            <a:off x="685800" y="1965960"/>
            <a:ext cx="34746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أمر عادي</a:t>
            </a:r>
            <a:endParaRPr b="0" i="0" sz="1300" u="none" cap="none" strike="noStrike">
              <a:solidFill>
                <a:schemeClr val="dk1"/>
              </a:solidFill>
              <a:latin typeface="Calibri"/>
              <a:ea typeface="Calibri"/>
              <a:cs typeface="Calibri"/>
              <a:sym typeface="Calibri"/>
            </a:endParaRPr>
          </a:p>
        </p:txBody>
      </p:sp>
      <p:sp>
        <p:nvSpPr>
          <p:cNvPr id="425" name="Google Shape;425;p26"/>
          <p:cNvSpPr/>
          <p:nvPr/>
        </p:nvSpPr>
        <p:spPr>
          <a:xfrm>
            <a:off x="685800" y="2350008"/>
            <a:ext cx="3474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"ما الحل الأمثل لتحسين أداء الطلاب في الرياضيات؟"</a:t>
            </a:r>
            <a:endParaRPr b="0" i="0" sz="1050" u="none" cap="none" strike="noStrike">
              <a:solidFill>
                <a:schemeClr val="dk1"/>
              </a:solidFill>
              <a:latin typeface="Calibri"/>
              <a:ea typeface="Calibri"/>
              <a:cs typeface="Calibri"/>
              <a:sym typeface="Calibri"/>
            </a:endParaRPr>
          </a:p>
        </p:txBody>
      </p:sp>
      <p:sp>
        <p:nvSpPr>
          <p:cNvPr id="426" name="Google Shape;426;p26"/>
          <p:cNvSpPr/>
          <p:nvPr/>
        </p:nvSpPr>
        <p:spPr>
          <a:xfrm>
            <a:off x="4572000" y="1783080"/>
            <a:ext cx="4114800" cy="1417200"/>
          </a:xfrm>
          <a:prstGeom prst="roundRect">
            <a:avLst>
              <a:gd fmla="val 5161" name="adj"/>
            </a:avLst>
          </a:prstGeom>
          <a:solidFill>
            <a:srgbClr val="E0F2FE"/>
          </a:solidFill>
          <a:ln>
            <a:noFill/>
          </a:ln>
          <a:effectLst>
            <a:outerShdw blurRad="50800" rotWithShape="0" algn="bl" dir="5400000" dist="127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6"/>
          <p:cNvSpPr/>
          <p:nvPr/>
        </p:nvSpPr>
        <p:spPr>
          <a:xfrm>
            <a:off x="4800600" y="1965960"/>
            <a:ext cx="36576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مع </a:t>
            </a:r>
            <a:r>
              <a:rPr b="1" lang="en-US" sz="1300">
                <a:solidFill>
                  <a:srgbClr val="0F172A"/>
                </a:solidFill>
                <a:latin typeface="Cairo"/>
                <a:ea typeface="Cairo"/>
                <a:cs typeface="Cairo"/>
                <a:sym typeface="Cairo"/>
              </a:rPr>
              <a:t>سلسلة التفكير </a:t>
            </a:r>
            <a:endParaRPr b="0" i="0" sz="1300" u="none" cap="none" strike="noStrike">
              <a:solidFill>
                <a:schemeClr val="dk1"/>
              </a:solidFill>
              <a:latin typeface="Calibri"/>
              <a:ea typeface="Calibri"/>
              <a:cs typeface="Calibri"/>
              <a:sym typeface="Calibri"/>
            </a:endParaRPr>
          </a:p>
        </p:txBody>
      </p:sp>
      <p:sp>
        <p:nvSpPr>
          <p:cNvPr id="428" name="Google Shape;428;p26"/>
          <p:cNvSpPr/>
          <p:nvPr/>
        </p:nvSpPr>
        <p:spPr>
          <a:xfrm>
            <a:off x="4800600" y="2350008"/>
            <a:ext cx="3657600" cy="6858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050"/>
              <a:buFont typeface="Cairo"/>
              <a:buNone/>
            </a:pPr>
            <a:r>
              <a:rPr b="0" i="0" lang="en-US" sz="1050" u="none" cap="none" strike="noStrike">
                <a:solidFill>
                  <a:srgbClr val="475569"/>
                </a:solidFill>
                <a:latin typeface="Cairo"/>
                <a:ea typeface="Cairo"/>
                <a:cs typeface="Cairo"/>
                <a:sym typeface="Cairo"/>
              </a:rPr>
              <a:t>"فكّر خطوة بخطوة، ثم أخبرني بالحل الأمثل لتحسين أداء الطلاب في الرياضيات."</a:t>
            </a:r>
            <a:endParaRPr b="0" i="0" sz="1050" u="none" cap="none" strike="noStrike">
              <a:solidFill>
                <a:schemeClr val="dk1"/>
              </a:solidFill>
              <a:latin typeface="Calibri"/>
              <a:ea typeface="Calibri"/>
              <a:cs typeface="Calibri"/>
              <a:sym typeface="Calibri"/>
            </a:endParaRPr>
          </a:p>
        </p:txBody>
      </p:sp>
      <p:sp>
        <p:nvSpPr>
          <p:cNvPr id="429" name="Google Shape;429;p26"/>
          <p:cNvSpPr/>
          <p:nvPr/>
        </p:nvSpPr>
        <p:spPr>
          <a:xfrm>
            <a:off x="457200" y="3337560"/>
            <a:ext cx="8229600" cy="320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لماذا يفيد؟</a:t>
            </a:r>
            <a:endParaRPr b="0" i="0" sz="1300" u="none" cap="none" strike="noStrike">
              <a:solidFill>
                <a:schemeClr val="dk1"/>
              </a:solidFill>
              <a:latin typeface="Calibri"/>
              <a:ea typeface="Calibri"/>
              <a:cs typeface="Calibri"/>
              <a:sym typeface="Calibri"/>
            </a:endParaRPr>
          </a:p>
        </p:txBody>
      </p:sp>
      <p:sp>
        <p:nvSpPr>
          <p:cNvPr id="430" name="Google Shape;430;p26"/>
          <p:cNvSpPr/>
          <p:nvPr/>
        </p:nvSpPr>
        <p:spPr>
          <a:xfrm>
            <a:off x="7936992" y="3730752"/>
            <a:ext cx="292500" cy="2925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
          <p:cNvSpPr/>
          <p:nvPr/>
        </p:nvSpPr>
        <p:spPr>
          <a:xfrm>
            <a:off x="7936992" y="3730752"/>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iro"/>
              <a:buNone/>
            </a:pPr>
            <a:r>
              <a:rPr b="1" i="0" lang="en-US" sz="1100" u="none" cap="none" strike="noStrike">
                <a:solidFill>
                  <a:srgbClr val="FFFFFF"/>
                </a:solidFill>
                <a:latin typeface="Cairo"/>
                <a:ea typeface="Cairo"/>
                <a:cs typeface="Cairo"/>
                <a:sym typeface="Cairo"/>
              </a:rPr>
              <a:t>1</a:t>
            </a:r>
            <a:endParaRPr b="0" i="0" sz="1100" u="none" cap="none" strike="noStrike">
              <a:solidFill>
                <a:schemeClr val="dk1"/>
              </a:solidFill>
              <a:latin typeface="Calibri"/>
              <a:ea typeface="Calibri"/>
              <a:cs typeface="Calibri"/>
              <a:sym typeface="Calibri"/>
            </a:endParaRPr>
          </a:p>
        </p:txBody>
      </p:sp>
      <p:sp>
        <p:nvSpPr>
          <p:cNvPr id="432" name="Google Shape;432;p26"/>
          <p:cNvSpPr/>
          <p:nvPr/>
        </p:nvSpPr>
        <p:spPr>
          <a:xfrm>
            <a:off x="325750" y="3733089"/>
            <a:ext cx="7498200" cy="292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يكشف الخطوات المنطقية ويساعدك على التدقيق</a:t>
            </a:r>
            <a:endParaRPr b="0" i="0" sz="1100" u="none" cap="none" strike="noStrike">
              <a:solidFill>
                <a:schemeClr val="dk1"/>
              </a:solidFill>
              <a:latin typeface="Calibri"/>
              <a:ea typeface="Calibri"/>
              <a:cs typeface="Calibri"/>
              <a:sym typeface="Calibri"/>
            </a:endParaRPr>
          </a:p>
        </p:txBody>
      </p:sp>
      <p:sp>
        <p:nvSpPr>
          <p:cNvPr id="433" name="Google Shape;433;p26"/>
          <p:cNvSpPr/>
          <p:nvPr/>
        </p:nvSpPr>
        <p:spPr>
          <a:xfrm>
            <a:off x="7936992" y="4078224"/>
            <a:ext cx="292500" cy="2925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6"/>
          <p:cNvSpPr/>
          <p:nvPr/>
        </p:nvSpPr>
        <p:spPr>
          <a:xfrm>
            <a:off x="7936992" y="4078224"/>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iro"/>
              <a:buNone/>
            </a:pPr>
            <a:r>
              <a:rPr b="1" i="0" lang="en-US" sz="1100" u="none" cap="none" strike="noStrike">
                <a:solidFill>
                  <a:srgbClr val="FFFFFF"/>
                </a:solidFill>
                <a:latin typeface="Cairo"/>
                <a:ea typeface="Cairo"/>
                <a:cs typeface="Cairo"/>
                <a:sym typeface="Cairo"/>
              </a:rPr>
              <a:t>2</a:t>
            </a:r>
            <a:endParaRPr b="0" i="0" sz="1100" u="none" cap="none" strike="noStrike">
              <a:solidFill>
                <a:schemeClr val="dk1"/>
              </a:solidFill>
              <a:latin typeface="Calibri"/>
              <a:ea typeface="Calibri"/>
              <a:cs typeface="Calibri"/>
              <a:sym typeface="Calibri"/>
            </a:endParaRPr>
          </a:p>
        </p:txBody>
      </p:sp>
      <p:sp>
        <p:nvSpPr>
          <p:cNvPr id="435" name="Google Shape;435;p26"/>
          <p:cNvSpPr/>
          <p:nvPr/>
        </p:nvSpPr>
        <p:spPr>
          <a:xfrm>
            <a:off x="365550" y="4108024"/>
            <a:ext cx="7498200" cy="292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يقلل الأخطاء في المسائل المعقدة</a:t>
            </a:r>
            <a:endParaRPr b="0" i="0" sz="1100" u="none" cap="none" strike="noStrike">
              <a:solidFill>
                <a:schemeClr val="dk1"/>
              </a:solidFill>
              <a:latin typeface="Calibri"/>
              <a:ea typeface="Calibri"/>
              <a:cs typeface="Calibri"/>
              <a:sym typeface="Calibri"/>
            </a:endParaRPr>
          </a:p>
        </p:txBody>
      </p:sp>
      <p:sp>
        <p:nvSpPr>
          <p:cNvPr id="436" name="Google Shape;436;p26"/>
          <p:cNvSpPr/>
          <p:nvPr/>
        </p:nvSpPr>
        <p:spPr>
          <a:xfrm>
            <a:off x="7936992" y="4425696"/>
            <a:ext cx="292500" cy="2925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6"/>
          <p:cNvSpPr/>
          <p:nvPr/>
        </p:nvSpPr>
        <p:spPr>
          <a:xfrm>
            <a:off x="7936992" y="4425696"/>
            <a:ext cx="2925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iro"/>
              <a:buNone/>
            </a:pPr>
            <a:r>
              <a:rPr b="1" i="0" lang="en-US" sz="1100" u="none" cap="none" strike="noStrike">
                <a:solidFill>
                  <a:srgbClr val="FFFFFF"/>
                </a:solidFill>
                <a:latin typeface="Cairo"/>
                <a:ea typeface="Cairo"/>
                <a:cs typeface="Cairo"/>
                <a:sym typeface="Cairo"/>
              </a:rPr>
              <a:t>3</a:t>
            </a:r>
            <a:endParaRPr b="0" i="0" sz="1100" u="none" cap="none" strike="noStrike">
              <a:solidFill>
                <a:schemeClr val="dk1"/>
              </a:solidFill>
              <a:latin typeface="Calibri"/>
              <a:ea typeface="Calibri"/>
              <a:cs typeface="Calibri"/>
              <a:sym typeface="Calibri"/>
            </a:endParaRPr>
          </a:p>
        </p:txBody>
      </p:sp>
      <p:sp>
        <p:nvSpPr>
          <p:cNvPr id="438" name="Google Shape;438;p26"/>
          <p:cNvSpPr/>
          <p:nvPr/>
        </p:nvSpPr>
        <p:spPr>
          <a:xfrm>
            <a:off x="365550" y="4482946"/>
            <a:ext cx="7498200" cy="2925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يجعل النتيجة أسهل للفهم والمراجعة</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7"/>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445" name="Google Shape;445;p27"/>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Negative Constraints —</a:t>
            </a:r>
            <a:r>
              <a:rPr b="1" lang="en-US" sz="2600">
                <a:solidFill>
                  <a:srgbClr val="0F172A"/>
                </a:solidFill>
                <a:latin typeface="Cairo"/>
                <a:ea typeface="Cairo"/>
                <a:cs typeface="Cairo"/>
                <a:sym typeface="Cairo"/>
              </a:rPr>
              <a:t> القيود السلبية </a:t>
            </a:r>
            <a:endParaRPr b="0" i="0" sz="2600" u="none" cap="none" strike="noStrike">
              <a:solidFill>
                <a:schemeClr val="dk1"/>
              </a:solidFill>
              <a:latin typeface="Calibri"/>
              <a:ea typeface="Calibri"/>
              <a:cs typeface="Calibri"/>
              <a:sym typeface="Calibri"/>
            </a:endParaRPr>
          </a:p>
        </p:txBody>
      </p:sp>
      <p:sp>
        <p:nvSpPr>
          <p:cNvPr id="446" name="Google Shape;446;p27"/>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447" name="Google Shape;447;p27"/>
          <p:cNvSpPr/>
          <p:nvPr/>
        </p:nvSpPr>
        <p:spPr>
          <a:xfrm>
            <a:off x="457200" y="1261872"/>
            <a:ext cx="82296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أحياناً تحديد ما لا تريده أسهل وأكثر فاعلية من تحديد ما تريده.</a:t>
            </a:r>
            <a:endParaRPr b="0" i="0" sz="1300" u="none" cap="none" strike="noStrike">
              <a:solidFill>
                <a:schemeClr val="dk1"/>
              </a:solidFill>
              <a:latin typeface="Calibri"/>
              <a:ea typeface="Calibri"/>
              <a:cs typeface="Calibri"/>
              <a:sym typeface="Calibri"/>
            </a:endParaRPr>
          </a:p>
        </p:txBody>
      </p:sp>
      <p:sp>
        <p:nvSpPr>
          <p:cNvPr id="448" name="Google Shape;448;p27"/>
          <p:cNvSpPr/>
          <p:nvPr/>
        </p:nvSpPr>
        <p:spPr>
          <a:xfrm>
            <a:off x="457200" y="1828800"/>
            <a:ext cx="8229600" cy="530400"/>
          </a:xfrm>
          <a:prstGeom prst="roundRect">
            <a:avLst>
              <a:gd fmla="val 10345"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7"/>
          <p:cNvSpPr/>
          <p:nvPr/>
        </p:nvSpPr>
        <p:spPr>
          <a:xfrm>
            <a:off x="457200" y="1872600"/>
            <a:ext cx="42978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1" i="0" lang="en-US" sz="1200" u="none" cap="none" strike="noStrike">
                <a:solidFill>
                  <a:srgbClr val="0F172A"/>
                </a:solidFill>
                <a:latin typeface="Cairo"/>
                <a:ea typeface="Cairo"/>
                <a:cs typeface="Cairo"/>
                <a:sym typeface="Cairo"/>
              </a:rPr>
              <a:t>لا تستخدم مصطلحات تقنية معقدة</a:t>
            </a:r>
            <a:endParaRPr b="0" i="0" sz="1200" u="none" cap="none" strike="noStrike">
              <a:solidFill>
                <a:schemeClr val="dk1"/>
              </a:solidFill>
              <a:latin typeface="Calibri"/>
              <a:ea typeface="Calibri"/>
              <a:cs typeface="Calibri"/>
              <a:sym typeface="Calibri"/>
            </a:endParaRPr>
          </a:p>
        </p:txBody>
      </p:sp>
      <p:sp>
        <p:nvSpPr>
          <p:cNvPr id="450" name="Google Shape;450;p27"/>
          <p:cNvSpPr/>
          <p:nvPr/>
        </p:nvSpPr>
        <p:spPr>
          <a:xfrm>
            <a:off x="457200" y="2432304"/>
            <a:ext cx="8229600" cy="530400"/>
          </a:xfrm>
          <a:prstGeom prst="roundRect">
            <a:avLst>
              <a:gd fmla="val 10345"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7"/>
          <p:cNvSpPr/>
          <p:nvPr/>
        </p:nvSpPr>
        <p:spPr>
          <a:xfrm>
            <a:off x="457200" y="2432304"/>
            <a:ext cx="42978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1" i="0" lang="en-US" sz="1200" u="none" cap="none" strike="noStrike">
                <a:solidFill>
                  <a:srgbClr val="0F172A"/>
                </a:solidFill>
                <a:latin typeface="Cairo"/>
                <a:ea typeface="Cairo"/>
                <a:cs typeface="Cairo"/>
                <a:sym typeface="Cairo"/>
              </a:rPr>
              <a:t>لا تتجاوز ١٠٠ كلمة</a:t>
            </a:r>
            <a:endParaRPr b="0" i="0" sz="1200" u="none" cap="none" strike="noStrike">
              <a:solidFill>
                <a:schemeClr val="dk1"/>
              </a:solidFill>
              <a:latin typeface="Calibri"/>
              <a:ea typeface="Calibri"/>
              <a:cs typeface="Calibri"/>
              <a:sym typeface="Calibri"/>
            </a:endParaRPr>
          </a:p>
        </p:txBody>
      </p:sp>
      <p:sp>
        <p:nvSpPr>
          <p:cNvPr id="452" name="Google Shape;452;p27"/>
          <p:cNvSpPr/>
          <p:nvPr/>
        </p:nvSpPr>
        <p:spPr>
          <a:xfrm>
            <a:off x="457200" y="3035808"/>
            <a:ext cx="8229600" cy="530400"/>
          </a:xfrm>
          <a:prstGeom prst="roundRect">
            <a:avLst>
              <a:gd fmla="val 10345"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7"/>
          <p:cNvSpPr/>
          <p:nvPr/>
        </p:nvSpPr>
        <p:spPr>
          <a:xfrm>
            <a:off x="457200" y="3035808"/>
            <a:ext cx="42978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1" i="0" lang="en-US" sz="1200" u="none" cap="none" strike="noStrike">
                <a:solidFill>
                  <a:srgbClr val="0F172A"/>
                </a:solidFill>
                <a:latin typeface="Cairo"/>
                <a:ea typeface="Cairo"/>
                <a:cs typeface="Cairo"/>
                <a:sym typeface="Cairo"/>
              </a:rPr>
              <a:t>لا تستخدم جداول</a:t>
            </a:r>
            <a:endParaRPr b="0" i="0" sz="1200" u="none" cap="none" strike="noStrike">
              <a:solidFill>
                <a:schemeClr val="dk1"/>
              </a:solidFill>
              <a:latin typeface="Calibri"/>
              <a:ea typeface="Calibri"/>
              <a:cs typeface="Calibri"/>
              <a:sym typeface="Calibri"/>
            </a:endParaRPr>
          </a:p>
        </p:txBody>
      </p:sp>
      <p:sp>
        <p:nvSpPr>
          <p:cNvPr id="454" name="Google Shape;454;p27"/>
          <p:cNvSpPr/>
          <p:nvPr/>
        </p:nvSpPr>
        <p:spPr>
          <a:xfrm>
            <a:off x="457200" y="3639312"/>
            <a:ext cx="8229600" cy="530400"/>
          </a:xfrm>
          <a:prstGeom prst="roundRect">
            <a:avLst>
              <a:gd fmla="val 10345" name="adj"/>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7"/>
          <p:cNvSpPr/>
          <p:nvPr/>
        </p:nvSpPr>
        <p:spPr>
          <a:xfrm>
            <a:off x="457200" y="3639325"/>
            <a:ext cx="42978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1" i="0" lang="en-US" sz="1200" u="none" cap="none" strike="noStrike">
                <a:solidFill>
                  <a:srgbClr val="0F172A"/>
                </a:solidFill>
                <a:latin typeface="Cairo"/>
                <a:ea typeface="Cairo"/>
                <a:cs typeface="Cairo"/>
                <a:sym typeface="Cairo"/>
              </a:rPr>
              <a:t>لا تقدم رأيك الشخصي</a:t>
            </a:r>
            <a:endParaRPr b="0" i="0" sz="1200" u="none" cap="none" strike="noStrike">
              <a:solidFill>
                <a:schemeClr val="dk1"/>
              </a:solidFill>
              <a:latin typeface="Calibri"/>
              <a:ea typeface="Calibri"/>
              <a:cs typeface="Calibri"/>
              <a:sym typeface="Calibri"/>
            </a:endParaRPr>
          </a:p>
        </p:txBody>
      </p:sp>
      <p:sp>
        <p:nvSpPr>
          <p:cNvPr id="456" name="Google Shape;456;p27"/>
          <p:cNvSpPr/>
          <p:nvPr/>
        </p:nvSpPr>
        <p:spPr>
          <a:xfrm>
            <a:off x="457200" y="4242816"/>
            <a:ext cx="8229600" cy="530400"/>
          </a:xfrm>
          <a:prstGeom prst="roundRect">
            <a:avLst>
              <a:gd fmla="val 10345" name="adj"/>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7"/>
          <p:cNvSpPr/>
          <p:nvPr/>
        </p:nvSpPr>
        <p:spPr>
          <a:xfrm>
            <a:off x="530375" y="4245091"/>
            <a:ext cx="42978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1" i="0" lang="en-US" sz="1200" u="none" cap="none" strike="noStrike">
                <a:solidFill>
                  <a:srgbClr val="0F172A"/>
                </a:solidFill>
                <a:latin typeface="Cairo"/>
                <a:ea typeface="Cairo"/>
                <a:cs typeface="Cairo"/>
                <a:sym typeface="Cairo"/>
              </a:rPr>
              <a:t>لا تكرر المعلومة أكثر من مرة</a:t>
            </a:r>
            <a:endParaRPr b="0" i="0" sz="1200" u="none" cap="none" strike="noStrike">
              <a:solidFill>
                <a:schemeClr val="dk1"/>
              </a:solidFill>
              <a:latin typeface="Calibri"/>
              <a:ea typeface="Calibri"/>
              <a:cs typeface="Calibri"/>
              <a:sym typeface="Calibri"/>
            </a:endParaRPr>
          </a:p>
        </p:txBody>
      </p:sp>
      <p:sp>
        <p:nvSpPr>
          <p:cNvPr id="458" name="Google Shape;458;p27"/>
          <p:cNvSpPr/>
          <p:nvPr/>
        </p:nvSpPr>
        <p:spPr>
          <a:xfrm>
            <a:off x="5212200" y="1828788"/>
            <a:ext cx="34746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0" lang="en-US" sz="1100" u="none" cap="none" strike="noStrike">
                <a:solidFill>
                  <a:srgbClr val="64748B"/>
                </a:solidFill>
                <a:latin typeface="Cairo"/>
                <a:ea typeface="Cairo"/>
                <a:cs typeface="Cairo"/>
                <a:sym typeface="Cairo"/>
              </a:rPr>
              <a:t>لضمان الوضوح لجمهور غير متخصص</a:t>
            </a:r>
            <a:endParaRPr b="0" i="0" sz="1100" u="none" cap="none" strike="noStrike">
              <a:solidFill>
                <a:schemeClr val="dk1"/>
              </a:solidFill>
              <a:latin typeface="Calibri"/>
              <a:ea typeface="Calibri"/>
              <a:cs typeface="Calibri"/>
              <a:sym typeface="Calibri"/>
            </a:endParaRPr>
          </a:p>
        </p:txBody>
      </p:sp>
      <p:sp>
        <p:nvSpPr>
          <p:cNvPr id="459" name="Google Shape;459;p27"/>
          <p:cNvSpPr/>
          <p:nvPr/>
        </p:nvSpPr>
        <p:spPr>
          <a:xfrm>
            <a:off x="5212200" y="2432292"/>
            <a:ext cx="34746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0" lang="en-US" sz="1100" u="none" cap="none" strike="noStrike">
                <a:solidFill>
                  <a:srgbClr val="64748B"/>
                </a:solidFill>
                <a:latin typeface="Cairo"/>
                <a:ea typeface="Cairo"/>
                <a:cs typeface="Cairo"/>
                <a:sym typeface="Cairo"/>
              </a:rPr>
              <a:t>للتحكم في طول المخرج</a:t>
            </a:r>
            <a:endParaRPr b="0" i="0" sz="1100" u="none" cap="none" strike="noStrike">
              <a:solidFill>
                <a:schemeClr val="dk1"/>
              </a:solidFill>
              <a:latin typeface="Calibri"/>
              <a:ea typeface="Calibri"/>
              <a:cs typeface="Calibri"/>
              <a:sym typeface="Calibri"/>
            </a:endParaRPr>
          </a:p>
        </p:txBody>
      </p:sp>
      <p:sp>
        <p:nvSpPr>
          <p:cNvPr id="460" name="Google Shape;460;p27"/>
          <p:cNvSpPr/>
          <p:nvPr/>
        </p:nvSpPr>
        <p:spPr>
          <a:xfrm>
            <a:off x="5212200" y="3035796"/>
            <a:ext cx="34746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0" lang="en-US" sz="1100" u="none" cap="none" strike="noStrike">
                <a:solidFill>
                  <a:srgbClr val="64748B"/>
                </a:solidFill>
                <a:latin typeface="Cairo"/>
                <a:ea typeface="Cairo"/>
                <a:cs typeface="Cairo"/>
                <a:sym typeface="Cairo"/>
              </a:rPr>
              <a:t>عندما تريد نصاً سردياً فقط</a:t>
            </a:r>
            <a:endParaRPr b="0" i="0" sz="1100" u="none" cap="none" strike="noStrike">
              <a:solidFill>
                <a:schemeClr val="dk1"/>
              </a:solidFill>
              <a:latin typeface="Calibri"/>
              <a:ea typeface="Calibri"/>
              <a:cs typeface="Calibri"/>
              <a:sym typeface="Calibri"/>
            </a:endParaRPr>
          </a:p>
        </p:txBody>
      </p:sp>
      <p:sp>
        <p:nvSpPr>
          <p:cNvPr id="461" name="Google Shape;461;p27"/>
          <p:cNvSpPr/>
          <p:nvPr/>
        </p:nvSpPr>
        <p:spPr>
          <a:xfrm>
            <a:off x="5212200" y="3639300"/>
            <a:ext cx="34746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0" lang="en-US" sz="1100" u="none" cap="none" strike="noStrike">
                <a:solidFill>
                  <a:srgbClr val="64748B"/>
                </a:solidFill>
                <a:latin typeface="Cairo"/>
                <a:ea typeface="Cairo"/>
                <a:cs typeface="Cairo"/>
                <a:sym typeface="Cairo"/>
              </a:rPr>
              <a:t>لضمان الموضوعية في المعلومات</a:t>
            </a:r>
            <a:endParaRPr b="0" i="0" sz="1100" u="none" cap="none" strike="noStrike">
              <a:solidFill>
                <a:schemeClr val="dk1"/>
              </a:solidFill>
              <a:latin typeface="Calibri"/>
              <a:ea typeface="Calibri"/>
              <a:cs typeface="Calibri"/>
              <a:sym typeface="Calibri"/>
            </a:endParaRPr>
          </a:p>
        </p:txBody>
      </p:sp>
      <p:sp>
        <p:nvSpPr>
          <p:cNvPr id="462" name="Google Shape;462;p27"/>
          <p:cNvSpPr/>
          <p:nvPr/>
        </p:nvSpPr>
        <p:spPr>
          <a:xfrm>
            <a:off x="5212200" y="4242804"/>
            <a:ext cx="3474600" cy="530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0" lang="en-US" sz="1100" u="none" cap="none" strike="noStrike">
                <a:solidFill>
                  <a:srgbClr val="64748B"/>
                </a:solidFill>
                <a:latin typeface="Cairo"/>
                <a:ea typeface="Cairo"/>
                <a:cs typeface="Cairo"/>
                <a:sym typeface="Cairo"/>
              </a:rPr>
              <a:t>لتجنب الحشو والتكرار</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28"/>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469" name="Google Shape;469;p28"/>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أمر متكامل: RCTF + قيود متقدمة</a:t>
            </a:r>
            <a:endParaRPr b="0" i="0" sz="2600" u="none" cap="none" strike="noStrike">
              <a:solidFill>
                <a:schemeClr val="dk1"/>
              </a:solidFill>
              <a:latin typeface="Calibri"/>
              <a:ea typeface="Calibri"/>
              <a:cs typeface="Calibri"/>
              <a:sym typeface="Calibri"/>
            </a:endParaRPr>
          </a:p>
        </p:txBody>
      </p:sp>
      <p:sp>
        <p:nvSpPr>
          <p:cNvPr id="470" name="Google Shape;470;p28"/>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471" name="Google Shape;471;p28"/>
          <p:cNvSpPr/>
          <p:nvPr/>
        </p:nvSpPr>
        <p:spPr>
          <a:xfrm>
            <a:off x="7955280" y="1508760"/>
            <a:ext cx="457200" cy="457200"/>
          </a:xfrm>
          <a:prstGeom prst="ellipse">
            <a:avLst/>
          </a:prstGeom>
          <a:solidFill>
            <a:srgbClr val="0284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8"/>
          <p:cNvSpPr/>
          <p:nvPr/>
        </p:nvSpPr>
        <p:spPr>
          <a:xfrm>
            <a:off x="7955280" y="1508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R</a:t>
            </a:r>
            <a:endParaRPr b="0" i="0" sz="1400" u="none" cap="none" strike="noStrike">
              <a:solidFill>
                <a:schemeClr val="dk1"/>
              </a:solidFill>
              <a:latin typeface="Calibri"/>
              <a:ea typeface="Calibri"/>
              <a:cs typeface="Calibri"/>
              <a:sym typeface="Calibri"/>
            </a:endParaRPr>
          </a:p>
        </p:txBody>
      </p:sp>
      <p:sp>
        <p:nvSpPr>
          <p:cNvPr id="473" name="Google Shape;473;p28"/>
          <p:cNvSpPr/>
          <p:nvPr/>
        </p:nvSpPr>
        <p:spPr>
          <a:xfrm>
            <a:off x="457200" y="1371600"/>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8"/>
          <p:cNvSpPr/>
          <p:nvPr/>
        </p:nvSpPr>
        <p:spPr>
          <a:xfrm>
            <a:off x="640080" y="1371600"/>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أنت خبير تغذية متخصص في رياضة المراهقين.</a:t>
            </a:r>
            <a:endParaRPr b="0" i="0" sz="1200" u="none" cap="none" strike="noStrike">
              <a:solidFill>
                <a:schemeClr val="dk1"/>
              </a:solidFill>
              <a:latin typeface="Calibri"/>
              <a:ea typeface="Calibri"/>
              <a:cs typeface="Calibri"/>
              <a:sym typeface="Calibri"/>
            </a:endParaRPr>
          </a:p>
        </p:txBody>
      </p:sp>
      <p:sp>
        <p:nvSpPr>
          <p:cNvPr id="475" name="Google Shape;475;p28"/>
          <p:cNvSpPr/>
          <p:nvPr/>
        </p:nvSpPr>
        <p:spPr>
          <a:xfrm>
            <a:off x="7955280" y="2313432"/>
            <a:ext cx="457200" cy="457200"/>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8"/>
          <p:cNvSpPr/>
          <p:nvPr/>
        </p:nvSpPr>
        <p:spPr>
          <a:xfrm>
            <a:off x="7955280" y="23134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C</a:t>
            </a:r>
            <a:endParaRPr b="0" i="0" sz="1400" u="none" cap="none" strike="noStrike">
              <a:solidFill>
                <a:schemeClr val="dk1"/>
              </a:solidFill>
              <a:latin typeface="Calibri"/>
              <a:ea typeface="Calibri"/>
              <a:cs typeface="Calibri"/>
              <a:sym typeface="Calibri"/>
            </a:endParaRPr>
          </a:p>
        </p:txBody>
      </p:sp>
      <p:sp>
        <p:nvSpPr>
          <p:cNvPr id="477" name="Google Shape;477;p28"/>
          <p:cNvSpPr/>
          <p:nvPr/>
        </p:nvSpPr>
        <p:spPr>
          <a:xfrm>
            <a:off x="457200" y="2176272"/>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8"/>
          <p:cNvSpPr/>
          <p:nvPr/>
        </p:nvSpPr>
        <p:spPr>
          <a:xfrm>
            <a:off x="640080" y="2176272"/>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طالب عمره ١٦ سنة يمارس كرة قدم ٣ مرات أسبوعياً.</a:t>
            </a:r>
            <a:endParaRPr b="0" i="0" sz="1200" u="none" cap="none" strike="noStrike">
              <a:solidFill>
                <a:schemeClr val="dk1"/>
              </a:solidFill>
              <a:latin typeface="Calibri"/>
              <a:ea typeface="Calibri"/>
              <a:cs typeface="Calibri"/>
              <a:sym typeface="Calibri"/>
            </a:endParaRPr>
          </a:p>
        </p:txBody>
      </p:sp>
      <p:sp>
        <p:nvSpPr>
          <p:cNvPr id="479" name="Google Shape;479;p28"/>
          <p:cNvSpPr/>
          <p:nvPr/>
        </p:nvSpPr>
        <p:spPr>
          <a:xfrm>
            <a:off x="7955280" y="3118104"/>
            <a:ext cx="457200" cy="457200"/>
          </a:xfrm>
          <a:prstGeom prst="ellipse">
            <a:avLst/>
          </a:prstGeom>
          <a:solidFill>
            <a:srgbClr val="1D4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8"/>
          <p:cNvSpPr/>
          <p:nvPr/>
        </p:nvSpPr>
        <p:spPr>
          <a:xfrm>
            <a:off x="7955280" y="311810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T</a:t>
            </a:r>
            <a:endParaRPr b="0" i="0" sz="1400" u="none" cap="none" strike="noStrike">
              <a:solidFill>
                <a:schemeClr val="dk1"/>
              </a:solidFill>
              <a:latin typeface="Calibri"/>
              <a:ea typeface="Calibri"/>
              <a:cs typeface="Calibri"/>
              <a:sym typeface="Calibri"/>
            </a:endParaRPr>
          </a:p>
        </p:txBody>
      </p:sp>
      <p:sp>
        <p:nvSpPr>
          <p:cNvPr id="481" name="Google Shape;481;p28"/>
          <p:cNvSpPr/>
          <p:nvPr/>
        </p:nvSpPr>
        <p:spPr>
          <a:xfrm>
            <a:off x="457200" y="2980944"/>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8"/>
          <p:cNvSpPr/>
          <p:nvPr/>
        </p:nvSpPr>
        <p:spPr>
          <a:xfrm>
            <a:off x="640080" y="2980944"/>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فكّر خطوة بخطوة، ثم اقترح خطة تغذية أسبوعية.</a:t>
            </a:r>
            <a:endParaRPr b="0" i="0" sz="1200" u="none" cap="none" strike="noStrike">
              <a:solidFill>
                <a:schemeClr val="dk1"/>
              </a:solidFill>
              <a:latin typeface="Calibri"/>
              <a:ea typeface="Calibri"/>
              <a:cs typeface="Calibri"/>
              <a:sym typeface="Calibri"/>
            </a:endParaRPr>
          </a:p>
        </p:txBody>
      </p:sp>
      <p:sp>
        <p:nvSpPr>
          <p:cNvPr id="483" name="Google Shape;483;p28"/>
          <p:cNvSpPr/>
          <p:nvPr/>
        </p:nvSpPr>
        <p:spPr>
          <a:xfrm>
            <a:off x="7955280" y="3922776"/>
            <a:ext cx="457200" cy="457200"/>
          </a:xfrm>
          <a:prstGeom prst="ellipse">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8"/>
          <p:cNvSpPr/>
          <p:nvPr/>
        </p:nvSpPr>
        <p:spPr>
          <a:xfrm>
            <a:off x="7955280" y="392277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F</a:t>
            </a:r>
            <a:endParaRPr b="0" i="0" sz="1400" u="none" cap="none" strike="noStrike">
              <a:solidFill>
                <a:schemeClr val="dk1"/>
              </a:solidFill>
              <a:latin typeface="Calibri"/>
              <a:ea typeface="Calibri"/>
              <a:cs typeface="Calibri"/>
              <a:sym typeface="Calibri"/>
            </a:endParaRPr>
          </a:p>
        </p:txBody>
      </p:sp>
      <p:sp>
        <p:nvSpPr>
          <p:cNvPr id="485" name="Google Shape;485;p28"/>
          <p:cNvSpPr/>
          <p:nvPr/>
        </p:nvSpPr>
        <p:spPr>
          <a:xfrm>
            <a:off x="457200" y="3785616"/>
            <a:ext cx="7315200" cy="713100"/>
          </a:xfrm>
          <a:prstGeom prst="roundRect">
            <a:avLst>
              <a:gd fmla="val 7692"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8"/>
          <p:cNvSpPr/>
          <p:nvPr/>
        </p:nvSpPr>
        <p:spPr>
          <a:xfrm>
            <a:off x="640080" y="3785616"/>
            <a:ext cx="7041000" cy="7131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قدّمها كجدول أيام. لا تستخدم مصطلحات طبية. لا تتجاوز ١٥٠ كلمة.</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29"/>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493" name="Google Shape;493;p29"/>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حدّد القيود في الأمر</a:t>
            </a:r>
            <a:endParaRPr b="0" i="0" sz="2600" u="none" cap="none" strike="noStrike">
              <a:solidFill>
                <a:schemeClr val="dk1"/>
              </a:solidFill>
              <a:latin typeface="Calibri"/>
              <a:ea typeface="Calibri"/>
              <a:cs typeface="Calibri"/>
              <a:sym typeface="Calibri"/>
            </a:endParaRPr>
          </a:p>
        </p:txBody>
      </p:sp>
      <p:sp>
        <p:nvSpPr>
          <p:cNvPr id="494" name="Google Shape;494;p29"/>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495" name="Google Shape;495;p29"/>
          <p:cNvSpPr/>
          <p:nvPr/>
        </p:nvSpPr>
        <p:spPr>
          <a:xfrm>
            <a:off x="457200" y="1261872"/>
            <a:ext cx="8229600" cy="475500"/>
          </a:xfrm>
          <a:prstGeom prst="roundRect">
            <a:avLst>
              <a:gd fmla="val 11538" name="adj"/>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9"/>
          <p:cNvSpPr/>
          <p:nvPr/>
        </p:nvSpPr>
        <p:spPr>
          <a:xfrm>
            <a:off x="457200" y="1261872"/>
            <a:ext cx="8229600" cy="4755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٨ دقائق · فردي ثم مناقشة</a:t>
            </a:r>
            <a:endParaRPr b="0" i="0" sz="1200" u="none" cap="none" strike="noStrike">
              <a:solidFill>
                <a:schemeClr val="dk1"/>
              </a:solidFill>
              <a:latin typeface="Calibri"/>
              <a:ea typeface="Calibri"/>
              <a:cs typeface="Calibri"/>
              <a:sym typeface="Calibri"/>
            </a:endParaRPr>
          </a:p>
        </p:txBody>
      </p:sp>
      <p:sp>
        <p:nvSpPr>
          <p:cNvPr id="497" name="Google Shape;497;p29"/>
          <p:cNvSpPr/>
          <p:nvPr/>
        </p:nvSpPr>
        <p:spPr>
          <a:xfrm>
            <a:off x="457200" y="1874520"/>
            <a:ext cx="82296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اقرأ الأمر التالي وحدّد: أين عنصر Chain of Thought؟ وأين القيود السلبية؟</a:t>
            </a:r>
            <a:endParaRPr b="0" i="0" sz="1300" u="none" cap="none" strike="noStrike">
              <a:solidFill>
                <a:schemeClr val="dk1"/>
              </a:solidFill>
              <a:latin typeface="Calibri"/>
              <a:ea typeface="Calibri"/>
              <a:cs typeface="Calibri"/>
              <a:sym typeface="Calibri"/>
            </a:endParaRPr>
          </a:p>
        </p:txBody>
      </p:sp>
      <p:sp>
        <p:nvSpPr>
          <p:cNvPr id="498" name="Google Shape;498;p29"/>
          <p:cNvSpPr/>
          <p:nvPr/>
        </p:nvSpPr>
        <p:spPr>
          <a:xfrm>
            <a:off x="457200" y="2359152"/>
            <a:ext cx="8229600" cy="1417200"/>
          </a:xfrm>
          <a:prstGeom prst="roundRect">
            <a:avLst>
              <a:gd fmla="val 5161" name="adj"/>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640080" y="2423160"/>
            <a:ext cx="7863900" cy="1280100"/>
          </a:xfrm>
          <a:prstGeom prst="rect">
            <a:avLst/>
          </a:prstGeom>
          <a:noFill/>
          <a:ln>
            <a:noFill/>
          </a:ln>
        </p:spPr>
        <p:txBody>
          <a:bodyPr anchorCtr="0" anchor="ctr" bIns="0" lIns="0" spcFirstLastPara="1" rIns="0" wrap="square" tIns="0">
            <a:noAutofit/>
          </a:bodyPr>
          <a:lstStyle/>
          <a:p>
            <a:pPr indent="0" lvl="0" marL="0" marR="0" rtl="1" algn="r">
              <a:lnSpc>
                <a:spcPct val="130000"/>
              </a:lnSpc>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أنت مرشد طلابي في مدرسة ثانوية. طالبة تسألك عن اختيار تخصصها الجامعي. فكّر في عوامل الاختيار أولاً خطوة بخطوة، ثم أعطِها توصية واحدة فقط. لا تذكر أسماء جامعات محددة. لا تتجاوز ٨٠ كلمة.</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30"/>
          <p:cNvSpPr/>
          <p:nvPr/>
        </p:nvSpPr>
        <p:spPr>
          <a:xfrm>
            <a:off x="457200" y="292608"/>
            <a:ext cx="82296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القيود المتقدمة</a:t>
            </a:r>
            <a:endParaRPr b="0" i="0" sz="1100" u="none" cap="none" strike="noStrike">
              <a:solidFill>
                <a:schemeClr val="dk1"/>
              </a:solidFill>
              <a:latin typeface="Calibri"/>
              <a:ea typeface="Calibri"/>
              <a:cs typeface="Calibri"/>
              <a:sym typeface="Calibri"/>
            </a:endParaRPr>
          </a:p>
        </p:txBody>
      </p:sp>
      <p:sp>
        <p:nvSpPr>
          <p:cNvPr id="506" name="Google Shape;506;p30"/>
          <p:cNvSpPr/>
          <p:nvPr/>
        </p:nvSpPr>
        <p:spPr>
          <a:xfrm>
            <a:off x="457200" y="566928"/>
            <a:ext cx="82296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نشاط: حدّد القيود في الأمر</a:t>
            </a:r>
            <a:endParaRPr b="0" i="0" sz="2600" u="none" cap="none" strike="noStrike">
              <a:solidFill>
                <a:schemeClr val="dk1"/>
              </a:solidFill>
              <a:latin typeface="Calibri"/>
              <a:ea typeface="Calibri"/>
              <a:cs typeface="Calibri"/>
              <a:sym typeface="Calibri"/>
            </a:endParaRPr>
          </a:p>
        </p:txBody>
      </p:sp>
      <p:sp>
        <p:nvSpPr>
          <p:cNvPr id="507" name="Google Shape;507;p30"/>
          <p:cNvSpPr/>
          <p:nvPr/>
        </p:nvSpPr>
        <p:spPr>
          <a:xfrm>
            <a:off x="365760" y="4850892"/>
            <a:ext cx="6400800" cy="2559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مهندس الأوامر (Prompt Architect)</a:t>
            </a:r>
            <a:endParaRPr b="0" i="0" sz="900" u="none" cap="none" strike="noStrike">
              <a:solidFill>
                <a:schemeClr val="dk1"/>
              </a:solidFill>
              <a:latin typeface="Calibri"/>
              <a:ea typeface="Calibri"/>
              <a:cs typeface="Calibri"/>
              <a:sym typeface="Calibri"/>
            </a:endParaRPr>
          </a:p>
        </p:txBody>
      </p:sp>
      <p:sp>
        <p:nvSpPr>
          <p:cNvPr id="508" name="Google Shape;508;p30"/>
          <p:cNvSpPr/>
          <p:nvPr/>
        </p:nvSpPr>
        <p:spPr>
          <a:xfrm>
            <a:off x="457200" y="1261872"/>
            <a:ext cx="8229600" cy="475500"/>
          </a:xfrm>
          <a:prstGeom prst="roundRect">
            <a:avLst>
              <a:gd fmla="val 11538" name="adj"/>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0"/>
          <p:cNvSpPr/>
          <p:nvPr/>
        </p:nvSpPr>
        <p:spPr>
          <a:xfrm>
            <a:off x="457200" y="1261872"/>
            <a:ext cx="8229600" cy="4755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٨ دقائق · فردي ثم مناقشة</a:t>
            </a:r>
            <a:endParaRPr b="0" i="0" sz="1200" u="none" cap="none" strike="noStrike">
              <a:solidFill>
                <a:schemeClr val="dk1"/>
              </a:solidFill>
              <a:latin typeface="Calibri"/>
              <a:ea typeface="Calibri"/>
              <a:cs typeface="Calibri"/>
              <a:sym typeface="Calibri"/>
            </a:endParaRPr>
          </a:p>
        </p:txBody>
      </p:sp>
      <p:sp>
        <p:nvSpPr>
          <p:cNvPr id="510" name="Google Shape;510;p30"/>
          <p:cNvSpPr/>
          <p:nvPr/>
        </p:nvSpPr>
        <p:spPr>
          <a:xfrm>
            <a:off x="457200" y="1874520"/>
            <a:ext cx="8229600" cy="384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300"/>
              <a:buFont typeface="Cairo"/>
              <a:buNone/>
            </a:pPr>
            <a:r>
              <a:rPr b="0" i="0" lang="en-US" sz="1300" u="none" cap="none" strike="noStrike">
                <a:solidFill>
                  <a:srgbClr val="475569"/>
                </a:solidFill>
                <a:latin typeface="Cairo"/>
                <a:ea typeface="Cairo"/>
                <a:cs typeface="Cairo"/>
                <a:sym typeface="Cairo"/>
              </a:rPr>
              <a:t>اقرأ الأمر التالي وحدّد: أين عنصر Chain of Thought؟ وأين القيود السلبية؟</a:t>
            </a:r>
            <a:endParaRPr b="0" i="0" sz="1300" u="none" cap="none" strike="noStrike">
              <a:solidFill>
                <a:schemeClr val="dk1"/>
              </a:solidFill>
              <a:latin typeface="Calibri"/>
              <a:ea typeface="Calibri"/>
              <a:cs typeface="Calibri"/>
              <a:sym typeface="Calibri"/>
            </a:endParaRPr>
          </a:p>
        </p:txBody>
      </p:sp>
      <p:sp>
        <p:nvSpPr>
          <p:cNvPr id="511" name="Google Shape;511;p30"/>
          <p:cNvSpPr/>
          <p:nvPr/>
        </p:nvSpPr>
        <p:spPr>
          <a:xfrm>
            <a:off x="457200" y="2359152"/>
            <a:ext cx="8229600" cy="1417200"/>
          </a:xfrm>
          <a:prstGeom prst="roundRect">
            <a:avLst>
              <a:gd fmla="val 5161" name="adj"/>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0"/>
          <p:cNvSpPr/>
          <p:nvPr/>
        </p:nvSpPr>
        <p:spPr>
          <a:xfrm>
            <a:off x="640080" y="2423160"/>
            <a:ext cx="7863900" cy="1280100"/>
          </a:xfrm>
          <a:prstGeom prst="rect">
            <a:avLst/>
          </a:prstGeom>
          <a:noFill/>
          <a:ln>
            <a:noFill/>
          </a:ln>
        </p:spPr>
        <p:txBody>
          <a:bodyPr anchorCtr="0" anchor="ctr" bIns="0" lIns="0" spcFirstLastPara="1" rIns="0" wrap="square" tIns="0">
            <a:noAutofit/>
          </a:bodyPr>
          <a:lstStyle/>
          <a:p>
            <a:pPr indent="0" lvl="0" marL="0" marR="0" rtl="1" algn="r">
              <a:lnSpc>
                <a:spcPct val="130000"/>
              </a:lnSpc>
              <a:spcBef>
                <a:spcPts val="0"/>
              </a:spcBef>
              <a:spcAft>
                <a:spcPts val="0"/>
              </a:spcAft>
              <a:buClr>
                <a:srgbClr val="0F172A"/>
              </a:buClr>
              <a:buSzPts val="1200"/>
              <a:buFont typeface="Cairo"/>
              <a:buNone/>
            </a:pPr>
            <a:r>
              <a:rPr b="0" i="0" lang="en-US" sz="1200" u="none" cap="none" strike="noStrike">
                <a:solidFill>
                  <a:srgbClr val="0F172A"/>
                </a:solidFill>
                <a:latin typeface="Cairo"/>
                <a:ea typeface="Cairo"/>
                <a:cs typeface="Cairo"/>
                <a:sym typeface="Cairo"/>
              </a:rPr>
              <a:t>أنت مرشد طلابي في مدرسة ثانوية. طالبة تسألك عن اختيار تخصصها الجامعي. فكّر في عوامل الاختيار أولاً خطوة بخطوة، ثم أعطِها توصية واحدة فقط. لا تذكر أسماء جامعات محددة. لا تتجاوز ٨٠ كلمة.</a:t>
            </a:r>
            <a:endParaRPr b="0" i="0" sz="1200" u="none" cap="none" strike="noStrike">
              <a:solidFill>
                <a:schemeClr val="dk1"/>
              </a:solidFill>
              <a:latin typeface="Calibri"/>
              <a:ea typeface="Calibri"/>
              <a:cs typeface="Calibri"/>
              <a:sym typeface="Calibri"/>
            </a:endParaRPr>
          </a:p>
        </p:txBody>
      </p:sp>
      <p:sp>
        <p:nvSpPr>
          <p:cNvPr id="513" name="Google Shape;513;p30"/>
          <p:cNvSpPr/>
          <p:nvPr/>
        </p:nvSpPr>
        <p:spPr>
          <a:xfrm>
            <a:off x="457200" y="3950208"/>
            <a:ext cx="8229600" cy="3474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1100"/>
              <a:buFont typeface="Cairo"/>
              <a:buNone/>
            </a:pPr>
            <a:r>
              <a:rPr b="0" i="1" lang="en-US" sz="1100" u="none" cap="none" strike="noStrike">
                <a:solidFill>
                  <a:srgbClr val="64748B"/>
                </a:solidFill>
                <a:latin typeface="Cairo"/>
                <a:ea typeface="Cairo"/>
                <a:cs typeface="Cairo"/>
                <a:sym typeface="Cairo"/>
              </a:rPr>
              <a:t>الإجابة: </a:t>
            </a:r>
            <a:r>
              <a:rPr i="1" lang="en-US" sz="1100">
                <a:solidFill>
                  <a:srgbClr val="64748B"/>
                </a:solidFill>
                <a:latin typeface="Cairo"/>
                <a:ea typeface="Cairo"/>
                <a:cs typeface="Cairo"/>
                <a:sym typeface="Cairo"/>
              </a:rPr>
              <a:t>سلسلة التفكير </a:t>
            </a:r>
            <a:r>
              <a:rPr b="0" i="1" lang="en-US" sz="1100" u="none" cap="none" strike="noStrike">
                <a:solidFill>
                  <a:srgbClr val="64748B"/>
                </a:solidFill>
                <a:latin typeface="Cairo"/>
                <a:ea typeface="Cairo"/>
                <a:cs typeface="Cairo"/>
                <a:sym typeface="Cairo"/>
              </a:rPr>
              <a:t>في 'فكّر خطوة بخطوة' — القيود السلبية في 'لا تذكر' و'لا تتجاوز'</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18" name="Shape 518"/>
        <p:cNvGrpSpPr/>
        <p:nvPr/>
      </p:nvGrpSpPr>
      <p:grpSpPr>
        <a:xfrm>
          <a:off x="0" y="0"/>
          <a:ext cx="0" cy="0"/>
          <a:chOff x="0" y="0"/>
          <a:chExt cx="0" cy="0"/>
        </a:xfrm>
      </p:grpSpPr>
      <p:cxnSp>
        <p:nvCxnSpPr>
          <p:cNvPr id="519" name="Google Shape;519;p31"/>
          <p:cNvCxnSpPr/>
          <p:nvPr/>
        </p:nvCxnSpPr>
        <p:spPr>
          <a:xfrm>
            <a:off x="3931920" y="1554480"/>
            <a:ext cx="1280160" cy="0"/>
          </a:xfrm>
          <a:prstGeom prst="straightConnector1">
            <a:avLst/>
          </a:prstGeom>
          <a:noFill/>
          <a:ln cap="flat" cmpd="sng" w="31750">
            <a:solidFill>
              <a:srgbClr val="EA580C"/>
            </a:solidFill>
            <a:prstDash val="solid"/>
            <a:round/>
            <a:headEnd len="sm" w="sm" type="none"/>
            <a:tailEnd len="sm" w="sm" type="none"/>
          </a:ln>
        </p:spPr>
      </p:cxnSp>
      <p:sp>
        <p:nvSpPr>
          <p:cNvPr id="520" name="Google Shape;520;p31"/>
          <p:cNvSpPr/>
          <p:nvPr/>
        </p:nvSpPr>
        <p:spPr>
          <a:xfrm>
            <a:off x="914400" y="1828800"/>
            <a:ext cx="7315200" cy="146304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2400"/>
              <a:buFont typeface="Cairo"/>
              <a:buNone/>
            </a:pPr>
            <a:r>
              <a:rPr b="1" i="1" lang="en-US" sz="2400" u="none" cap="none" strike="noStrike">
                <a:solidFill>
                  <a:srgbClr val="FFFFFF"/>
                </a:solidFill>
                <a:latin typeface="Cairo"/>
                <a:ea typeface="Cairo"/>
                <a:cs typeface="Cairo"/>
                <a:sym typeface="Cairo"/>
              </a:rPr>
              <a:t>الذكاء الاصطناعي لا يقرأ أفكارك،</a:t>
            </a:r>
            <a:endParaRPr b="0" i="0" sz="2400" u="none" cap="none" strike="noStrike">
              <a:solidFill>
                <a:schemeClr val="dk1"/>
              </a:solidFill>
              <a:latin typeface="Calibri"/>
              <a:ea typeface="Calibri"/>
              <a:cs typeface="Calibri"/>
              <a:sym typeface="Calibri"/>
            </a:endParaRPr>
          </a:p>
          <a:p>
            <a:pPr indent="0" lvl="0" marL="0" marR="0" rtl="1" algn="ctr">
              <a:spcBef>
                <a:spcPts val="0"/>
              </a:spcBef>
              <a:spcAft>
                <a:spcPts val="0"/>
              </a:spcAft>
              <a:buClr>
                <a:srgbClr val="FFFFFF"/>
              </a:buClr>
              <a:buSzPts val="2400"/>
              <a:buFont typeface="Cairo"/>
              <a:buNone/>
            </a:pPr>
            <a:r>
              <a:rPr b="1" i="1" lang="en-US" sz="2400" u="none" cap="none" strike="noStrike">
                <a:solidFill>
                  <a:srgbClr val="FFFFFF"/>
                </a:solidFill>
                <a:latin typeface="Cairo"/>
                <a:ea typeface="Cairo"/>
                <a:cs typeface="Cairo"/>
                <a:sym typeface="Cairo"/>
              </a:rPr>
              <a:t>هو يستجيب فقط لما تكتبه له.</a:t>
            </a:r>
            <a:endParaRPr b="0" i="0" sz="2400" u="none" cap="none" strike="noStrike">
              <a:solidFill>
                <a:schemeClr val="dk1"/>
              </a:solidFill>
              <a:latin typeface="Calibri"/>
              <a:ea typeface="Calibri"/>
              <a:cs typeface="Calibri"/>
              <a:sym typeface="Calibri"/>
            </a:endParaRPr>
          </a:p>
        </p:txBody>
      </p:sp>
      <p:sp>
        <p:nvSpPr>
          <p:cNvPr id="521" name="Google Shape;521;p31"/>
          <p:cNvSpPr/>
          <p:nvPr/>
        </p:nvSpPr>
        <p:spPr>
          <a:xfrm>
            <a:off x="914400" y="3383280"/>
            <a:ext cx="7315200" cy="36576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0F2FE"/>
              </a:buClr>
              <a:buSzPts val="1300"/>
              <a:buFont typeface="Cairo"/>
              <a:buNone/>
            </a:pPr>
            <a:r>
              <a:rPr b="0" i="0" lang="en-US" sz="1300" u="none" cap="none" strike="noStrike">
                <a:solidFill>
                  <a:srgbClr val="E0F2FE"/>
                </a:solidFill>
                <a:latin typeface="Cairo"/>
                <a:ea typeface="Cairo"/>
                <a:cs typeface="Cairo"/>
                <a:sym typeface="Cairo"/>
              </a:rPr>
              <a:t>وهذا بالضبط ما يفسّر الفرق بين مستخدم ومستخدم</a:t>
            </a:r>
            <a:endParaRPr b="0" i="0" sz="1300" u="none" cap="none" strike="noStrike">
              <a:solidFill>
                <a:schemeClr val="dk1"/>
              </a:solidFill>
              <a:latin typeface="Calibri"/>
              <a:ea typeface="Calibri"/>
              <a:cs typeface="Calibri"/>
              <a:sym typeface="Calibri"/>
            </a:endParaRPr>
          </a:p>
        </p:txBody>
      </p:sp>
      <p:sp>
        <p:nvSpPr>
          <p:cNvPr id="522" name="Google Shape;522;p31"/>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32"/>
          <p:cNvSpPr/>
          <p:nvPr/>
        </p:nvSpPr>
        <p:spPr>
          <a:xfrm>
            <a:off x="7040880" y="640080"/>
            <a:ext cx="822960" cy="822960"/>
          </a:xfrm>
          <a:prstGeom prst="ellipse">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2"/>
          <p:cNvSpPr/>
          <p:nvPr/>
        </p:nvSpPr>
        <p:spPr>
          <a:xfrm>
            <a:off x="7040880" y="6400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4C7"/>
              </a:buClr>
              <a:buSzPts val="2200"/>
              <a:buFont typeface="Cairo"/>
              <a:buNone/>
            </a:pPr>
            <a:r>
              <a:rPr b="1" i="0" lang="en-US" sz="2200" u="none" cap="none" strike="noStrike">
                <a:solidFill>
                  <a:srgbClr val="0284C7"/>
                </a:solidFill>
                <a:latin typeface="Cairo"/>
                <a:ea typeface="Cairo"/>
                <a:cs typeface="Cairo"/>
                <a:sym typeface="Cairo"/>
              </a:rPr>
              <a:t>03</a:t>
            </a:r>
            <a:endParaRPr b="0" i="0" sz="2200" u="none" cap="none" strike="noStrike">
              <a:solidFill>
                <a:schemeClr val="dk1"/>
              </a:solidFill>
              <a:latin typeface="Calibri"/>
              <a:ea typeface="Calibri"/>
              <a:cs typeface="Calibri"/>
              <a:sym typeface="Calibri"/>
            </a:endParaRPr>
          </a:p>
        </p:txBody>
      </p:sp>
      <p:cxnSp>
        <p:nvCxnSpPr>
          <p:cNvPr id="530" name="Google Shape;530;p32"/>
          <p:cNvCxnSpPr/>
          <p:nvPr/>
        </p:nvCxnSpPr>
        <p:spPr>
          <a:xfrm>
            <a:off x="6309360" y="2331720"/>
            <a:ext cx="1280160" cy="0"/>
          </a:xfrm>
          <a:prstGeom prst="straightConnector1">
            <a:avLst/>
          </a:prstGeom>
          <a:noFill/>
          <a:ln cap="flat" cmpd="sng" w="31750">
            <a:solidFill>
              <a:srgbClr val="EA580C"/>
            </a:solidFill>
            <a:prstDash val="solid"/>
            <a:round/>
            <a:headEnd len="sm" w="sm" type="none"/>
            <a:tailEnd len="sm" w="sm" type="none"/>
          </a:ln>
        </p:spPr>
      </p:cxnSp>
      <p:sp>
        <p:nvSpPr>
          <p:cNvPr id="531" name="Google Shape;531;p32"/>
          <p:cNvSpPr/>
          <p:nvPr/>
        </p:nvSpPr>
        <p:spPr>
          <a:xfrm>
            <a:off x="548640" y="2468880"/>
            <a:ext cx="7315200" cy="8229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3200"/>
              <a:buFont typeface="Cairo"/>
              <a:buNone/>
            </a:pPr>
            <a:r>
              <a:rPr b="1" i="0" lang="en-US" sz="3200" u="none" cap="none" strike="noStrike">
                <a:solidFill>
                  <a:srgbClr val="0F172A"/>
                </a:solidFill>
                <a:latin typeface="Cairo"/>
                <a:ea typeface="Cairo"/>
                <a:cs typeface="Cairo"/>
                <a:sym typeface="Cairo"/>
              </a:rPr>
              <a:t>من المحادثة إلى التنفيذ</a:t>
            </a:r>
            <a:endParaRPr b="0" i="0" sz="3200" u="none" cap="none" strike="noStrike">
              <a:solidFill>
                <a:schemeClr val="dk1"/>
              </a:solidFill>
              <a:latin typeface="Calibri"/>
              <a:ea typeface="Calibri"/>
              <a:cs typeface="Calibri"/>
              <a:sym typeface="Calibri"/>
            </a:endParaRPr>
          </a:p>
        </p:txBody>
      </p:sp>
      <p:sp>
        <p:nvSpPr>
          <p:cNvPr id="532" name="Google Shape;532;p32"/>
          <p:cNvSpPr/>
          <p:nvPr/>
        </p:nvSpPr>
        <p:spPr>
          <a:xfrm>
            <a:off x="548640" y="3246120"/>
            <a:ext cx="713232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b="0" i="0" lang="en-US" sz="1500" u="none" cap="none" strike="noStrike">
                <a:solidFill>
                  <a:srgbClr val="475569"/>
                </a:solidFill>
                <a:latin typeface="Cairo"/>
                <a:ea typeface="Cairo"/>
                <a:cs typeface="Cairo"/>
                <a:sym typeface="Cairo"/>
              </a:rPr>
              <a:t>ما هو الوكيل الذكي؟ وكيف يختلف عن روبوت الدردشة؟</a:t>
            </a:r>
            <a:endParaRPr b="0" i="0" sz="1500" u="none" cap="none" strike="noStrike">
              <a:solidFill>
                <a:schemeClr val="dk1"/>
              </a:solidFill>
              <a:latin typeface="Calibri"/>
              <a:ea typeface="Calibri"/>
              <a:cs typeface="Calibri"/>
              <a:sym typeface="Calibri"/>
            </a:endParaRPr>
          </a:p>
        </p:txBody>
      </p:sp>
      <p:sp>
        <p:nvSpPr>
          <p:cNvPr id="533" name="Google Shape;533;p32"/>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33"/>
          <p:cNvSpPr/>
          <p:nvPr/>
        </p:nvSpPr>
        <p:spPr>
          <a:xfrm>
            <a:off x="3474725" y="292600"/>
            <a:ext cx="5212200" cy="2742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الوكلاء الأذكياء</a:t>
            </a:r>
            <a:endParaRPr b="0" i="0" sz="1100" u="none" cap="none" strike="noStrike">
              <a:solidFill>
                <a:schemeClr val="dk1"/>
              </a:solidFill>
              <a:latin typeface="Calibri"/>
              <a:ea typeface="Calibri"/>
              <a:cs typeface="Calibri"/>
              <a:sym typeface="Calibri"/>
            </a:endParaRPr>
          </a:p>
        </p:txBody>
      </p:sp>
      <p:sp>
        <p:nvSpPr>
          <p:cNvPr id="540" name="Google Shape;540;p33"/>
          <p:cNvSpPr/>
          <p:nvPr/>
        </p:nvSpPr>
        <p:spPr>
          <a:xfrm>
            <a:off x="2826875" y="566925"/>
            <a:ext cx="5859900" cy="548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ثلاثة أدوار مختلفة</a:t>
            </a:r>
            <a:endParaRPr b="0" i="0" sz="2600" u="none" cap="none" strike="noStrike">
              <a:solidFill>
                <a:schemeClr val="dk1"/>
              </a:solidFill>
              <a:latin typeface="Calibri"/>
              <a:ea typeface="Calibri"/>
              <a:cs typeface="Calibri"/>
              <a:sym typeface="Calibri"/>
            </a:endParaRPr>
          </a:p>
        </p:txBody>
      </p:sp>
      <p:sp>
        <p:nvSpPr>
          <p:cNvPr id="541" name="Google Shape;541;p33"/>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542" name="Google Shape;542;p33"/>
          <p:cNvSpPr/>
          <p:nvPr/>
        </p:nvSpPr>
        <p:spPr>
          <a:xfrm>
            <a:off x="6035050" y="1403608"/>
            <a:ext cx="2651700" cy="1828800"/>
          </a:xfrm>
          <a:prstGeom prst="roundRect">
            <a:avLst>
              <a:gd fmla="val 4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earch_sky.png" id="543" name="Google Shape;543;p33"/>
          <p:cNvPicPr preferRelativeResize="0"/>
          <p:nvPr/>
        </p:nvPicPr>
        <p:blipFill rotWithShape="1">
          <a:blip r:embed="rId3">
            <a:alphaModFix/>
          </a:blip>
          <a:srcRect b="0" l="0" r="0" t="0"/>
          <a:stretch/>
        </p:blipFill>
        <p:spPr>
          <a:xfrm>
            <a:off x="8119882" y="1604776"/>
            <a:ext cx="365760" cy="365760"/>
          </a:xfrm>
          <a:prstGeom prst="rect">
            <a:avLst/>
          </a:prstGeom>
          <a:noFill/>
          <a:ln>
            <a:noFill/>
          </a:ln>
        </p:spPr>
      </p:pic>
      <p:sp>
        <p:nvSpPr>
          <p:cNvPr id="544" name="Google Shape;544;p33"/>
          <p:cNvSpPr/>
          <p:nvPr/>
        </p:nvSpPr>
        <p:spPr>
          <a:xfrm>
            <a:off x="6263650" y="1586488"/>
            <a:ext cx="17373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محرك البحث</a:t>
            </a:r>
            <a:endParaRPr b="0" i="0" sz="1400" u="none" cap="none" strike="noStrike">
              <a:solidFill>
                <a:schemeClr val="dk1"/>
              </a:solidFill>
              <a:latin typeface="Calibri"/>
              <a:ea typeface="Calibri"/>
              <a:cs typeface="Calibri"/>
              <a:sym typeface="Calibri"/>
            </a:endParaRPr>
          </a:p>
        </p:txBody>
      </p:sp>
      <p:sp>
        <p:nvSpPr>
          <p:cNvPr id="545" name="Google Shape;545;p33"/>
          <p:cNvSpPr/>
          <p:nvPr/>
        </p:nvSpPr>
        <p:spPr>
          <a:xfrm>
            <a:off x="6263650" y="2202313"/>
            <a:ext cx="2194500" cy="865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يعطيك روابط، وأنت من يقرأ ويقرر</a:t>
            </a:r>
            <a:endParaRPr b="0" i="0" sz="1100" u="none" cap="none" strike="noStrike">
              <a:solidFill>
                <a:schemeClr val="dk1"/>
              </a:solidFill>
              <a:latin typeface="Calibri"/>
              <a:ea typeface="Calibri"/>
              <a:cs typeface="Calibri"/>
              <a:sym typeface="Calibri"/>
            </a:endParaRPr>
          </a:p>
        </p:txBody>
      </p:sp>
      <p:sp>
        <p:nvSpPr>
          <p:cNvPr id="546" name="Google Shape;546;p33"/>
          <p:cNvSpPr/>
          <p:nvPr/>
        </p:nvSpPr>
        <p:spPr>
          <a:xfrm>
            <a:off x="3246120" y="1417320"/>
            <a:ext cx="2651760" cy="1828800"/>
          </a:xfrm>
          <a:prstGeom prst="roundRect">
            <a:avLst>
              <a:gd fmla="val 4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hat_sky.png" id="547" name="Google Shape;547;p33"/>
          <p:cNvPicPr preferRelativeResize="0"/>
          <p:nvPr/>
        </p:nvPicPr>
        <p:blipFill rotWithShape="1">
          <a:blip r:embed="rId4">
            <a:alphaModFix/>
          </a:blip>
          <a:srcRect b="0" l="0" r="0" t="0"/>
          <a:stretch/>
        </p:blipFill>
        <p:spPr>
          <a:xfrm>
            <a:off x="5330952" y="1618488"/>
            <a:ext cx="365760" cy="365760"/>
          </a:xfrm>
          <a:prstGeom prst="rect">
            <a:avLst/>
          </a:prstGeom>
          <a:noFill/>
          <a:ln>
            <a:noFill/>
          </a:ln>
        </p:spPr>
      </p:pic>
      <p:sp>
        <p:nvSpPr>
          <p:cNvPr id="548" name="Google Shape;548;p33"/>
          <p:cNvSpPr/>
          <p:nvPr/>
        </p:nvSpPr>
        <p:spPr>
          <a:xfrm>
            <a:off x="3474720" y="1600200"/>
            <a:ext cx="173736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روبوت الدردشة</a:t>
            </a:r>
            <a:endParaRPr b="0" i="0" sz="1400" u="none" cap="none" strike="noStrike">
              <a:solidFill>
                <a:schemeClr val="dk1"/>
              </a:solidFill>
              <a:latin typeface="Calibri"/>
              <a:ea typeface="Calibri"/>
              <a:cs typeface="Calibri"/>
              <a:sym typeface="Calibri"/>
            </a:endParaRPr>
          </a:p>
        </p:txBody>
      </p:sp>
      <p:sp>
        <p:nvSpPr>
          <p:cNvPr id="549" name="Google Shape;549;p33"/>
          <p:cNvSpPr/>
          <p:nvPr/>
        </p:nvSpPr>
        <p:spPr>
          <a:xfrm>
            <a:off x="3474725" y="2216026"/>
            <a:ext cx="2194500" cy="865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يعطيك إجابة مباشرة بناءً على ما تخبره</a:t>
            </a:r>
            <a:endParaRPr b="0" i="0" sz="1100" u="none" cap="none" strike="noStrike">
              <a:solidFill>
                <a:schemeClr val="dk1"/>
              </a:solidFill>
              <a:latin typeface="Calibri"/>
              <a:ea typeface="Calibri"/>
              <a:cs typeface="Calibri"/>
              <a:sym typeface="Calibri"/>
            </a:endParaRPr>
          </a:p>
        </p:txBody>
      </p:sp>
      <p:sp>
        <p:nvSpPr>
          <p:cNvPr id="550" name="Google Shape;550;p33"/>
          <p:cNvSpPr/>
          <p:nvPr/>
        </p:nvSpPr>
        <p:spPr>
          <a:xfrm>
            <a:off x="457240" y="1403633"/>
            <a:ext cx="2651700" cy="1828800"/>
          </a:xfrm>
          <a:prstGeom prst="roundRect">
            <a:avLst>
              <a:gd fmla="val 4000"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bot_orange.png" id="551" name="Google Shape;551;p33"/>
          <p:cNvPicPr preferRelativeResize="0"/>
          <p:nvPr/>
        </p:nvPicPr>
        <p:blipFill rotWithShape="1">
          <a:blip r:embed="rId5">
            <a:alphaModFix/>
          </a:blip>
          <a:srcRect b="0" l="0" r="0" t="0"/>
          <a:stretch/>
        </p:blipFill>
        <p:spPr>
          <a:xfrm>
            <a:off x="2542072" y="1604801"/>
            <a:ext cx="365760" cy="365760"/>
          </a:xfrm>
          <a:prstGeom prst="rect">
            <a:avLst/>
          </a:prstGeom>
          <a:noFill/>
          <a:ln>
            <a:noFill/>
          </a:ln>
        </p:spPr>
      </p:pic>
      <p:sp>
        <p:nvSpPr>
          <p:cNvPr id="552" name="Google Shape;552;p33"/>
          <p:cNvSpPr/>
          <p:nvPr/>
        </p:nvSpPr>
        <p:spPr>
          <a:xfrm>
            <a:off x="685840" y="1586513"/>
            <a:ext cx="17373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الوكيل الذكي</a:t>
            </a:r>
            <a:endParaRPr b="0" i="0" sz="1400" u="none" cap="none" strike="noStrike">
              <a:solidFill>
                <a:schemeClr val="dk1"/>
              </a:solidFill>
              <a:latin typeface="Calibri"/>
              <a:ea typeface="Calibri"/>
              <a:cs typeface="Calibri"/>
              <a:sym typeface="Calibri"/>
            </a:endParaRPr>
          </a:p>
        </p:txBody>
      </p:sp>
      <p:sp>
        <p:nvSpPr>
          <p:cNvPr id="553" name="Google Shape;553;p33"/>
          <p:cNvSpPr/>
          <p:nvPr/>
        </p:nvSpPr>
        <p:spPr>
          <a:xfrm>
            <a:off x="685850" y="2202313"/>
            <a:ext cx="2194500" cy="865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ينفّذ سلسلة خطوات بنفسه ليحقق هدفاً كاملاً</a:t>
            </a:r>
            <a:endParaRPr b="0" i="0" sz="1100" u="none" cap="none" strike="noStrike">
              <a:solidFill>
                <a:schemeClr val="dk1"/>
              </a:solidFill>
              <a:latin typeface="Calibri"/>
              <a:ea typeface="Calibri"/>
              <a:cs typeface="Calibri"/>
              <a:sym typeface="Calibri"/>
            </a:endParaRPr>
          </a:p>
        </p:txBody>
      </p:sp>
      <p:cxnSp>
        <p:nvCxnSpPr>
          <p:cNvPr id="554" name="Google Shape;554;p33"/>
          <p:cNvCxnSpPr/>
          <p:nvPr/>
        </p:nvCxnSpPr>
        <p:spPr>
          <a:xfrm>
            <a:off x="457200" y="3520440"/>
            <a:ext cx="8229600" cy="0"/>
          </a:xfrm>
          <a:prstGeom prst="straightConnector1">
            <a:avLst/>
          </a:prstGeom>
          <a:noFill/>
          <a:ln cap="flat" cmpd="sng" w="12700">
            <a:solidFill>
              <a:srgbClr val="E2E8F0"/>
            </a:solidFill>
            <a:prstDash val="solid"/>
            <a:round/>
            <a:headEnd len="sm" w="sm" type="none"/>
            <a:tailEnd len="sm" w="sm" type="none"/>
          </a:ln>
        </p:spPr>
      </p:cxnSp>
      <p:sp>
        <p:nvSpPr>
          <p:cNvPr id="555" name="Google Shape;555;p33"/>
          <p:cNvSpPr/>
          <p:nvPr/>
        </p:nvSpPr>
        <p:spPr>
          <a:xfrm>
            <a:off x="457200" y="3657600"/>
            <a:ext cx="82296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200"/>
              <a:buFont typeface="Cairo"/>
              <a:buNone/>
            </a:pPr>
            <a:r>
              <a:rPr b="0" i="0" lang="en-US" sz="1200" u="none" cap="none" strike="noStrike">
                <a:solidFill>
                  <a:srgbClr val="475569"/>
                </a:solidFill>
                <a:latin typeface="Cairo"/>
                <a:ea typeface="Cairo"/>
                <a:cs typeface="Cairo"/>
                <a:sym typeface="Cairo"/>
              </a:rPr>
              <a:t>تشبيه: تخطيط رحلة عائلية — محرك البحث يعطيك قائمة مواقع، الدردشة تجيبك مباشرة، والوكيل يبني لك خطة الرحلة كاملة خطوة بخطوة</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0" name="Shape 560"/>
        <p:cNvGrpSpPr/>
        <p:nvPr/>
      </p:nvGrpSpPr>
      <p:grpSpPr>
        <a:xfrm>
          <a:off x="0" y="0"/>
          <a:ext cx="0" cy="0"/>
          <a:chOff x="0" y="0"/>
          <a:chExt cx="0" cy="0"/>
        </a:xfrm>
      </p:grpSpPr>
      <p:sp>
        <p:nvSpPr>
          <p:cNvPr id="561" name="Google Shape;561;p34"/>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الوكلاء الأذكياء</a:t>
            </a:r>
            <a:endParaRPr b="0" i="0" sz="1100" u="none" cap="none" strike="noStrike">
              <a:solidFill>
                <a:schemeClr val="dk1"/>
              </a:solidFill>
              <a:latin typeface="Calibri"/>
              <a:ea typeface="Calibri"/>
              <a:cs typeface="Calibri"/>
              <a:sym typeface="Calibri"/>
            </a:endParaRPr>
          </a:p>
        </p:txBody>
      </p:sp>
      <p:sp>
        <p:nvSpPr>
          <p:cNvPr id="562" name="Google Shape;562;p34"/>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أمثلة من حياتك اليومية</a:t>
            </a:r>
            <a:endParaRPr b="0" i="0" sz="2600" u="none" cap="none" strike="noStrike">
              <a:solidFill>
                <a:schemeClr val="dk1"/>
              </a:solidFill>
              <a:latin typeface="Calibri"/>
              <a:ea typeface="Calibri"/>
              <a:cs typeface="Calibri"/>
              <a:sym typeface="Calibri"/>
            </a:endParaRPr>
          </a:p>
        </p:txBody>
      </p:sp>
      <p:sp>
        <p:nvSpPr>
          <p:cNvPr id="563" name="Google Shape;563;p34"/>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564" name="Google Shape;564;p34"/>
          <p:cNvSpPr/>
          <p:nvPr/>
        </p:nvSpPr>
        <p:spPr>
          <a:xfrm>
            <a:off x="457200" y="1325880"/>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chool_sky.png" id="565" name="Google Shape;565;p34"/>
          <p:cNvPicPr preferRelativeResize="0"/>
          <p:nvPr/>
        </p:nvPicPr>
        <p:blipFill rotWithShape="1">
          <a:blip r:embed="rId3">
            <a:alphaModFix/>
          </a:blip>
          <a:srcRect b="0" l="0" r="0" t="0"/>
          <a:stretch/>
        </p:blipFill>
        <p:spPr>
          <a:xfrm>
            <a:off x="2496312" y="1527048"/>
            <a:ext cx="365760" cy="365760"/>
          </a:xfrm>
          <a:prstGeom prst="rect">
            <a:avLst/>
          </a:prstGeom>
          <a:noFill/>
          <a:ln>
            <a:noFill/>
          </a:ln>
        </p:spPr>
      </p:pic>
      <p:sp>
        <p:nvSpPr>
          <p:cNvPr id="566" name="Google Shape;566;p34"/>
          <p:cNvSpPr/>
          <p:nvPr/>
        </p:nvSpPr>
        <p:spPr>
          <a:xfrm>
            <a:off x="685800" y="1508760"/>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تنظيم فعالية مدرسية</a:t>
            </a:r>
            <a:endParaRPr b="0" i="0" sz="1400" u="none" cap="none" strike="noStrike">
              <a:solidFill>
                <a:schemeClr val="dk1"/>
              </a:solidFill>
              <a:latin typeface="Calibri"/>
              <a:ea typeface="Calibri"/>
              <a:cs typeface="Calibri"/>
              <a:sym typeface="Calibri"/>
            </a:endParaRPr>
          </a:p>
        </p:txBody>
      </p:sp>
      <p:sp>
        <p:nvSpPr>
          <p:cNvPr id="567" name="Google Shape;567;p34"/>
          <p:cNvSpPr/>
          <p:nvPr/>
        </p:nvSpPr>
        <p:spPr>
          <a:xfrm>
            <a:off x="685800" y="2075675"/>
            <a:ext cx="2148900" cy="548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يقترح فكرة، يبني قائمة مهام مرتبة بالأولوية</a:t>
            </a:r>
            <a:endParaRPr b="0" i="0" sz="1100" u="none" cap="none" strike="noStrike">
              <a:solidFill>
                <a:schemeClr val="dk1"/>
              </a:solidFill>
              <a:latin typeface="Calibri"/>
              <a:ea typeface="Calibri"/>
              <a:cs typeface="Calibri"/>
              <a:sym typeface="Calibri"/>
            </a:endParaRPr>
          </a:p>
        </p:txBody>
      </p:sp>
      <p:sp>
        <p:nvSpPr>
          <p:cNvPr id="568" name="Google Shape;568;p34"/>
          <p:cNvSpPr/>
          <p:nvPr/>
        </p:nvSpPr>
        <p:spPr>
          <a:xfrm>
            <a:off x="3200400" y="1325880"/>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alendar_sky.png" id="569" name="Google Shape;569;p34"/>
          <p:cNvPicPr preferRelativeResize="0"/>
          <p:nvPr/>
        </p:nvPicPr>
        <p:blipFill rotWithShape="1">
          <a:blip r:embed="rId4">
            <a:alphaModFix/>
          </a:blip>
          <a:srcRect b="0" l="0" r="0" t="0"/>
          <a:stretch/>
        </p:blipFill>
        <p:spPr>
          <a:xfrm>
            <a:off x="5239512" y="1527048"/>
            <a:ext cx="365760" cy="365760"/>
          </a:xfrm>
          <a:prstGeom prst="rect">
            <a:avLst/>
          </a:prstGeom>
          <a:noFill/>
          <a:ln>
            <a:noFill/>
          </a:ln>
        </p:spPr>
      </p:pic>
      <p:sp>
        <p:nvSpPr>
          <p:cNvPr id="570" name="Google Shape;570;p34"/>
          <p:cNvSpPr/>
          <p:nvPr/>
        </p:nvSpPr>
        <p:spPr>
          <a:xfrm>
            <a:off x="3429000" y="1508760"/>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بناء خطة مذاكرة</a:t>
            </a:r>
            <a:endParaRPr b="0" i="0" sz="1400" u="none" cap="none" strike="noStrike">
              <a:solidFill>
                <a:schemeClr val="dk1"/>
              </a:solidFill>
              <a:latin typeface="Calibri"/>
              <a:ea typeface="Calibri"/>
              <a:cs typeface="Calibri"/>
              <a:sym typeface="Calibri"/>
            </a:endParaRPr>
          </a:p>
        </p:txBody>
      </p:sp>
      <p:sp>
        <p:nvSpPr>
          <p:cNvPr id="571" name="Google Shape;571;p34"/>
          <p:cNvSpPr/>
          <p:nvPr/>
        </p:nvSpPr>
        <p:spPr>
          <a:xfrm>
            <a:off x="3429000" y="2075676"/>
            <a:ext cx="2148900" cy="548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يقسّم المنهج على الأيام، ويقترح مراجعة لكل يوم</a:t>
            </a:r>
            <a:endParaRPr b="0" i="0" sz="1100" u="none" cap="none" strike="noStrike">
              <a:solidFill>
                <a:schemeClr val="dk1"/>
              </a:solidFill>
              <a:latin typeface="Calibri"/>
              <a:ea typeface="Calibri"/>
              <a:cs typeface="Calibri"/>
              <a:sym typeface="Calibri"/>
            </a:endParaRPr>
          </a:p>
        </p:txBody>
      </p:sp>
      <p:sp>
        <p:nvSpPr>
          <p:cNvPr id="572" name="Google Shape;572;p34"/>
          <p:cNvSpPr/>
          <p:nvPr/>
        </p:nvSpPr>
        <p:spPr>
          <a:xfrm>
            <a:off x="5943600" y="1325880"/>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rad_sky.png" id="573" name="Google Shape;573;p34"/>
          <p:cNvPicPr preferRelativeResize="0"/>
          <p:nvPr/>
        </p:nvPicPr>
        <p:blipFill rotWithShape="1">
          <a:blip r:embed="rId5">
            <a:alphaModFix/>
          </a:blip>
          <a:srcRect b="0" l="0" r="0" t="0"/>
          <a:stretch/>
        </p:blipFill>
        <p:spPr>
          <a:xfrm>
            <a:off x="7982712" y="1527048"/>
            <a:ext cx="365760" cy="365760"/>
          </a:xfrm>
          <a:prstGeom prst="rect">
            <a:avLst/>
          </a:prstGeom>
          <a:noFill/>
          <a:ln>
            <a:noFill/>
          </a:ln>
        </p:spPr>
      </p:pic>
      <p:sp>
        <p:nvSpPr>
          <p:cNvPr id="574" name="Google Shape;574;p34"/>
          <p:cNvSpPr/>
          <p:nvPr/>
        </p:nvSpPr>
        <p:spPr>
          <a:xfrm>
            <a:off x="6172200" y="1508760"/>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البحث عن تخصص جامعي</a:t>
            </a:r>
            <a:endParaRPr b="0" i="0" sz="1400" u="none" cap="none" strike="noStrike">
              <a:solidFill>
                <a:schemeClr val="dk1"/>
              </a:solidFill>
              <a:latin typeface="Calibri"/>
              <a:ea typeface="Calibri"/>
              <a:cs typeface="Calibri"/>
              <a:sym typeface="Calibri"/>
            </a:endParaRPr>
          </a:p>
        </p:txBody>
      </p:sp>
      <p:sp>
        <p:nvSpPr>
          <p:cNvPr id="575" name="Google Shape;575;p34"/>
          <p:cNvSpPr/>
          <p:nvPr/>
        </p:nvSpPr>
        <p:spPr>
          <a:xfrm>
            <a:off x="6172200" y="2075676"/>
            <a:ext cx="2148900" cy="548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يقارن عدة تخصصات حسب اهتماماتك ويلخّص توصية</a:t>
            </a:r>
            <a:endParaRPr b="0" i="0" sz="1100" u="none" cap="none" strike="noStrike">
              <a:solidFill>
                <a:schemeClr val="dk1"/>
              </a:solidFill>
              <a:latin typeface="Calibri"/>
              <a:ea typeface="Calibri"/>
              <a:cs typeface="Calibri"/>
              <a:sym typeface="Calibri"/>
            </a:endParaRPr>
          </a:p>
        </p:txBody>
      </p:sp>
      <p:sp>
        <p:nvSpPr>
          <p:cNvPr id="576" name="Google Shape;576;p34"/>
          <p:cNvSpPr/>
          <p:nvPr/>
        </p:nvSpPr>
        <p:spPr>
          <a:xfrm>
            <a:off x="457200" y="2953512"/>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plane_sky.png" id="577" name="Google Shape;577;p34"/>
          <p:cNvPicPr preferRelativeResize="0"/>
          <p:nvPr/>
        </p:nvPicPr>
        <p:blipFill rotWithShape="1">
          <a:blip r:embed="rId6">
            <a:alphaModFix/>
          </a:blip>
          <a:srcRect b="0" l="0" r="0" t="0"/>
          <a:stretch/>
        </p:blipFill>
        <p:spPr>
          <a:xfrm>
            <a:off x="2496312" y="3154680"/>
            <a:ext cx="365760" cy="365760"/>
          </a:xfrm>
          <a:prstGeom prst="rect">
            <a:avLst/>
          </a:prstGeom>
          <a:noFill/>
          <a:ln>
            <a:noFill/>
          </a:ln>
        </p:spPr>
      </p:pic>
      <p:sp>
        <p:nvSpPr>
          <p:cNvPr id="578" name="Google Shape;578;p34"/>
          <p:cNvSpPr/>
          <p:nvPr/>
        </p:nvSpPr>
        <p:spPr>
          <a:xfrm>
            <a:off x="685800" y="3136392"/>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التخطيط لرحلة</a:t>
            </a:r>
            <a:endParaRPr b="0" i="0" sz="1400" u="none" cap="none" strike="noStrike">
              <a:solidFill>
                <a:schemeClr val="dk1"/>
              </a:solidFill>
              <a:latin typeface="Calibri"/>
              <a:ea typeface="Calibri"/>
              <a:cs typeface="Calibri"/>
              <a:sym typeface="Calibri"/>
            </a:endParaRPr>
          </a:p>
        </p:txBody>
      </p:sp>
      <p:sp>
        <p:nvSpPr>
          <p:cNvPr id="579" name="Google Shape;579;p34"/>
          <p:cNvSpPr/>
          <p:nvPr/>
        </p:nvSpPr>
        <p:spPr>
          <a:xfrm>
            <a:off x="685800" y="3661552"/>
            <a:ext cx="2148900" cy="5904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يبني برنامجاً يومياً يناسب الميزانية والمدة</a:t>
            </a:r>
            <a:endParaRPr b="0" i="0" sz="1100" u="none" cap="none" strike="noStrike">
              <a:solidFill>
                <a:schemeClr val="dk1"/>
              </a:solidFill>
              <a:latin typeface="Calibri"/>
              <a:ea typeface="Calibri"/>
              <a:cs typeface="Calibri"/>
              <a:sym typeface="Calibri"/>
            </a:endParaRPr>
          </a:p>
        </p:txBody>
      </p:sp>
      <p:sp>
        <p:nvSpPr>
          <p:cNvPr id="580" name="Google Shape;580;p34"/>
          <p:cNvSpPr/>
          <p:nvPr/>
        </p:nvSpPr>
        <p:spPr>
          <a:xfrm>
            <a:off x="3200400" y="2953512"/>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phone_sky.png" id="581" name="Google Shape;581;p34"/>
          <p:cNvPicPr preferRelativeResize="0"/>
          <p:nvPr/>
        </p:nvPicPr>
        <p:blipFill rotWithShape="1">
          <a:blip r:embed="rId7">
            <a:alphaModFix/>
          </a:blip>
          <a:srcRect b="0" l="0" r="0" t="0"/>
          <a:stretch/>
        </p:blipFill>
        <p:spPr>
          <a:xfrm>
            <a:off x="5239512" y="3154680"/>
            <a:ext cx="365760" cy="365760"/>
          </a:xfrm>
          <a:prstGeom prst="rect">
            <a:avLst/>
          </a:prstGeom>
          <a:noFill/>
          <a:ln>
            <a:noFill/>
          </a:ln>
        </p:spPr>
      </p:pic>
      <p:sp>
        <p:nvSpPr>
          <p:cNvPr id="582" name="Google Shape;582;p34"/>
          <p:cNvSpPr/>
          <p:nvPr/>
        </p:nvSpPr>
        <p:spPr>
          <a:xfrm>
            <a:off x="3429000" y="3136392"/>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مقارنة جوالات</a:t>
            </a:r>
            <a:endParaRPr b="0" i="0" sz="1400" u="none" cap="none" strike="noStrike">
              <a:solidFill>
                <a:schemeClr val="dk1"/>
              </a:solidFill>
              <a:latin typeface="Calibri"/>
              <a:ea typeface="Calibri"/>
              <a:cs typeface="Calibri"/>
              <a:sym typeface="Calibri"/>
            </a:endParaRPr>
          </a:p>
        </p:txBody>
      </p:sp>
      <p:sp>
        <p:nvSpPr>
          <p:cNvPr id="583" name="Google Shape;583;p34"/>
          <p:cNvSpPr/>
          <p:nvPr/>
        </p:nvSpPr>
        <p:spPr>
          <a:xfrm>
            <a:off x="3429000" y="3661448"/>
            <a:ext cx="2148900" cy="5904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يقارن المواصفات ويرشّح جهازاً مع توضيح السبب</a:t>
            </a:r>
            <a:endParaRPr b="0" i="0" sz="1100" u="none" cap="none" strike="noStrike">
              <a:solidFill>
                <a:schemeClr val="dk1"/>
              </a:solidFill>
              <a:latin typeface="Calibri"/>
              <a:ea typeface="Calibri"/>
              <a:cs typeface="Calibri"/>
              <a:sym typeface="Calibri"/>
            </a:endParaRPr>
          </a:p>
        </p:txBody>
      </p:sp>
      <p:sp>
        <p:nvSpPr>
          <p:cNvPr id="584" name="Google Shape;584;p34"/>
          <p:cNvSpPr/>
          <p:nvPr/>
        </p:nvSpPr>
        <p:spPr>
          <a:xfrm>
            <a:off x="5943600" y="2953512"/>
            <a:ext cx="2606040" cy="1463040"/>
          </a:xfrm>
          <a:prstGeom prst="roundRect">
            <a:avLst>
              <a:gd fmla="val 5000" name="adj"/>
            </a:avLst>
          </a:prstGeom>
          <a:solidFill>
            <a:srgbClr val="F1F5F9"/>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mments_sky.png" id="585" name="Google Shape;585;p34"/>
          <p:cNvPicPr preferRelativeResize="0"/>
          <p:nvPr/>
        </p:nvPicPr>
        <p:blipFill rotWithShape="1">
          <a:blip r:embed="rId8">
            <a:alphaModFix/>
          </a:blip>
          <a:srcRect b="0" l="0" r="0" t="0"/>
          <a:stretch/>
        </p:blipFill>
        <p:spPr>
          <a:xfrm>
            <a:off x="7982712" y="3154680"/>
            <a:ext cx="365760" cy="365760"/>
          </a:xfrm>
          <a:prstGeom prst="rect">
            <a:avLst/>
          </a:prstGeom>
          <a:noFill/>
          <a:ln>
            <a:noFill/>
          </a:ln>
        </p:spPr>
      </p:pic>
      <p:sp>
        <p:nvSpPr>
          <p:cNvPr id="586" name="Google Shape;586;p34"/>
          <p:cNvSpPr/>
          <p:nvPr/>
        </p:nvSpPr>
        <p:spPr>
          <a:xfrm>
            <a:off x="6172200" y="3136392"/>
            <a:ext cx="169164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صياغة محتوى متكامل</a:t>
            </a:r>
            <a:endParaRPr b="0" i="0" sz="1400" u="none" cap="none" strike="noStrike">
              <a:solidFill>
                <a:schemeClr val="dk1"/>
              </a:solidFill>
              <a:latin typeface="Calibri"/>
              <a:ea typeface="Calibri"/>
              <a:cs typeface="Calibri"/>
              <a:sym typeface="Calibri"/>
            </a:endParaRPr>
          </a:p>
        </p:txBody>
      </p:sp>
      <p:sp>
        <p:nvSpPr>
          <p:cNvPr id="587" name="Google Shape;587;p34"/>
          <p:cNvSpPr/>
          <p:nvPr/>
        </p:nvSpPr>
        <p:spPr>
          <a:xfrm>
            <a:off x="6172200" y="3703303"/>
            <a:ext cx="2148900" cy="548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يبني خطة منشورات لأسبوع كامل بدل منشور واحد</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35"/>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الثالث: الوكلاء الأذكياء</a:t>
            </a:r>
            <a:endParaRPr b="0" i="0" sz="1100" u="none" cap="none" strike="noStrike">
              <a:solidFill>
                <a:schemeClr val="dk1"/>
              </a:solidFill>
              <a:latin typeface="Calibri"/>
              <a:ea typeface="Calibri"/>
              <a:cs typeface="Calibri"/>
              <a:sym typeface="Calibri"/>
            </a:endParaRPr>
          </a:p>
        </p:txBody>
      </p:sp>
      <p:sp>
        <p:nvSpPr>
          <p:cNvPr id="594" name="Google Shape;594;p35"/>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لماذا هذا مهم؟</a:t>
            </a:r>
            <a:endParaRPr b="0" i="0" sz="2600" u="none" cap="none" strike="noStrike">
              <a:solidFill>
                <a:schemeClr val="dk1"/>
              </a:solidFill>
              <a:latin typeface="Calibri"/>
              <a:ea typeface="Calibri"/>
              <a:cs typeface="Calibri"/>
              <a:sym typeface="Calibri"/>
            </a:endParaRPr>
          </a:p>
        </p:txBody>
      </p:sp>
      <p:sp>
        <p:nvSpPr>
          <p:cNvPr id="595" name="Google Shape;595;p35"/>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596" name="Google Shape;596;p35"/>
          <p:cNvSpPr/>
          <p:nvPr/>
        </p:nvSpPr>
        <p:spPr>
          <a:xfrm>
            <a:off x="4755000" y="1337250"/>
            <a:ext cx="3931800" cy="2304300"/>
          </a:xfrm>
          <a:prstGeom prst="roundRect">
            <a:avLst>
              <a:gd fmla="val 2963" name="adj"/>
            </a:avLst>
          </a:prstGeom>
          <a:solidFill>
            <a:srgbClr val="E0F2FE"/>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magic_sky.png" id="597" name="Google Shape;597;p35"/>
          <p:cNvPicPr preferRelativeResize="0"/>
          <p:nvPr/>
        </p:nvPicPr>
        <p:blipFill rotWithShape="1">
          <a:blip r:embed="rId3">
            <a:alphaModFix/>
          </a:blip>
          <a:srcRect b="0" l="0" r="0" t="0"/>
          <a:stretch/>
        </p:blipFill>
        <p:spPr>
          <a:xfrm>
            <a:off x="8119992" y="1538418"/>
            <a:ext cx="365760" cy="365760"/>
          </a:xfrm>
          <a:prstGeom prst="rect">
            <a:avLst/>
          </a:prstGeom>
          <a:noFill/>
          <a:ln>
            <a:noFill/>
          </a:ln>
        </p:spPr>
      </p:pic>
      <p:sp>
        <p:nvSpPr>
          <p:cNvPr id="598" name="Google Shape;598;p35"/>
          <p:cNvSpPr/>
          <p:nvPr/>
        </p:nvSpPr>
        <p:spPr>
          <a:xfrm>
            <a:off x="4983600" y="1520130"/>
            <a:ext cx="3017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مساعد شخصي حقيقي</a:t>
            </a:r>
            <a:endParaRPr b="0" i="0" sz="1400" u="none" cap="none" strike="noStrike">
              <a:solidFill>
                <a:schemeClr val="dk1"/>
              </a:solidFill>
              <a:latin typeface="Calibri"/>
              <a:ea typeface="Calibri"/>
              <a:cs typeface="Calibri"/>
              <a:sym typeface="Calibri"/>
            </a:endParaRPr>
          </a:p>
        </p:txBody>
      </p:sp>
      <p:sp>
        <p:nvSpPr>
          <p:cNvPr id="599" name="Google Shape;599;p35"/>
          <p:cNvSpPr/>
          <p:nvPr/>
        </p:nvSpPr>
        <p:spPr>
          <a:xfrm>
            <a:off x="4983600" y="2207651"/>
            <a:ext cx="3474600" cy="1433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بدل إجابة واحدة، نحصل على من يتابع معنا خطوة بخطوة لتحقيق هدف كامل.</a:t>
            </a:r>
            <a:endParaRPr b="0" i="0" sz="1100" u="none" cap="none" strike="noStrike">
              <a:solidFill>
                <a:schemeClr val="dk1"/>
              </a:solidFill>
              <a:latin typeface="Calibri"/>
              <a:ea typeface="Calibri"/>
              <a:cs typeface="Calibri"/>
              <a:sym typeface="Calibri"/>
            </a:endParaRPr>
          </a:p>
        </p:txBody>
      </p:sp>
      <p:sp>
        <p:nvSpPr>
          <p:cNvPr id="600" name="Google Shape;600;p35"/>
          <p:cNvSpPr/>
          <p:nvPr/>
        </p:nvSpPr>
        <p:spPr>
          <a:xfrm>
            <a:off x="457200" y="1337250"/>
            <a:ext cx="4114800" cy="2304300"/>
          </a:xfrm>
          <a:prstGeom prst="roundRect">
            <a:avLst>
              <a:gd fmla="val 2963"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question_orange.png" id="601" name="Google Shape;601;p35"/>
          <p:cNvPicPr preferRelativeResize="0"/>
          <p:nvPr/>
        </p:nvPicPr>
        <p:blipFill rotWithShape="1">
          <a:blip r:embed="rId4">
            <a:alphaModFix/>
          </a:blip>
          <a:srcRect b="0" l="0" r="0" t="0"/>
          <a:stretch/>
        </p:blipFill>
        <p:spPr>
          <a:xfrm>
            <a:off x="4005072" y="1538418"/>
            <a:ext cx="365760" cy="365760"/>
          </a:xfrm>
          <a:prstGeom prst="rect">
            <a:avLst/>
          </a:prstGeom>
          <a:noFill/>
          <a:ln>
            <a:noFill/>
          </a:ln>
        </p:spPr>
      </p:pic>
      <p:sp>
        <p:nvSpPr>
          <p:cNvPr id="602" name="Google Shape;602;p35"/>
          <p:cNvSpPr/>
          <p:nvPr/>
        </p:nvSpPr>
        <p:spPr>
          <a:xfrm>
            <a:off x="685800" y="1520130"/>
            <a:ext cx="32004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لكن... النقد ما زال ينطبق</a:t>
            </a:r>
            <a:endParaRPr b="0" i="0" sz="1400" u="none" cap="none" strike="noStrike">
              <a:solidFill>
                <a:schemeClr val="dk1"/>
              </a:solidFill>
              <a:latin typeface="Calibri"/>
              <a:ea typeface="Calibri"/>
              <a:cs typeface="Calibri"/>
              <a:sym typeface="Calibri"/>
            </a:endParaRPr>
          </a:p>
        </p:txBody>
      </p:sp>
      <p:sp>
        <p:nvSpPr>
          <p:cNvPr id="603" name="Google Shape;603;p35"/>
          <p:cNvSpPr/>
          <p:nvPr/>
        </p:nvSpPr>
        <p:spPr>
          <a:xfrm>
            <a:off x="685800" y="2207652"/>
            <a:ext cx="3657600" cy="6627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كل ما تعلمناه عن الهلوسة والتحيز في اليوم الثالث ما زال صحيحاً، بل أهم: خطأ في خطوة مبكرة قد ينتقل لكل الخطوات التالية.</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sp>
        <p:nvSpPr>
          <p:cNvPr id="609" name="Google Shape;609;p36"/>
          <p:cNvSpPr/>
          <p:nvPr/>
        </p:nvSpPr>
        <p:spPr>
          <a:xfrm>
            <a:off x="7040880" y="640080"/>
            <a:ext cx="822960" cy="822960"/>
          </a:xfrm>
          <a:prstGeom prst="ellipse">
            <a:avLst/>
          </a:prstGeom>
          <a:solidFill>
            <a:srgbClr val="E0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6"/>
          <p:cNvSpPr/>
          <p:nvPr/>
        </p:nvSpPr>
        <p:spPr>
          <a:xfrm>
            <a:off x="7040880" y="640080"/>
            <a:ext cx="8229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4C7"/>
              </a:buClr>
              <a:buSzPts val="2200"/>
              <a:buFont typeface="Cairo"/>
              <a:buNone/>
            </a:pPr>
            <a:r>
              <a:rPr b="1" i="0" lang="en-US" sz="2200" u="none" cap="none" strike="noStrike">
                <a:solidFill>
                  <a:srgbClr val="0284C7"/>
                </a:solidFill>
                <a:latin typeface="Cairo"/>
                <a:ea typeface="Cairo"/>
                <a:cs typeface="Cairo"/>
                <a:sym typeface="Cairo"/>
              </a:rPr>
              <a:t>04</a:t>
            </a:r>
            <a:endParaRPr b="0" i="0" sz="2200" u="none" cap="none" strike="noStrike">
              <a:solidFill>
                <a:schemeClr val="dk1"/>
              </a:solidFill>
              <a:latin typeface="Calibri"/>
              <a:ea typeface="Calibri"/>
              <a:cs typeface="Calibri"/>
              <a:sym typeface="Calibri"/>
            </a:endParaRPr>
          </a:p>
        </p:txBody>
      </p:sp>
      <p:cxnSp>
        <p:nvCxnSpPr>
          <p:cNvPr id="611" name="Google Shape;611;p36"/>
          <p:cNvCxnSpPr/>
          <p:nvPr/>
        </p:nvCxnSpPr>
        <p:spPr>
          <a:xfrm>
            <a:off x="6309360" y="2331720"/>
            <a:ext cx="1280160" cy="0"/>
          </a:xfrm>
          <a:prstGeom prst="straightConnector1">
            <a:avLst/>
          </a:prstGeom>
          <a:noFill/>
          <a:ln cap="flat" cmpd="sng" w="31750">
            <a:solidFill>
              <a:srgbClr val="EA580C"/>
            </a:solidFill>
            <a:prstDash val="solid"/>
            <a:round/>
            <a:headEnd len="sm" w="sm" type="none"/>
            <a:tailEnd len="sm" w="sm" type="none"/>
          </a:ln>
        </p:spPr>
      </p:cxnSp>
      <p:sp>
        <p:nvSpPr>
          <p:cNvPr id="612" name="Google Shape;612;p36"/>
          <p:cNvSpPr/>
          <p:nvPr/>
        </p:nvSpPr>
        <p:spPr>
          <a:xfrm>
            <a:off x="548640" y="2468880"/>
            <a:ext cx="7315200" cy="8229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3200"/>
              <a:buFont typeface="Cairo"/>
              <a:buNone/>
            </a:pPr>
            <a:r>
              <a:rPr b="1" i="0" lang="en-US" sz="3200" u="none" cap="none" strike="noStrike">
                <a:solidFill>
                  <a:srgbClr val="0F172A"/>
                </a:solidFill>
                <a:latin typeface="Cairo"/>
                <a:ea typeface="Cairo"/>
                <a:cs typeface="Cairo"/>
                <a:sym typeface="Cairo"/>
              </a:rPr>
              <a:t>جرّب بنفسك</a:t>
            </a:r>
            <a:endParaRPr b="0" i="0" sz="3200" u="none" cap="none" strike="noStrike">
              <a:solidFill>
                <a:schemeClr val="dk1"/>
              </a:solidFill>
              <a:latin typeface="Calibri"/>
              <a:ea typeface="Calibri"/>
              <a:cs typeface="Calibri"/>
              <a:sym typeface="Calibri"/>
            </a:endParaRPr>
          </a:p>
        </p:txBody>
      </p:sp>
      <p:sp>
        <p:nvSpPr>
          <p:cNvPr id="613" name="Google Shape;613;p36"/>
          <p:cNvSpPr/>
          <p:nvPr/>
        </p:nvSpPr>
        <p:spPr>
          <a:xfrm>
            <a:off x="548640" y="3246120"/>
            <a:ext cx="713232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500"/>
              <a:buFont typeface="Cairo"/>
              <a:buNone/>
            </a:pPr>
            <a:r>
              <a:rPr b="0" i="0" lang="en-US" sz="1500" u="none" cap="none" strike="noStrike">
                <a:solidFill>
                  <a:srgbClr val="475569"/>
                </a:solidFill>
                <a:latin typeface="Cairo"/>
                <a:ea typeface="Cairo"/>
                <a:cs typeface="Cairo"/>
                <a:sym typeface="Cairo"/>
              </a:rPr>
              <a:t>نشاط عملي مع وكيل ذكي حقيقي، بدون أي برمجة</a:t>
            </a:r>
            <a:endParaRPr b="0" i="0" sz="1500" u="none" cap="none" strike="noStrike">
              <a:solidFill>
                <a:schemeClr val="dk1"/>
              </a:solidFill>
              <a:latin typeface="Calibri"/>
              <a:ea typeface="Calibri"/>
              <a:cs typeface="Calibri"/>
              <a:sym typeface="Calibri"/>
            </a:endParaRPr>
          </a:p>
        </p:txBody>
      </p:sp>
      <p:sp>
        <p:nvSpPr>
          <p:cNvPr id="614" name="Google Shape;614;p36"/>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37"/>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الرابع: التجربة والتطبيق</a:t>
            </a:r>
            <a:endParaRPr b="0" i="0" sz="1100" u="none" cap="none" strike="noStrike">
              <a:solidFill>
                <a:schemeClr val="dk1"/>
              </a:solidFill>
              <a:latin typeface="Calibri"/>
              <a:ea typeface="Calibri"/>
              <a:cs typeface="Calibri"/>
              <a:sym typeface="Calibri"/>
            </a:endParaRPr>
          </a:p>
        </p:txBody>
      </p:sp>
      <p:sp>
        <p:nvSpPr>
          <p:cNvPr id="621" name="Google Shape;621;p37"/>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النشاط العملي: وكيل ذكي حقيقي</a:t>
            </a:r>
            <a:endParaRPr b="0" i="0" sz="2600" u="none" cap="none" strike="noStrike">
              <a:solidFill>
                <a:schemeClr val="dk1"/>
              </a:solidFill>
              <a:latin typeface="Calibri"/>
              <a:ea typeface="Calibri"/>
              <a:cs typeface="Calibri"/>
              <a:sym typeface="Calibri"/>
            </a:endParaRPr>
          </a:p>
        </p:txBody>
      </p:sp>
      <p:sp>
        <p:nvSpPr>
          <p:cNvPr id="622" name="Google Shape;622;p37"/>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623" name="Google Shape;623;p37"/>
          <p:cNvSpPr/>
          <p:nvPr/>
        </p:nvSpPr>
        <p:spPr>
          <a:xfrm>
            <a:off x="457200" y="1234440"/>
            <a:ext cx="8229600" cy="457200"/>
          </a:xfrm>
          <a:prstGeom prst="roundRect">
            <a:avLst>
              <a:gd fmla="val 12000" name="adj"/>
            </a:avLst>
          </a:pr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7"/>
          <p:cNvSpPr/>
          <p:nvPr/>
        </p:nvSpPr>
        <p:spPr>
          <a:xfrm>
            <a:off x="457200" y="1234440"/>
            <a:ext cx="8229600" cy="45720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FFFFFF"/>
              </a:buClr>
              <a:buSzPts val="1200"/>
              <a:buFont typeface="Cairo"/>
              <a:buNone/>
            </a:pPr>
            <a:r>
              <a:rPr b="1" i="0" lang="en-US" sz="1200" u="none" cap="none" strike="noStrike">
                <a:solidFill>
                  <a:srgbClr val="FFFFFF"/>
                </a:solidFill>
                <a:latin typeface="Cairo"/>
                <a:ea typeface="Cairo"/>
                <a:cs typeface="Cairo"/>
                <a:sym typeface="Cairo"/>
              </a:rPr>
              <a:t> فردي أو في أزواج  · Perplexity أو Gemini</a:t>
            </a:r>
            <a:endParaRPr b="0" i="0" sz="1200" u="none" cap="none" strike="noStrike">
              <a:solidFill>
                <a:schemeClr val="dk1"/>
              </a:solidFill>
              <a:latin typeface="Calibri"/>
              <a:ea typeface="Calibri"/>
              <a:cs typeface="Calibri"/>
              <a:sym typeface="Calibri"/>
            </a:endParaRPr>
          </a:p>
        </p:txBody>
      </p:sp>
      <p:sp>
        <p:nvSpPr>
          <p:cNvPr id="625" name="Google Shape;625;p37"/>
          <p:cNvSpPr/>
          <p:nvPr/>
        </p:nvSpPr>
        <p:spPr>
          <a:xfrm>
            <a:off x="457200" y="1828800"/>
            <a:ext cx="822960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475569"/>
              </a:buClr>
              <a:buSzPts val="1200"/>
              <a:buFont typeface="Cairo"/>
              <a:buNone/>
            </a:pPr>
            <a:r>
              <a:rPr b="0" i="0" lang="en-US" sz="1200" u="none" cap="none" strike="noStrike">
                <a:solidFill>
                  <a:srgbClr val="475569"/>
                </a:solidFill>
                <a:latin typeface="Cairo"/>
                <a:ea typeface="Cairo"/>
                <a:cs typeface="Cairo"/>
                <a:sym typeface="Cairo"/>
              </a:rPr>
              <a:t>اختر هدفاً واحداً، واكتب أمراً متكاملاً بالإطار، ثم لاحظ كيف يبني الأداة الإجابة خطوة بخطوة:</a:t>
            </a:r>
            <a:endParaRPr b="0" i="0" sz="1200" u="none" cap="none" strike="noStrike">
              <a:solidFill>
                <a:schemeClr val="dk1"/>
              </a:solidFill>
              <a:latin typeface="Calibri"/>
              <a:ea typeface="Calibri"/>
              <a:cs typeface="Calibri"/>
              <a:sym typeface="Calibri"/>
            </a:endParaRPr>
          </a:p>
        </p:txBody>
      </p:sp>
      <p:sp>
        <p:nvSpPr>
          <p:cNvPr id="626" name="Google Shape;626;p37"/>
          <p:cNvSpPr/>
          <p:nvPr/>
        </p:nvSpPr>
        <p:spPr>
          <a:xfrm>
            <a:off x="457200" y="2331720"/>
            <a:ext cx="4023360" cy="64008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7"/>
          <p:cNvSpPr/>
          <p:nvPr/>
        </p:nvSpPr>
        <p:spPr>
          <a:xfrm>
            <a:off x="640080" y="2331720"/>
            <a:ext cx="36576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خطط لي جدول مذاكرة كامل قبل الاختبار النهائي</a:t>
            </a:r>
            <a:endParaRPr b="0" i="0" sz="1100" u="none" cap="none" strike="noStrike">
              <a:solidFill>
                <a:schemeClr val="dk1"/>
              </a:solidFill>
              <a:latin typeface="Calibri"/>
              <a:ea typeface="Calibri"/>
              <a:cs typeface="Calibri"/>
              <a:sym typeface="Calibri"/>
            </a:endParaRPr>
          </a:p>
        </p:txBody>
      </p:sp>
      <p:sp>
        <p:nvSpPr>
          <p:cNvPr id="628" name="Google Shape;628;p37"/>
          <p:cNvSpPr/>
          <p:nvPr/>
        </p:nvSpPr>
        <p:spPr>
          <a:xfrm>
            <a:off x="4663440" y="2331720"/>
            <a:ext cx="4023360" cy="64008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7"/>
          <p:cNvSpPr/>
          <p:nvPr/>
        </p:nvSpPr>
        <p:spPr>
          <a:xfrm>
            <a:off x="4846320" y="2331720"/>
            <a:ext cx="36576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قارن بين تخصصين جامعيين ورشّح لي واحداً</a:t>
            </a:r>
            <a:endParaRPr b="0" i="0" sz="1100" u="none" cap="none" strike="noStrike">
              <a:solidFill>
                <a:schemeClr val="dk1"/>
              </a:solidFill>
              <a:latin typeface="Calibri"/>
              <a:ea typeface="Calibri"/>
              <a:cs typeface="Calibri"/>
              <a:sym typeface="Calibri"/>
            </a:endParaRPr>
          </a:p>
        </p:txBody>
      </p:sp>
      <p:sp>
        <p:nvSpPr>
          <p:cNvPr id="630" name="Google Shape;630;p37"/>
          <p:cNvSpPr/>
          <p:nvPr/>
        </p:nvSpPr>
        <p:spPr>
          <a:xfrm>
            <a:off x="457200" y="3108960"/>
            <a:ext cx="4023360" cy="64008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7"/>
          <p:cNvSpPr/>
          <p:nvPr/>
        </p:nvSpPr>
        <p:spPr>
          <a:xfrm>
            <a:off x="640080" y="3108960"/>
            <a:ext cx="36576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ساعدني أخطط ليوم رياضي مدرسي من الصفر</a:t>
            </a:r>
            <a:endParaRPr b="0" i="0" sz="1100" u="none" cap="none" strike="noStrike">
              <a:solidFill>
                <a:schemeClr val="dk1"/>
              </a:solidFill>
              <a:latin typeface="Calibri"/>
              <a:ea typeface="Calibri"/>
              <a:cs typeface="Calibri"/>
              <a:sym typeface="Calibri"/>
            </a:endParaRPr>
          </a:p>
        </p:txBody>
      </p:sp>
      <p:sp>
        <p:nvSpPr>
          <p:cNvPr id="632" name="Google Shape;632;p37"/>
          <p:cNvSpPr/>
          <p:nvPr/>
        </p:nvSpPr>
        <p:spPr>
          <a:xfrm>
            <a:off x="4663440" y="3108960"/>
            <a:ext cx="4023360" cy="640080"/>
          </a:xfrm>
          <a:prstGeom prst="roundRect">
            <a:avLst>
              <a:gd fmla="val 8571" name="adj"/>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7"/>
          <p:cNvSpPr/>
          <p:nvPr/>
        </p:nvSpPr>
        <p:spPr>
          <a:xfrm>
            <a:off x="4846320" y="3108960"/>
            <a:ext cx="36576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100"/>
              <a:buFont typeface="Cairo"/>
              <a:buNone/>
            </a:pPr>
            <a:r>
              <a:rPr b="0" i="0" lang="en-US" sz="1100" u="none" cap="none" strike="noStrike">
                <a:solidFill>
                  <a:srgbClr val="0F172A"/>
                </a:solidFill>
                <a:latin typeface="Cairo"/>
                <a:ea typeface="Cairo"/>
                <a:cs typeface="Cairo"/>
                <a:sym typeface="Cairo"/>
              </a:rPr>
              <a:t>قارن بين جوالين ورشّح لي واحداً حسب استخدامي</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8" name="Shape 638"/>
        <p:cNvGrpSpPr/>
        <p:nvPr/>
      </p:nvGrpSpPr>
      <p:grpSpPr>
        <a:xfrm>
          <a:off x="0" y="0"/>
          <a:ext cx="0" cy="0"/>
          <a:chOff x="0" y="0"/>
          <a:chExt cx="0" cy="0"/>
        </a:xfrm>
      </p:grpSpPr>
      <p:sp>
        <p:nvSpPr>
          <p:cNvPr id="639" name="Google Shape;639;p38"/>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الرابع: التجربة والتطبيق</a:t>
            </a:r>
            <a:endParaRPr b="0" i="0" sz="1100" u="none" cap="none" strike="noStrike">
              <a:solidFill>
                <a:schemeClr val="dk1"/>
              </a:solidFill>
              <a:latin typeface="Calibri"/>
              <a:ea typeface="Calibri"/>
              <a:cs typeface="Calibri"/>
              <a:sym typeface="Calibri"/>
            </a:endParaRPr>
          </a:p>
        </p:txBody>
      </p:sp>
      <p:sp>
        <p:nvSpPr>
          <p:cNvPr id="640" name="Google Shape;640;p38"/>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أثناء التجربة، دوّن ثلاث ملاحظات</a:t>
            </a:r>
            <a:endParaRPr b="0" i="0" sz="2600" u="none" cap="none" strike="noStrike">
              <a:solidFill>
                <a:schemeClr val="dk1"/>
              </a:solidFill>
              <a:latin typeface="Calibri"/>
              <a:ea typeface="Calibri"/>
              <a:cs typeface="Calibri"/>
              <a:sym typeface="Calibri"/>
            </a:endParaRPr>
          </a:p>
        </p:txBody>
      </p:sp>
      <p:sp>
        <p:nvSpPr>
          <p:cNvPr id="641" name="Google Shape;641;p38"/>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642" name="Google Shape;642;p38"/>
          <p:cNvSpPr/>
          <p:nvPr/>
        </p:nvSpPr>
        <p:spPr>
          <a:xfrm>
            <a:off x="6035100" y="1474490"/>
            <a:ext cx="2651700" cy="2194500"/>
          </a:xfrm>
          <a:prstGeom prst="roundRect">
            <a:avLst>
              <a:gd fmla="val 3333"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ipboard_orange.png" id="643" name="Google Shape;643;p38"/>
          <p:cNvPicPr preferRelativeResize="0"/>
          <p:nvPr/>
        </p:nvPicPr>
        <p:blipFill rotWithShape="1">
          <a:blip r:embed="rId3">
            <a:alphaModFix/>
          </a:blip>
          <a:srcRect b="0" l="0" r="0" t="0"/>
          <a:stretch/>
        </p:blipFill>
        <p:spPr>
          <a:xfrm>
            <a:off x="8119932" y="1675658"/>
            <a:ext cx="365760" cy="365760"/>
          </a:xfrm>
          <a:prstGeom prst="rect">
            <a:avLst/>
          </a:prstGeom>
          <a:noFill/>
          <a:ln>
            <a:noFill/>
          </a:ln>
        </p:spPr>
      </p:pic>
      <p:sp>
        <p:nvSpPr>
          <p:cNvPr id="644" name="Google Shape;644;p38"/>
          <p:cNvSpPr/>
          <p:nvPr/>
        </p:nvSpPr>
        <p:spPr>
          <a:xfrm>
            <a:off x="6263700" y="1657370"/>
            <a:ext cx="17373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عدد الخطوات</a:t>
            </a:r>
            <a:endParaRPr b="0" i="0" sz="1400" u="none" cap="none" strike="noStrike">
              <a:solidFill>
                <a:schemeClr val="dk1"/>
              </a:solidFill>
              <a:latin typeface="Calibri"/>
              <a:ea typeface="Calibri"/>
              <a:cs typeface="Calibri"/>
              <a:sym typeface="Calibri"/>
            </a:endParaRPr>
          </a:p>
        </p:txBody>
      </p:sp>
      <p:sp>
        <p:nvSpPr>
          <p:cNvPr id="645" name="Google Shape;645;p38"/>
          <p:cNvSpPr/>
          <p:nvPr/>
        </p:nvSpPr>
        <p:spPr>
          <a:xfrm>
            <a:off x="6263700" y="2137401"/>
            <a:ext cx="2194500" cy="13671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كم جزءاً بنت الأداة لتحقيق هدفك؟</a:t>
            </a:r>
            <a:endParaRPr b="0" i="0" sz="1100" u="none" cap="none" strike="noStrike">
              <a:solidFill>
                <a:schemeClr val="dk1"/>
              </a:solidFill>
              <a:latin typeface="Calibri"/>
              <a:ea typeface="Calibri"/>
              <a:cs typeface="Calibri"/>
              <a:sym typeface="Calibri"/>
            </a:endParaRPr>
          </a:p>
        </p:txBody>
      </p:sp>
      <p:sp>
        <p:nvSpPr>
          <p:cNvPr id="646" name="Google Shape;646;p38"/>
          <p:cNvSpPr/>
          <p:nvPr/>
        </p:nvSpPr>
        <p:spPr>
          <a:xfrm>
            <a:off x="3246120" y="1463040"/>
            <a:ext cx="2651760" cy="2194560"/>
          </a:xfrm>
          <a:prstGeom prst="roundRect">
            <a:avLst>
              <a:gd fmla="val 3333"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oute_orange.png" id="647" name="Google Shape;647;p38"/>
          <p:cNvPicPr preferRelativeResize="0"/>
          <p:nvPr/>
        </p:nvPicPr>
        <p:blipFill rotWithShape="1">
          <a:blip r:embed="rId4">
            <a:alphaModFix/>
          </a:blip>
          <a:srcRect b="0" l="0" r="0" t="0"/>
          <a:stretch/>
        </p:blipFill>
        <p:spPr>
          <a:xfrm>
            <a:off x="5330952" y="1664208"/>
            <a:ext cx="365760" cy="365760"/>
          </a:xfrm>
          <a:prstGeom prst="rect">
            <a:avLst/>
          </a:prstGeom>
          <a:noFill/>
          <a:ln>
            <a:noFill/>
          </a:ln>
        </p:spPr>
      </p:pic>
      <p:sp>
        <p:nvSpPr>
          <p:cNvPr id="648" name="Google Shape;648;p38"/>
          <p:cNvSpPr/>
          <p:nvPr/>
        </p:nvSpPr>
        <p:spPr>
          <a:xfrm>
            <a:off x="3474720" y="1645920"/>
            <a:ext cx="1737360" cy="36576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هل تابعت هدفك الكامل؟</a:t>
            </a:r>
            <a:endParaRPr b="0" i="0" sz="1400" u="none" cap="none" strike="noStrike">
              <a:solidFill>
                <a:schemeClr val="dk1"/>
              </a:solidFill>
              <a:latin typeface="Calibri"/>
              <a:ea typeface="Calibri"/>
              <a:cs typeface="Calibri"/>
              <a:sym typeface="Calibri"/>
            </a:endParaRPr>
          </a:p>
        </p:txBody>
      </p:sp>
      <p:sp>
        <p:nvSpPr>
          <p:cNvPr id="649" name="Google Shape;649;p38"/>
          <p:cNvSpPr/>
          <p:nvPr/>
        </p:nvSpPr>
        <p:spPr>
          <a:xfrm>
            <a:off x="3474725" y="2166626"/>
            <a:ext cx="2194500" cy="13263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أم أجابت فقط على آخر جملة كتبتها؟</a:t>
            </a:r>
            <a:endParaRPr b="0" i="0" sz="1100" u="none" cap="none" strike="noStrike">
              <a:solidFill>
                <a:schemeClr val="dk1"/>
              </a:solidFill>
              <a:latin typeface="Calibri"/>
              <a:ea typeface="Calibri"/>
              <a:cs typeface="Calibri"/>
              <a:sym typeface="Calibri"/>
            </a:endParaRPr>
          </a:p>
        </p:txBody>
      </p:sp>
      <p:sp>
        <p:nvSpPr>
          <p:cNvPr id="650" name="Google Shape;650;p38"/>
          <p:cNvSpPr/>
          <p:nvPr/>
        </p:nvSpPr>
        <p:spPr>
          <a:xfrm>
            <a:off x="457190" y="1463040"/>
            <a:ext cx="2651700" cy="2194500"/>
          </a:xfrm>
          <a:prstGeom prst="roundRect">
            <a:avLst>
              <a:gd fmla="val 3333" name="adj"/>
            </a:avLst>
          </a:prstGeom>
          <a:solidFill>
            <a:srgbClr val="FFEDD5"/>
          </a:solidFill>
          <a:ln>
            <a:noFill/>
          </a:ln>
          <a:effectLst>
            <a:outerShdw blurRad="63500" rotWithShape="0" algn="bl" dir="54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question_orange.png" id="651" name="Google Shape;651;p38"/>
          <p:cNvPicPr preferRelativeResize="0"/>
          <p:nvPr/>
        </p:nvPicPr>
        <p:blipFill rotWithShape="1">
          <a:blip r:embed="rId5">
            <a:alphaModFix/>
          </a:blip>
          <a:srcRect b="0" l="0" r="0" t="0"/>
          <a:stretch/>
        </p:blipFill>
        <p:spPr>
          <a:xfrm>
            <a:off x="2542022" y="1664208"/>
            <a:ext cx="365760" cy="365760"/>
          </a:xfrm>
          <a:prstGeom prst="rect">
            <a:avLst/>
          </a:prstGeom>
          <a:noFill/>
          <a:ln>
            <a:noFill/>
          </a:ln>
        </p:spPr>
      </p:pic>
      <p:sp>
        <p:nvSpPr>
          <p:cNvPr id="652" name="Google Shape;652;p38"/>
          <p:cNvSpPr/>
          <p:nvPr/>
        </p:nvSpPr>
        <p:spPr>
          <a:xfrm>
            <a:off x="685790" y="1645920"/>
            <a:ext cx="1737300" cy="3657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400"/>
              <a:buFont typeface="Cairo"/>
              <a:buNone/>
            </a:pPr>
            <a:r>
              <a:rPr b="1" i="0" lang="en-US" sz="1400" u="none" cap="none" strike="noStrike">
                <a:solidFill>
                  <a:srgbClr val="0F172A"/>
                </a:solidFill>
                <a:latin typeface="Cairo"/>
                <a:ea typeface="Cairo"/>
                <a:cs typeface="Cairo"/>
                <a:sym typeface="Cairo"/>
              </a:rPr>
              <a:t>أي خطوة تحتاج تدقيقاً؟</a:t>
            </a:r>
            <a:endParaRPr b="0" i="0" sz="1400" u="none" cap="none" strike="noStrike">
              <a:solidFill>
                <a:schemeClr val="dk1"/>
              </a:solidFill>
              <a:latin typeface="Calibri"/>
              <a:ea typeface="Calibri"/>
              <a:cs typeface="Calibri"/>
              <a:sym typeface="Calibri"/>
            </a:endParaRPr>
          </a:p>
        </p:txBody>
      </p:sp>
      <p:sp>
        <p:nvSpPr>
          <p:cNvPr id="653" name="Google Shape;653;p38"/>
          <p:cNvSpPr/>
          <p:nvPr/>
        </p:nvSpPr>
        <p:spPr>
          <a:xfrm>
            <a:off x="685800" y="2166701"/>
            <a:ext cx="2194500" cy="13263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Clr>
                <a:srgbClr val="475569"/>
              </a:buClr>
              <a:buSzPts val="1100"/>
              <a:buFont typeface="Cairo"/>
              <a:buNone/>
            </a:pPr>
            <a:r>
              <a:rPr b="0" i="0" lang="en-US" sz="1100" u="none" cap="none" strike="noStrike">
                <a:solidFill>
                  <a:srgbClr val="475569"/>
                </a:solidFill>
                <a:latin typeface="Cairo"/>
                <a:ea typeface="Cairo"/>
                <a:cs typeface="Cairo"/>
                <a:sym typeface="Cairo"/>
              </a:rPr>
              <a:t>هل وجدت معلومة غير دقيقة تحتاج مراجعة؟</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39"/>
          <p:cNvSpPr/>
          <p:nvPr/>
        </p:nvSpPr>
        <p:spPr>
          <a:xfrm>
            <a:off x="457200" y="292608"/>
            <a:ext cx="8229600" cy="27432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284C7"/>
              </a:buClr>
              <a:buSzPts val="1100"/>
              <a:buFont typeface="Cairo"/>
              <a:buNone/>
            </a:pPr>
            <a:r>
              <a:rPr b="1" i="0" lang="en-US" sz="1100" u="none" cap="none" strike="noStrike">
                <a:solidFill>
                  <a:srgbClr val="0284C7"/>
                </a:solidFill>
                <a:latin typeface="Cairo"/>
                <a:ea typeface="Cairo"/>
                <a:cs typeface="Cairo"/>
                <a:sym typeface="Cairo"/>
              </a:rPr>
              <a:t>القسم الرابع: التجربة والتطبيق</a:t>
            </a:r>
            <a:endParaRPr b="0" i="0" sz="1100" u="none" cap="none" strike="noStrike">
              <a:solidFill>
                <a:schemeClr val="dk1"/>
              </a:solidFill>
              <a:latin typeface="Calibri"/>
              <a:ea typeface="Calibri"/>
              <a:cs typeface="Calibri"/>
              <a:sym typeface="Calibri"/>
            </a:endParaRPr>
          </a:p>
        </p:txBody>
      </p:sp>
      <p:sp>
        <p:nvSpPr>
          <p:cNvPr id="660" name="Google Shape;660;p39"/>
          <p:cNvSpPr/>
          <p:nvPr/>
        </p:nvSpPr>
        <p:spPr>
          <a:xfrm>
            <a:off x="457200" y="566928"/>
            <a:ext cx="8229600" cy="5486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2600"/>
              <a:buFont typeface="Cairo"/>
              <a:buNone/>
            </a:pPr>
            <a:r>
              <a:rPr b="1" i="0" lang="en-US" sz="2600" u="none" cap="none" strike="noStrike">
                <a:solidFill>
                  <a:srgbClr val="0F172A"/>
                </a:solidFill>
                <a:latin typeface="Cairo"/>
                <a:ea typeface="Cairo"/>
                <a:cs typeface="Cairo"/>
                <a:sym typeface="Cairo"/>
              </a:rPr>
              <a:t>نقاش </a:t>
            </a:r>
            <a:endParaRPr b="0" i="0" sz="2600" u="none" cap="none" strike="noStrike">
              <a:solidFill>
                <a:schemeClr val="dk1"/>
              </a:solidFill>
              <a:latin typeface="Calibri"/>
              <a:ea typeface="Calibri"/>
              <a:cs typeface="Calibri"/>
              <a:sym typeface="Calibri"/>
            </a:endParaRPr>
          </a:p>
        </p:txBody>
      </p:sp>
      <p:sp>
        <p:nvSpPr>
          <p:cNvPr id="661" name="Google Shape;661;p39"/>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
        <p:nvSpPr>
          <p:cNvPr id="662" name="Google Shape;662;p39"/>
          <p:cNvSpPr/>
          <p:nvPr/>
        </p:nvSpPr>
        <p:spPr>
          <a:xfrm>
            <a:off x="8302752" y="1417320"/>
            <a:ext cx="384048" cy="384048"/>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9"/>
          <p:cNvSpPr/>
          <p:nvPr/>
        </p:nvSpPr>
        <p:spPr>
          <a:xfrm>
            <a:off x="8302752" y="14173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1</a:t>
            </a:r>
            <a:endParaRPr b="0" i="0" sz="1400" u="none" cap="none" strike="noStrike">
              <a:solidFill>
                <a:schemeClr val="dk1"/>
              </a:solidFill>
              <a:latin typeface="Calibri"/>
              <a:ea typeface="Calibri"/>
              <a:cs typeface="Calibri"/>
              <a:sym typeface="Calibri"/>
            </a:endParaRPr>
          </a:p>
        </p:txBody>
      </p:sp>
      <p:sp>
        <p:nvSpPr>
          <p:cNvPr id="664" name="Google Shape;664;p39"/>
          <p:cNvSpPr/>
          <p:nvPr/>
        </p:nvSpPr>
        <p:spPr>
          <a:xfrm>
            <a:off x="457200" y="1399032"/>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ما أكبر فرق لاحظتموه بين الأمر الأول والمحسّن؟</a:t>
            </a:r>
            <a:endParaRPr b="0" i="0" sz="1300" u="none" cap="none" strike="noStrike">
              <a:solidFill>
                <a:schemeClr val="dk1"/>
              </a:solidFill>
              <a:latin typeface="Calibri"/>
              <a:ea typeface="Calibri"/>
              <a:cs typeface="Calibri"/>
              <a:sym typeface="Calibri"/>
            </a:endParaRPr>
          </a:p>
        </p:txBody>
      </p:sp>
      <p:sp>
        <p:nvSpPr>
          <p:cNvPr id="665" name="Google Shape;665;p39"/>
          <p:cNvSpPr/>
          <p:nvPr/>
        </p:nvSpPr>
        <p:spPr>
          <a:xfrm>
            <a:off x="8302752" y="2130552"/>
            <a:ext cx="384048" cy="384048"/>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9"/>
          <p:cNvSpPr/>
          <p:nvPr/>
        </p:nvSpPr>
        <p:spPr>
          <a:xfrm>
            <a:off x="8302752" y="21305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2</a:t>
            </a:r>
            <a:endParaRPr b="0" i="0" sz="1400" u="none" cap="none" strike="noStrike">
              <a:solidFill>
                <a:schemeClr val="dk1"/>
              </a:solidFill>
              <a:latin typeface="Calibri"/>
              <a:ea typeface="Calibri"/>
              <a:cs typeface="Calibri"/>
              <a:sym typeface="Calibri"/>
            </a:endParaRPr>
          </a:p>
        </p:txBody>
      </p:sp>
      <p:sp>
        <p:nvSpPr>
          <p:cNvPr id="667" name="Google Shape;667;p39"/>
          <p:cNvSpPr/>
          <p:nvPr/>
        </p:nvSpPr>
        <p:spPr>
          <a:xfrm>
            <a:off x="457200" y="2112264"/>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هل تغيّرت فكرتكم عمّا يستطيع الذكاء الاصطناعي فعله؟</a:t>
            </a:r>
            <a:endParaRPr b="0" i="0" sz="1300" u="none" cap="none" strike="noStrike">
              <a:solidFill>
                <a:schemeClr val="dk1"/>
              </a:solidFill>
              <a:latin typeface="Calibri"/>
              <a:ea typeface="Calibri"/>
              <a:cs typeface="Calibri"/>
              <a:sym typeface="Calibri"/>
            </a:endParaRPr>
          </a:p>
        </p:txBody>
      </p:sp>
      <p:sp>
        <p:nvSpPr>
          <p:cNvPr id="668" name="Google Shape;668;p39"/>
          <p:cNvSpPr/>
          <p:nvPr/>
        </p:nvSpPr>
        <p:spPr>
          <a:xfrm>
            <a:off x="8302752" y="2843784"/>
            <a:ext cx="384048" cy="384048"/>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9"/>
          <p:cNvSpPr/>
          <p:nvPr/>
        </p:nvSpPr>
        <p:spPr>
          <a:xfrm>
            <a:off x="8302752" y="28437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3</a:t>
            </a:r>
            <a:endParaRPr b="0" i="0" sz="1400" u="none" cap="none" strike="noStrike">
              <a:solidFill>
                <a:schemeClr val="dk1"/>
              </a:solidFill>
              <a:latin typeface="Calibri"/>
              <a:ea typeface="Calibri"/>
              <a:cs typeface="Calibri"/>
              <a:sym typeface="Calibri"/>
            </a:endParaRPr>
          </a:p>
        </p:txBody>
      </p:sp>
      <p:sp>
        <p:nvSpPr>
          <p:cNvPr id="670" name="Google Shape;670;p39"/>
          <p:cNvSpPr/>
          <p:nvPr/>
        </p:nvSpPr>
        <p:spPr>
          <a:xfrm>
            <a:off x="457200" y="2825496"/>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كيف نراجع عمل الوكيل قبل أن نثق بنتيجته بالكامل؟</a:t>
            </a:r>
            <a:endParaRPr b="0" i="0" sz="1300" u="none" cap="none" strike="noStrike">
              <a:solidFill>
                <a:schemeClr val="dk1"/>
              </a:solidFill>
              <a:latin typeface="Calibri"/>
              <a:ea typeface="Calibri"/>
              <a:cs typeface="Calibri"/>
              <a:sym typeface="Calibri"/>
            </a:endParaRPr>
          </a:p>
        </p:txBody>
      </p:sp>
      <p:sp>
        <p:nvSpPr>
          <p:cNvPr id="671" name="Google Shape;671;p39"/>
          <p:cNvSpPr/>
          <p:nvPr/>
        </p:nvSpPr>
        <p:spPr>
          <a:xfrm>
            <a:off x="8302752" y="3557016"/>
            <a:ext cx="384048" cy="384048"/>
          </a:xfrm>
          <a:prstGeom prst="ellipse">
            <a:avLst/>
          </a:prstGeom>
          <a:solidFill>
            <a:srgbClr val="EA58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9"/>
          <p:cNvSpPr/>
          <p:nvPr/>
        </p:nvSpPr>
        <p:spPr>
          <a:xfrm>
            <a:off x="8302752" y="355701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iro"/>
              <a:buNone/>
            </a:pPr>
            <a:r>
              <a:rPr b="1" i="0" lang="en-US" sz="1400" u="none" cap="none" strike="noStrike">
                <a:solidFill>
                  <a:srgbClr val="FFFFFF"/>
                </a:solidFill>
                <a:latin typeface="Cairo"/>
                <a:ea typeface="Cairo"/>
                <a:cs typeface="Cairo"/>
                <a:sym typeface="Cairo"/>
              </a:rPr>
              <a:t>4</a:t>
            </a:r>
            <a:endParaRPr b="0" i="0" sz="1400" u="none" cap="none" strike="noStrike">
              <a:solidFill>
                <a:schemeClr val="dk1"/>
              </a:solidFill>
              <a:latin typeface="Calibri"/>
              <a:ea typeface="Calibri"/>
              <a:cs typeface="Calibri"/>
              <a:sym typeface="Calibri"/>
            </a:endParaRPr>
          </a:p>
        </p:txBody>
      </p:sp>
      <p:sp>
        <p:nvSpPr>
          <p:cNvPr id="673" name="Google Shape;673;p39"/>
          <p:cNvSpPr/>
          <p:nvPr/>
        </p:nvSpPr>
        <p:spPr>
          <a:xfrm>
            <a:off x="457200" y="3538728"/>
            <a:ext cx="7662672"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0F172A"/>
              </a:buClr>
              <a:buSzPts val="1300"/>
              <a:buFont typeface="Cairo"/>
              <a:buNone/>
            </a:pPr>
            <a:r>
              <a:rPr b="1" i="0" lang="en-US" sz="1300" u="none" cap="none" strike="noStrike">
                <a:solidFill>
                  <a:srgbClr val="0F172A"/>
                </a:solidFill>
                <a:latin typeface="Cairo"/>
                <a:ea typeface="Cairo"/>
                <a:cs typeface="Cairo"/>
                <a:sym typeface="Cairo"/>
              </a:rPr>
              <a:t>بجملة واحدة: كيف نكتب أمراً جيداً للذكاء الاصطناعي؟</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78" name="Shape 678"/>
        <p:cNvGrpSpPr/>
        <p:nvPr/>
      </p:nvGrpSpPr>
      <p:grpSpPr>
        <a:xfrm>
          <a:off x="0" y="0"/>
          <a:ext cx="0" cy="0"/>
          <a:chOff x="0" y="0"/>
          <a:chExt cx="0" cy="0"/>
        </a:xfrm>
      </p:grpSpPr>
      <p:sp>
        <p:nvSpPr>
          <p:cNvPr id="679" name="Google Shape;679;p40"/>
          <p:cNvSpPr/>
          <p:nvPr/>
        </p:nvSpPr>
        <p:spPr>
          <a:xfrm>
            <a:off x="548640" y="457200"/>
            <a:ext cx="7315200" cy="32004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0F2FE"/>
              </a:buClr>
              <a:buSzPts val="1300"/>
              <a:buFont typeface="Cairo"/>
              <a:buNone/>
            </a:pPr>
            <a:r>
              <a:rPr b="0" i="0" lang="en-US" sz="1300" u="none" cap="none" strike="noStrike">
                <a:solidFill>
                  <a:srgbClr val="E0F2FE"/>
                </a:solidFill>
                <a:latin typeface="Cairo"/>
                <a:ea typeface="Cairo"/>
                <a:cs typeface="Cairo"/>
                <a:sym typeface="Cairo"/>
              </a:rPr>
              <a:t>الفكرة الكبرى لليوم</a:t>
            </a:r>
            <a:endParaRPr b="0" i="0" sz="1300" u="none" cap="none" strike="noStrike">
              <a:solidFill>
                <a:schemeClr val="dk1"/>
              </a:solidFill>
              <a:latin typeface="Calibri"/>
              <a:ea typeface="Calibri"/>
              <a:cs typeface="Calibri"/>
              <a:sym typeface="Calibri"/>
            </a:endParaRPr>
          </a:p>
        </p:txBody>
      </p:sp>
      <p:cxnSp>
        <p:nvCxnSpPr>
          <p:cNvPr id="680" name="Google Shape;680;p40"/>
          <p:cNvCxnSpPr/>
          <p:nvPr/>
        </p:nvCxnSpPr>
        <p:spPr>
          <a:xfrm>
            <a:off x="548640" y="914400"/>
            <a:ext cx="1280160" cy="0"/>
          </a:xfrm>
          <a:prstGeom prst="straightConnector1">
            <a:avLst/>
          </a:prstGeom>
          <a:noFill/>
          <a:ln cap="flat" cmpd="sng" w="31750">
            <a:solidFill>
              <a:srgbClr val="EA580C"/>
            </a:solidFill>
            <a:prstDash val="solid"/>
            <a:round/>
            <a:headEnd len="sm" w="sm" type="none"/>
            <a:tailEnd len="sm" w="sm" type="none"/>
          </a:ln>
        </p:spPr>
      </p:cxnSp>
      <p:sp>
        <p:nvSpPr>
          <p:cNvPr id="681" name="Google Shape;681;p40"/>
          <p:cNvSpPr/>
          <p:nvPr/>
        </p:nvSpPr>
        <p:spPr>
          <a:xfrm>
            <a:off x="548640" y="1097280"/>
            <a:ext cx="804672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FFFFFF"/>
              </a:buClr>
              <a:buSzPts val="2600"/>
              <a:buFont typeface="Cairo"/>
              <a:buNone/>
            </a:pPr>
            <a:r>
              <a:rPr b="1" i="0" lang="en-US" sz="2600" u="none" cap="none" strike="noStrike">
                <a:solidFill>
                  <a:srgbClr val="FFFFFF"/>
                </a:solidFill>
                <a:latin typeface="Cairo"/>
                <a:ea typeface="Cairo"/>
                <a:cs typeface="Cairo"/>
                <a:sym typeface="Cairo"/>
              </a:rPr>
              <a:t>جودة الذكاء الاصطناعي تعكس جودة سؤالك</a:t>
            </a:r>
            <a:endParaRPr b="0" i="0" sz="2600" u="none" cap="none" strike="noStrike">
              <a:solidFill>
                <a:schemeClr val="dk1"/>
              </a:solidFill>
              <a:latin typeface="Calibri"/>
              <a:ea typeface="Calibri"/>
              <a:cs typeface="Calibri"/>
              <a:sym typeface="Calibri"/>
            </a:endParaRPr>
          </a:p>
        </p:txBody>
      </p:sp>
      <p:sp>
        <p:nvSpPr>
          <p:cNvPr id="682" name="Google Shape;682;p40"/>
          <p:cNvSpPr/>
          <p:nvPr/>
        </p:nvSpPr>
        <p:spPr>
          <a:xfrm>
            <a:off x="548640" y="1874520"/>
            <a:ext cx="7315200" cy="64008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F1F5F9"/>
              </a:buClr>
              <a:buSzPts val="1400"/>
              <a:buFont typeface="Cairo"/>
              <a:buNone/>
            </a:pPr>
            <a:r>
              <a:rPr b="0" i="0" lang="en-US" sz="1400" u="none" cap="none" strike="noStrike">
                <a:solidFill>
                  <a:srgbClr val="F1F5F9"/>
                </a:solidFill>
                <a:latin typeface="Cairo"/>
                <a:ea typeface="Cairo"/>
                <a:cs typeface="Cairo"/>
                <a:sym typeface="Cairo"/>
              </a:rPr>
              <a:t>استخدمنا أداة تتجاوب معنا، وأداة تعمل من أجلنا. الخطوة التالية: نمارس هذا الفرق في حياتنا اليومية.</a:t>
            </a:r>
            <a:endParaRPr b="0" i="0" sz="1400" u="none" cap="none" strike="noStrike">
              <a:solidFill>
                <a:schemeClr val="dk1"/>
              </a:solidFill>
              <a:latin typeface="Calibri"/>
              <a:ea typeface="Calibri"/>
              <a:cs typeface="Calibri"/>
              <a:sym typeface="Calibri"/>
            </a:endParaRPr>
          </a:p>
        </p:txBody>
      </p:sp>
      <p:sp>
        <p:nvSpPr>
          <p:cNvPr id="683" name="Google Shape;683;p40"/>
          <p:cNvSpPr/>
          <p:nvPr/>
        </p:nvSpPr>
        <p:spPr>
          <a:xfrm>
            <a:off x="365760" y="4850892"/>
            <a:ext cx="5486400" cy="25603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64748B"/>
              </a:buClr>
              <a:buSzPts val="900"/>
              <a:buFont typeface="Cairo"/>
              <a:buNone/>
            </a:pPr>
            <a:r>
              <a:rPr b="0" i="0" lang="en-US" sz="900" u="none" cap="none" strike="noStrike">
                <a:solidFill>
                  <a:srgbClr val="64748B"/>
                </a:solidFill>
                <a:latin typeface="Cairo"/>
                <a:ea typeface="Cairo"/>
                <a:cs typeface="Cairo"/>
                <a:sym typeface="Cairo"/>
              </a:rPr>
              <a:t>اليوم الرابع · كيف نتحدث مع الذكاء الاصطناعي؟</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