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4.png"/><Relationship Id="rId4" Type="http://schemas.openxmlformats.org/officeDocument/2006/relationships/image" Target="../media/image39.png"/><Relationship Id="rId9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2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2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97416" y="1512187"/>
            <a:ext cx="746522" cy="24467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1"/>
          <p:cNvSpPr/>
          <p:nvPr/>
        </p:nvSpPr>
        <p:spPr>
          <a:xfrm>
            <a:off x="8050250" y="1512187"/>
            <a:ext cx="593688" cy="176459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اليوم الثاني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015287" y="1771148"/>
            <a:ext cx="1628651" cy="487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دائرة التعلّم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732885" y="2405490"/>
            <a:ext cx="2911053" cy="244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رحلة في دورة تدريب الآلة وتعديل الأوزان تلقائياً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90182" y="2828395"/>
            <a:ext cx="4153756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بعد أن تعرفنا بالأمس على عجز البشر عن ضبط ملايين الأوزان يدوياً، نكتشف اليوم كيف نعطي الآلة بوصلة رياضية لتكتشف الأوزان الصحيحة بنفسها تلقائياً عبر دورة حياة التعلم.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706" y="1478756"/>
            <a:ext cx="2000250" cy="2000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50831" y="4557713"/>
            <a:ext cx="1993106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الذكاء الاصطناعي للمرحلة المتوسطة والثانوية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9248" y="500063"/>
            <a:ext cx="54181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قصة اليوم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398" y="553641"/>
            <a:ext cx="48891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مقدمة العرض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357313" y="1925631"/>
            <a:ext cx="6429375" cy="71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"بالأمس، كافحنا وتعبنا لإيجاد الأوزان الصحيحة يدوياً.
واليوم، نعطي الآلة بوصلة ذكية — لتجدها وتعدلها بنفسها تلقائياً."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57313" y="3514334"/>
            <a:ext cx="642937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دائرة التعلّم الذاتية (The Learning Loop)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أهداف التعلم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76980" y="553641"/>
            <a:ext cx="36067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اليوم الثاني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بنهاية درس اليوم، ستتمكن من: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57725" y="1682353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657725" y="1682353"/>
            <a:ext cx="3843338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657725" y="2668191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657725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854428" y="1853803"/>
            <a:ext cx="138945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خطوات التدريب الأربعة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29175" y="2178844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شرح وتحديد المراحل الأربعة الكبرى لتدريب الآلة: التخمين، القياس، التعديل، والتكرار.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2938" y="1682353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Shape 11"/>
          <p:cNvSpPr/>
          <p:nvPr/>
        </p:nvSpPr>
        <p:spPr>
          <a:xfrm>
            <a:off x="642938" y="1682353"/>
            <a:ext cx="3843338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Shape 12"/>
          <p:cNvSpPr/>
          <p:nvPr/>
        </p:nvSpPr>
        <p:spPr>
          <a:xfrm>
            <a:off x="4471988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Shape 13"/>
          <p:cNvSpPr/>
          <p:nvPr/>
        </p:nvSpPr>
        <p:spPr>
          <a:xfrm>
            <a:off x="642938" y="2668191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4"/>
          <p:cNvSpPr/>
          <p:nvPr/>
        </p:nvSpPr>
        <p:spPr>
          <a:xfrm>
            <a:off x="642938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1916311"/>
            <a:ext cx="142875" cy="1428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82491" y="1853803"/>
            <a:ext cx="130373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قياس الخسارة (Loss)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14388" y="2178844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توضيح كيف تقوم الآلة بحساب وقياس نسبة الخطأ الدقيقة لتحديد مدى قربها من الحل الصحيح.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657725" y="2853928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Shape 18"/>
          <p:cNvSpPr/>
          <p:nvPr/>
        </p:nvSpPr>
        <p:spPr>
          <a:xfrm>
            <a:off x="4657725" y="2853928"/>
            <a:ext cx="3843338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Shape 19"/>
          <p:cNvSpPr/>
          <p:nvPr/>
        </p:nvSpPr>
        <p:spPr>
          <a:xfrm>
            <a:off x="8486775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Shape 20"/>
          <p:cNvSpPr/>
          <p:nvPr/>
        </p:nvSpPr>
        <p:spPr>
          <a:xfrm>
            <a:off x="4657725" y="3839766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Shape 21"/>
          <p:cNvSpPr/>
          <p:nvPr/>
        </p:nvSpPr>
        <p:spPr>
          <a:xfrm>
            <a:off x="4657725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738" y="3087886"/>
            <a:ext cx="142875" cy="1428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42179" y="3025378"/>
            <a:ext cx="65883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التعديل التلقائي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29175" y="3350419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وصف كيف تقوم الآلة بتعديل وتحديث الأوزان تلقائياً دون أي تدخل أو تعديل بشري يدوي.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42938" y="2853928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Shape 25"/>
          <p:cNvSpPr/>
          <p:nvPr/>
        </p:nvSpPr>
        <p:spPr>
          <a:xfrm>
            <a:off x="642938" y="2853928"/>
            <a:ext cx="3843338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Shape 26"/>
          <p:cNvSpPr/>
          <p:nvPr/>
        </p:nvSpPr>
        <p:spPr>
          <a:xfrm>
            <a:off x="4471988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Shape 27"/>
          <p:cNvSpPr/>
          <p:nvPr/>
        </p:nvSpPr>
        <p:spPr>
          <a:xfrm>
            <a:off x="642938" y="3839766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3" name="Shape 28"/>
          <p:cNvSpPr/>
          <p:nvPr/>
        </p:nvSpPr>
        <p:spPr>
          <a:xfrm>
            <a:off x="642938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950" y="3087886"/>
            <a:ext cx="142875" cy="14287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231825" y="3025378"/>
            <a:ext cx="85440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المعرفي للغد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14388" y="3350419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فهم لماذا تمثل هذه الدورة المغلقة الجسر المعرفي الأساسي لبناء الشبكات العصبية العميقة غداً.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3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01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880088" y="1928813"/>
            <a:ext cx="2135200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التخمين العشوائي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980529" y="2551742"/>
            <a:ext cx="403475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تبدأ الآلة رحلتها التعليمية عمياء بالكامل دون أي توجيه أو معرفة سابقة؟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15008" y="394335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9102" y="500063"/>
            <a:ext cx="140196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أين وقفنا بالأمس؟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0198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التخمين العشوائي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مراجعة سريعة: كيف كنا نتخذ القرارات بالأمس؟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149962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بالأمس، قمنا بضبط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وزنين فقط (W1, W2)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يدوياً للوصول لخط القرار الصحيح الذي يفصل بين القطط والكلاب.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730001"/>
            <a:ext cx="3904366" cy="18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ولكن، ماذا لو كان لدينا صورة حقيقية معقدة تحتوي على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ملايين الخصائص والبكسلات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؟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يعني أننا سنحتاج إلى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ملايين الأوزان المقابلة لها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! وهو أمر مستحيل تماماً على أي مهندس بشري القيام به يدوياً. يجب أن تتعلم الآلة كيف تفعل ذلك تلقائياً.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2475" y="1948458"/>
            <a:ext cx="2714625" cy="200025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912475" y="1948458"/>
            <a:ext cx="271462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612812" y="1948458"/>
            <a:ext cx="14288" cy="200025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912475" y="3934420"/>
            <a:ext cx="271462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912475" y="1948458"/>
            <a:ext cx="14288" cy="200025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3252913" y="2251049"/>
            <a:ext cx="201506" cy="2686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3491" y="2286492"/>
            <a:ext cx="1925437" cy="57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معادلة القرار الكلاسيكية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83925" y="2657415"/>
            <a:ext cx="2371725" cy="80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= 
</a:t>
            </a:r>
            <a:r>
              <a:rPr lang="ar-SA" sz="14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</a:t>
            </a:r>
            <a:r>
              <a:rPr lang="en-US" sz="14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لخاصية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الاولى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× </a:t>
            </a:r>
            <a:r>
              <a:rPr lang="en-US" sz="14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الوزن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+ ١ 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
</a:t>
            </a:r>
            <a:r>
              <a:rPr lang="en-US" sz="14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الثانية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× </a:t>
            </a:r>
            <a:r>
              <a:rPr lang="en-US" sz="14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الوزن</a:t>
            </a:r>
            <a:r>
              <a:rPr lang="en-US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+ ٢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22004" y="500063"/>
            <a:ext cx="77905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الآلة تبدأ عمياء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0198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التخمين العشوائي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البداية العشوائية: الآلة تبدأ عمياء تماماً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149962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 تبدأ الآلة في تعلم حل مسألة جديدة، فإنها لا تملك أي ذكاء مسبق أو توجيه.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إنها تبدأ عمياء تماماً!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730001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التخمين العشوائي (Random Guess):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لأنها لا تعرف الحل الصحيح، تقوم الآلة باختيار قيم عشوائية تماماً للأوزان (Weights) في البداية لتجربتها.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إنها لا تملك أي فكرة إن كانت هذه الأرقام العشوائية قريبة من الصواب أم بعيدة جداً عنه؛ إنها فقط تضع تخميناً أولياً لتبدأ منه رحلة التعلم الطويلة.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  <p:pic>
        <p:nvPicPr>
          <p:cNvPr id="19" name="Picture 18" descr="A drawing of two people&#10;&#10;Description automatically generated with medium confidence">
            <a:extLst>
              <a:ext uri="{FF2B5EF4-FFF2-40B4-BE49-F238E27FC236}">
                <a16:creationId xmlns:a16="http://schemas.microsoft.com/office/drawing/2014/main" id="{05BA2B3A-1252-5A6A-3C57-727A7E1A4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95" y="1737360"/>
            <a:ext cx="3795062" cy="2119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8292" y="500063"/>
            <a:ext cx="216277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التخمين العشوائي في العمل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0198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التخمين العشوائي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التخمين العشوائي في العمل: مسار البيانات الأولية الصامتة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96006" y="1682353"/>
            <a:ext cx="250505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5996006" y="1682353"/>
            <a:ext cx="250505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5996006" y="2953941"/>
            <a:ext cx="250505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5996006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110306" y="1825228"/>
            <a:ext cx="22764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01</a:t>
            </a: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747" y="2132409"/>
            <a:ext cx="125016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8136" y="2069902"/>
            <a:ext cx="8864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دخول البيانات الخام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10306" y="2394942"/>
            <a:ext cx="2276456" cy="26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تستقبل الآلة المدخلات والصور الخام (مثل صورة قطة) وتقوم بتحويل خصائصها الهندسية إلى أرقام صامتة.</a:t>
            </a:r>
            <a:endParaRPr lang="en-US" sz="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706" y="2268141"/>
            <a:ext cx="71438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319472" y="1682353"/>
            <a:ext cx="2505084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2"/>
          <p:cNvSpPr/>
          <p:nvPr/>
        </p:nvSpPr>
        <p:spPr>
          <a:xfrm>
            <a:off x="3319472" y="1682353"/>
            <a:ext cx="2505084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5810269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3319472" y="2953941"/>
            <a:ext cx="2505084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3319472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6"/>
          <p:cNvSpPr/>
          <p:nvPr/>
        </p:nvSpPr>
        <p:spPr>
          <a:xfrm>
            <a:off x="3433772" y="1825228"/>
            <a:ext cx="227648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02</a:t>
            </a:r>
            <a:endParaRPr lang="en-US" sz="7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381" y="2132409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74350" y="2069902"/>
            <a:ext cx="133588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تطبيق أوزان عشوائية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433772" y="2394942"/>
            <a:ext cx="2276484" cy="26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تضرب الآلة قيم الخصائص في أرقام عشوائية تماماً تم اختيارها دون أي علم أو توجيه مسبق بالمشكلة.</a:t>
            </a:r>
            <a:endParaRPr lang="en-US" sz="7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5172" y="2268141"/>
            <a:ext cx="71438" cy="1143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42965" y="1682353"/>
            <a:ext cx="250505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Shape 20"/>
          <p:cNvSpPr/>
          <p:nvPr/>
        </p:nvSpPr>
        <p:spPr>
          <a:xfrm>
            <a:off x="642965" y="1682353"/>
            <a:ext cx="2505056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Shape 21"/>
          <p:cNvSpPr/>
          <p:nvPr/>
        </p:nvSpPr>
        <p:spPr>
          <a:xfrm>
            <a:off x="3133734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Shape 22"/>
          <p:cNvSpPr/>
          <p:nvPr/>
        </p:nvSpPr>
        <p:spPr>
          <a:xfrm>
            <a:off x="642965" y="2953941"/>
            <a:ext cx="250505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Shape 23"/>
          <p:cNvSpPr/>
          <p:nvPr/>
        </p:nvSpPr>
        <p:spPr>
          <a:xfrm>
            <a:off x="642965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4"/>
          <p:cNvSpPr/>
          <p:nvPr/>
        </p:nvSpPr>
        <p:spPr>
          <a:xfrm>
            <a:off x="757265" y="1825228"/>
            <a:ext cx="22764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03</a:t>
            </a:r>
            <a:endParaRPr lang="en-US" sz="7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5128" y="2132409"/>
            <a:ext cx="178594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922738" y="2069902"/>
            <a:ext cx="87524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خروج النتيجة الأولى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57265" y="2394942"/>
            <a:ext cx="2276456" cy="26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ينتج رقم نهائي يمثل التوقع الأول للآلة (وهو خاطئ بنسبة كبيرة جداً لعدم وجود أي تدريب مسبق).</a:t>
            </a:r>
            <a:endParaRPr lang="en-US" sz="7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5313" y="4071045"/>
            <a:ext cx="128588" cy="128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572250" y="4014788"/>
            <a:ext cx="158591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المتوقعة: خطأ فادح!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3105286" y="4284464"/>
            <a:ext cx="5238614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الآلة تبدأ عمياء تماماً دون أي توجيه؛ والتخمين الأول هو مجرد رمية نرد عشوائية في الظلام الدامس، ومن المستحيل أن تصيب الهدف دون المرور بدائرة التعلم!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7657883" y="4814888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2959" y="500063"/>
            <a:ext cx="196810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تبدو النتيجة الخاطئة؟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0198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التخمين العشوائي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توقعات الآلة العشوائية مقابل الإجابات الصحيحة الحقيقية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25168" y="1518047"/>
            <a:ext cx="1568751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6925168" y="1574275"/>
            <a:ext cx="1568751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المدخلة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87639" y="1518047"/>
            <a:ext cx="313752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787639" y="1574275"/>
            <a:ext cx="313752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✅ الإجابة الصحيحة الحقيقية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0081" y="1518047"/>
            <a:ext cx="3137557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50081" y="1574275"/>
            <a:ext cx="3137557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🎲 توقع الآلة العشوائي الأول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3580" y="1885057"/>
            <a:ext cx="35747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87639" y="1887090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قطة 🐱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081" y="1887090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كلب 🐶 ← خاطئ ❌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0081" y="21359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8043580" y="2186880"/>
            <a:ext cx="35747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7639" y="2187127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كلب 🐶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0081" y="2187127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كلب 🐶 ← صحيح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43580" y="2486918"/>
            <a:ext cx="35747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87639" y="2487165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قطة 🐱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0081" y="2487165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قطة 🐱 ← صحيح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0081" y="27360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8043580" y="2785170"/>
            <a:ext cx="35747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87639" y="2787202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كلب 🐶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0081" y="2787202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قطة 🐱 ← خاطئ ❌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218384"/>
            <a:ext cx="142875" cy="1428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2938" y="4021931"/>
            <a:ext cx="76438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نجحت الآلة في تخمين صورتين من أصل 4 (نسبة خطأ 50%). الآلة الآن بحاجة لمعرفة "بكم هي بعيدة" عن الصواب لتتحسن!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1464" y="500063"/>
            <a:ext cx="63959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0198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التخمين العشوائي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 — لماذا لا يكفي قول "صحيح" أو "خاطئ" للآلة؟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22044" y="1682353"/>
            <a:ext cx="3579019" cy="2789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922044" y="1682353"/>
            <a:ext cx="357901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27896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922044" y="4457700"/>
            <a:ext cx="357901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922044" y="1682353"/>
            <a:ext cx="14288" cy="27896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3" y="1865412"/>
            <a:ext cx="157163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70000" y="1796653"/>
            <a:ext cx="57387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وناقش: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50631" y="2177058"/>
            <a:ext cx="3321844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لا يمكننا ببساطة إخبار الآلة: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"لقد أخطأتِ في التخمين، حاولي مجدداً"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؟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09035" y="2674218"/>
            <a:ext cx="2263440" cy="163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الذي تحتاجه الآلة فعلياً لكي تتحسن وتتعلم من خطئها؟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4307681"/>
            <a:ext cx="85725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31186" y="4257675"/>
            <a:ext cx="159841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ناقش مع زملائك لمدة 30 ثانية...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42938" y="1682353"/>
            <a:ext cx="3579019" cy="2789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642938" y="1682353"/>
            <a:ext cx="357901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4207669" y="1682353"/>
            <a:ext cx="14288" cy="278963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642938" y="4457700"/>
            <a:ext cx="357901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642938" y="1682353"/>
            <a:ext cx="14288" cy="278963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206" y="1865412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991132" y="1796653"/>
            <a:ext cx="87363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الصحيحة: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71525" y="2177058"/>
            <a:ext cx="3321844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الآلة تحتاج لمعرفة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"المسافة والاتجاه"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(رقم دقيق) وليس مجرد نعم أو لا: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71525" y="2657084"/>
            <a:ext cx="332184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-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المسافة (كم هي بعيدة؟):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بدون معرفة حجم الخطأ بدقة، لن تعرف الآلة كم يجب أن تعدل أوزانها (هل تعدلها كثيراً أم قليلاً؟).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771525" y="3137111"/>
            <a:ext cx="332184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-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الاتجاه (أي طريق تسلك؟):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تحتاج الآلة لمعرفة ما إذا كان يجب زيادة الأوزان أم إنقاصها للوصول للحل الصحيح.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71525" y="3617137"/>
            <a:ext cx="3321844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مجرد قول "حاولي مجدداً" يترك الآلة تدور في حلقة مفرغة عشوائية دون أي تحسن حقيقي!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532509" y="1928813"/>
            <a:ext cx="1482778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قياس الخطأ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728857" y="2551742"/>
            <a:ext cx="428643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تقوم الآلة بحساب وقياس الفجوة الرقمية بين توقعاتها والحل الصحيح بدقة؟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15008" y="394335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2972" y="500063"/>
            <a:ext cx="18680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الفجوة تسمى "الخسارة"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319808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قياس الخطأ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64419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الفجوة تسمى الخسارة (Loss): قياس مدى الخطأ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2938" y="1568053"/>
            <a:ext cx="7858125" cy="78581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642938" y="1568053"/>
            <a:ext cx="785812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568053"/>
            <a:ext cx="14288" cy="78581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642938" y="2339578"/>
            <a:ext cx="785812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42938" y="1568053"/>
            <a:ext cx="14288" cy="78581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4528894" y="1918097"/>
            <a:ext cx="3800719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الخسارة (Loss) = توقع الآلة − الإجابة الصحيحة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2594074"/>
            <a:ext cx="196453" cy="1571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01828" y="2525316"/>
            <a:ext cx="931344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توقع الآلة (Guess)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93469" y="3005733"/>
            <a:ext cx="3464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التخمين الحالي 🎲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07197" y="3275409"/>
            <a:ext cx="2450991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هو الرقم أو التوقع الذي خمنته الآلة بناءً على قيم أوزانها العشوائية الحالية.</a:t>
            </a:r>
            <a:endParaRPr lang="en-US" sz="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244" y="2594074"/>
            <a:ext cx="157163" cy="1571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1669" y="2525316"/>
            <a:ext cx="224313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الصحيحة (Correct Answer)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85813" y="3005733"/>
            <a:ext cx="3464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الحقيقة والهدف الفعلي 🎯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658477" y="3275409"/>
            <a:ext cx="2592055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 القيمة الصحيحة الحقيقية التي نريد من الآلة الوصول إليها ومطابقتها بدقة.</a:t>
            </a:r>
            <a:endParaRPr lang="en-US" sz="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459" y="4071045"/>
            <a:ext cx="96441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47129" y="4014788"/>
            <a:ext cx="84318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المهمة الوحيدة للآلة: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001366" y="4298752"/>
            <a:ext cx="4342534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المهمة الأساسية والوحيدة للآلة في هذه المرحلة هي جعل قيمة الخسارة (Loss) أصغر ما يمكن، أي تقليص الفجوة لتصل إلى الصفر!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7657883" y="4814888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3669" y="500063"/>
            <a:ext cx="20073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مثال عملي لحساب الخسارة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319808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قياس الخطأ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مثال عملي: كيف نحسب قيمة الخسارة (Loss)؟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149962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تخيل أننا ندرب الآلة على التعرف على صورة قطة، وقمنا بصياغة المسألة رياضياً: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القطة = 0.2، والكلب = 0.8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730001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توقع الآلة (Guess):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بسبب الأوزان العشوائية في البداية، توقعت الآلة أن الصورة هي كلب وأعطت قيمة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0.8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18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الحل الحقيقي (Truth):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الصورة الحقيقية هي قطة، والقيمة الصحيحة المطلوبة هي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0.2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06893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00" y="2168564"/>
            <a:ext cx="257175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43095" y="2632037"/>
            <a:ext cx="828752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"الخسارة = 0.6"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2871837"/>
            <a:ext cx="2085975" cy="933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عملية الحساب البسيطة:
0.8 (التوقع) − 0.2 (الحل) = 0.6
هذه فجوة كبيرة جداً! الآلة الآن تعرف بدقة كم هي بعيدة عن الصواب، وستبدأ بتعديل أوزانها لتقليل هذه الفجوة في الجولة القادمة.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4030" y="500063"/>
            <a:ext cx="197703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تهمنا قيمة الخسارة؟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319808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قياس الخطأ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تهمنا قيمة الخسارة؟ الرقم يعطي اتجاهاً واضحاً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4572000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❌ مجرد معرفة "أنك مخطئ" (Just Wrong)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0081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650081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✅ القياس الدقيق للخسارة (Loss Value)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61827" y="1885057"/>
            <a:ext cx="439223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تقول للآلة: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27515" y="1885057"/>
            <a:ext cx="185201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"تخمينك كان خاطئاً، حاول مجدداً."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047052" y="1885057"/>
            <a:ext cx="439223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تقول للآلة: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19833" y="1885057"/>
            <a:ext cx="237172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"تخمينك كان بعيداً بمقدار 0.6 عن الصواب."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0081" y="21359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7891295" y="2186880"/>
            <a:ext cx="50975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تعطي الآلة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74211" y="2186880"/>
            <a:ext cx="705321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أي اتجاه أو مسافة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61432" y="2186880"/>
            <a:ext cx="575478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لتتحرك نحوها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069494" y="2186880"/>
            <a:ext cx="41678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تعطي الآلة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179744" y="2194575"/>
            <a:ext cx="52257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إشارة واضحة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821656" y="2186880"/>
            <a:ext cx="1318022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للتحرك نحو الأرقام الأصغر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32836" y="2486918"/>
            <a:ext cx="96821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تظل الآلة تخمن عشوائياً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45323" y="2486918"/>
            <a:ext cx="170199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دون قدرة حقيقية على التحسن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973314" y="2486918"/>
            <a:ext cx="51296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تستطيع الآلة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262783" y="2486918"/>
            <a:ext cx="15430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الأوزان بدقة متناهية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159070" y="2483070"/>
            <a:ext cx="54662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لتقليل الفجوة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0081" y="27360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4"/>
          <p:cNvSpPr/>
          <p:nvPr/>
        </p:nvSpPr>
        <p:spPr>
          <a:xfrm>
            <a:off x="7540238" y="2785170"/>
            <a:ext cx="860812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تشبه قولك لصديقك: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702809" y="2785170"/>
            <a:ext cx="596317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"حاول مجدداً"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22711" y="2771901"/>
            <a:ext cx="431208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دون توجيه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625463" y="2785170"/>
            <a:ext cx="860812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تشبه قولك لصديقك: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696641" y="2785170"/>
            <a:ext cx="168771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"تحرك 3 خطوات باتجاه اليمين"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352330"/>
            <a:ext cx="142875" cy="14287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17959" y="4289822"/>
            <a:ext cx="746879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معرفة "أنك مخطئ" لا تفيدك برمجياً، بينما معرفة "كم أنت بعيد" تمنحك الاتجاه والمسافة الدقيقة لتصل للهدف!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2263" y="500063"/>
            <a:ext cx="18288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منحنى الخسارة التدريجي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398389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الالقسم الثاني: قياس الخطأ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منحنى الخسارة: كيف تنخفض الأخطاء مع التدريب؟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040657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مع تكرار دورة التعلم وتعديل الأوزان تلقائياً، يحدث شيء مذهل لقيمة الخسارة: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تبدأ الأخطاء بالانخفاض التدريجي!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620696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منحنى الخسارة (Loss Curve):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هو رسم بياني يوضح كيف تنخفض قيمة الخسارة مع زيادة جولات التدريب (من جولة واحدة إلى ملايين الجولات).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200735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مرحلة الاستقرار (Plateau):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يبدأ المنحنى مرتفعاً جداً (تخمينات خاطئة)، ثم ينحدر بسرعة، حتى يستقر في النهاية عند قيمة منخفضة جداً قريبة من الصفر. هنا نقول إن النموذج قد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تم تدريبه بنجاح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!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37" y="1877020"/>
            <a:ext cx="2857500" cy="2143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8286" y="500063"/>
            <a:ext cx="221277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لو ظلت الخسارة مرتفعة؟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319808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قياس الخطأ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لو ظلت قيمة الخسارة (Loss) مرتفعة بعد التدريب؟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45" y="1751112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16773" y="1682353"/>
            <a:ext cx="267533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السبب الأول: البيانات سيئة أو غير كافية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187966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مدخلات خاطئة تعني مخرجات خاطئة 🗑️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463617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كانت صور التدريب منخفضة الجودة، أو تحتوي على أخطاء وتناقضات، فلن تتمكن الآلة من التعلم.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920008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القاعدة الذهبية في هندسة البيانات: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"Garbage In, Garbage Out"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 إذا قمت بتغذية الآلة ببيانات مشوشة أو خاطئة، فستظل قيمة الخسارة مرتفعة ولن تصيب الهدف أبداً.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366242" y="1682353"/>
            <a:ext cx="278427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السبب الثاني: النموذج بسيط جداً وضعيف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00100" y="2196279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عجز عن فهم الأنماط المعقدة 📉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00100" y="2488556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النموذج لا يملك القدرة الكافية أو المعادلات الرياضية المناسبة لتمثيل وفهم تفاصيل الصورة المعقدة.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2938" y="2920008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إذا حاولت استخدام خط مستقيم بسيط لفصل مجموعات متداخلة بشكل حلزوني معقد، فستفشل الآلة دائماً. النموذج البسيط جداً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يعجز عن استيعاب عمق المشكلة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187" y="3893344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938" y="3893344"/>
            <a:ext cx="76438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بقاء الخسارة مرتفعة يعني أن الآلة لم تتعلم شيئاً! لحل المشكلة، يجب إما تحسين جودة البيانات أو زيادة تعقيد وعمق النموذج.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1464" y="500063"/>
            <a:ext cx="63959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319808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قياس الخطأ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 — احسب قيمة الخسارة (Loss) بنفسك!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22044" y="1682353"/>
            <a:ext cx="3579019" cy="2789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922044" y="1682353"/>
            <a:ext cx="357901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27896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922044" y="4457700"/>
            <a:ext cx="357901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922044" y="1682353"/>
            <a:ext cx="14288" cy="27896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603" y="1865412"/>
            <a:ext cx="117872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7538" y="1796653"/>
            <a:ext cx="6556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واحسب: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98428" y="2177058"/>
            <a:ext cx="2374047" cy="172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أثناء تدريب نموذج ذكاء اصطناعي، قام النموذج بالتوقع التالي: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50631" y="2468500"/>
            <a:ext cx="3321844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-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توقع الآلة (Guess):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القيمة = 0.9
-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الصحيحة المطلوبة (Truth):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القيمة = 0.3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50631" y="2994236"/>
            <a:ext cx="3321844" cy="163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قيمة الخسارة (Loss) في هذه الحالة؟ وهل هذه النتيجة جيدة أم سيئة؟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4307681"/>
            <a:ext cx="85725" cy="114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6911" y="4257675"/>
            <a:ext cx="1512689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احسب مع زملائك في 30 ثانية...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42938" y="1682353"/>
            <a:ext cx="3579019" cy="2789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642938" y="1682353"/>
            <a:ext cx="357901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4207669" y="1682353"/>
            <a:ext cx="14288" cy="278963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642938" y="4457700"/>
            <a:ext cx="357901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642938" y="1682353"/>
            <a:ext cx="14288" cy="278963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206" y="1865412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91132" y="1796653"/>
            <a:ext cx="87363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الصحيحة: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556090" y="2177058"/>
            <a:ext cx="1537279" cy="154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نقوم بالتعويض في معادلة الخسارة البسيطة: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771525" y="2474221"/>
            <a:ext cx="3321844" cy="357188"/>
          </a:xfrm>
          <a:prstGeom prst="rect">
            <a:avLst/>
          </a:prstGeom>
          <a:solidFill>
            <a:srgbClr val="F1F5F9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1"/>
          <p:cNvSpPr/>
          <p:nvPr/>
        </p:nvSpPr>
        <p:spPr>
          <a:xfrm>
            <a:off x="771525" y="2474221"/>
            <a:ext cx="3321844" cy="3190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الخسارة (Loss) = 0.9 − 0.3 = 0.6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71525" y="2959996"/>
            <a:ext cx="332184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تقييم النتيجة: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هذه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نتيجة سيئة جداً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! لأن قيمة الخسارة (0.6) مرتفعة وبعيدة جداً عن الصفر (الهدف المثالي).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71525" y="3622886"/>
            <a:ext cx="3321844" cy="14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 الآلة تحتاج للعديد من جولات التدريب وتعديل الأوزان لتقترب من الصفر! 📉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3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03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139775" y="1928813"/>
            <a:ext cx="1875513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التعديل التلقائي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450209" y="2551742"/>
            <a:ext cx="356507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تقوم الآلة بتحديث وتعديل أوزانها تلقائياً دون أي تدخل بشري؟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15008" y="394335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4378" y="500063"/>
            <a:ext cx="204668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الخسارة والتعديل كالبوصلة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البوصلة الذكية: كيف تندمج الخسارة والتعديل معاً لتوجيه الآلة؟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149962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تخرج الآلة من عشوائية البداية وتتحرك بثقة نحو الحل الصحيح؟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السر يكمن في دمج الخسارة والتعديل معاً!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730001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الخسارة (Loss) تعطي المسافة: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تخبر الآلة بدقة بمدى بعدها عن الحل الصحيح (مثلاً: "أنتِ بعيدة بمقدار 0.6 عن الهدف").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قانون التعديل (Adjustment Rule) يعطي الاتجاه: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يخبر الآلة بالاتجاه الصحيح للحركة (مثلاً: "يجب إنقاص الأوزان للوصول للهدف").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7" y="2210763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55687" y="2717125"/>
            <a:ext cx="1211870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"البوصلة الرقمية للتعلم"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022855"/>
            <a:ext cx="2085975" cy="775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الخسارة تعطي المسافة 📏
والتعديل يعطي الاتجاه 🧭
معاً، يشكلان بوصلة ذكية تقود الآلة خطوة بخطوة نحو الهدف الصحيح دون تشتت أو عشوائية!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6861" y="500063"/>
            <a:ext cx="218420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يعمل التعديل التلقائي؟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خطوات التعديل التلقائي: كيف تقوم الآلة بتحديث أوزانها؟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96006" y="1682353"/>
            <a:ext cx="250505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5996006" y="1682353"/>
            <a:ext cx="250505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5996006" y="2953941"/>
            <a:ext cx="250505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5996006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110306" y="1825228"/>
            <a:ext cx="22764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01</a:t>
            </a: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606" y="2132409"/>
            <a:ext cx="107156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6371" y="2069902"/>
            <a:ext cx="68608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حساب الخسارة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10306" y="2394942"/>
            <a:ext cx="2276456" cy="26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بحساب الفجوة الرقمية الدقيقة بين توقعها الحالي والحل الصحيح المطلوب (مثلاً: الخسارة = 0.6).</a:t>
            </a:r>
            <a:endParaRPr lang="en-US" sz="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706" y="2268141"/>
            <a:ext cx="71438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319472" y="1682353"/>
            <a:ext cx="2505084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2"/>
          <p:cNvSpPr/>
          <p:nvPr/>
        </p:nvSpPr>
        <p:spPr>
          <a:xfrm>
            <a:off x="3319472" y="1682353"/>
            <a:ext cx="2505084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5810269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3319472" y="2953941"/>
            <a:ext cx="2505084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3319472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6"/>
          <p:cNvSpPr/>
          <p:nvPr/>
        </p:nvSpPr>
        <p:spPr>
          <a:xfrm>
            <a:off x="3433772" y="1825228"/>
            <a:ext cx="227648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02</a:t>
            </a:r>
            <a:endParaRPr lang="en-US" sz="7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381" y="2132409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02692" y="2069902"/>
            <a:ext cx="60753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تحديد الاتجاه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433772" y="2394942"/>
            <a:ext cx="2276484" cy="26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تحدد الآلة رياضياً ما إذا كان يجب زيادة قيم الأوزان أم إنقاصها لتقليص هذه الفجوة والاقتراب من الصفر.</a:t>
            </a:r>
            <a:endParaRPr lang="en-US" sz="7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5172" y="2268141"/>
            <a:ext cx="71438" cy="1143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42965" y="1682353"/>
            <a:ext cx="250505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Shape 20"/>
          <p:cNvSpPr/>
          <p:nvPr/>
        </p:nvSpPr>
        <p:spPr>
          <a:xfrm>
            <a:off x="642965" y="1682353"/>
            <a:ext cx="2505056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Shape 21"/>
          <p:cNvSpPr/>
          <p:nvPr/>
        </p:nvSpPr>
        <p:spPr>
          <a:xfrm>
            <a:off x="3133734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Shape 22"/>
          <p:cNvSpPr/>
          <p:nvPr/>
        </p:nvSpPr>
        <p:spPr>
          <a:xfrm>
            <a:off x="642965" y="2953941"/>
            <a:ext cx="250505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Shape 23"/>
          <p:cNvSpPr/>
          <p:nvPr/>
        </p:nvSpPr>
        <p:spPr>
          <a:xfrm>
            <a:off x="642965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4"/>
          <p:cNvSpPr/>
          <p:nvPr/>
        </p:nvSpPr>
        <p:spPr>
          <a:xfrm>
            <a:off x="757265" y="1825228"/>
            <a:ext cx="22764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03</a:t>
            </a:r>
            <a:endParaRPr lang="en-US" sz="7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0847" y="2132409"/>
            <a:ext cx="142875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146008" y="2069902"/>
            <a:ext cx="68768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التعديل البسيط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57265" y="2394942"/>
            <a:ext cx="2276456" cy="26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بتعديل قيم الأوزان (W1, W2) بقيمة صغيرة جداً وتدريجية في الاتجاه الصحيح الذي يقلل الخطأ.</a:t>
            </a:r>
            <a:endParaRPr lang="en-US" sz="7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459" y="4071045"/>
            <a:ext cx="96441" cy="128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23085" y="4014788"/>
            <a:ext cx="86722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سر النجاح في التعديل: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3650307" y="4284464"/>
            <a:ext cx="4693593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التعديل يتم دائماً بقيم صغيرة جداً وتدريجية (وليس بقفزات كبيرة) لضمان عدم تخطي الهدف الصحيح، والاقتراب منه بثبات جولة تلو الأخرى!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7657883" y="4814888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4739" y="500063"/>
            <a:ext cx="201632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معدل التعلم وحجم الخطوة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معدل التعلم (Learning Rate): ما هو حجم خطوة التعديل المناسب؟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25168" y="1518047"/>
            <a:ext cx="1568751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6925168" y="1574275"/>
            <a:ext cx="1568751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معدل التعلم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87639" y="1518047"/>
            <a:ext cx="313752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787639" y="1574275"/>
            <a:ext cx="313752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الأثر والنتيجة على الأوزان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0081" y="1518047"/>
            <a:ext cx="3137557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50081" y="1574275"/>
            <a:ext cx="3137557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المشكلة والخلل الناتج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25168" y="2001390"/>
            <a:ext cx="156875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كبير جداً (Too Large)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787639" y="2001390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بقفزات وتعديلات ضخمة وسريعة جداً للأوزان.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74937" y="1878806"/>
            <a:ext cx="152697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تتخطى الهدف (Overshoot):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9783" y="2050255"/>
            <a:ext cx="275213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تقفز فوق الحل الصحيح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وتستمر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بالقفز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دون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استقرار.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0081" y="2364581"/>
            <a:ext cx="7843838" cy="53220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7" name="Text 14"/>
          <p:cNvSpPr/>
          <p:nvPr/>
        </p:nvSpPr>
        <p:spPr>
          <a:xfrm>
            <a:off x="6925168" y="2531812"/>
            <a:ext cx="156875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صغير جداً (Too Small)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787639" y="2531812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بتعديلات متناهية الصغر وبطيئة للغاية للأوزان.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716066" y="2411016"/>
            <a:ext cx="985847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بطء شديد (Too Slow):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92633" y="2612825"/>
            <a:ext cx="280035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يستغرق التدريب وقتاً طويلاً جداً (أيام أو أسابيع) للوصول للحل.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25168" y="3065808"/>
            <a:ext cx="156875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متوازن ومناسب (Just Right)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787639" y="3065808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بخطوات ثابتة ومدروسة تقترب بها تدريجياً من الهدف.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071353" y="2943225"/>
            <a:ext cx="163056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استقرار مثالي (Convergence):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83704" y="3120830"/>
            <a:ext cx="2818209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تصل الآلة للحل الصحيح بأقل عدد ممكن من الجولات وبكفاءة عالية.</a:t>
            </a:r>
            <a:endParaRPr lang="en-US" sz="9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218384"/>
            <a:ext cx="142875" cy="14287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42938" y="4021931"/>
            <a:ext cx="76438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اختيار معدل التعلم (Learning Rate) الصحيح هو أحد أهم المهارات الرياضية والهندسية في تدريب نماذج الذكاء الاصطناعي!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0452" y="500063"/>
            <a:ext cx="203061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مشكلة تخطي الهدف بصرياً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مشكلة تخطي الهدف (Overshooting): عندما تكون الخطوة أكبر من اللازم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040657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ماذا يحدث لو قمنا بزيادة حجم خطوة التعديل (Learning Rate) بشكل مفرط لتسريع عملية التعلم؟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هنا نقع في مشكلة تخطي الهدف!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620696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القفز فوق الهدف: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بدلاً من الهبوط التدريجي والآمن لقيمة الخسارة نحو الصفر، تجعل الخطوات الواسعة جداً الآلة تقفز فوق الحل الصحيح وتتخطاه تماماً إلى الجانب الآخر.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419317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التأرجح اللانهائي: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تظل الآلة تتأرجح وتتذبذب يميناً ويساراً فوق الهدف دون أن تستقر أبداً عند القيمة المثالية؛ مما يجعل عملية التدريب فاشلة وغير مستقرة.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7" y="235208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76069" y="2991445"/>
            <a:ext cx="1150956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"التأرجح دون استقرار!"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297175"/>
            <a:ext cx="2085975" cy="46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تخيل أنك تحاول إيقاف سيارتك في موقف محدد بدقة، ولكنك تضغط على دواسة الوقود بقوة مفرطة وخطوات واسعة؛ ستظل تتجاوز الموقف يميناً ويساراً دون الاستقرار فيه أبداً!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61584" y="500063"/>
            <a:ext cx="153947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دورة التدريب الكاملة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دورة التدريب الكاملة: كيف تتعلم الآلة تلقائياً؟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22256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6622256" y="1682353"/>
            <a:ext cx="187880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6622256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622256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707981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01</a:t>
            </a: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603" y="2126159"/>
            <a:ext cx="160734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99018" y="2069902"/>
            <a:ext cx="812722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1. التخمين (Guess)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707981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تبدأ الآلة بوضع قيم عشوائية تماماً للأوزان (Weights) لكل خاصية هندسية لتقوم بالتخمين الأول.</a:t>
            </a:r>
            <a:endParaRPr lang="en-US" sz="6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531" y="2275284"/>
            <a:ext cx="62508" cy="10001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29150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2"/>
          <p:cNvSpPr/>
          <p:nvPr/>
        </p:nvSpPr>
        <p:spPr>
          <a:xfrm>
            <a:off x="4629150" y="1682353"/>
            <a:ext cx="187880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6493669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4629150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4629150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6"/>
          <p:cNvSpPr/>
          <p:nvPr/>
        </p:nvSpPr>
        <p:spPr>
          <a:xfrm>
            <a:off x="4714875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02</a:t>
            </a:r>
            <a:endParaRPr lang="en-US" sz="7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644" y="2126159"/>
            <a:ext cx="128588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3482" y="2069902"/>
            <a:ext cx="90730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2. القياس (Measure)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714875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تقارن الآلة توقعاتها بالحل الصحيح الفعلي لحساب قيمة الخسارة (Loss) بدقة ومعرفة مدى قربها من الصواب.</a:t>
            </a:r>
            <a:endParaRPr lang="en-US" sz="6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2275284"/>
            <a:ext cx="62508" cy="100013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636044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Shape 20"/>
          <p:cNvSpPr/>
          <p:nvPr/>
        </p:nvSpPr>
        <p:spPr>
          <a:xfrm>
            <a:off x="2636044" y="1682353"/>
            <a:ext cx="1878806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Shape 21"/>
          <p:cNvSpPr/>
          <p:nvPr/>
        </p:nvSpPr>
        <p:spPr>
          <a:xfrm>
            <a:off x="4500563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Shape 22"/>
          <p:cNvSpPr/>
          <p:nvPr/>
        </p:nvSpPr>
        <p:spPr>
          <a:xfrm>
            <a:off x="2636044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Shape 23"/>
          <p:cNvSpPr/>
          <p:nvPr/>
        </p:nvSpPr>
        <p:spPr>
          <a:xfrm>
            <a:off x="2636044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4"/>
          <p:cNvSpPr/>
          <p:nvPr/>
        </p:nvSpPr>
        <p:spPr>
          <a:xfrm>
            <a:off x="2721769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03</a:t>
            </a:r>
            <a:endParaRPr lang="en-US" sz="7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538" y="2126159"/>
            <a:ext cx="128588" cy="128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40144" y="2069902"/>
            <a:ext cx="817531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3. التعديل (Adjust)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2721769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بتعديل قيم الأوزان قليلاً جداً في الاتجاه الذي يقلل نسبة الخسارة والخطأ في المرة القادمة.</a:t>
            </a:r>
            <a:endParaRPr lang="en-US" sz="6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319" y="2275284"/>
            <a:ext cx="62508" cy="10001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42938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7" name="Shape 28"/>
          <p:cNvSpPr/>
          <p:nvPr/>
        </p:nvSpPr>
        <p:spPr>
          <a:xfrm>
            <a:off x="642938" y="1682353"/>
            <a:ext cx="187880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8" name="Shape 29"/>
          <p:cNvSpPr/>
          <p:nvPr/>
        </p:nvSpPr>
        <p:spPr>
          <a:xfrm>
            <a:off x="2507456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Shape 30"/>
          <p:cNvSpPr/>
          <p:nvPr/>
        </p:nvSpPr>
        <p:spPr>
          <a:xfrm>
            <a:off x="642938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0" name="Shape 31"/>
          <p:cNvSpPr/>
          <p:nvPr/>
        </p:nvSpPr>
        <p:spPr>
          <a:xfrm>
            <a:off x="642938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1" name="Text 32"/>
          <p:cNvSpPr/>
          <p:nvPr/>
        </p:nvSpPr>
        <p:spPr>
          <a:xfrm>
            <a:off x="728663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04</a:t>
            </a:r>
            <a:endParaRPr lang="en-US" sz="7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7431" y="2126159"/>
            <a:ext cx="128588" cy="128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459862" y="2069902"/>
            <a:ext cx="804707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4. التكرار (Repeat)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728663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تعيد الآلة هذه الدورة ملايين المرات تلقائياً وبسرعة فائقة حتى تصل لأقل نسبة خسارة ممكنة وتقترب من الصفر.</a:t>
            </a:r>
            <a:endParaRPr lang="en-US" sz="650" dirty="0"/>
          </a:p>
        </p:txBody>
      </p:sp>
      <p:sp>
        <p:nvSpPr>
          <p:cNvPr id="45" name="Text 35"/>
          <p:cNvSpPr/>
          <p:nvPr/>
        </p:nvSpPr>
        <p:spPr>
          <a:xfrm>
            <a:off x="6940153" y="4014788"/>
            <a:ext cx="134659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دورة حياة التعلم الذاتي: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3183834" y="4284464"/>
            <a:ext cx="5160066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هذه الخطوات الأربعة البسيطة تتكرر ملايين المرات تلقائياً وبسرعة فائقة، وهي السر الكامن وراء قدرة كل أنظمة الذكاء الاصطناعي الحديثة على التعلم والتميز!</a:t>
            </a:r>
            <a:endParaRPr lang="en-US" sz="800" dirty="0"/>
          </a:p>
        </p:txBody>
      </p:sp>
      <p:sp>
        <p:nvSpPr>
          <p:cNvPr id="47" name="Text 37"/>
          <p:cNvSpPr/>
          <p:nvPr/>
        </p:nvSpPr>
        <p:spPr>
          <a:xfrm>
            <a:off x="7657883" y="4814888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1148" y="500063"/>
            <a:ext cx="21699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أنت بالأمس مقابل الآلة اليوم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مقارنة الجهد: أنت بالأمس مقابل الآلة اليوم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25168" y="1518047"/>
            <a:ext cx="1568751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6925168" y="1574275"/>
            <a:ext cx="1568751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وجه المقارنة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87639" y="1518047"/>
            <a:ext cx="313752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787639" y="1574275"/>
            <a:ext cx="313752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🧑 أنت بالأمس (الضبط اليدوي)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0081" y="1518047"/>
            <a:ext cx="3137557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50081" y="1574275"/>
            <a:ext cx="3137557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🤖 الآلة اليوم (الضبط التلقائي)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25197" y="1885057"/>
            <a:ext cx="775853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تحديد الأوزان الأولى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87639" y="1887090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قمت بتخمين الأوزان الأولى بناءً على حدسك البشري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081" y="1887090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تضع أرقاماً عشوائية تماماً كنقطة انطلاق صامتة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0081" y="21359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7638021" y="2186880"/>
            <a:ext cx="76302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حساب نسبة الخطأ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7639" y="2187127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نظرت إلى النتيجة وقدرت الفجوة بعينيك وعقلك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0081" y="2187127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تحسب قيمة الخسارة (Loss) بمعادلة رياضية دقيقة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14965" y="2486918"/>
            <a:ext cx="68608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قيم الأوزان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87639" y="2487165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قمت بتحريك المؤشرات يدوياً بناءً على تجربتك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0081" y="2487165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تعدل الأوزان تلقائياً بقيم صغيرة في الاتجاه الصحيح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0081" y="27360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7599550" y="2786955"/>
            <a:ext cx="801501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القدرة على الاستمرار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87639" y="2787202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شعرت بالتعب والملل بعد 10 جولات من المحاولة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0081" y="2787202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تتعب ولا تمل أبداً؛ وتستمر في المحاولة بلا كلل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803130" y="3085207"/>
            <a:ext cx="59792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السرعة والتكرار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87639" y="3087240"/>
            <a:ext cx="313752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استغرقت 10 دقائق لتجربة بضع جولات بسيطة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0081" y="3087240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تكرر الدورة ملايين المرات في أجزاء من الثانية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55502" y="4289822"/>
            <a:ext cx="727412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الآلة تفعل نفس ما فعلته أنت بالأمس تماماً، ولكن بسرعة فائقة ودون تعب أو توقف لتقترب من الحل المثالي!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47247" y="500063"/>
            <a:ext cx="195381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قوة التوسع الهائل للأوزان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قوة التوسع الهائل: الفارق الحقيقي بين الإنسان والآلة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45" y="1665387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8597" y="1596628"/>
            <a:ext cx="237351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الجهد البشري اليدوي (أنت بالأمس)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105620"/>
            <a:ext cx="32646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وزنان فقط (W1, W2) ⚖️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79206" y="2469952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استغرق منك ضبط وزنين فقط يدوياً حوالي 10 دقائق من التركيز والتجربة المستمرة.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748558"/>
            <a:ext cx="3579019" cy="30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العقل البشري يملك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الحكمة والفهم العميق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، ولكنه بطيء جداً في إجراء الحسابات الرياضية المتكررة والمملة؛ ويتعب بسرعة بعد جولات قليلة.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665387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94817" y="1596628"/>
            <a:ext cx="25985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القدرة الحسابية للآلة (التعلم التلقائي)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105620"/>
            <a:ext cx="32646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1.8 تريليون وزن! 📊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00100" y="2469952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قام نموذج GPT-4 بضبط وتعديل 1.8 تريليون وزن تلقائياً خلال أيام معدودة وبدقة متناهية.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748558"/>
            <a:ext cx="3579019" cy="30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الآلة لا تملك وعياً أو فهماً حقيقياً، ولكنها تملك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سرعة حسابية خارقة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تمكنها من تكرار نفس العملية الرياضية البسيطة تريليونات المرات دون تعب أو توقف!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906" y="4161234"/>
            <a:ext cx="107156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938" y="3964781"/>
            <a:ext cx="767953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الفارق الحقيقي ليس في الذكاء أو الوعي؛ بل في القدرة الهائلة للآلة على تكرار نفس الخطوات الأربعة البسيطة تريليونات المرات تلقائياً وبسرعة فائقة!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8286" y="500063"/>
            <a:ext cx="221277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يحدث بعد انتهاء التدريب؟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يحدث للأوزان بعد انتهاء التدريب بنجاح؟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🧊 1. تجميد الأوزان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عندما تقترب قيمة الخسارة من الصفر، تتوقف عملية التعديل التلقائي ويتم قفل وتجميد قيم الأوزان نهائياً لمنع أي تغيير إضافي عليها.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📦 2. تعبئة وحفظ النموذج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يتم حفظ وتعبئة قيم الأوزان المجمدة والنهائية داخل ملف رقمي بسيط يمثل "عقل" نموذج الذكاء الاصطناعي الجاهز للعمل.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🚀 3. التشغيل في الواقع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42938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يتم تشغيل النموذج في الواقع ليعطي توقعات فورية ودقيقة على بيانات وصور جديدة تماماً لم يرها من قبل أثناء عملية التدريب.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1464" y="500063"/>
            <a:ext cx="63959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53769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التعديل التلقائي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 — تشخيص مشكلة ثبات الخسارة!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22044" y="1682353"/>
            <a:ext cx="3579019" cy="2789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922044" y="1682353"/>
            <a:ext cx="357901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27896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922044" y="4457700"/>
            <a:ext cx="357901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922044" y="1682353"/>
            <a:ext cx="14288" cy="27896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3" y="1865412"/>
            <a:ext cx="157163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9850" y="1796653"/>
            <a:ext cx="65402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وشخّص: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50631" y="2177058"/>
            <a:ext cx="3321844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الآلة تتدرب منذ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1,000 جولة كاملة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، ولكن قيمة الخسارة (Loss) ثابتة عند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0.85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ولا تنخفض أبداً.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50631" y="2674218"/>
            <a:ext cx="3321844" cy="163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هما السببان الأكثر احتمالاً لحدوث هذه المشكلة في التدريب؟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4307681"/>
            <a:ext cx="85725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7627" y="4257675"/>
            <a:ext cx="150197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ناقش مع زملائك في 30 ثانية...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42938" y="1682353"/>
            <a:ext cx="3579019" cy="2789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642938" y="1682353"/>
            <a:ext cx="357901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4207669" y="1682353"/>
            <a:ext cx="14288" cy="278963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642938" y="4457700"/>
            <a:ext cx="357901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642938" y="1682353"/>
            <a:ext cx="14288" cy="278963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206" y="1865412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52030" y="1796653"/>
            <a:ext cx="19127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التشخيص الهندسي الصحيح: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71525" y="2177058"/>
            <a:ext cx="3321844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1. جودة البيانات منخفضة جداً (Bad Data):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صور التدريب قد تكون مشوشة، أو غير كافية، أو تحتوي على تناقضات تمنع الآلة من استخراج أي نمط مفيد (Garbage In, Garbage Out).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71525" y="2839948"/>
            <a:ext cx="3321844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2. النموذج بسيط وضعيف جداً (Weak Model):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النموذج لا يملك القدرة الكافية أو المعادلات الرياضية المناسبة لفهم الأنماط المعقدة في الصورة، ويحتاج لزيادة عمقه وتراكم طبقاته.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04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006451" y="1928813"/>
            <a:ext cx="3008836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الدماغ البشري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953278" y="2551742"/>
            <a:ext cx="406200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يقودنا التعديل التلقائي للأوزان إلى محاكاة الخلايا العصبية ودماغ الإنسان؟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15008" y="394335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4677" y="500063"/>
            <a:ext cx="251638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حدود </a:t>
            </a:r>
            <a:r>
              <a:rPr lang="en-US" sz="12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المعادلة</a:t>
            </a: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الخطية</a:t>
            </a: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البسيطة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7702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الجسر إلى الدماغ البشري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حدود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المعادلة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الخطية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: لماذا تعجز الصيغ البسيطة عن فهم العمق؟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31380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دائرة التعلم والأوزان التي درسناها اليوم رائعة جداً، ولكنها تواجه عقبة كبرى: </a:t>
            </a:r>
            <a:r>
              <a:rPr lang="en-US" sz="9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إنها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الخطية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وبسيطة للغاية!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11419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المعادلة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الخطية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(Flat Equation):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ممتازة لحل المشكلات البسيطة التي تحتوي على خاصيتين أو عشر خصائص واضحة ومباشرة (مثل زاوية الأذن وعرض الجسم).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عجز أمام الأنماط المعقدة: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ولكن ماذا لو أردنا تمييز ملامح وجه بشري؟ الوجه يحتوي على ملايين الخصائص المتداخلة والمتغيرة باستمرار. </a:t>
            </a:r>
            <a:r>
              <a:rPr lang="en-US" sz="9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الصيغة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الخطية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البسيطة تعجز تماماً عن استيعاب هذا العمق والتعقيد البصري.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7" y="235208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91595" y="2767002"/>
            <a:ext cx="1181414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الصيغة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الخطية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تنهار!"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105983"/>
            <a:ext cx="2085975" cy="618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المعادلة المسطحة تسأل سؤالاً واحداً بسيطاً ومباشراً، بينما يحتاج فهم ملامح الوجه البشري المعقدة إلى سلسلة متراكمة وعميقة من الأسئلة المتداخلة التي لا يمكن صياغتها في سطر واحد!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93656" y="500063"/>
            <a:ext cx="210740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يعني العمق والطبقات؟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7702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الجسر إلى الدماغ البشري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يعني العمق والطبقات؟ الفارق بين التفكير المسطح والعميق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1751112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04334" y="1682353"/>
            <a:ext cx="216812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الهيكل المسطح (Flat Structure)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سؤال واحد بسيط ومباشر 📐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طبقة واحدة من الأوزان تسأل سؤالاً واحداً فقط (مثل: هل توجد بكسلات داكنة هنا؟).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920008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الهيكل البسيط يعجز تماماً عن فهم التفاصيل المعقدة؛ لأنه يحاول حل المشكلة دفعة واحدة دون تفكيكها إلى أجزاء صغيرة، مما يجعله غير فعال للصور الحقيقية.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148" y="1751112"/>
            <a:ext cx="176808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71650" y="1682353"/>
            <a:ext cx="220206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الهيكل العميق (Deep Structure)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أسئلة متدرجة ومتراكمة 🧠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8413" y="2496869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طبقات متعددة متراكمة تسأل أسئلة متدرجة (الطبقة 1: هل توجد حواف؟ ← الطبقة 2: هل تشكل أشكالاً؟).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920008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هو جوهر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التعلم العميق (Deep Learning)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؛ حيث تقوم كل طبقة بحل جزء بسيط من المشكلة وتمرير النتيجة للطبقة التالية، مما يسمح بفهم الأنماط بالغة التعقيد.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188" y="4089797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938" y="3893344"/>
            <a:ext cx="76438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الهيكل المسطح يسأل سؤالاً واحداً بسيطاً، بينما الهيكل العميق يفكك المشكلة إلى طبقات متراكمة من الأسئلة الذكية لحل أعقد الأنماط البصرية!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1802" y="500063"/>
            <a:ext cx="265926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الهيكل مستوحى من الدماغ البشري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7702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الجسر إلى الدماغ البشري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الهيكل مستوحى من الدماغ البشري: من البيولوجيا إلى التكنولوجيا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31380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من أين استوحى علماء الحاسوب فكرة تراكم الطبقات العميقة لحل المشكلات المعقدة؟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تكمن داخل رؤوسنا!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11419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الدماغ البشري (Human Brain):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يحتوي على حوالي 86 مليار خلية عصبية (Neurons) متصلة ببعضها البعض في شبكة معقدة وعميقة للغاية تتواصل عبر إشارات كهربائية.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التعلم البيولوجي: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تزداد قوة الوصلات والروابط بين الخلايا العصبية مع كل تجربة وتعلم جديد؛ وهو ما يحاكيه تماماً نموذج الأوزان والتعلم التلقائي في الذكاء الاصطناعي.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0145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7" y="235208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63888" y="2775315"/>
            <a:ext cx="1016304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"دماغك هو الملهم!"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047793"/>
            <a:ext cx="2085975" cy="775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الدماغ البشري هو الملهم الحقيقي لثورة التعلم العميق والشبكات العصبية الاصطناعية!
غداً في اليوم الثالث، سنغوص في أعماق هذا الهيكل المذهل تحت عنوان "مبني على صورتنا"!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6923" y="500063"/>
            <a:ext cx="168413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 شيء تعلمته اليوم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59871" y="553641"/>
            <a:ext cx="633186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الثاني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الثاني: دائرة التعلم الكاملة في صورة واحدة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22256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6622256" y="1682353"/>
            <a:ext cx="187880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6622256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622256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707981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01</a:t>
            </a: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603" y="2076281"/>
            <a:ext cx="160734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4360" y="2069902"/>
            <a:ext cx="737381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1التخمين العشوائي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707981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تبدأ الآلة باختيار أوزان عشوائية تماماً دون علم مسبق، وتنتج توقعاً أولياً خاطئاً بنسبة كبيرة.</a:t>
            </a:r>
            <a:endParaRPr lang="en-US" sz="6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531" y="2275284"/>
            <a:ext cx="62508" cy="10001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29150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2"/>
          <p:cNvSpPr/>
          <p:nvPr/>
        </p:nvSpPr>
        <p:spPr>
          <a:xfrm>
            <a:off x="4629150" y="1682353"/>
            <a:ext cx="187880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6493669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4629150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4629150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6"/>
          <p:cNvSpPr/>
          <p:nvPr/>
        </p:nvSpPr>
        <p:spPr>
          <a:xfrm>
            <a:off x="4714875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02</a:t>
            </a:r>
            <a:endParaRPr lang="en-US" sz="7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644" y="2067968"/>
            <a:ext cx="128588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35228" y="2069902"/>
            <a:ext cx="615553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2قياس الخسارة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714875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تقارن الآلة توقعها بالحل الصحيح لحساب قيمة الخسارة (Loss) بدقة ومعرفة مدى بعدها عن الصواب.</a:t>
            </a:r>
            <a:endParaRPr lang="en-US" sz="6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2275284"/>
            <a:ext cx="62508" cy="100013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636044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Shape 20"/>
          <p:cNvSpPr/>
          <p:nvPr/>
        </p:nvSpPr>
        <p:spPr>
          <a:xfrm>
            <a:off x="2636044" y="1682353"/>
            <a:ext cx="1878806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Shape 21"/>
          <p:cNvSpPr/>
          <p:nvPr/>
        </p:nvSpPr>
        <p:spPr>
          <a:xfrm>
            <a:off x="4500563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Shape 22"/>
          <p:cNvSpPr/>
          <p:nvPr/>
        </p:nvSpPr>
        <p:spPr>
          <a:xfrm>
            <a:off x="2636044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Shape 23"/>
          <p:cNvSpPr/>
          <p:nvPr/>
        </p:nvSpPr>
        <p:spPr>
          <a:xfrm>
            <a:off x="2636044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4"/>
          <p:cNvSpPr/>
          <p:nvPr/>
        </p:nvSpPr>
        <p:spPr>
          <a:xfrm>
            <a:off x="2721769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03</a:t>
            </a:r>
            <a:endParaRPr lang="en-US" sz="7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538" y="2076281"/>
            <a:ext cx="128588" cy="128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05252" y="2069902"/>
            <a:ext cx="652423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3التعديل التلقائي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2721769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الآلة بتعديل قيم الأوزان تلقائياً بقيم صغيرة جداً في الاتجاه الصحيح الذي يقلل نسبة الخطأ.</a:t>
            </a:r>
            <a:endParaRPr lang="en-US" sz="6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319" y="2275284"/>
            <a:ext cx="62508" cy="10001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42938" y="1682353"/>
            <a:ext cx="1878806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7" name="Shape 28"/>
          <p:cNvSpPr/>
          <p:nvPr/>
        </p:nvSpPr>
        <p:spPr>
          <a:xfrm>
            <a:off x="642938" y="1682353"/>
            <a:ext cx="1878806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8" name="Shape 29"/>
          <p:cNvSpPr/>
          <p:nvPr/>
        </p:nvSpPr>
        <p:spPr>
          <a:xfrm>
            <a:off x="2507456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Shape 30"/>
          <p:cNvSpPr/>
          <p:nvPr/>
        </p:nvSpPr>
        <p:spPr>
          <a:xfrm>
            <a:off x="642938" y="2953941"/>
            <a:ext cx="1878806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0" name="Shape 31"/>
          <p:cNvSpPr/>
          <p:nvPr/>
        </p:nvSpPr>
        <p:spPr>
          <a:xfrm>
            <a:off x="642938" y="1682353"/>
            <a:ext cx="14288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1" name="Text 32"/>
          <p:cNvSpPr/>
          <p:nvPr/>
        </p:nvSpPr>
        <p:spPr>
          <a:xfrm>
            <a:off x="728663" y="1825228"/>
            <a:ext cx="1707356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المرحلة 04</a:t>
            </a:r>
            <a:endParaRPr lang="en-US" sz="7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7431" y="2076281"/>
            <a:ext cx="128588" cy="128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669854" y="2069902"/>
            <a:ext cx="59471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4تجميد الأوزان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728663" y="2368153"/>
            <a:ext cx="1707356" cy="23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عندما تقترب الخسارة من الصفر، تتوقف دورة التكرار ويتم تجميد الأوزان نهائياً لينتج لدينا نموذج ذكي جاهز.</a:t>
            </a:r>
            <a:endParaRPr lang="en-US" sz="650" dirty="0"/>
          </a:p>
        </p:txBody>
      </p:sp>
      <p:sp>
        <p:nvSpPr>
          <p:cNvPr id="45" name="Text 35"/>
          <p:cNvSpPr/>
          <p:nvPr/>
        </p:nvSpPr>
        <p:spPr>
          <a:xfrm>
            <a:off x="6875859" y="4014788"/>
            <a:ext cx="141089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دورة حياة التعلم الكاملة: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800100" y="4284464"/>
            <a:ext cx="7543800" cy="13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تبدأ الآلة عمياء بالتخمين العشوائي، وتقيس خطأها بالخسارة، وتعدل أوزانها تلقائياً وتكرر الدورة ملايين المرات، حتى تقترب الخسارة من الصفر وتتجمد الأوزان لينتج لدينا نموذج ذكي جاهز للعمل في الواقع!</a:t>
            </a:r>
            <a:endParaRPr lang="en-US" sz="800" dirty="0"/>
          </a:p>
        </p:txBody>
      </p:sp>
      <p:sp>
        <p:nvSpPr>
          <p:cNvPr id="47" name="Text 37"/>
          <p:cNvSpPr/>
          <p:nvPr/>
        </p:nvSpPr>
        <p:spPr>
          <a:xfrm>
            <a:off x="7657883" y="4814888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3721" y="1283057"/>
            <a:ext cx="1997342" cy="3619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الكبرى لليوم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690207" y="1865970"/>
            <a:ext cx="3810856" cy="21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بالأمس، قمت بضبط الأوزان يدوياً خطوة بخطوة لتوجيه خط القرار.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90207" y="2571750"/>
            <a:ext cx="3810856" cy="46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واليوم، تعلمت الآلة كيف تضبط وتعدل أوزانها تلقائياً وبسرعة فائقة عبر </a:t>
            </a: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دائرة التعلم الذاتي</a:t>
            </a: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90207" y="3277530"/>
            <a:ext cx="3810856" cy="480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غداً: سنتعلم كيف نبني الهيكل والشبكة العصبية العميقة التي تعيش فيها هذه الأوزان لتدرك العالم!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16394" y="1500188"/>
            <a:ext cx="2428875" cy="2143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1016394" y="1500188"/>
            <a:ext cx="242887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3430981" y="1500188"/>
            <a:ext cx="14288" cy="214312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16394" y="3629025"/>
            <a:ext cx="242887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1016394" y="1500188"/>
            <a:ext cx="14288" cy="214312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381" y="1903809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81734" y="2543175"/>
            <a:ext cx="806310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ينتظرنا غداً؟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87844" y="2923580"/>
            <a:ext cx="2085975" cy="30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اليوم الثالث والدرس القادم، سننتقل من دائرة التعلم التلقائي إلى محاكاة العقل البشري وبناء الشبكات العصبية.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87844" y="3277530"/>
            <a:ext cx="2085975" cy="22621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📌 "اليوم الثالث: مبني على صورتنا"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657883" y="4800600"/>
            <a:ext cx="84318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الثاني · دائرة التعلّم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3632</Words>
  <Application>Microsoft Macintosh PowerPoint</Application>
  <PresentationFormat>On-screen Show (16:9)</PresentationFormat>
  <Paragraphs>402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Cairo</vt:lpstr>
      <vt:lpstr>Cairo Bold</vt:lpstr>
      <vt:lpstr>Cairo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Balkhair, Mohammed Ahmed M</cp:lastModifiedBy>
  <cp:revision>8</cp:revision>
  <dcterms:created xsi:type="dcterms:W3CDTF">2026-06-17T21:37:36Z</dcterms:created>
  <dcterms:modified xsi:type="dcterms:W3CDTF">2026-06-22T02:59:34Z</dcterms:modified>
</cp:coreProperties>
</file>