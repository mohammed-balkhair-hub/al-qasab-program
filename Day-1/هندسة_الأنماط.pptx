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9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8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90" r:id="rId32"/>
    <p:sldId id="291" r:id="rId33"/>
    <p:sldId id="284" r:id="rId34"/>
    <p:sldId id="285" r:id="rId35"/>
    <p:sldId id="286" r:id="rId36"/>
    <p:sldId id="287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608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06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78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60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5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9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80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7044" y="1615046"/>
            <a:ext cx="596894" cy="176459"/>
          </a:xfrm>
          <a:prstGeom prst="rect">
            <a:avLst/>
          </a:prstGeom>
          <a:noFill/>
          <a:ln/>
        </p:spPr>
        <p:txBody>
          <a:bodyPr wrap="none" lIns="136017" tIns="34036" rIns="136017" bIns="34036" rtlCol="0" anchor="t">
            <a:spAutoFit/>
          </a:bodyPr>
          <a:lstStyle/>
          <a:p>
            <a:pPr marL="0" indent="0" algn="r" rtl="1">
              <a:buNone/>
            </a:pPr>
            <a:r>
              <a:rPr lang="en-US" sz="7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اليوم الأول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443015" y="1874007"/>
            <a:ext cx="2200923" cy="487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هندسة الأنماط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554952" y="2508349"/>
            <a:ext cx="3088986" cy="2446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50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رحلة داخل بكسلات الصور ورياضيات الفهم الذكي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90182" y="2931254"/>
            <a:ext cx="4153756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يرى الحاسوب الصور والأنماط؟ نستكشف اليوم لماذا تعجز البرمجة التقليدية عن تمييز الأشياء، وكيف نقوم باستخراج الخصائص الرياضية وضبط الأوزان يدوياً لتعليم الآلة.</a:t>
            </a:r>
            <a:endParaRPr lang="en-US" sz="950" dirty="0"/>
          </a:p>
        </p:txBody>
      </p:sp>
      <p:pic>
        <p:nvPicPr>
          <p:cNvPr id="16" name="Picture 15" descr="A cat head with a checkered pattern&#10;&#10;Description automatically generated with medium confidence">
            <a:extLst>
              <a:ext uri="{FF2B5EF4-FFF2-40B4-BE49-F238E27FC236}">
                <a16:creationId xmlns:a16="http://schemas.microsoft.com/office/drawing/2014/main" id="{0B79991C-F026-C47B-4925-C22840AAE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66" y="1007705"/>
            <a:ext cx="2717541" cy="2717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" y="-392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9248" y="500063"/>
            <a:ext cx="54181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قصة اليوم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68398" y="553641"/>
            <a:ext cx="488915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مقدمة العرض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357313" y="1708472"/>
            <a:ext cx="6429375" cy="1093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"في الشهر الماضي، تعلمنا أن الذكاء الاصطناعي يكتشف الأنماط.
واليوم، ننظر في ماهية النمط فعلياً — لماذا تعجز البرمجة التقليدية عن رؤيته، وكيف حاولنا حله يدوياً."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357313" y="3731493"/>
            <a:ext cx="642937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دعونا نبدأ رحلة الاستكشاف الهندسي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2154" y="500063"/>
            <a:ext cx="69890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أهداف التعلم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7888" y="553641"/>
            <a:ext cx="368691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اليوم الأول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بنهاية درس اليوم، ستتمكن من: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57725" y="1682353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657725" y="1682353"/>
            <a:ext cx="3843338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657725" y="2668191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657725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738" y="1916311"/>
            <a:ext cx="142875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34778" y="1853803"/>
            <a:ext cx="76623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فهم فشل القواعد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29175" y="2178844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شرح لماذا تنهار قواعد If-Else التقليدية بمجرد حدوث أي تغيير بسيط في تفاصيل الصورة.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42938" y="1682353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5" name="Shape 11"/>
          <p:cNvSpPr/>
          <p:nvPr/>
        </p:nvSpPr>
        <p:spPr>
          <a:xfrm>
            <a:off x="642938" y="1682353"/>
            <a:ext cx="3843338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Shape 12"/>
          <p:cNvSpPr/>
          <p:nvPr/>
        </p:nvSpPr>
        <p:spPr>
          <a:xfrm>
            <a:off x="4471988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7" name="Shape 13"/>
          <p:cNvSpPr/>
          <p:nvPr/>
        </p:nvSpPr>
        <p:spPr>
          <a:xfrm>
            <a:off x="642938" y="2668191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Shape 14"/>
          <p:cNvSpPr/>
          <p:nvPr/>
        </p:nvSpPr>
        <p:spPr>
          <a:xfrm>
            <a:off x="642938" y="1682353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950" y="1916311"/>
            <a:ext cx="142875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30221" y="1853803"/>
            <a:ext cx="85600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وصف "الخصائص"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14388" y="2178844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تحديد معنى "الخاصية" (Feature) الرياضية وإعطاء مثالين ملموسين من صورة حقيقية.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657725" y="2853928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Shape 18"/>
          <p:cNvSpPr/>
          <p:nvPr/>
        </p:nvSpPr>
        <p:spPr>
          <a:xfrm>
            <a:off x="4657725" y="2853928"/>
            <a:ext cx="3843338" cy="2857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4" name="Shape 19"/>
          <p:cNvSpPr/>
          <p:nvPr/>
        </p:nvSpPr>
        <p:spPr>
          <a:xfrm>
            <a:off x="8486775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5" name="Shape 20"/>
          <p:cNvSpPr/>
          <p:nvPr/>
        </p:nvSpPr>
        <p:spPr>
          <a:xfrm>
            <a:off x="4657725" y="3839766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6" name="Shape 21"/>
          <p:cNvSpPr/>
          <p:nvPr/>
        </p:nvSpPr>
        <p:spPr>
          <a:xfrm>
            <a:off x="4657725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019" y="3087886"/>
            <a:ext cx="178594" cy="1428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35928" y="3025378"/>
            <a:ext cx="72936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فهم دور "الوزن"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829175" y="3350419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توضيح كيف يغير "الوزن" (Weight) من توقعات وقرارات نموذج تعلم الآلة الكلاسيكي.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42938" y="2853928"/>
            <a:ext cx="3843338" cy="1000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1" name="Shape 25"/>
          <p:cNvSpPr/>
          <p:nvPr/>
        </p:nvSpPr>
        <p:spPr>
          <a:xfrm>
            <a:off x="642938" y="2853928"/>
            <a:ext cx="3843338" cy="2857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2" name="Shape 26"/>
          <p:cNvSpPr/>
          <p:nvPr/>
        </p:nvSpPr>
        <p:spPr>
          <a:xfrm>
            <a:off x="4471988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3" name="Shape 27"/>
          <p:cNvSpPr/>
          <p:nvPr/>
        </p:nvSpPr>
        <p:spPr>
          <a:xfrm>
            <a:off x="642938" y="3839766"/>
            <a:ext cx="3843338" cy="14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34" name="Shape 28"/>
          <p:cNvSpPr/>
          <p:nvPr/>
        </p:nvSpPr>
        <p:spPr>
          <a:xfrm>
            <a:off x="642938" y="2853928"/>
            <a:ext cx="14288" cy="10001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1950" y="3087886"/>
            <a:ext cx="142875" cy="14287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313578" y="3025378"/>
            <a:ext cx="77264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إدراك أزمة التوسع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814388" y="3350419"/>
            <a:ext cx="3500438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شرح سبب عجز البشر عن هندسة الخصائص يدوياً على نطاق واسع، والتمهيد للتعلم العميق.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859306" y="4800600"/>
            <a:ext cx="956993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المرحلة المتوسطة والثانوية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3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01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522618" y="1928813"/>
            <a:ext cx="2492670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انهيار قواعد If-Else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3778551" y="2551742"/>
            <a:ext cx="423673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لماذا تعجز البرمجة التقليدية وقواعدها الجامدة عن فهم وتفسير الصور والأنماط؟</a:t>
            </a:r>
            <a:endParaRPr lang="en-US" sz="1250" dirty="0"/>
          </a:p>
        </p:txBody>
      </p:sp>
      <p:sp>
        <p:nvSpPr>
          <p:cNvPr id="8" name="Text 31">
            <a:extLst>
              <a:ext uri="{FF2B5EF4-FFF2-40B4-BE49-F238E27FC236}">
                <a16:creationId xmlns:a16="http://schemas.microsoft.com/office/drawing/2014/main" id="{3473D183-DCE4-6048-1534-CBB755A7C6C9}"/>
              </a:ext>
            </a:extLst>
          </p:cNvPr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77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2154" y="500063"/>
            <a:ext cx="69890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التحدي الأول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766292"/>
            <a:ext cx="571500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57313" y="2850356"/>
            <a:ext cx="6429375" cy="719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"تخيل أنك تريد تعليم الحاسوب التعرف على صورة قطة..
كيف ستكتب قواعد برمجية واضحة ومحددة ليفعل ذلك؟"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7513613" y="5344864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2504" y="-73073"/>
            <a:ext cx="10058400" cy="5657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7234" y="500063"/>
            <a:ext cx="205382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تحدي كتابة القواعد اليدوية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نشاط تفاعلي: هل يمكننا كتابة قواعد برمجية لتمييز القطة؟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1924934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تخيل أنك مبرمج تقليدي وتريد تعليم الحاسوب كيف يتعرف على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القطة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في الصورة باستخدام الشروط البرمجية المعتادة.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504973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دعونا نحاول كتابة شروط واضحة ومحددة معاً. على سبيل المثال: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"إذا كان لديه أذنان مدببتان فهو قط"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085012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ولكن، كم عدد القواعد والشروط التي نحتاجها برأيك لنكون متأكدين تماماً بنسبة 100% في كل الحالات؟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071562" y="1924934"/>
            <a:ext cx="2714625" cy="2000250"/>
          </a:xfrm>
          <a:prstGeom prst="rect">
            <a:avLst/>
          </a:prstGeom>
          <a:solidFill>
            <a:srgbClr val="0F172A"/>
          </a:solidFill>
          <a:ln w="18288">
            <a:solidFill>
              <a:srgbClr val="0F172A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7" name="Text 13"/>
          <p:cNvSpPr/>
          <p:nvPr/>
        </p:nvSpPr>
        <p:spPr>
          <a:xfrm>
            <a:off x="2785531" y="3462849"/>
            <a:ext cx="670119" cy="312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عدا ذلك   </a:t>
            </a:r>
            <a:r>
              <a:rPr lang="ar-SA" sz="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pPr marL="0" indent="0" algn="r" rtl="1">
              <a:lnSpc>
                <a:spcPct val="128000"/>
              </a:lnSpc>
              <a:buNone/>
            </a:pP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389927" y="4000026"/>
            <a:ext cx="65723" cy="158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 err="1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</a:t>
            </a: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الأول</a:t>
            </a: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· </a:t>
            </a:r>
            <a:r>
              <a:rPr lang="en-US" sz="850" dirty="0" err="1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هندسة</a:t>
            </a: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en-US" sz="850" dirty="0" err="1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الأنماط</a:t>
            </a:r>
            <a:endParaRPr lang="en-US" sz="85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545075C-F7BA-C5FF-9BC8-6AA8A5625726}"/>
              </a:ext>
            </a:extLst>
          </p:cNvPr>
          <p:cNvSpPr/>
          <p:nvPr/>
        </p:nvSpPr>
        <p:spPr>
          <a:xfrm>
            <a:off x="2066016" y="2161653"/>
            <a:ext cx="1522854" cy="14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اذا </a:t>
            </a:r>
            <a:r>
              <a:rPr lang="ar-SA" sz="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الاذن == "منقطة" ) {</a:t>
            </a:r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08A0AB3-8CAC-9058-00B4-0ACC75CAF454}"/>
              </a:ext>
            </a:extLst>
          </p:cNvPr>
          <p:cNvSpPr/>
          <p:nvPr/>
        </p:nvSpPr>
        <p:spPr>
          <a:xfrm>
            <a:off x="2959451" y="2401853"/>
            <a:ext cx="538674" cy="3449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قط= </a:t>
            </a:r>
            <a:r>
              <a:rPr lang="ar-SA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صح</a:t>
            </a:r>
            <a:r>
              <a:rPr lang="en-US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pPr marL="0" indent="0" algn="r" rtl="1">
              <a:lnSpc>
                <a:spcPct val="128000"/>
              </a:lnSpc>
              <a:buNone/>
            </a:pPr>
            <a:r>
              <a:rPr lang="en-US" sz="850" b="1" dirty="0">
                <a:solidFill>
                  <a:schemeClr val="bg2"/>
                </a:solidFill>
                <a:latin typeface="Courier New" pitchFamily="34" charset="0"/>
                <a:cs typeface="Courier New" pitchFamily="34" charset="-120"/>
              </a:rPr>
              <a:t>{</a:t>
            </a:r>
            <a:endParaRPr lang="en-US" sz="900" b="1" dirty="0">
              <a:solidFill>
                <a:schemeClr val="bg2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5A76035-6919-CE2E-84B9-D8287E2F853A}"/>
              </a:ext>
            </a:extLst>
          </p:cNvPr>
          <p:cNvSpPr/>
          <p:nvPr/>
        </p:nvSpPr>
        <p:spPr>
          <a:xfrm>
            <a:off x="1974645" y="2737743"/>
            <a:ext cx="1705596" cy="14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و اذا </a:t>
            </a:r>
            <a:r>
              <a:rPr lang="ar-SA" sz="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ar-SA" sz="8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ar-SA" sz="8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لديه فروا &amp;&amp; ذيل ) {</a:t>
            </a:r>
            <a:endParaRPr lang="en-US" sz="800" dirty="0">
              <a:solidFill>
                <a:schemeClr val="bg2"/>
              </a:solidFill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A796E5B4-09A7-8BC7-8927-26EC23E1084B}"/>
              </a:ext>
            </a:extLst>
          </p:cNvPr>
          <p:cNvSpPr/>
          <p:nvPr/>
        </p:nvSpPr>
        <p:spPr>
          <a:xfrm>
            <a:off x="2862856" y="2999011"/>
            <a:ext cx="538674" cy="3449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قط= </a:t>
            </a:r>
            <a:r>
              <a:rPr lang="ar-SA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صح</a:t>
            </a:r>
            <a:r>
              <a:rPr lang="en-US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pPr marL="0" indent="0" algn="r" rtl="1">
              <a:lnSpc>
                <a:spcPct val="128000"/>
              </a:lnSpc>
              <a:buNone/>
            </a:pPr>
            <a:r>
              <a:rPr lang="en-US" sz="850" b="1" dirty="0">
                <a:solidFill>
                  <a:schemeClr val="bg2"/>
                </a:solidFill>
                <a:latin typeface="Courier New" pitchFamily="34" charset="0"/>
                <a:cs typeface="Courier New" pitchFamily="34" charset="-120"/>
              </a:rPr>
              <a:t>{</a:t>
            </a:r>
            <a:endParaRPr lang="en-US" sz="900" b="1" dirty="0">
              <a:solidFill>
                <a:schemeClr val="bg2"/>
              </a:solidFill>
              <a:latin typeface="Courier New" pitchFamily="34" charset="0"/>
              <a:cs typeface="Courier New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2648" y="500063"/>
            <a:ext cx="159841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انهيار القواعد اليدوية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نفس القطة.. ثلاث صور مختلفة.. وقواعدك اليدوية تفشل تماماً!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3" y="201453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١-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صورة مقلوبة أفقياً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بمجرد قلب الصورة، تغيرت مواقع بكسلات الأذنين والذيل تماماً في مصفوفة الأرقام التي يراها الحاسوب.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2749" y="3848782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71824" y="3847216"/>
            <a:ext cx="714939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فشل القاعدة اليدوية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٢-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صورة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في الظل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457575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عندما سقط ظل قوي على وجه القطة، تغيرت قيم ألوان البكسلات بالكامل وأصبحت داكنة ومختلفة رياضياً.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8780" y="3848783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57186" y="3847216"/>
            <a:ext cx="714939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فشل القاعدة اليدوية</a:t>
            </a:r>
            <a:endParaRPr lang="en-US" sz="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8888" y="2014538"/>
            <a:ext cx="342900" cy="3429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٣-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زاوية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تصوير مختلفة</a:t>
            </a:r>
            <a:endParaRPr lang="en-US" sz="1100" dirty="0"/>
          </a:p>
        </p:txBody>
      </p:sp>
      <p:sp>
        <p:nvSpPr>
          <p:cNvPr id="18" name="Text 10"/>
          <p:cNvSpPr/>
          <p:nvPr/>
        </p:nvSpPr>
        <p:spPr>
          <a:xfrm>
            <a:off x="642938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إذا كانت القطة مستلقية أو تنظر للخلف، تختفي الملامح المعتادة (مثل العينين والأنف) التي بنيت عليها شروطك.</a:t>
            </a:r>
            <a:endParaRPr lang="en-US" sz="8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3474" y="3839451"/>
            <a:ext cx="114300" cy="114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2042549" y="3847216"/>
            <a:ext cx="714939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فشل القاعدة اليدوية</a:t>
            </a:r>
            <a:endParaRPr lang="en-US" sz="800" dirty="0"/>
          </a:p>
        </p:txBody>
      </p:sp>
      <p:sp>
        <p:nvSpPr>
          <p:cNvPr id="21" name="Text 12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9723" y="500063"/>
            <a:ext cx="214133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تفشل القواعد اليدوية؟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الكود يرى الأرقام.. والرؤية ترى المعنى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4572000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✍️ الكود التقليدي القائم على القواعد (If-Else)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0081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650081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👁️ حقيقة الرؤية البصرية وفهم الصور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42277" y="1885057"/>
            <a:ext cx="2558774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يفحص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قيم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البكسل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المحددة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بدقة</a:t>
            </a:r>
            <a:r>
              <a:rPr lang="ar-SA" sz="1000" b="1" dirty="0"/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الصورة</a:t>
            </a:r>
            <a:endParaRPr lang="en-US" sz="95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41889" y="1885057"/>
            <a:ext cx="1480542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41825" y="1885057"/>
            <a:ext cx="64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006082" y="1885057"/>
            <a:ext cx="2480193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تتغير قيم البكسل بالكامل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تغيير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طفيف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في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الإضاءة</a:t>
            </a:r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0081" y="2135981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5181491" y="2205473"/>
            <a:ext cx="3258833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فحص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مواقع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ثابتة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وجامدة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للعناصر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(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مثل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الأذن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)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99013" y="2186880"/>
            <a:ext cx="64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816299" y="2186880"/>
            <a:ext cx="2669976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تتحرك العناصر، وتدور، ويتغير حجمها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مع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زاوية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تصوير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جديدة</a:t>
            </a:r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307367" y="2186880"/>
            <a:ext cx="6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83560" y="2486918"/>
            <a:ext cx="2345483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يكتب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المبرمج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قاعدة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واحدة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لكل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حالة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متوقعة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686612" y="2486918"/>
            <a:ext cx="6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43598" y="2486918"/>
            <a:ext cx="65" cy="146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419820" y="2486918"/>
            <a:ext cx="3066455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توجد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حالات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لا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نهائية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الواقع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لا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يمكن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حصرها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يدوياً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207604" y="2486918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750219" y="2486918"/>
            <a:ext cx="1653778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0081" y="2736056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28" name="Text 25"/>
          <p:cNvSpPr/>
          <p:nvPr/>
        </p:nvSpPr>
        <p:spPr>
          <a:xfrm>
            <a:off x="5906095" y="2785170"/>
            <a:ext cx="2494955" cy="300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يتم كتابة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القواعد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بالكامل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بواسطة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مهندس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بشري</a:t>
            </a:r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765006" y="2785170"/>
            <a:ext cx="129480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816300" y="2785170"/>
            <a:ext cx="2669976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الأنماط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البصرية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أعقد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بكثير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أن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البشر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بصياغتها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يدوياً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684324" y="2785170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419820" y="2785170"/>
            <a:ext cx="1687711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683" y="4032944"/>
            <a:ext cx="160734" cy="14287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42938" y="4021931"/>
            <a:ext cx="762595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الكود التقليدي يرى أرقاماً صامتة، بينما الرؤية الحقيقية تدرك المعنى والسياق. الفجوة بينهما هي بداية الذكاء الاصطناعي!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0172" y="500063"/>
            <a:ext cx="14108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المشكلة الجوهرية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C76C7B-EE43-F708-BE45-ADE793A87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13" y="1007707"/>
            <a:ext cx="6852330" cy="355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58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90172" y="500063"/>
            <a:ext cx="14108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المشكلة الجوهرية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969" y="1928478"/>
            <a:ext cx="500063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19562" y="2605230"/>
            <a:ext cx="3766542" cy="719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"لا يمكنك كتابة قواعد برمجية
لشيء لا يمكنك وصفه بالكامل."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2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02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003244" y="1928813"/>
            <a:ext cx="3012043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فحص الخصائص الأولية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3318488" y="2551742"/>
            <a:ext cx="4696799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نقوم بتحويل الصور والبيانات المعقدة إلى أرقام وقياسات هندسية يفهمها الحاسوب؟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70738" y="394335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0813" y="500063"/>
            <a:ext cx="200025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 البكسلات إلى الخصائص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كيف ننتقل من الأرقام الصامتة إلى القرارات الذكية؟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3" y="201453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١-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البيانات الخام (Raw Data)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 الأرقام الصامتة التي تمثل قيم البكسلات والألوان في الصورة، وهي كل ما يراه الحاسوب في البداية.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2039541"/>
            <a:ext cx="80367" cy="12858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٢-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الخصائص المستخرجة (Features)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3457575" y="3084169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تحويل البكسلات إلى قياسات هندسية محددة ومفهومة (مثل: زاوية انحناء الأذن، أو نسبة الطول إلى العرض).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413" y="2039541"/>
            <a:ext cx="80367" cy="12858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8888" y="2014538"/>
            <a:ext cx="342900" cy="3429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٣-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القرار النهائي (Decision)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642938" y="3091458"/>
            <a:ext cx="2228850" cy="323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اتخاذ قرار ذكي وتصنيف الصورة بدقة بناءً على الأرقام والخصائص الهندسية المستخرجة (مثل: قطة ✅).</a:t>
            </a:r>
            <a:endParaRPr lang="en-US" sz="850" dirty="0"/>
          </a:p>
        </p:txBody>
      </p:sp>
      <p:sp>
        <p:nvSpPr>
          <p:cNvPr id="17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64295" y="500063"/>
            <a:ext cx="836768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هي الخاصية؟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هي الخاصية (Feature) في ذكاء الآلة؟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09" y="1685795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5311" y="1682353"/>
            <a:ext cx="288786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الوصف البشري العادي (غير المفهوم للآلة)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وصف عاطفي وعام 💬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582200" y="2546747"/>
            <a:ext cx="1761700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"إنها تبدو كقطة لطيفة ولها شكل جميل وفراء ناعم."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الوصف البشري جميل، ولكنه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مستحيل الفهم بالنسبة للحاسوب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؛ فالآلة لا تملك مشاعر ولا تفهم معنى كلمة "لطيفة" أو "جميل".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084" y="1751112"/>
            <a:ext cx="117872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7281" y="1682353"/>
            <a:ext cx="292536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الخاصية الرياضية الدقيقة (المفهومة للآلة)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أرقام وقياسات دقيقة ومحددة 📐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567315" y="2546747"/>
            <a:ext cx="2497479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"زاوية الأذن = 72°، نسبة ارتفاع الأذن = 0.31، طول الشارب = 18 بكسل."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هذه هي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 (Features)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؛ أرقام دقيقة قابلة للقياس والحساب، وهي اللغة الوحيدة التي يفهمها الحاسوب ويتخذ قراراته بناءً عليها.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025" y="3848565"/>
            <a:ext cx="114300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4048" y="3857625"/>
            <a:ext cx="1469827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مفهوم الخاصية (Feature):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2919617" y="4127302"/>
            <a:ext cx="5395708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الخاصية هي رقم يصف شيئاً قابلاً للقياس في المدخلات. نحن نقوم بتحويل الصورة إلى صف من الأرقام، وهذا الصف الرقمي هو ما يراه الحاسوب فعلياً ويتعامل معه!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64265" y="500063"/>
            <a:ext cx="679673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نشاط تفاعلي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00063" y="1050131"/>
            <a:ext cx="814387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نشاط تفاعلي: كيف نحول الشكل الظلي إلى أرقام؟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79169" y="1553766"/>
            <a:ext cx="3864769" cy="28753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779169" y="1553766"/>
            <a:ext cx="3864769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629650" y="1553766"/>
            <a:ext cx="14288" cy="2875359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779169" y="4414838"/>
            <a:ext cx="3864769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779169" y="1553766"/>
            <a:ext cx="14288" cy="2875359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88" y="1685795"/>
            <a:ext cx="157163" cy="1571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12875" y="1682353"/>
            <a:ext cx="573875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فكّر وناقش: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07756" y="2062758"/>
            <a:ext cx="3607594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تخيل أن أمامك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شكلاً ظلياً أسود بالكامل لقطة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(بدون ألوان أو تفاصيل داخلية).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907756" y="2559918"/>
            <a:ext cx="3607594" cy="34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هي الأرقام والخصائص الهندسية المحددة التي يمكنك قياسها واستخراجها من هذا الشكل لتعريف الحاسوب به؟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25" y="4179094"/>
            <a:ext cx="85725" cy="114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90134" y="4129088"/>
            <a:ext cx="158234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ناقش مع زميلك لمدة 3 دقائق...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00063" y="1553766"/>
            <a:ext cx="3864769" cy="28753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8" name="Shape 13"/>
          <p:cNvSpPr/>
          <p:nvPr/>
        </p:nvSpPr>
        <p:spPr>
          <a:xfrm>
            <a:off x="500063" y="1553766"/>
            <a:ext cx="3864769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4350544" y="1553766"/>
            <a:ext cx="14288" cy="2875359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500063" y="4414838"/>
            <a:ext cx="3864769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500063" y="1553766"/>
            <a:ext cx="14288" cy="2875359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9081" y="1695126"/>
            <a:ext cx="157163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682478" y="1682353"/>
            <a:ext cx="132516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 المقترحة: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28650" y="2062758"/>
            <a:ext cx="360759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١-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نسبة الطول إلى العرض (Aspect Ratio):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قياس مدى استطالة الجسم كنسبة رقمية بسيطة.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628650" y="2542784"/>
            <a:ext cx="360759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٢-</a:t>
            </a:r>
            <a:r>
              <a:rPr lang="en-US" sz="8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عدد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الزوايا الحادة (Number of Corners):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حساب عدد الأطراف المدببة (مثل الأذنين والذيل).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628650" y="3022811"/>
            <a:ext cx="360759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٣-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درجة التماثل (Symmetry Score):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قياس مدى تطابق النصف الأيمن مع النصف الأيسر للشكل.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28650" y="3502837"/>
            <a:ext cx="3607594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٤-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وجود الذيل (Presence of Tail):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خاصية ثنائية بسيطة: نعم (1) أو لا (0).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7656488" y="4814888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4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54677" y="500063"/>
            <a:ext cx="846386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فضاء الخصائص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فضاء الخصائص: تحويل الكائنات إلى نقاط في الفضاء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1931380"/>
            <a:ext cx="3904366" cy="370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عندما نستخرج الخصائص الرقمية من الصور، يحدث شيء مذهل: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كل كائن يتحول إلى نقطة هندسية في الفضاء!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511419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إحداثيات النقطة (X, Y):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هي قيم الخصائص التي قمنا بقياسها. على سبيل المثال، المحور الأفقي يمثل "زاوية طرف الأذن"، والمحور الرأسي يمثل "عرض الجسم".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بسبب التشابه الطبيعي، تتجمع النقاط الخاصة بالقطط معاً في منطقة واحدة لتشكل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تكتلاً (Cluster)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، بينما تتجمع نقاط الكلاب في منطقة أخرى متباعدة عنها.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37" y="1877020"/>
            <a:ext cx="2857500" cy="2143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8941" y="500063"/>
            <a:ext cx="492121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حد القرار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حد القرار (Decision Boundary): كيف تفصل الآلة بين المجموعات؟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193138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بعد أن قمنا بتحويل الكائنات (مثل القطط والكلاب) إلى نقاط موزعة في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فضاء الخصائص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بناءً على قياساتها الهندسية، كيف يتخذ الحاسوب قراره؟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511419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رسم الخط الفاصل: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يبحث نموذج تعلم الآلة عن خط مستقيم يفصل بدقة بين مجموعة نقاط القطط ومجموعة نقاط الكلاب. هذا الخط الرياضي يسمى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حد القرار (Decision Boundary)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310040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آلية التنبؤ: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بمجرد رسم هذا الخط، يصبح اتخاذ القرار سهلاً جداً؛ أي نقطة جديدة تقع على يمين الخط تصنف تلقائياً كـ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"قطة"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، وأي نقطة تقع على يساره تصنف كـ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"كلب"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55350" y="1948458"/>
            <a:ext cx="2428875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55350" y="1948458"/>
            <a:ext cx="2428875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469937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1055350" y="3934420"/>
            <a:ext cx="2428875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1055350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475" y="2352080"/>
            <a:ext cx="428625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19643" y="2991445"/>
            <a:ext cx="1239121" cy="179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"الخط هو جوهر القرار!"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26800" y="3297175"/>
            <a:ext cx="2085975" cy="46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الخط المستقيم الفاصل هو كل ما يتعلمه نموذج تعلم الآلة الكلاسيكي ليتخذ قراره الذكي. ضبط موقع واتجاه هذا الخط بدقة هو ما نسميه عملية "التدريب"!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7658" y="500063"/>
            <a:ext cx="152340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القسم الثاني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84844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الثاني: فحص الخصائص الأولية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أهم ثلاثة مفاهيم يجب أن تتذكرها من هذا القسم: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3" y="201453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📷 </a:t>
            </a: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البيانات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الخام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 الأرقام الصامتة التي تمثل قيم البكسلات والألوان في الصورة، وهي كل ما يراه الحاسوب في البداية دون أي معنى أو سياق.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📐 </a:t>
            </a: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الهندسية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457575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تحويل البكسلات إلى قياسات هندسية محددة ومفهومة للآلة (مثل: زاوية انحناء الأذن، أو نسبة الطول إلى العرض).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🗺️ </a:t>
            </a: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فضاء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الخصائص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2938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تمثيل بصرى للخصائص كعلاقة بيانية ثنائية الأبعاد، حيث تصبح القطط والكلاب مجموعات من النقاط المتجاورة ويفصل بينها خط القرار.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2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03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628416" y="1928813"/>
            <a:ext cx="2386871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لعبة الأوزان اليدوية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977597" y="2551742"/>
            <a:ext cx="3037690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كيف نحدد مدى أهمية كل خاصية لاتخاذ القرار الصحيح؟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70738" y="394335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1572" y="500063"/>
            <a:ext cx="163949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معادلة القرار البسيطة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64419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كيف تزن الآلة أهمية كل خاصية لاتخاذ القرار؟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2938" y="1568053"/>
            <a:ext cx="7858125" cy="785813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642938" y="1568053"/>
            <a:ext cx="7858125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568053"/>
            <a:ext cx="14288" cy="78581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642938" y="2339578"/>
            <a:ext cx="7858125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642938" y="1568053"/>
            <a:ext cx="14288" cy="78581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3761055" y="1918097"/>
            <a:ext cx="4568558" cy="227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النتيجة = (الخاصية 1 × الوزن 1) + (الخاصية 2 × الوزن 2)</a:t>
            </a:r>
            <a:endParaRPr lang="en-US" sz="1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2594074"/>
            <a:ext cx="157163" cy="1571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234" y="2525316"/>
            <a:ext cx="97622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الخاصية (Feature)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93469" y="3005733"/>
            <a:ext cx="3464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القيمة المقاسة 📐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93469" y="3275409"/>
            <a:ext cx="3464719" cy="13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هي الرقم الفعلي الذي قمنا بقياسه واستخراجه من الصورة (مثل: زاوية الأذن = 72).</a:t>
            </a:r>
            <a:endParaRPr lang="en-US" sz="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244" y="2594074"/>
            <a:ext cx="157163" cy="15716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71319" y="2525316"/>
            <a:ext cx="79348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الوزن (Weight)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85813" y="3005733"/>
            <a:ext cx="3464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مدى الأهمية والتركيز ⚖️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85813" y="3275409"/>
            <a:ext cx="3464719" cy="13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هو رقم نحدده لنقول للحاسوب كم تهمنا هذه الخاصية (كلما كبر الرقم، زاد تأثير الخاصية).</a:t>
            </a:r>
            <a:endParaRPr lang="en-US" sz="8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459" y="4071045"/>
            <a:ext cx="96441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07994" y="4014788"/>
            <a:ext cx="1382316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الفكرة الجوهرية للأوزان: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892635" y="4298752"/>
            <a:ext cx="3451265" cy="1305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تغيير قيمة الوزن يعني ببساطة تغيير مدى انتباه وتركيز الآلة على هذه الخاصية المحددة أثناء اتخاذ القرار!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7513613" y="4814888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6227" y="500063"/>
            <a:ext cx="154483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تجربة الأوزان العملية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تجربة الأوزان: كيف نتحكم في خط القرار الفاصل؟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96696" y="2040657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دعونا نلعب بالأوزان (Weights) عملياً ونرى كيف تؤثر قيمها على موقع واتجاه خط حد القرار الفاصل.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96696" y="2620696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الوزن الأول (W1):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يزيد من تركيز الآلة واهتمامها بالخاصية الأولى (مثل زاوية الأذن)، مما يجعل خط القرار يميل ويدور باتجاهها ليفصل النقاط بناءً عليها.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96696" y="3200735"/>
            <a:ext cx="3904366" cy="380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الوزن الثاني (W2):</a:t>
            </a:r>
            <a:r>
              <a:rPr lang="en-US" sz="9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يزيد من تركيز الآلة واهتمامها بالخاصية الثانية (مثل كثافة الفراء)، مما يزيح خط القرار ويغير موقعه ليعتمد أكثر على هذه الخاصية في التصنيف.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55350" y="1948458"/>
            <a:ext cx="2428875" cy="20002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55350" y="1948458"/>
            <a:ext cx="2428875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469937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Shape 9"/>
          <p:cNvSpPr/>
          <p:nvPr/>
        </p:nvSpPr>
        <p:spPr>
          <a:xfrm>
            <a:off x="1055350" y="3934420"/>
            <a:ext cx="2428875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Shape 10"/>
          <p:cNvSpPr/>
          <p:nvPr/>
        </p:nvSpPr>
        <p:spPr>
          <a:xfrm>
            <a:off x="1055350" y="1948458"/>
            <a:ext cx="14288" cy="20002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337" y="235208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31819" y="2991445"/>
            <a:ext cx="1232710" cy="1794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"تغيير الوزن يغير الخط!"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226800" y="3297175"/>
            <a:ext cx="2085975" cy="46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تغيير قيم الأوزان يعني مباشرة تغيير اتجاه وموقع خط القرار في فضاء الخصائص. البحث المستمر عن الأوزان الصحيحة التي تفصل المجموعات بدقة هو جوهر عملية التعلم في الآلة!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6531" y="500063"/>
            <a:ext cx="1964531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الأوزان في العمل والتدريب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جدول تجارب: كيف تؤثر الأوزان على دقة التصنيف والقرار؟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7349" y="1518047"/>
            <a:ext cx="1176570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8067007" y="1574275"/>
            <a:ext cx="426912" cy="205441"/>
          </a:xfrm>
          <a:prstGeom prst="rect">
            <a:avLst/>
          </a:prstGeom>
          <a:noFill/>
          <a:ln/>
        </p:spPr>
        <p:txBody>
          <a:bodyPr wrap="non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التجربة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56389" y="1518047"/>
            <a:ext cx="196095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5356389" y="1574275"/>
            <a:ext cx="196095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وزن زاوية الأذن (W1)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95430" y="1518047"/>
            <a:ext cx="196095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 dirty="0"/>
          </a:p>
        </p:txBody>
      </p:sp>
      <p:sp>
        <p:nvSpPr>
          <p:cNvPr id="11" name="Text 8"/>
          <p:cNvSpPr/>
          <p:nvPr/>
        </p:nvSpPr>
        <p:spPr>
          <a:xfrm>
            <a:off x="3395430" y="1574275"/>
            <a:ext cx="196095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وزن كثافة الفراء (W2)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0081" y="1518047"/>
            <a:ext cx="274534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0"/>
          <p:cNvSpPr/>
          <p:nvPr/>
        </p:nvSpPr>
        <p:spPr>
          <a:xfrm>
            <a:off x="650081" y="1574275"/>
            <a:ext cx="274534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النتيجة وأثرها على حد القرار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59611" y="1999357"/>
            <a:ext cx="341439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التجربة أ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56389" y="2005237"/>
            <a:ext cx="1960959" cy="190052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٠.٩ (مرتفع جداً)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2938" y="2017555"/>
            <a:ext cx="2965678" cy="45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يميل خط القرار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بقوة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ليفضل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شكل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الأذن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كعامل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أساسي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للتصنيف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.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436266" y="2047597"/>
            <a:ext cx="6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-624593" y="2018447"/>
            <a:ext cx="245566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50081" y="2364581"/>
            <a:ext cx="7843838" cy="53220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21" name="Text 18"/>
          <p:cNvSpPr/>
          <p:nvPr/>
        </p:nvSpPr>
        <p:spPr>
          <a:xfrm>
            <a:off x="7987475" y="2531566"/>
            <a:ext cx="41357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التجربة ب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356389" y="2531812"/>
            <a:ext cx="196095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50" dirty="0">
                <a:solidFill>
                  <a:srgbClr val="0070C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٠.١ ( منخفض جداً)</a:t>
            </a:r>
            <a:endParaRPr lang="en-US" sz="950" dirty="0">
              <a:solidFill>
                <a:srgbClr val="0070C0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34410" y="2509660"/>
            <a:ext cx="2495940" cy="4539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rtl="1"/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ينزاح خط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القرار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ليفضل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كثافة</a:t>
            </a:r>
            <a:r>
              <a:rPr lang="en-US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b="1" dirty="0" err="1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الفراء</a:t>
            </a:r>
            <a:r>
              <a:rPr lang="ar-SA" sz="10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كعامل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أساسي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للتصنيف</a:t>
            </a:r>
            <a:r>
              <a:rPr lang="en-US" sz="10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.</a:t>
            </a:r>
            <a:endParaRPr lang="en-US" sz="1000" dirty="0"/>
          </a:p>
          <a:p>
            <a:pPr algn="r" rtl="1"/>
            <a:endParaRPr lang="en-US" sz="1000" dirty="0"/>
          </a:p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303441" y="2523078"/>
            <a:ext cx="6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-824718" y="2519230"/>
            <a:ext cx="2636044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011521" y="3063776"/>
            <a:ext cx="389529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التجربة ج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356389" y="3069655"/>
            <a:ext cx="1960959" cy="190052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0070C0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٠.٥( متساوٍ)</a:t>
            </a:r>
            <a:endParaRPr lang="en-US" sz="900" dirty="0">
              <a:solidFill>
                <a:srgbClr val="0070C0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3264801" y="3077722"/>
            <a:ext cx="1960959" cy="190052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chemeClr val="accent2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٠.٥ (متساوٍ)</a:t>
            </a:r>
            <a:endParaRPr lang="en-US" sz="900" dirty="0">
              <a:solidFill>
                <a:schemeClr val="accent2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974575" y="3044260"/>
            <a:ext cx="274534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يتخذ خط القرار وضعاً متوازناً وعادلاً دون أن يطغى عامل على الآخر.</a:t>
            </a:r>
            <a:endParaRPr lang="en-US" sz="9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88" y="4352330"/>
            <a:ext cx="142875" cy="14287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412677" y="4289822"/>
            <a:ext cx="687407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الأوزان تقرر مدى انتباه وتركيز النموذج لكل خاصية. إيجاد وضبط الأوزان الصحيحة هو جوهر عملية التعلم!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99E8F866-A014-E6BF-51F7-42D6A24428F4}"/>
              </a:ext>
            </a:extLst>
          </p:cNvPr>
          <p:cNvSpPr/>
          <p:nvPr/>
        </p:nvSpPr>
        <p:spPr>
          <a:xfrm>
            <a:off x="3502023" y="2013708"/>
            <a:ext cx="196095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50" dirty="0">
                <a:solidFill>
                  <a:schemeClr val="accent2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٠.١ ( منخفض جداً)</a:t>
            </a:r>
            <a:endParaRPr lang="en-US" sz="950" dirty="0">
              <a:solidFill>
                <a:schemeClr val="accent2"/>
              </a:solidFill>
            </a:endParaRPr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401A1ACB-F838-1956-4F17-F77F8C032849}"/>
              </a:ext>
            </a:extLst>
          </p:cNvPr>
          <p:cNvSpPr/>
          <p:nvPr/>
        </p:nvSpPr>
        <p:spPr>
          <a:xfrm>
            <a:off x="3348037" y="2468817"/>
            <a:ext cx="1960959" cy="190052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chemeClr val="accent2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٠.٩ (مرتفع جداً)</a:t>
            </a:r>
            <a:endParaRPr lang="en-US" sz="9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43675" y="500063"/>
            <a:ext cx="19573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يعني التعلم في الآلة؟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دورة التعلم الكلاسيكية: كيف تضبط الآلة أوزانها تلقائياً؟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38" y="2014538"/>
            <a:ext cx="428625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16" y="2682478"/>
            <a:ext cx="163234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١- </a:t>
            </a:r>
            <a:r>
              <a:rPr lang="en-US" sz="11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تخمين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الأوزان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868716" y="3091458"/>
            <a:ext cx="1632347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تبدأ الآلة بوضع قيم عشوائية تماماً للأوزان (Weights) لكل خاصية هندسية لتقوم بالتخمين الأول.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553" y="2039541"/>
            <a:ext cx="80367" cy="12858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628" y="2014538"/>
            <a:ext cx="257175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93456" y="2682478"/>
            <a:ext cx="163234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٢-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قياس الخطأ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793456" y="3091458"/>
            <a:ext cx="1632347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تقارن الآلة توقعاتها بالحل الصحيح الفعلي لحساب نسبة الخطأ (Error) بدقة ومعرفة مدى قربها من الصواب.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294" y="2039541"/>
            <a:ext cx="80367" cy="12858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7644" y="2014538"/>
            <a:ext cx="342900" cy="3429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718197" y="2682478"/>
            <a:ext cx="163234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٣-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تعديل الأوزان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2718197" y="3091458"/>
            <a:ext cx="1632347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ar-SA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نقوم </a:t>
            </a:r>
            <a:r>
              <a:rPr lang="en-US" sz="8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بتعديل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قيم الأوزان قليلاً جداً في الاتجاه الذي يقلل نسبة الخطأ في المرة القادمة.</a:t>
            </a:r>
            <a:endParaRPr lang="en-US" sz="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1034" y="2039541"/>
            <a:ext cx="80367" cy="12858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2384" y="2014538"/>
            <a:ext cx="342900" cy="3429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2938" y="2682478"/>
            <a:ext cx="163234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٤-</a:t>
            </a: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التكرار المستمر</a:t>
            </a:r>
            <a:endParaRPr lang="en-US" sz="1100" dirty="0"/>
          </a:p>
        </p:txBody>
      </p:sp>
      <p:sp>
        <p:nvSpPr>
          <p:cNvPr id="20" name="Text 10"/>
          <p:cNvSpPr/>
          <p:nvPr/>
        </p:nvSpPr>
        <p:spPr>
          <a:xfrm>
            <a:off x="642938" y="3054135"/>
            <a:ext cx="1632347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تعيد الآلة هذه الدورة ملايين المرات حتى تصل لأقل نسبة خطأ ممكنة وتصبح توقعاتها دقيقة للغاية.</a:t>
            </a:r>
            <a:endParaRPr lang="en-US" sz="850" dirty="0"/>
          </a:p>
        </p:txBody>
      </p:sp>
      <p:sp>
        <p:nvSpPr>
          <p:cNvPr id="21" name="Text 11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77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2154" y="500063"/>
            <a:ext cx="69890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التحدي الأول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341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الأول: انهيار قواعد If-Else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513613" y="5344864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74778536-77DC-9186-EC74-6317C7F28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102" y="1499599"/>
            <a:ext cx="5271796" cy="294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3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74011" y="500063"/>
            <a:ext cx="212705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المعادلة في الحياة الحقيقية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نفس المعادلة البسيطة تدير أنظمة حقيقية نستخدمها يومياً: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🏦 التقييم الائتماني البنكي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72213" y="3091458"/>
            <a:ext cx="2228850" cy="65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تاريخ سدادك للفواتير، نسبة ديونك الحالية، وعمر حسابك البنكي.
</a:t>
            </a: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الأوزان: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يحددها البنك يدوياً بناءً على مدى أهمية كل عنصر لتقدير موثوقيتك المالية.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📧 تصفية البريد المزعج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57575" y="3091458"/>
            <a:ext cx="2228850" cy="65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تكرار كلمات مثل "مجاناً" أو "اضغط هنا"، وموثوقية عنوان المرسل.
</a:t>
            </a: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الأوزان: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تتعلمها الآلة وتعدلها تلقائياً من خلال فحص ملايين الرسائل السابقة.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8888" y="2014538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🎬 توصية الأفلام والمسلسلات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2938" y="3091458"/>
            <a:ext cx="2228850" cy="656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الخصائص: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نوع الفيلم، تقييمك السابق لأفلام مشابهة، ومدة مشاهدتك لها.
</a:t>
            </a:r>
            <a:r>
              <a:rPr lang="en-US" sz="8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الأوزان: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مخصصة تماماً لكل مستخدم وتتغير باستمرار بناءً على اهتماماته الفريدة.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17" name="Graphic 16" descr="Bank with solid fill">
            <a:extLst>
              <a:ext uri="{FF2B5EF4-FFF2-40B4-BE49-F238E27FC236}">
                <a16:creationId xmlns:a16="http://schemas.microsoft.com/office/drawing/2014/main" id="{3D02BF7B-CD25-BB01-440A-0C841E8CA0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7338" y="1892023"/>
            <a:ext cx="567928" cy="567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1464" y="500063"/>
            <a:ext cx="63959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تحقق سريع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دورك الآن — دعنا نحسب النتيجة معاً!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922044" y="1682353"/>
            <a:ext cx="3579019" cy="26038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Shape 4"/>
          <p:cNvSpPr/>
          <p:nvPr/>
        </p:nvSpPr>
        <p:spPr>
          <a:xfrm>
            <a:off x="4922044" y="1682353"/>
            <a:ext cx="3579019" cy="42863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8486775" y="1682353"/>
            <a:ext cx="14288" cy="2603897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4922044" y="4271963"/>
            <a:ext cx="3579019" cy="1428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922044" y="1682353"/>
            <a:ext cx="14288" cy="2603897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741" y="1965424"/>
            <a:ext cx="117872" cy="1571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84675" y="1896666"/>
            <a:ext cx="65562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فكّر واحسب: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93494" y="2305645"/>
            <a:ext cx="3236119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مرشح بريد مزعج (Spam Filter) يستخدم المعادلة التالية لتصنيف الرسائل: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93494" y="2802806"/>
            <a:ext cx="3236119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-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الخاصية 1 (تكرار كلمة مجاناً):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القيمة = 8، الوزن = 0.9
- 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الخاصية 2 (المرسل معروف):</a:t>
            </a:r>
            <a:r>
              <a:rPr lang="en-US" sz="950" dirty="0">
                <a:solidFill>
                  <a:srgbClr val="0F172A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القيمة = 0، الوزن = 0.5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93494" y="3328541"/>
            <a:ext cx="3236119" cy="163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هي النتيجة النهائية للرسالة؟ وهل سيصنفها كبريد مزعج؟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42938" y="1682353"/>
            <a:ext cx="3579019" cy="26038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9" name="Shape 14"/>
          <p:cNvSpPr/>
          <p:nvPr/>
        </p:nvSpPr>
        <p:spPr>
          <a:xfrm>
            <a:off x="642938" y="1682353"/>
            <a:ext cx="3579019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0" name="Shape 15"/>
          <p:cNvSpPr/>
          <p:nvPr/>
        </p:nvSpPr>
        <p:spPr>
          <a:xfrm>
            <a:off x="4207669" y="1682353"/>
            <a:ext cx="14288" cy="2603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642938" y="4271963"/>
            <a:ext cx="3579019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2" name="Shape 17"/>
          <p:cNvSpPr/>
          <p:nvPr/>
        </p:nvSpPr>
        <p:spPr>
          <a:xfrm>
            <a:off x="642938" y="1682353"/>
            <a:ext cx="14288" cy="2603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344" y="1900108"/>
            <a:ext cx="157163" cy="15716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948269" y="1896666"/>
            <a:ext cx="873637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الإجابة الصحيحة: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69708" y="2305645"/>
            <a:ext cx="1280799" cy="1544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نقوم بالتعويض في المعادلة البسيطة: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814388" y="2659959"/>
            <a:ext cx="3236119" cy="385763"/>
          </a:xfrm>
          <a:prstGeom prst="rect">
            <a:avLst/>
          </a:prstGeom>
          <a:solidFill>
            <a:srgbClr val="F1F5F9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27" name="Text 21"/>
          <p:cNvSpPr/>
          <p:nvPr/>
        </p:nvSpPr>
        <p:spPr>
          <a:xfrm>
            <a:off x="814388" y="2659959"/>
            <a:ext cx="3236119" cy="35343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النتيجة = (8 × 0.9) + (0 × 0.5) = 7.2 + 0 = 7.2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14388" y="3231459"/>
            <a:ext cx="3236119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القرار النهائي: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
النتيجة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7.2</a:t>
            </a: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مرتفعة جداً وقريبة من الحد الأقصى، مما يعني أن الرسالة تحتوي على مؤشرات قوية للبريد المزعج.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2189421" y="3922923"/>
            <a:ext cx="1861086" cy="147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← نعم، سيصنفها كبريد مزعج (Spam) ويحجبها! 🚨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6588" y="500063"/>
            <a:ext cx="151447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القسم الثالث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7699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الثالث: لعبة الأوزان اليدوية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أهم ثلاثة مفاهيم يجب أن تتذكرها من هذا القسم: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63" y="2014538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⚖️ الأوزان كأهمية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الأوزان (Weights) هي أرقام تحدد مدى أهمية وتأثير كل خاصية هندسية على القرار النهائي للنموذج. تغيير الوزن يغير اتجاه خط القرار.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525" y="2014538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📉 الخطأ كفجوة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457575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الخطأ (Error) هو الفجوة الرقمية بين توقعات الآلة والحل الصحيح الفعلي. هدف عملية التدريب هو تقليل هذه الفجوة لأقل حد ممكن.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🎯 التعلم كتقليل للخطأ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2938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التعلم هو عملية دائرية مستمرة تقوم فيها الآلة بتخمين الأوزان، قياس الخطأ، ثم تعديل الأوزان تدريجياً لتقليل الخطأ والوصول للحل الصحيح.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17" name="Graphic 16" descr="Repeat with solid fill">
            <a:extLst>
              <a:ext uri="{FF2B5EF4-FFF2-40B4-BE49-F238E27FC236}">
                <a16:creationId xmlns:a16="http://schemas.microsoft.com/office/drawing/2014/main" id="{E8BAD4DE-7AA9-0ADD-291B-1698DC62B8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5151" y="1921209"/>
            <a:ext cx="509976" cy="5099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7892" y="1500188"/>
            <a:ext cx="317395" cy="3091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04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66273" y="1928813"/>
            <a:ext cx="2249014" cy="421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أزمة التوسع الهائل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4283496" y="2551742"/>
            <a:ext cx="3731791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عندما تصبح البيانات والخصائص أعقد وأكبر من أن يصيغها البشر يدوياً.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70738" y="394335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5417" y="500063"/>
            <a:ext cx="230564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من خاصيتين إلى مليوني خاصية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أزمة التوسع: من خاصيتين بسيطتين إلى ملايين الخصائص المعقدة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545" y="1751112"/>
            <a:ext cx="137517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2517" y="1682353"/>
            <a:ext cx="243959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مثال القطة </a:t>
            </a:r>
            <a:r>
              <a:rPr lang="en-US" sz="1100" b="1" dirty="0" err="1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المبسط</a:t>
            </a: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(خصائص محدودة)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سهولة الحساب والتحكم اليدوي 📐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79206" y="2546747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قمنا بقياس زاوية الأذن وعرض الجسم فقط. يسهل حسابها ورسم خط القرار الفاصل بينهما يدوياً.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البسيط يعمل بشكل رائع في الفصول الدراسية لتوضيح الفكرة، ولكن هل يمكن تطبيقه على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الصور الحقيقية المعقدة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في العالم الواقعي؟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794" y="1751112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62695" y="1682353"/>
            <a:ext cx="243066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الصورة الحقيقية (2.3 مليون خاصية)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توسع هائل يفوق القدرة البشرية 📊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0100" y="2546747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صورة عادية تحتوي على 786,432 بكسل، وكل بكسل يملك 3 قيم ألوان (أحمر، أخضر، أزرق).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يعني أن لدينا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2,359,296 خاصية رقمية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في صورة واحدة فقط! لا يمكن لأي مبرمج أو مهندس بشري أن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يقوم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ar-SA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بتعديل الاوزان يدويا لجميع هذه الخصائص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.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6738" y="3913882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57888" y="3857625"/>
            <a:ext cx="217170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أزمة التوسع الهائل (The Scaling Crisis):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2648709" y="4127302"/>
            <a:ext cx="5666616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مستحيل تماماً على أي مهندس بشري أن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 بتعديل اوزان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الخصائص يدوياً وتجربتها واحدة تلو الأخرى. هنا تنهار الطرق الكلاسيكية، ونحتاج لحل ثوري جديد!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236" y="500063"/>
            <a:ext cx="146982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عنق الزجاجة البشري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عنق الزجاجة البشري: عندما يعجز الإنسان عن مجاراة البيانات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4572000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🧑‍💻 مهندس الخصائص البشري (Human Engineer)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0081" y="1518047"/>
            <a:ext cx="392191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650081" y="1574275"/>
            <a:ext cx="392191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📸 مشكلة الصور الحقيقية المعقدة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0" y="2001390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يقرر يدوياً أي الخصائص الهندسية هي الأهم للحل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50081" y="2001390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 الخصائص والبكسلات — عدد ضخم جداً يفوق قدرة البشر على التقييم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50081" y="2364581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3" name="Text 10"/>
          <p:cNvSpPr/>
          <p:nvPr/>
        </p:nvSpPr>
        <p:spPr>
          <a:xfrm>
            <a:off x="4572000" y="2415727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يكتب قواعد برمجية يدوية مخصصة لكل خاصية مستخرجة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0081" y="2415727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تتداخل القواعد والخصائص في ملايين التوليفات المعقدة والمتغيرة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0" y="2715765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 بتجربة الأوزان وتعديلها يدوياً خطوة بخطوة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50081" y="2715765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تستغرق العملية أشهراً طويلة جداً لحل مسألة تصنيف بسيطة واحدة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0081" y="2964656"/>
            <a:ext cx="7843838" cy="30003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5"/>
          <p:cNvSpPr/>
          <p:nvPr/>
        </p:nvSpPr>
        <p:spPr>
          <a:xfrm>
            <a:off x="4572000" y="3015802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يعمل بنجاح ممتاز فقط في المشكلات البسيطة والمحدودة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50081" y="3015802"/>
            <a:ext cx="3921919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يفشل تماماً في التوسع لمجاراة الصور الحقيقية عالية الدقة</a:t>
            </a:r>
            <a:endParaRPr lang="en-US" sz="9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906" y="4352330"/>
            <a:ext cx="107156" cy="1428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53678" y="4289822"/>
            <a:ext cx="7468791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الخلاصة: عنق الزجاجة ليس في سرعة معالجة الحاسوب، بل في قدرة الإنسان المحدودة على صياغة وتصميم الخصائص يدوياً!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70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1242" y="500063"/>
            <a:ext cx="156269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الذي نحتاجه فعلاً؟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1537692"/>
            <a:ext cx="428625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85900" y="2507456"/>
            <a:ext cx="6172200" cy="32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 rtl="1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"نحن بحاجة إلى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نظام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يست</a:t>
            </a:r>
            <a:r>
              <a:rPr lang="ar-SA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طيع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الاوزان وتقييمها بشكل آلي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287754" y="4410484"/>
            <a:ext cx="81913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 الثوري القادم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656488" y="5078425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70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1242" y="500063"/>
            <a:ext cx="156269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 الذي نحتاجه فعلاً؟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0063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1537692"/>
            <a:ext cx="428625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85900" y="2507456"/>
            <a:ext cx="6172200" cy="103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 rtl="1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"نحن بحاجة إلى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نظام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يستخرج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خصائصه بنفسه تلقائياً.
نظام ينظر إلى البكسلات الخام ويكتشف ما يهم دون تدخل بشري.
هذا هو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التعلم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العميق</a:t>
            </a:r>
            <a:r>
              <a:rPr lang="en-US" sz="18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(Deep Learning)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287754" y="4410484"/>
            <a:ext cx="81913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EA580C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الحل الثوري القادم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656488" y="5078425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7767504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9636" y="500063"/>
            <a:ext cx="76142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إلى الغد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إلى الغد: من </a:t>
            </a:r>
            <a:r>
              <a:rPr lang="en-US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هندسة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الاوزان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يدوي</a:t>
            </a:r>
            <a:r>
              <a:rPr lang="ar-SA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اً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إلى التعلم التلقائي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09" y="1684206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93581" y="1682353"/>
            <a:ext cx="243959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هندسة الاوزان اليدوية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يستنتج المهندس الاوزان الصحيحة بناء على الخصائص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79206" y="2453438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المهندس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بتعديل وتقييمها  الى ان يصل الى الاوزان المثالية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يتطلب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جهداً بشرياً هائلاً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ووقتاً طويلاً جداً، وينهار تماماً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عندما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ar-SA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تزداد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الخصائص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في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en-US" sz="850" dirty="0" err="1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الصور</a:t>
            </a:r>
            <a:r>
              <a:rPr lang="ar-SA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والبيانات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الحقيقية المعقدة.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794" y="1698021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93094" y="1682353"/>
            <a:ext cx="21002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ar-SA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تعلم </a:t>
            </a:r>
            <a:r>
              <a:rPr lang="ar-SA" sz="1100" b="1" dirty="0" err="1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الآلى</a:t>
            </a:r>
            <a:r>
              <a:rPr lang="ar-SA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الكلاسيكي 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الآلة</a:t>
            </a: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تعدل الاوزان </a:t>
            </a:r>
            <a:r>
              <a:rPr lang="en-US" sz="9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تلقائياً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0100" y="2422862"/>
            <a:ext cx="3264694" cy="285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خواريزميات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تعلم </a:t>
            </a:r>
            <a:r>
              <a:rPr lang="ar-SA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الآلى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بتعديل الاوزان وقياس نسبة الخطأ الى ان تصل الى افضل نتيجة بدون تدخل بشري اثناء عملية التدريب 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891433"/>
            <a:ext cx="3579019" cy="154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الثوري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لا يتطلب أي تدخل </a:t>
            </a:r>
            <a:r>
              <a:rPr lang="en-US" sz="8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بشري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</a:t>
            </a:r>
            <a:r>
              <a:rPr lang="ar-SA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لتعديل الاوزان.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782991" y="3857625"/>
            <a:ext cx="147518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المعرفي لدرس الغد: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442196" y="4127302"/>
            <a:ext cx="4873129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التحول الثوري من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استخراج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تعديل الاوزان بناء على رؤية الأنماط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اليدوي إلى التعلم التلقائي الكامل هو ما سنستكشفه غداً بالتفصيل في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اليوم</a:t>
            </a: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en-US" sz="80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الثاني</a:t>
            </a:r>
            <a:r>
              <a:rPr lang="ar-SA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82227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9636" y="500063"/>
            <a:ext cx="76142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إلى الغد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135856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إلى الغد: من </a:t>
            </a:r>
            <a:r>
              <a:rPr lang="en-US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هندسة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تعديل الاوزان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en-US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يدوي</a:t>
            </a:r>
            <a:r>
              <a:rPr lang="ar-SA" sz="1400" b="1" dirty="0" err="1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اً</a:t>
            </a: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إلى التعلم التلقائي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609" y="1684206"/>
            <a:ext cx="19645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93581" y="1682353"/>
            <a:ext cx="243959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284C7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تعلم الآلة الكلاسيكي (Classical ML)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79206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الإنسان يستخرج الخصائص يدوياً 🧑‍💻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79206" y="2453438"/>
            <a:ext cx="3264694" cy="285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يقوم المهندس البشري بتصميم وقياس الخصائص الهندسية، وتبحث الآلة عن الأوزان الصحيحة فقط.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922044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يتطلب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جهداً بشرياً هائلاً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ووقتاً طويلاً جداً، وينهار تماماً عندما تزداد أبعاد البيانات والخصائص في الصور الحقيقية المعقدة.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794" y="1751112"/>
            <a:ext cx="157163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93094" y="1682353"/>
            <a:ext cx="21002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التعلم العميق (Deep Learning)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" y="2262783"/>
            <a:ext cx="326469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الآلة تستخرج كل شيء تلقائياً 🤖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0100" y="2546747"/>
            <a:ext cx="3264694" cy="137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تقوم الشبكة العصبية باستخراج الخصائص وتعديل الأوزان معاً تلقائياً من البيانات الخام مباشرة.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42938" y="2891433"/>
            <a:ext cx="3579019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هذا النموذج الثوري </a:t>
            </a:r>
            <a:r>
              <a:rPr lang="en-US" sz="8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لا يتطلب أي تدخل بشري</a:t>
            </a:r>
            <a:r>
              <a:rPr lang="en-US" sz="8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لتصميم الخصائص؛ فالآلة تكتشف الأنماط المعقدة والمنحنيات والحواف بنفسها وبسرعة فائقة!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6782991" y="3857625"/>
            <a:ext cx="147518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الجسر المعرفي لدرس الغد: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155259" y="4127302"/>
            <a:ext cx="5160066" cy="1379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هذا التحول الثوري من استخراج الخصائص اليدوي إلى التعلم التلقائي الكامل هو ما سنستكشفه غداً بالتفصيل في اليوم الثاني تحت عنوان "مبني على صورتنا"!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0863" y="500063"/>
            <a:ext cx="1600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يغير هذا العالم؟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2938" y="553641"/>
            <a:ext cx="1621631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 الرابع: أزمة التوسع الهائل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207294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عندما يصبح استخراج الخصائص تلقائياً، يفتح الذكاء الاصطناعي آفاقاً جديدة: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014538"/>
            <a:ext cx="385763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2213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🩺 الطب والرعاية الصحية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72213" y="3091458"/>
            <a:ext cx="2228850" cy="4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البحث عن أنماط دقيقة جداً في الأشعة السينية والتحاليل الطبية تعجز العين البشرية عن صياغتها كقواعد يدوية، مما ينقذ حياة الملايين.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014538"/>
            <a:ext cx="428625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7575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🌐 فهم اللغات الطبيعية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457575" y="3091458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استيعاب قواعد اللغة المعقدة، ونبرة الصوت، والسخرية، والترجمة الفورية دون حاجة لعلماء لغة يكتبون القواعد يدوياً.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642938" y="2682478"/>
            <a:ext cx="222885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🛡️ الأمن ومكافحة الاحتيال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2938" y="3054134"/>
            <a:ext cx="2228850" cy="32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رصد الأنماط المشبوهة والعمليات المالية المزيفة في الوقت الفعلي من بين ملايين المعاملات اليومية لحماية المستخدمين.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  <p:pic>
        <p:nvPicPr>
          <p:cNvPr id="17" name="Graphic 16" descr="Lock with solid fill">
            <a:extLst>
              <a:ext uri="{FF2B5EF4-FFF2-40B4-BE49-F238E27FC236}">
                <a16:creationId xmlns:a16="http://schemas.microsoft.com/office/drawing/2014/main" id="{CAF8F672-EA68-A531-0CFB-4AFE58C463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4944" y="1918779"/>
            <a:ext cx="561320" cy="5613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81192" y="500063"/>
            <a:ext cx="181987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اليوم الأول الكلي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0779" y="553641"/>
            <a:ext cx="641201" cy="123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اليوم الأول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42938" y="1050131"/>
            <a:ext cx="78581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ملخص اليوم الأول: هندسة الأنماط الكلاسيكية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32959" y="1518047"/>
            <a:ext cx="1960959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7" name="Text 4"/>
          <p:cNvSpPr/>
          <p:nvPr/>
        </p:nvSpPr>
        <p:spPr>
          <a:xfrm>
            <a:off x="6532959" y="1574275"/>
            <a:ext cx="1960959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القسم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87639" y="1518047"/>
            <a:ext cx="2745321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Text 6"/>
          <p:cNvSpPr/>
          <p:nvPr/>
        </p:nvSpPr>
        <p:spPr>
          <a:xfrm>
            <a:off x="3787639" y="1574275"/>
            <a:ext cx="2745321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الفكرة الأساسية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0081" y="1518047"/>
            <a:ext cx="3137557" cy="317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50081" y="1574275"/>
            <a:ext cx="3137557" cy="205441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FFFFFF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لماذا تهمنا للذكاء الاصطناعي؟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64896" y="1999357"/>
            <a:ext cx="93615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🚫 انهيار قواعد If-Else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87639" y="2001390"/>
            <a:ext cx="274532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القواعد اليدوية الجامدة تفشل تماماً في تمييز الصور والأنماط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0081" y="2001390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تثبت لنا أن البرمجة التقليدية عاجزة عن حل مشكلات الإدراك البصري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0081" y="2364581"/>
            <a:ext cx="7843838" cy="53220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6" name="Text 13"/>
          <p:cNvSpPr/>
          <p:nvPr/>
        </p:nvSpPr>
        <p:spPr>
          <a:xfrm>
            <a:off x="7581915" y="2531566"/>
            <a:ext cx="81913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📐 فحص الخصائص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87639" y="2531812"/>
            <a:ext cx="274532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تحويل الصور المعقدة إلى قياسات وأرقام هندسية دقيقة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0081" y="2531812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توضح كيف تترجم الآلة العالم المادي إلى لغة رياضيات مفهومة لها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806335" y="3063776"/>
            <a:ext cx="59471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⚖️ لعبة الأوزان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87639" y="3064022"/>
            <a:ext cx="274532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الأوزان تحدد مدى انتباه وتركيز النموذج لكل خاصية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50081" y="3064022"/>
            <a:ext cx="3137557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تثبت أن عملية "التعلم" في الآلة هي مجرد ضبط رياضي مستمر للأوزان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0081" y="3429000"/>
            <a:ext cx="7843838" cy="535781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23" name="Text 20"/>
          <p:cNvSpPr/>
          <p:nvPr/>
        </p:nvSpPr>
        <p:spPr>
          <a:xfrm>
            <a:off x="7795115" y="3595985"/>
            <a:ext cx="605935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900" b="1" dirty="0">
                <a:solidFill>
                  <a:srgbClr val="475569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📈 أزمة التوسع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787639" y="3598017"/>
            <a:ext cx="2745321" cy="197746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ملايين الخصائص في الصور الحقيقية لا </a:t>
            </a:r>
            <a:r>
              <a:rPr lang="en-US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يمكن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تعديل اوزانها</a:t>
            </a:r>
            <a:r>
              <a:rPr lang="en-US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يدوياً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50081" y="3524920"/>
            <a:ext cx="3137557" cy="343940"/>
          </a:xfrm>
          <a:prstGeom prst="rect">
            <a:avLst/>
          </a:prstGeom>
          <a:noFill/>
          <a:ln/>
        </p:spPr>
        <p:txBody>
          <a:bodyPr wrap="square" lIns="0" tIns="51054" rIns="102108" bIns="0" rtlCol="0" anchor="ctr">
            <a:spAutoFit/>
          </a:bodyPr>
          <a:lstStyle/>
          <a:p>
            <a:pPr marL="0" indent="0" algn="r" rtl="1">
              <a:buNone/>
            </a:pP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هنا يبدأ دور الذكاء الاصطناعي وتحديداً تعلم </a:t>
            </a:r>
            <a:r>
              <a:rPr lang="ar-SA" sz="950" dirty="0" err="1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الآلى</a:t>
            </a:r>
            <a:r>
              <a:rPr lang="ar-SA" sz="950" dirty="0">
                <a:solidFill>
                  <a:srgbClr val="475569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حيث تبدأ بتعلم الاوزان المثالية لكل من خصائص المدخلات</a:t>
            </a:r>
            <a:endParaRPr lang="en-US" sz="9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88" y="4352330"/>
            <a:ext cx="142875" cy="14287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216348" y="4289822"/>
            <a:ext cx="6070402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غداً في اليوم الثاني: سنتعلم كيف تقوم الآلة بكل هذه الخطوات الأربعة تلقائياً دون أي تدخل بشري!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3721" y="1283057"/>
            <a:ext cx="1997342" cy="3619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الفكرة الكبرى لليوم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690207" y="1865970"/>
            <a:ext cx="3810856" cy="21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صورة قطة واحدة بسيطة تحتوي على </a:t>
            </a:r>
            <a:r>
              <a:rPr lang="en-US" sz="11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2,359,296 خاصية رقمية</a:t>
            </a:r>
            <a:r>
              <a:rPr lang="en-US" sz="11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 معقدة.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90207" y="2571750"/>
            <a:ext cx="3810856" cy="46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لا يمكن لأي إنسان أو مبرمج كتابة قواعد يدوية لكل هذا العدد الهائل من المتغيرات.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90207" y="3277530"/>
            <a:ext cx="3810856" cy="229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36000"/>
              </a:lnSpc>
              <a:buNone/>
            </a:pPr>
            <a:r>
              <a:rPr lang="en-US" sz="12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غداً: سنتعلم كيف تقوم الآلة بتعليم </a:t>
            </a:r>
            <a:r>
              <a:rPr lang="en-US" sz="1200" b="1" dirty="0" err="1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نفسها</a:t>
            </a:r>
            <a:r>
              <a:rPr lang="en-US" sz="12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 </a:t>
            </a:r>
            <a:r>
              <a:rPr lang="ar-SA" sz="1200" b="1" dirty="0">
                <a:solidFill>
                  <a:srgbClr val="EA580C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الاوزان المثالية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016394" y="1500188"/>
            <a:ext cx="2428875" cy="21431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8" name="Shape 5"/>
          <p:cNvSpPr/>
          <p:nvPr/>
        </p:nvSpPr>
        <p:spPr>
          <a:xfrm>
            <a:off x="1016394" y="1500188"/>
            <a:ext cx="2428875" cy="42863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9" name="Shape 6"/>
          <p:cNvSpPr/>
          <p:nvPr/>
        </p:nvSpPr>
        <p:spPr>
          <a:xfrm>
            <a:off x="3430981" y="1500188"/>
            <a:ext cx="14288" cy="214312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1016394" y="3629025"/>
            <a:ext cx="2428875" cy="14288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1016394" y="1500188"/>
            <a:ext cx="14288" cy="2143125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381" y="1903809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5789" y="2543175"/>
            <a:ext cx="806310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0F172A"/>
                </a:solidFill>
                <a:latin typeface="Cairo Bold" pitchFamily="34" charset="0"/>
                <a:ea typeface="Cairo Bold" pitchFamily="34" charset="-122"/>
                <a:cs typeface="Cairo Bold" pitchFamily="34" charset="-120"/>
              </a:rPr>
              <a:t>ماذا ينتظرنا غداً؟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87844" y="2923580"/>
            <a:ext cx="2085975" cy="30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في اليوم الثاني والدرس القادم، سننتقل من هندسة الأنماط اليدوية </a:t>
            </a:r>
            <a:r>
              <a:rPr lang="en-US" sz="800" dirty="0" err="1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إلى</a:t>
            </a:r>
            <a:r>
              <a:rPr lang="en-US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 </a:t>
            </a:r>
            <a:r>
              <a:rPr lang="ar-SA" sz="800" dirty="0">
                <a:solidFill>
                  <a:srgbClr val="64748B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التعلم الآلي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7513613" y="4800600"/>
            <a:ext cx="987450" cy="130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 rtl="1">
              <a:buNone/>
            </a:pPr>
            <a:r>
              <a:rPr lang="en-US" sz="850" dirty="0">
                <a:solidFill>
                  <a:srgbClr val="64748B"/>
                </a:solidFill>
                <a:latin typeface="Cairo Light" pitchFamily="34" charset="0"/>
                <a:ea typeface="Cairo Light" pitchFamily="34" charset="-122"/>
                <a:cs typeface="Cairo Light" pitchFamily="34" charset="-120"/>
              </a:rPr>
              <a:t>اليوم الأول · هندسة الأنماط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3355</Words>
  <Application>Microsoft Macintosh PowerPoint</Application>
  <PresentationFormat>On-screen Show (16:9)</PresentationFormat>
  <Paragraphs>385</Paragraphs>
  <Slides>36</Slides>
  <Notes>36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Cairo</vt:lpstr>
      <vt:lpstr>Cairo Bold</vt:lpstr>
      <vt:lpstr>Cairo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Balkhair, Mohammed Ahmed M</cp:lastModifiedBy>
  <cp:revision>9</cp:revision>
  <cp:lastPrinted>2026-06-08T10:35:07Z</cp:lastPrinted>
  <dcterms:created xsi:type="dcterms:W3CDTF">2026-06-07T14:16:36Z</dcterms:created>
  <dcterms:modified xsi:type="dcterms:W3CDTF">2026-06-17T20:16:40Z</dcterms:modified>
</cp:coreProperties>
</file>