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</p:sldIdLst>
  <p:sldSz cx="18288000" cy="10287000"/>
  <p:notesSz cx="6858000" cy="9144000"/>
  <p:embeddedFontLst>
    <p:embeddedFont>
      <p:font typeface="Cairo Bold" charset="-120"/>
      <p:regular r:id="rId33"/>
      <p:bold r:id="rId34"/>
    </p:embeddedFont>
    <p:embeddedFont>
      <p:font typeface="Cairo" charset="0"/>
      <p:regular r:id="rId35"/>
    </p:embeddedFont>
    <p:embeddedFont>
      <p:font typeface="Cairo Light" pitchFamily="2" charset="-78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595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jpe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801975" y="2401472"/>
            <a:ext cx="1485900" cy="489347"/>
            <a:chOff x="0" y="0"/>
            <a:chExt cx="1981200" cy="6524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1200" cy="652399"/>
            </a:xfrm>
            <a:custGeom>
              <a:avLst/>
              <a:gdLst/>
              <a:ahLst/>
              <a:cxnLst/>
              <a:rect l="l" t="t" r="r" b="b"/>
              <a:pathLst>
                <a:path w="1981200" h="652399">
                  <a:moveTo>
                    <a:pt x="0" y="0"/>
                  </a:moveTo>
                  <a:lnTo>
                    <a:pt x="1981200" y="0"/>
                  </a:lnTo>
                  <a:lnTo>
                    <a:pt x="1981200" y="652399"/>
                  </a:lnTo>
                  <a:lnTo>
                    <a:pt x="0" y="6523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7516" y="3405059"/>
            <a:ext cx="2082615" cy="2369625"/>
            <a:chOff x="0" y="0"/>
            <a:chExt cx="2540470" cy="2890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40470" cy="2890297"/>
            </a:xfrm>
            <a:custGeom>
              <a:avLst/>
              <a:gdLst/>
              <a:ahLst/>
              <a:cxnLst/>
              <a:rect l="l" t="t" r="r" b="b"/>
              <a:pathLst>
                <a:path w="2540470" h="2890297">
                  <a:moveTo>
                    <a:pt x="0" y="0"/>
                  </a:moveTo>
                  <a:lnTo>
                    <a:pt x="2540470" y="0"/>
                  </a:lnTo>
                  <a:lnTo>
                    <a:pt x="2540470" y="2890297"/>
                  </a:lnTo>
                  <a:lnTo>
                    <a:pt x="0" y="2890297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Freeform 8"/>
          <p:cNvSpPr/>
          <p:nvPr/>
        </p:nvSpPr>
        <p:spPr>
          <a:xfrm>
            <a:off x="1399580" y="2919393"/>
            <a:ext cx="6024151" cy="3093774"/>
          </a:xfrm>
          <a:custGeom>
            <a:avLst/>
            <a:gdLst/>
            <a:ahLst/>
            <a:cxnLst/>
            <a:rect l="l" t="t" r="r" b="b"/>
            <a:pathLst>
              <a:path w="6024151" h="3093774">
                <a:moveTo>
                  <a:pt x="0" y="0"/>
                </a:moveTo>
                <a:lnTo>
                  <a:pt x="6024151" y="0"/>
                </a:lnTo>
                <a:lnTo>
                  <a:pt x="6024151" y="3093775"/>
                </a:lnTo>
                <a:lnTo>
                  <a:pt x="0" y="309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798"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9" name="TextBox 9"/>
          <p:cNvSpPr txBox="1"/>
          <p:nvPr/>
        </p:nvSpPr>
        <p:spPr>
          <a:xfrm>
            <a:off x="16149952" y="2435504"/>
            <a:ext cx="1001906" cy="28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</a:pPr>
            <a:r>
              <a:rPr lang="ar-EG" sz="1399" b="1">
                <a:solidFill>
                  <a:srgbClr val="FFFFFF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اليوم الثالث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80360" y="2938443"/>
            <a:ext cx="8307514" cy="193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603"/>
              </a:lnSpc>
            </a:pPr>
            <a:r>
              <a:rPr lang="ar-EG" sz="66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حيث يقصر الذكاء الاصطناعي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80360" y="5247218"/>
            <a:ext cx="8307514" cy="52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032"/>
              </a:lnSpc>
            </a:pPr>
            <a:r>
              <a:rPr lang="ar-EG" sz="3000">
                <a:solidFill>
                  <a:srgbClr val="EF4444"/>
                </a:solidFill>
                <a:latin typeface="Cairo"/>
                <a:ea typeface="Cairo"/>
                <a:cs typeface="Cairo"/>
                <a:sym typeface="Cairo"/>
                <a:rtl/>
              </a:rPr>
              <a:t>فهم الحدود الحقيقية والشقوق الخفية في عالم الآلة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80361" y="6624504"/>
            <a:ext cx="8307514" cy="709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918"/>
              </a:lnSpc>
            </a:pP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بعد أن رأينا كيف يحاكي الذكاء الاصطناعي دماغنا البشري، نذهب اليوم في رحلة نقدية ذكية لنكتشف أين يفشل الحاسوب، ولماذا لا يملك بديهة أو وعياً حقيقياً.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01662" y="9115425"/>
            <a:ext cx="3986212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الذكاء الاصطناعي للمرحلة المتوسطة والثانوية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0125" y="9115425"/>
            <a:ext cx="2703909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درس نقدي مبسط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918494" y="1000125"/>
            <a:ext cx="1083631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قصة اليوم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68266" y="4161758"/>
            <a:ext cx="11751469" cy="156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836"/>
              </a:lnSpc>
            </a:pPr>
            <a:r>
              <a:rPr lang="ar-EG" sz="3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"بالأمس رأينا كيف بُني الذكاء الاصطناعي ليشبهنا.</a:t>
            </a:r>
          </a:p>
          <a:p>
            <a:pPr algn="r" rtl="1">
              <a:lnSpc>
                <a:spcPts val="5836"/>
              </a:lnSpc>
            </a:pPr>
            <a:r>
              <a:rPr lang="ar-EG" sz="3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واليوم نجد الشقوق."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68266" y="6584823"/>
            <a:ext cx="11751469" cy="33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20"/>
              </a:lnSpc>
            </a:pPr>
            <a:r>
              <a:rPr lang="ar-EG" sz="2100">
                <a:solidFill>
                  <a:srgbClr val="EF4444"/>
                </a:solidFill>
                <a:latin typeface="Cairo"/>
                <a:ea typeface="Cairo"/>
                <a:cs typeface="Cairo"/>
                <a:sym typeface="Cairo"/>
                <a:rtl/>
              </a:rPr>
              <a:t>دعونا نكتشف الحدود الحقيقية للآلة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604312" y="1000125"/>
            <a:ext cx="139782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أهداف التعلم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0281" y="1107281"/>
            <a:ext cx="820741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اليوم الثالث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بنهاية درس اليوم، ستتمكن من: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15450" y="3364706"/>
            <a:ext cx="7686675" cy="2000250"/>
            <a:chOff x="0" y="0"/>
            <a:chExt cx="10248900" cy="266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48900" cy="2667000"/>
            </a:xfrm>
            <a:custGeom>
              <a:avLst/>
              <a:gdLst/>
              <a:ahLst/>
              <a:cxnLst/>
              <a:rect l="l" t="t" r="r" b="b"/>
              <a:pathLst>
                <a:path w="10248900" h="2667000">
                  <a:moveTo>
                    <a:pt x="0" y="0"/>
                  </a:moveTo>
                  <a:lnTo>
                    <a:pt x="10248900" y="0"/>
                  </a:lnTo>
                  <a:lnTo>
                    <a:pt x="102489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15450" y="3364706"/>
            <a:ext cx="7686675" cy="57150"/>
            <a:chOff x="0" y="0"/>
            <a:chExt cx="102489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48900" cy="76200"/>
            </a:xfrm>
            <a:custGeom>
              <a:avLst/>
              <a:gdLst/>
              <a:ahLst/>
              <a:cxnLst/>
              <a:rect l="l" t="t" r="r" b="b"/>
              <a:pathLst>
                <a:path w="10248900" h="76200">
                  <a:moveTo>
                    <a:pt x="0" y="0"/>
                  </a:moveTo>
                  <a:lnTo>
                    <a:pt x="10248900" y="0"/>
                  </a:lnTo>
                  <a:lnTo>
                    <a:pt x="10248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73550" y="3364706"/>
            <a:ext cx="28575" cy="2000250"/>
            <a:chOff x="0" y="0"/>
            <a:chExt cx="38100" cy="2667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15450" y="5336381"/>
            <a:ext cx="7686675" cy="28575"/>
            <a:chOff x="0" y="0"/>
            <a:chExt cx="10248900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48900" cy="38100"/>
            </a:xfrm>
            <a:custGeom>
              <a:avLst/>
              <a:gdLst/>
              <a:ahLst/>
              <a:cxnLst/>
              <a:rect l="l" t="t" r="r" b="b"/>
              <a:pathLst>
                <a:path w="10248900" h="38100">
                  <a:moveTo>
                    <a:pt x="0" y="0"/>
                  </a:moveTo>
                  <a:lnTo>
                    <a:pt x="10248900" y="0"/>
                  </a:lnTo>
                  <a:lnTo>
                    <a:pt x="10248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15450" y="3364706"/>
            <a:ext cx="28575" cy="2000250"/>
            <a:chOff x="0" y="0"/>
            <a:chExt cx="38100" cy="266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373475" y="3832622"/>
            <a:ext cx="285750" cy="285750"/>
            <a:chOff x="0" y="0"/>
            <a:chExt cx="381000" cy="3810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300864" y="3707606"/>
            <a:ext cx="1901161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تحديد الحدود الأربعة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32345" y="4300538"/>
            <a:ext cx="4526880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تسمية وشرح </a:t>
            </a:r>
            <a:r>
              <a:rPr lang="en-US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4</a:t>
            </a: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 قيود حقيقية يعاني منها الذكاء الاصطناعي الحالي.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85875" y="3364706"/>
            <a:ext cx="7686675" cy="2000250"/>
            <a:chOff x="0" y="0"/>
            <a:chExt cx="10248900" cy="2667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48900" cy="2667000"/>
            </a:xfrm>
            <a:custGeom>
              <a:avLst/>
              <a:gdLst/>
              <a:ahLst/>
              <a:cxnLst/>
              <a:rect l="l" t="t" r="r" b="b"/>
              <a:pathLst>
                <a:path w="10248900" h="2667000">
                  <a:moveTo>
                    <a:pt x="0" y="0"/>
                  </a:moveTo>
                  <a:lnTo>
                    <a:pt x="10248900" y="0"/>
                  </a:lnTo>
                  <a:lnTo>
                    <a:pt x="102489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85875" y="3364706"/>
            <a:ext cx="7686675" cy="57150"/>
            <a:chOff x="0" y="0"/>
            <a:chExt cx="10248900" cy="76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48900" cy="76200"/>
            </a:xfrm>
            <a:custGeom>
              <a:avLst/>
              <a:gdLst/>
              <a:ahLst/>
              <a:cxnLst/>
              <a:rect l="l" t="t" r="r" b="b"/>
              <a:pathLst>
                <a:path w="10248900" h="76200">
                  <a:moveTo>
                    <a:pt x="0" y="0"/>
                  </a:moveTo>
                  <a:lnTo>
                    <a:pt x="10248900" y="0"/>
                  </a:lnTo>
                  <a:lnTo>
                    <a:pt x="10248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943975" y="3364706"/>
            <a:ext cx="28575" cy="2000250"/>
            <a:chOff x="0" y="0"/>
            <a:chExt cx="38100" cy="2667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5875" y="5336381"/>
            <a:ext cx="7686675" cy="28575"/>
            <a:chOff x="0" y="0"/>
            <a:chExt cx="10248900" cy="38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8900" cy="38100"/>
            </a:xfrm>
            <a:custGeom>
              <a:avLst/>
              <a:gdLst/>
              <a:ahLst/>
              <a:cxnLst/>
              <a:rect l="l" t="t" r="r" b="b"/>
              <a:pathLst>
                <a:path w="10248900" h="38100">
                  <a:moveTo>
                    <a:pt x="0" y="0"/>
                  </a:moveTo>
                  <a:lnTo>
                    <a:pt x="10248900" y="0"/>
                  </a:lnTo>
                  <a:lnTo>
                    <a:pt x="10248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85875" y="3364706"/>
            <a:ext cx="28575" cy="2000250"/>
            <a:chOff x="0" y="0"/>
            <a:chExt cx="38100" cy="266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43900" y="3729038"/>
            <a:ext cx="285750" cy="285750"/>
            <a:chOff x="0" y="0"/>
            <a:chExt cx="381000" cy="38100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132784" y="3707606"/>
            <a:ext cx="3039666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فهم "الببغاء العشوائي"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39125" y="4300538"/>
            <a:ext cx="5190525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تطبيق فكرة "الببغاء العشوائي" لنقد مخرجات ونصوص الذكاء الاصطناعي.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15450" y="5707856"/>
            <a:ext cx="7686675" cy="2000250"/>
            <a:chOff x="0" y="0"/>
            <a:chExt cx="10248900" cy="2667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8900" cy="2667000"/>
            </a:xfrm>
            <a:custGeom>
              <a:avLst/>
              <a:gdLst/>
              <a:ahLst/>
              <a:cxnLst/>
              <a:rect l="l" t="t" r="r" b="b"/>
              <a:pathLst>
                <a:path w="10248900" h="2667000">
                  <a:moveTo>
                    <a:pt x="0" y="0"/>
                  </a:moveTo>
                  <a:lnTo>
                    <a:pt x="10248900" y="0"/>
                  </a:lnTo>
                  <a:lnTo>
                    <a:pt x="102489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315450" y="5707856"/>
            <a:ext cx="7686675" cy="57150"/>
            <a:chOff x="0" y="0"/>
            <a:chExt cx="10248900" cy="76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248900" cy="76200"/>
            </a:xfrm>
            <a:custGeom>
              <a:avLst/>
              <a:gdLst/>
              <a:ahLst/>
              <a:cxnLst/>
              <a:rect l="l" t="t" r="r" b="b"/>
              <a:pathLst>
                <a:path w="10248900" h="76200">
                  <a:moveTo>
                    <a:pt x="0" y="0"/>
                  </a:moveTo>
                  <a:lnTo>
                    <a:pt x="10248900" y="0"/>
                  </a:lnTo>
                  <a:lnTo>
                    <a:pt x="10248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973550" y="5707856"/>
            <a:ext cx="28575" cy="2000250"/>
            <a:chOff x="0" y="0"/>
            <a:chExt cx="38100" cy="2667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315450" y="7679531"/>
            <a:ext cx="7686675" cy="28575"/>
            <a:chOff x="0" y="0"/>
            <a:chExt cx="10248900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8900" cy="38100"/>
            </a:xfrm>
            <a:custGeom>
              <a:avLst/>
              <a:gdLst/>
              <a:ahLst/>
              <a:cxnLst/>
              <a:rect l="l" t="t" r="r" b="b"/>
              <a:pathLst>
                <a:path w="10248900" h="38100">
                  <a:moveTo>
                    <a:pt x="0" y="0"/>
                  </a:moveTo>
                  <a:lnTo>
                    <a:pt x="10248900" y="0"/>
                  </a:lnTo>
                  <a:lnTo>
                    <a:pt x="10248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15450" y="5707856"/>
            <a:ext cx="28575" cy="2000250"/>
            <a:chOff x="0" y="0"/>
            <a:chExt cx="38100" cy="2667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373475" y="6175772"/>
            <a:ext cx="285750" cy="285750"/>
            <a:chOff x="0" y="0"/>
            <a:chExt cx="381000" cy="381000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4457959" y="6050756"/>
            <a:ext cx="1744066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معرفة أسباب القيود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09765" y="6643688"/>
            <a:ext cx="5049460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تفسير "لماذا" يوجد كل قيد، وليس مجرد حفظ وجوده كحقيقة صامتة.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85875" y="5707856"/>
            <a:ext cx="7686675" cy="2000250"/>
            <a:chOff x="0" y="0"/>
            <a:chExt cx="10248900" cy="2667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248900" cy="2667000"/>
            </a:xfrm>
            <a:custGeom>
              <a:avLst/>
              <a:gdLst/>
              <a:ahLst/>
              <a:cxnLst/>
              <a:rect l="l" t="t" r="r" b="b"/>
              <a:pathLst>
                <a:path w="10248900" h="2667000">
                  <a:moveTo>
                    <a:pt x="0" y="0"/>
                  </a:moveTo>
                  <a:lnTo>
                    <a:pt x="10248900" y="0"/>
                  </a:lnTo>
                  <a:lnTo>
                    <a:pt x="102489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85875" y="5707856"/>
            <a:ext cx="7686675" cy="57150"/>
            <a:chOff x="0" y="0"/>
            <a:chExt cx="10248900" cy="76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248900" cy="76200"/>
            </a:xfrm>
            <a:custGeom>
              <a:avLst/>
              <a:gdLst/>
              <a:ahLst/>
              <a:cxnLst/>
              <a:rect l="l" t="t" r="r" b="b"/>
              <a:pathLst>
                <a:path w="10248900" h="76200">
                  <a:moveTo>
                    <a:pt x="0" y="0"/>
                  </a:moveTo>
                  <a:lnTo>
                    <a:pt x="10248900" y="0"/>
                  </a:lnTo>
                  <a:lnTo>
                    <a:pt x="10248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943975" y="5707856"/>
            <a:ext cx="28575" cy="2000250"/>
            <a:chOff x="0" y="0"/>
            <a:chExt cx="38100" cy="2667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85875" y="7679531"/>
            <a:ext cx="7686675" cy="28575"/>
            <a:chOff x="0" y="0"/>
            <a:chExt cx="10248900" cy="381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248900" cy="38100"/>
            </a:xfrm>
            <a:custGeom>
              <a:avLst/>
              <a:gdLst/>
              <a:ahLst/>
              <a:cxnLst/>
              <a:rect l="l" t="t" r="r" b="b"/>
              <a:pathLst>
                <a:path w="10248900" h="38100">
                  <a:moveTo>
                    <a:pt x="0" y="0"/>
                  </a:moveTo>
                  <a:lnTo>
                    <a:pt x="10248900" y="0"/>
                  </a:lnTo>
                  <a:lnTo>
                    <a:pt x="10248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85875" y="5707856"/>
            <a:ext cx="28575" cy="2000250"/>
            <a:chOff x="0" y="0"/>
            <a:chExt cx="38100" cy="2667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100" cy="2667000"/>
            </a:xfrm>
            <a:custGeom>
              <a:avLst/>
              <a:gdLst/>
              <a:ahLst/>
              <a:cxnLst/>
              <a:rect l="l" t="t" r="r" b="b"/>
              <a:pathLst>
                <a:path w="38100" h="2667000">
                  <a:moveTo>
                    <a:pt x="0" y="0"/>
                  </a:moveTo>
                  <a:lnTo>
                    <a:pt x="38100" y="0"/>
                  </a:lnTo>
                  <a:lnTo>
                    <a:pt x="381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72462" y="6175772"/>
            <a:ext cx="357188" cy="285750"/>
            <a:chOff x="0" y="0"/>
            <a:chExt cx="476250" cy="381000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311378" y="6050756"/>
            <a:ext cx="2789634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التفكير النقدي الواعي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887972" y="6643688"/>
            <a:ext cx="4741688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التفكير بشكل نقدي قبل الوثوق التام في إجابات الآلة الواثقة ظاهرياً.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63800" y="3095625"/>
            <a:ext cx="866775" cy="64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04"/>
              </a:lnSpc>
            </a:pPr>
            <a:r>
              <a:rPr lang="en-US" sz="49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01277" y="3886200"/>
            <a:ext cx="3464719" cy="83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66"/>
              </a:lnSpc>
            </a:pPr>
            <a:r>
              <a:rPr lang="ar-EG" sz="5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حدود خفية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0964" y="5055860"/>
            <a:ext cx="7479611" cy="47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99"/>
              </a:lnSpc>
            </a:pPr>
            <a:r>
              <a:rPr lang="ar-EG" sz="2499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ما بين قدرات الآلة المذهلة.. وحدودها الخفية التي لا نراها للوهلة الأولى.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433822" y="1000125"/>
            <a:ext cx="356830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قائمة الإنجازات المذهلة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77045" y="1107281"/>
            <a:ext cx="21449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الأول: حدود خفية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يستطيع بالفعل أن: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953894" y="3364706"/>
            <a:ext cx="5048231" cy="1857375"/>
            <a:chOff x="0" y="0"/>
            <a:chExt cx="6730975" cy="2476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953894" y="3364706"/>
            <a:ext cx="5048231" cy="57150"/>
            <a:chOff x="0" y="0"/>
            <a:chExt cx="6730975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73550" y="3364706"/>
            <a:ext cx="28575" cy="1857375"/>
            <a:chOff x="0" y="0"/>
            <a:chExt cx="38100" cy="2476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53894" y="5193506"/>
            <a:ext cx="5048231" cy="28575"/>
            <a:chOff x="0" y="0"/>
            <a:chExt cx="6730975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953894" y="3364706"/>
            <a:ext cx="28575" cy="1857375"/>
            <a:chOff x="0" y="0"/>
            <a:chExt cx="38100" cy="2476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16338" y="3720113"/>
            <a:ext cx="300038" cy="342900"/>
            <a:chOff x="0" y="0"/>
            <a:chExt cx="400050" cy="4572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83" b="-208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911187" y="3650456"/>
            <a:ext cx="1333700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يهزم أبطال العالم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39644" y="4208859"/>
            <a:ext cx="4476731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يتفوق على أقوى أساتذة الشطرنج والالعاب الاستراتيجية المعقدة في العالم.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19913" y="3364706"/>
            <a:ext cx="5048231" cy="1857375"/>
            <a:chOff x="0" y="0"/>
            <a:chExt cx="6730975" cy="2476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19913" y="3364706"/>
            <a:ext cx="5048231" cy="57150"/>
            <a:chOff x="0" y="0"/>
            <a:chExt cx="6730975" cy="76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639569" y="3364706"/>
            <a:ext cx="28575" cy="1857375"/>
            <a:chOff x="0" y="0"/>
            <a:chExt cx="38100" cy="2476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19913" y="5193506"/>
            <a:ext cx="5048231" cy="28575"/>
            <a:chOff x="0" y="0"/>
            <a:chExt cx="6730975" cy="38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19913" y="3364706"/>
            <a:ext cx="28575" cy="1857375"/>
            <a:chOff x="0" y="0"/>
            <a:chExt cx="38100" cy="2476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82357" y="3720113"/>
            <a:ext cx="300038" cy="342900"/>
            <a:chOff x="0" y="0"/>
            <a:chExt cx="400050" cy="45720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339967" y="3650456"/>
            <a:ext cx="1570939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يكتشف الأورام بدقة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5663" y="4208859"/>
            <a:ext cx="4476731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يساعد الأطباء في تشخيص الأمراض بدقة تفوق أحياناً مهارة الخبراء البشر.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85875" y="3364706"/>
            <a:ext cx="5048288" cy="1857375"/>
            <a:chOff x="0" y="0"/>
            <a:chExt cx="6731051" cy="2476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85875" y="3364706"/>
            <a:ext cx="5048288" cy="57150"/>
            <a:chOff x="0" y="0"/>
            <a:chExt cx="6731051" cy="76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05588" y="3364706"/>
            <a:ext cx="28575" cy="1857375"/>
            <a:chOff x="0" y="0"/>
            <a:chExt cx="38100" cy="2476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875" y="5193506"/>
            <a:ext cx="5048288" cy="28575"/>
            <a:chOff x="0" y="0"/>
            <a:chExt cx="6731051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5875" y="3364706"/>
            <a:ext cx="28575" cy="1857375"/>
            <a:chOff x="0" y="0"/>
            <a:chExt cx="38100" cy="2476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619788" y="3720113"/>
            <a:ext cx="428625" cy="342900"/>
            <a:chOff x="0" y="0"/>
            <a:chExt cx="571500" cy="457200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4262114" y="3650456"/>
            <a:ext cx="1186224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يترجم </a:t>
            </a:r>
            <a:r>
              <a:rPr lang="en-US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100</a:t>
            </a: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 لغة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71625" y="4208859"/>
            <a:ext cx="4476788" cy="2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يقوم بالترجمة الفورية بين عشرات اللغات المختلفة في أجزاء من الثانية.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1953894" y="5507831"/>
            <a:ext cx="5048231" cy="1857375"/>
            <a:chOff x="0" y="0"/>
            <a:chExt cx="6730975" cy="24765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953894" y="5507831"/>
            <a:ext cx="5048231" cy="57150"/>
            <a:chOff x="0" y="0"/>
            <a:chExt cx="6730975" cy="76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6973550" y="5507831"/>
            <a:ext cx="28575" cy="1857375"/>
            <a:chOff x="0" y="0"/>
            <a:chExt cx="38100" cy="24765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953894" y="7336631"/>
            <a:ext cx="5048231" cy="28575"/>
            <a:chOff x="0" y="0"/>
            <a:chExt cx="6730975" cy="381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953894" y="5507831"/>
            <a:ext cx="28575" cy="1857375"/>
            <a:chOff x="0" y="0"/>
            <a:chExt cx="38100" cy="24765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6373475" y="5863228"/>
            <a:ext cx="342900" cy="342900"/>
            <a:chOff x="0" y="0"/>
            <a:chExt cx="457200" cy="457200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83" b="-208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4849094" y="5793581"/>
            <a:ext cx="1352931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يولد صوراً واقعية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239644" y="6351984"/>
            <a:ext cx="4476731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يبتكر لوحات فنية وصوراً فائقة الدقة والواقعية بمجرد كتابة وصف بسيط.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619913" y="5507831"/>
            <a:ext cx="5048231" cy="1857375"/>
            <a:chOff x="0" y="0"/>
            <a:chExt cx="6730975" cy="24765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19913" y="5507831"/>
            <a:ext cx="5048231" cy="57150"/>
            <a:chOff x="0" y="0"/>
            <a:chExt cx="6730975" cy="76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639569" y="5507831"/>
            <a:ext cx="28575" cy="1857375"/>
            <a:chOff x="0" y="0"/>
            <a:chExt cx="38100" cy="24765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619913" y="7336631"/>
            <a:ext cx="5048231" cy="28575"/>
            <a:chOff x="0" y="0"/>
            <a:chExt cx="6730975" cy="381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19913" y="5507831"/>
            <a:ext cx="28575" cy="1857375"/>
            <a:chOff x="0" y="0"/>
            <a:chExt cx="38100" cy="24765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039494" y="5863228"/>
            <a:ext cx="342900" cy="342900"/>
            <a:chOff x="0" y="0"/>
            <a:chExt cx="457200" cy="45720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9191301" y="5793581"/>
            <a:ext cx="1676743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يؤلف ألحاناً موسيقية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905663" y="6351984"/>
            <a:ext cx="4476731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يصنع مقاطع موسيقية متكاملة في أي نمط فني يطلبه المستخدم خلال ثوانٍ.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285875" y="5507831"/>
            <a:ext cx="5048288" cy="1857375"/>
            <a:chOff x="0" y="0"/>
            <a:chExt cx="6731051" cy="24765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731000" cy="2476500"/>
            </a:xfrm>
            <a:custGeom>
              <a:avLst/>
              <a:gdLst/>
              <a:ahLst/>
              <a:cxnLst/>
              <a:rect l="l" t="t" r="r" b="b"/>
              <a:pathLst>
                <a:path w="6731000" h="2476500">
                  <a:moveTo>
                    <a:pt x="0" y="0"/>
                  </a:moveTo>
                  <a:lnTo>
                    <a:pt x="6731000" y="0"/>
                  </a:lnTo>
                  <a:lnTo>
                    <a:pt x="6731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85875" y="5507831"/>
            <a:ext cx="5048288" cy="57150"/>
            <a:chOff x="0" y="0"/>
            <a:chExt cx="6731051" cy="76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731000" cy="76200"/>
            </a:xfrm>
            <a:custGeom>
              <a:avLst/>
              <a:gdLst/>
              <a:ahLst/>
              <a:cxnLst/>
              <a:rect l="l" t="t" r="r" b="b"/>
              <a:pathLst>
                <a:path w="6731000" h="762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305588" y="5507831"/>
            <a:ext cx="28575" cy="1857375"/>
            <a:chOff x="0" y="0"/>
            <a:chExt cx="38100" cy="24765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85875" y="7336631"/>
            <a:ext cx="5048288" cy="28575"/>
            <a:chOff x="0" y="0"/>
            <a:chExt cx="6731051" cy="381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731000" cy="38100"/>
            </a:xfrm>
            <a:custGeom>
              <a:avLst/>
              <a:gdLst/>
              <a:ahLst/>
              <a:cxnLst/>
              <a:rect l="l" t="t" r="r" b="b"/>
              <a:pathLst>
                <a:path w="6731000" h="38100">
                  <a:moveTo>
                    <a:pt x="0" y="0"/>
                  </a:moveTo>
                  <a:lnTo>
                    <a:pt x="6731000" y="0"/>
                  </a:lnTo>
                  <a:lnTo>
                    <a:pt x="673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85875" y="5507831"/>
            <a:ext cx="28575" cy="1857375"/>
            <a:chOff x="0" y="0"/>
            <a:chExt cx="38100" cy="24765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05513" y="5863228"/>
            <a:ext cx="342900" cy="342900"/>
            <a:chOff x="0" y="0"/>
            <a:chExt cx="457200" cy="457200"/>
          </a:xfrm>
        </p:grpSpPr>
        <p:sp>
          <p:nvSpPr>
            <p:cNvPr id="88" name="Freeform 88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3822059" y="5793581"/>
            <a:ext cx="1712004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يجتاز اختبارات صعبة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571625" y="6351984"/>
            <a:ext cx="4476788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ينجح في اختبارات نقابة المحاماة والطب المعقدة ضمن أفضل </a:t>
            </a:r>
            <a:r>
              <a:rPr lang="en-US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10</a:t>
            </a: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% من المتقدمين.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169628" y="1000125"/>
            <a:ext cx="283249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المنعطف المفاجئ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1843" y="1107281"/>
            <a:ext cx="210011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الأول:حدود خفية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572500" y="3856958"/>
            <a:ext cx="1143000" cy="1143000"/>
            <a:chOff x="0" y="0"/>
            <a:chExt cx="1524000" cy="1524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25" b="-62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50406" y="5901261"/>
            <a:ext cx="11787188" cy="156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836"/>
              </a:lnSpc>
            </a:pPr>
            <a:r>
              <a:rPr lang="ar-EG" sz="3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"إذن.. ما الذي لا يستطيع الذكاء الاصطناعي فعله؟</a:t>
            </a:r>
          </a:p>
          <a:p>
            <a:pPr algn="r" rtl="1">
              <a:lnSpc>
                <a:spcPts val="5836"/>
              </a:lnSpc>
            </a:pPr>
            <a:r>
              <a:rPr lang="ar-EG" sz="3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أكثر بكثير مما تظن!"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604303" y="1000125"/>
            <a:ext cx="139782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جذر المشكلة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77045" y="1107281"/>
            <a:ext cx="21449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الأول: حدود خفية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كل قيود الذكاء الاصطناعي تشترك في جذر واحد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3378994"/>
            <a:ext cx="7843838" cy="771525"/>
            <a:chOff x="0" y="0"/>
            <a:chExt cx="10458450" cy="1028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490579"/>
            <a:ext cx="7843838" cy="548354"/>
            <a:chOff x="0" y="0"/>
            <a:chExt cx="10458450" cy="731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🧠 أنت كإنسان (التجربة الحية)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0162" y="3378994"/>
            <a:ext cx="7843838" cy="771525"/>
            <a:chOff x="0" y="0"/>
            <a:chExt cx="10458450" cy="1028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0162" y="3490579"/>
            <a:ext cx="7843838" cy="548354"/>
            <a:chOff x="0" y="0"/>
            <a:chExt cx="10458450" cy="7311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🤖 الذكاء الاصطناعي (المعالجة الرقمية)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145712" y="4391616"/>
            <a:ext cx="15420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عشت وتفاعلت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31316" y="4391616"/>
            <a:ext cx="2961084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مع العالم الحقيقي بحواسك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42558" y="4391616"/>
            <a:ext cx="1115692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قرأ فقط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31452" y="4391616"/>
            <a:ext cx="2330196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نصوصاً كُتبت عن العالم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00162" y="4922044"/>
            <a:ext cx="15687675" cy="771525"/>
            <a:chOff x="0" y="0"/>
            <a:chExt cx="20916900" cy="1028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16900" cy="1028700"/>
            </a:xfrm>
            <a:custGeom>
              <a:avLst/>
              <a:gdLst/>
              <a:ahLst/>
              <a:cxnLst/>
              <a:rect l="l" t="t" r="r" b="b"/>
              <a:pathLst>
                <a:path w="20916900" h="1028700">
                  <a:moveTo>
                    <a:pt x="0" y="0"/>
                  </a:moveTo>
                  <a:lnTo>
                    <a:pt x="20916900" y="0"/>
                  </a:lnTo>
                  <a:lnTo>
                    <a:pt x="2091690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834998" y="5166722"/>
            <a:ext cx="85280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شعرت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30100" y="5166722"/>
            <a:ext cx="3293269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بالبرودة، الحرارة، الألم، والمشاعر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42558" y="5166722"/>
            <a:ext cx="111569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عالج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04009" y="5166722"/>
            <a:ext cx="3807619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بيانات تصف تلك المشاعر والأحاسيس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38824" y="5934666"/>
            <a:ext cx="948976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تساءلت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62259" y="5934666"/>
            <a:ext cx="2989659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وبحثت عن الأسباب والفضول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54772" y="5934666"/>
            <a:ext cx="100347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تنبأ فقط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46909" y="5934666"/>
            <a:ext cx="3593306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بالكلمة أو الرمز التالي الأكثر احتمالاً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6716375" y="8447484"/>
            <a:ext cx="285750" cy="285750"/>
            <a:chOff x="0" y="0"/>
            <a:chExt cx="381000" cy="38100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129338" y="8322469"/>
            <a:ext cx="10444162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لم يعش أبداً. ومن هنا تبدأ كل الشقوق والقيود التي سنراها اليوم.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95780" y="3095625"/>
            <a:ext cx="834819" cy="64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04"/>
              </a:lnSpc>
            </a:pPr>
            <a:r>
              <a:rPr lang="en-US" sz="4900" b="1" dirty="0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17609" y="3886200"/>
            <a:ext cx="5212966" cy="81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66"/>
              </a:lnSpc>
            </a:pPr>
            <a:r>
              <a:rPr lang="ar-EG" sz="5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البديهة وحس الفطرة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74905" y="5564683"/>
            <a:ext cx="6655670" cy="2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99"/>
              </a:lnSpc>
            </a:pPr>
            <a:r>
              <a:rPr lang="ar-EG" sz="2499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مشكلة المعرفة غير المرئية التي نملكها بالفطرة والعيش في العالم.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476068" y="1000125"/>
            <a:ext cx="152605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ما هي البديهة؟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3532584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الثاني: البديهة وحس الفطرة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57438" y="3077823"/>
            <a:ext cx="13573125" cy="324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أنت تعرف أن النار حارقة دون أن تحترق في كل مرة.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وتعرف أن عبارة "أنا بخير" تعني العكس تماماً أحياناً.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وتعرف أنه إذا كان الكوب قريباً من الحافة فإنه سيسقط.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أنت لم تتعلم هذه الأشياء من كتاب مدرسي.. </a:t>
            </a:r>
            <a:r>
              <a:rPr lang="ar-EG" sz="3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لقد تعلمتها من العيش في هذا العالم!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7438" y="7659233"/>
            <a:ext cx="13573125" cy="33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20"/>
              </a:lnSpc>
            </a:pPr>
            <a:r>
              <a:rPr lang="ar-EG" sz="2100">
                <a:solidFill>
                  <a:srgbClr val="EA580C"/>
                </a:solidFill>
                <a:latin typeface="Cairo"/>
                <a:ea typeface="Cairo"/>
                <a:cs typeface="Cairo"/>
                <a:sym typeface="Cairo"/>
                <a:rtl/>
              </a:rPr>
              <a:t>البديهة البشريّة (</a:t>
            </a:r>
            <a:r>
              <a:rPr lang="en-US" sz="2100">
                <a:solidFill>
                  <a:srgbClr val="EA580C"/>
                </a:solidFill>
                <a:latin typeface="Cairo"/>
                <a:ea typeface="Cairo"/>
                <a:cs typeface="Cairo"/>
                <a:sym typeface="Cairo"/>
              </a:rPr>
              <a:t>Common Sense</a:t>
            </a:r>
            <a:r>
              <a:rPr lang="ar-EG" sz="2100">
                <a:solidFill>
                  <a:srgbClr val="EA580C"/>
                </a:solidFill>
                <a:latin typeface="Cairo"/>
                <a:ea typeface="Cairo"/>
                <a:cs typeface="Cairo"/>
                <a:sym typeface="Cairo"/>
                <a:rtl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762434" y="1000125"/>
            <a:ext cx="3239691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الخريطة مقابل الواقع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3532584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الثاني: البديهة وحس الفطرة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يعرف الخريطة.. وأنت تعرف الواقع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3378994"/>
            <a:ext cx="7843838" cy="771525"/>
            <a:chOff x="0" y="0"/>
            <a:chExt cx="10458450" cy="1028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490579"/>
            <a:ext cx="7843838" cy="548354"/>
            <a:chOff x="0" y="0"/>
            <a:chExt cx="10458450" cy="731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🧠 أنت كإنسان (الواقع والتجربة)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0162" y="3378994"/>
            <a:ext cx="7843838" cy="771525"/>
            <a:chOff x="0" y="0"/>
            <a:chExt cx="10458450" cy="1028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0162" y="3490579"/>
            <a:ext cx="7843838" cy="548354"/>
            <a:chOff x="0" y="0"/>
            <a:chExt cx="10458450" cy="7311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🤖 الذكاء الاصطناعي (الخريطة والنصوص)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097620" y="4391616"/>
            <a:ext cx="1590180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تملك تجربة حقيقية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22894" y="4391616"/>
            <a:ext cx="2807494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ومباشرة مع العالم المادي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83485" y="4391616"/>
            <a:ext cx="1474765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يملك نصوصاً فقط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09395" y="4391616"/>
            <a:ext cx="1923602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كُتبت لوصف هذا العالم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00162" y="4922044"/>
            <a:ext cx="15687675" cy="771525"/>
            <a:chOff x="0" y="0"/>
            <a:chExt cx="20916900" cy="1028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16900" cy="1028700"/>
            </a:xfrm>
            <a:custGeom>
              <a:avLst/>
              <a:gdLst/>
              <a:ahLst/>
              <a:cxnLst/>
              <a:rect l="l" t="t" r="r" b="b"/>
              <a:pathLst>
                <a:path w="20916900" h="1028700">
                  <a:moveTo>
                    <a:pt x="0" y="0"/>
                  </a:moveTo>
                  <a:lnTo>
                    <a:pt x="20916900" y="0"/>
                  </a:lnTo>
                  <a:lnTo>
                    <a:pt x="2091690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73100" y="5166722"/>
            <a:ext cx="3314700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شعرت بالبرودة والحرارة والألم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57408" y="5166722"/>
            <a:ext cx="1115692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وتعرف معناها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5601" y="5166722"/>
            <a:ext cx="772649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قرأ أوصافاً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86200" y="5166722"/>
            <a:ext cx="3796903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للبرودة والحرارة دون أن يشعر بها 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10450" y="5938237"/>
            <a:ext cx="1577350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شاهدت كوباً يسقط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01400" y="5938237"/>
            <a:ext cx="3268266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وينكسر وتفهم الجاذبية بالفطرة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99038" y="5938237"/>
            <a:ext cx="85921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قرأ نظريات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07594" y="5938237"/>
            <a:ext cx="4068366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عن الجاذبية وسقوط الأكواب في الكتب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00162" y="6465094"/>
            <a:ext cx="15687675" cy="771525"/>
            <a:chOff x="0" y="0"/>
            <a:chExt cx="20916900" cy="1028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916900" cy="1028700"/>
            </a:xfrm>
            <a:custGeom>
              <a:avLst/>
              <a:gdLst/>
              <a:ahLst/>
              <a:cxnLst/>
              <a:rect l="l" t="t" r="r" b="b"/>
              <a:pathLst>
                <a:path w="20916900" h="1028700">
                  <a:moveTo>
                    <a:pt x="0" y="0"/>
                  </a:moveTo>
                  <a:lnTo>
                    <a:pt x="20916900" y="0"/>
                  </a:lnTo>
                  <a:lnTo>
                    <a:pt x="2091690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108906" y="6706200"/>
            <a:ext cx="2578894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سمعت نبرة صوت قلقة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33584" y="6706200"/>
            <a:ext cx="2575322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وفهمت ما وراء الكلمات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15546" y="6706200"/>
            <a:ext cx="1442704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قرأ الكلمة المكتوبة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36169" y="6706200"/>
            <a:ext cx="2971800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"أنا قلق" دون إدراك للمشاعر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6680656" y="8447484"/>
            <a:ext cx="321469" cy="285750"/>
            <a:chOff x="0" y="0"/>
            <a:chExt cx="428625" cy="381000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428625" cy="3810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0" y="0"/>
                  </a:moveTo>
                  <a:lnTo>
                    <a:pt x="428625" y="0"/>
                  </a:lnTo>
                  <a:lnTo>
                    <a:pt x="4286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50" b="-125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111353" y="8322469"/>
            <a:ext cx="11426428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الذكاء الاصطناعي يعرف "خريطة" العالم بدقة شديدة، لكنه لم يطأ أرض "الواقع" أبداً!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90737" y="1000125"/>
            <a:ext cx="1811388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مشكلة "أنا بخير"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3532584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الثاني: البديهة وحس الفطرة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كيف يقرأ البشر المشاعر الحقيقية وراء الكلمات؟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87800" y="3502228"/>
            <a:ext cx="314325" cy="314325"/>
            <a:chOff x="0" y="0"/>
            <a:chExt cx="419100" cy="419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72" b="-2272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51406" y="3364706"/>
            <a:ext cx="5293519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السيناريو الأول: صديقك يقول "أنا بخير"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412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نبرة هادئة وابتسامة طبيعية 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412" y="5055394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يتحدث بصوت مستقر، ويبتسم ابتسامة حقيقية، وينظر في عينيك مباشرة أثناء الحديث.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088" y="6068616"/>
            <a:ext cx="7158038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المعنى الحقيقي: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صديقك بخير فعلاً ولا يعاني من أي مشكلة. الكلمات تطابق الواقع تماماً.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9588" y="3502228"/>
            <a:ext cx="314325" cy="314325"/>
            <a:chOff x="0" y="0"/>
            <a:chExt cx="419100" cy="419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2" b="-2272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86038" y="3364706"/>
            <a:ext cx="5400675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السيناريو الثاني: صديقك يقول "أنا بخير"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صوت يرتجف ونظرات متجنبة 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5055394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نبرة صوته مهتزة، ويتجنب النظر إليك، ولغة جسده منغلقة ويحاول المغادرة سريعاً.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المعنى الحقيقي: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صديقك ليس بخير على الإطلاق! إنه يمر بضيق ويحتاج للمساعدة، والكلمات هنا تعني عكسها تماماً.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680656" y="8447484"/>
            <a:ext cx="321469" cy="285750"/>
            <a:chOff x="0" y="0"/>
            <a:chExt cx="428625" cy="3810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28625" cy="3810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0" y="0"/>
                  </a:moveTo>
                  <a:lnTo>
                    <a:pt x="428625" y="0"/>
                  </a:lnTo>
                  <a:lnTo>
                    <a:pt x="4286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50" b="-125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93106" y="8322469"/>
            <a:ext cx="14544675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يقرأ الحروف والكلمات فقط.. بينما أنت كإنسان تقرأ لغة الجسد، وتسمع نبرة الصوت، وتشعر بصديقك!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Freeform 4"/>
          <p:cNvSpPr/>
          <p:nvPr/>
        </p:nvSpPr>
        <p:spPr>
          <a:xfrm rot="-5400000">
            <a:off x="2662531" y="3187373"/>
            <a:ext cx="4660292" cy="4438030"/>
          </a:xfrm>
          <a:custGeom>
            <a:avLst/>
            <a:gdLst/>
            <a:ahLst/>
            <a:cxnLst/>
            <a:rect l="l" t="t" r="r" b="b"/>
            <a:pathLst>
              <a:path w="4660292" h="4438030">
                <a:moveTo>
                  <a:pt x="0" y="0"/>
                </a:moveTo>
                <a:lnTo>
                  <a:pt x="4660292" y="0"/>
                </a:lnTo>
                <a:lnTo>
                  <a:pt x="4660292" y="4438030"/>
                </a:lnTo>
                <a:lnTo>
                  <a:pt x="0" y="4438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70" r="-34664"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5" name="TextBox 5"/>
          <p:cNvSpPr txBox="1"/>
          <p:nvPr/>
        </p:nvSpPr>
        <p:spPr>
          <a:xfrm>
            <a:off x="13348097" y="1000125"/>
            <a:ext cx="3654028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مشكلة الأريكة والسلالم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1107281"/>
            <a:ext cx="3532584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الثاني: البديهة وحس الفطرة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مشكلة الأريكة والسلالم: غياب الفهم المادي والبديهي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93397" y="3786559"/>
            <a:ext cx="7808728" cy="817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937"/>
              </a:lnSpc>
            </a:pPr>
            <a:r>
              <a:rPr lang="ar-EG" sz="18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تخيل أنك تريد نقل أريكة جديدة إلى شقتك، وتساءلت: </a:t>
            </a: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"هل يمكننا حمل هذه الأريكة وصعود هذا السلم الضيق بها؟"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93397" y="4937112"/>
            <a:ext cx="7808728" cy="84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100"/>
              </a:lnSpc>
            </a:pP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أنت كإنسان:</a:t>
            </a: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تنظر إلى السلم والأريكة، وتقدّر فوراً وبشكل بديهي: العرض، الزوايا، الالتفاف عند زاوية السلم، وحجم الأريكة. تدرك الواقع لأنك تعيش فيه وتتحرك داخله.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93397" y="6534360"/>
            <a:ext cx="7808728" cy="1153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100"/>
              </a:lnSpc>
            </a:pP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الاصطناعي: </a:t>
            </a:r>
            <a:r>
              <a:rPr lang="ar-EG" sz="19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  <a:rtl/>
              </a:rPr>
              <a:t>يحل المسألة كمعادلة رياضية على الورق، بينما يحلها الإنسان كجسم مادي يتحرك في فضاء ثلاثي الأبعاد. غياب الجسد يعني غياب البديهة المادية.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62472" y="1000125"/>
            <a:ext cx="293965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لماذا تغيب البديهة؟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3532584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الثاني: البديهة وحس الفطرة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414588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الأسباب الثلاثة الكبرى لغياب حس الفطرة والبديهة: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230600" y="4029075"/>
            <a:ext cx="771525" cy="685800"/>
            <a:chOff x="0" y="0"/>
            <a:chExt cx="1028700" cy="9144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137457" y="5364956"/>
            <a:ext cx="186466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📄 تلقين مباشر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44425" y="6125766"/>
            <a:ext cx="4457700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الذكاء الاصطناعي تعلم كل شيء من الكتب والمواقع الإلكترونية؛ فهو يملك وصفاً للأشياء دون أن يمر بتجربتها الحقيقية أبداً.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515600" y="4029075"/>
            <a:ext cx="857250" cy="685800"/>
            <a:chOff x="0" y="0"/>
            <a:chExt cx="1143000" cy="9144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15150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🚫 بلا جسد أو حواس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5150" y="6125766"/>
            <a:ext cx="4457700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الآلة لم تلمس النار لتخافها، ولم تذق طعماً، ولم تشعر بالألم أو الخجل أو نبرة الصوت القلقة؛ تفتقر تماماً للتفاعل المادي مع الواقع.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057775" y="4029075"/>
            <a:ext cx="685800" cy="685800"/>
            <a:chOff x="0" y="0"/>
            <a:chExt cx="914400" cy="9144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85875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🔁 أنماط لا فهم حقيقي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6125766"/>
            <a:ext cx="4457700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الحاسوب يربط الكلمات بالكلمات الأخرى بناءً على الاحتمالات الإحصائية المتكررة، وليس بناءً على فهم حقيقي لكيفية عمل الكون.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16200" y="3095625"/>
            <a:ext cx="714375" cy="64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04"/>
              </a:lnSpc>
            </a:pPr>
            <a:r>
              <a:rPr lang="en-US" sz="4900" b="1" dirty="0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49732" y="3886200"/>
            <a:ext cx="7280843" cy="81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66"/>
              </a:lnSpc>
            </a:pPr>
            <a:r>
              <a:rPr lang="ar-EG" sz="5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الابتكار والقدرة على الاستنتاج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71011" y="5559817"/>
            <a:ext cx="9159564" cy="47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99"/>
              </a:lnSpc>
            </a:pPr>
            <a:r>
              <a:rPr lang="ar-EG" sz="2499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لماذا يعجز الذكاء الاصطناعي عن التفكير خارج الصندوق وحل المشكلات الجديدة تماماً؟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485688" y="1000125"/>
            <a:ext cx="1516447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ما هو الابتكار؟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6840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الثالث: الابتكار والقدرة على الاستنتاج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57438" y="2746362"/>
            <a:ext cx="13573125" cy="275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أول مرة رأيت فيها سلماً حلزونياً — فهمت كيف تصعده.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أول مرة واجهت فيها مشكلة بلا كتيب تعليمات — قلت لنفسك: "دعني أحاول".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لا يملك "دعني أحاول".. </a:t>
            </a:r>
          </a:p>
          <a:p>
            <a:pPr algn="r" rtl="1">
              <a:lnSpc>
                <a:spcPts val="5222"/>
              </a:lnSpc>
            </a:pPr>
            <a:r>
              <a:rPr lang="ar-EG" sz="3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هو يملك فقط: </a:t>
            </a:r>
            <a:r>
              <a:rPr lang="ar-EG" sz="32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"ما هو أقرب شيء يشبه هذا في البيانات التي تدربت عليها؟"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7438" y="7819244"/>
            <a:ext cx="13573125" cy="33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20"/>
              </a:lnSpc>
            </a:pPr>
            <a:r>
              <a:rPr lang="ar-EG" sz="2100">
                <a:solidFill>
                  <a:srgbClr val="0284C7"/>
                </a:solidFill>
                <a:latin typeface="Cairo"/>
                <a:ea typeface="Cairo"/>
                <a:cs typeface="Cairo"/>
                <a:sym typeface="Cairo"/>
                <a:rtl/>
              </a:rPr>
              <a:t>القدرة على مواجهة المواقف الجديدة (</a:t>
            </a:r>
            <a:r>
              <a:rPr lang="en-US" sz="2100">
                <a:solidFill>
                  <a:srgbClr val="0284C7"/>
                </a:solidFill>
                <a:latin typeface="Cairo"/>
                <a:ea typeface="Cairo"/>
                <a:cs typeface="Cairo"/>
                <a:sym typeface="Cairo"/>
              </a:rPr>
              <a:t>Novelty</a:t>
            </a:r>
            <a:r>
              <a:rPr lang="ar-EG" sz="2100">
                <a:solidFill>
                  <a:srgbClr val="0284C7"/>
                </a:solidFill>
                <a:latin typeface="Cairo"/>
                <a:ea typeface="Cairo"/>
                <a:cs typeface="Cairo"/>
                <a:sym typeface="Cairo"/>
                <a:rtl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222956" y="1000125"/>
            <a:ext cx="4779169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الاستنتاج مقابل مطابقة الأنماط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6840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الثالث: الابتكار والقدرة على الاستنتاج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الاستنتاج البشري الذكي مقابل مطابقة الأنماط الرقمية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3378994"/>
            <a:ext cx="7843838" cy="771525"/>
            <a:chOff x="0" y="0"/>
            <a:chExt cx="10458450" cy="1028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490579"/>
            <a:ext cx="7843838" cy="548354"/>
            <a:chOff x="0" y="0"/>
            <a:chExt cx="10458450" cy="731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🧠 الاستنتاج البشري (</a:t>
              </a:r>
              <a:r>
                <a:rPr lang="en-US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</a:rPr>
                <a:t>Human Reasoning</a:t>
              </a: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0162" y="3378994"/>
            <a:ext cx="7843838" cy="771525"/>
            <a:chOff x="0" y="0"/>
            <a:chExt cx="10458450" cy="1028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58450" cy="1028700"/>
            </a:xfrm>
            <a:custGeom>
              <a:avLst/>
              <a:gdLst/>
              <a:ahLst/>
              <a:cxnLst/>
              <a:rect l="l" t="t" r="r" b="b"/>
              <a:pathLst>
                <a:path w="10458450" h="1028700">
                  <a:moveTo>
                    <a:pt x="0" y="0"/>
                  </a:moveTo>
                  <a:lnTo>
                    <a:pt x="10458450" y="0"/>
                  </a:lnTo>
                  <a:lnTo>
                    <a:pt x="1045845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0162" y="3490579"/>
            <a:ext cx="7843838" cy="548354"/>
            <a:chOff x="0" y="0"/>
            <a:chExt cx="10458450" cy="7311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58451" cy="731141"/>
            </a:xfrm>
            <a:custGeom>
              <a:avLst/>
              <a:gdLst/>
              <a:ahLst/>
              <a:cxnLst/>
              <a:rect l="l" t="t" r="r" b="b"/>
              <a:pathLst>
                <a:path w="10458451" h="731141">
                  <a:moveTo>
                    <a:pt x="0" y="0"/>
                  </a:moveTo>
                  <a:lnTo>
                    <a:pt x="10458451" y="0"/>
                  </a:lnTo>
                  <a:lnTo>
                    <a:pt x="10458451" y="731141"/>
                  </a:lnTo>
                  <a:lnTo>
                    <a:pt x="0" y="7311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719" b="-22871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458450" cy="731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🤖 مطابقة الأنماط في الآلة (</a:t>
              </a:r>
              <a:r>
                <a:rPr lang="en-US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</a:rPr>
                <a:t>Pattern Matching</a:t>
              </a: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681112" y="4391616"/>
            <a:ext cx="10066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يفهم "لماذا"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419" y="4391616"/>
            <a:ext cx="5018484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تحدث الأشياء ويطبقها على مواقف جديدة تماماً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19979" y="4391616"/>
            <a:ext cx="1638271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يبحث عن أقرب شبه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9578" y="4391616"/>
            <a:ext cx="4404122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للموقف في البيانات التي تدرّب عليها سابقاً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00162" y="4922044"/>
            <a:ext cx="15687675" cy="771525"/>
            <a:chOff x="0" y="0"/>
            <a:chExt cx="20916900" cy="1028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16900" cy="1028700"/>
            </a:xfrm>
            <a:custGeom>
              <a:avLst/>
              <a:gdLst/>
              <a:ahLst/>
              <a:cxnLst/>
              <a:rect l="l" t="t" r="r" b="b"/>
              <a:pathLst>
                <a:path w="20916900" h="1028700">
                  <a:moveTo>
                    <a:pt x="0" y="0"/>
                  </a:moveTo>
                  <a:lnTo>
                    <a:pt x="20916900" y="0"/>
                  </a:lnTo>
                  <a:lnTo>
                    <a:pt x="2091690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869591" y="5166722"/>
            <a:ext cx="2818209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يستطيع التفكير والتحليل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72762" y="5166722"/>
            <a:ext cx="3196828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في أمور لم يسبق له رؤيتها قط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50062" y="5166722"/>
            <a:ext cx="18081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يفشل بصمت أو يخطئ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21806" y="5166722"/>
            <a:ext cx="3321844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عندما يواجه مدخلات جديدة كلياً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309218" y="5938237"/>
            <a:ext cx="137858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يبني حلولاً مبتكرة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26428" y="5938237"/>
            <a:ext cx="3271838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وأفكاراً جديدة في نفس اللحظة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69432" y="5938237"/>
            <a:ext cx="128881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يعيد دمج وخلط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57538" y="5938237"/>
            <a:ext cx="3996928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الحلول القديمة الموجودة لديه بالفعل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00162" y="6465094"/>
            <a:ext cx="15687675" cy="771525"/>
            <a:chOff x="0" y="0"/>
            <a:chExt cx="20916900" cy="1028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916900" cy="1028700"/>
            </a:xfrm>
            <a:custGeom>
              <a:avLst/>
              <a:gdLst/>
              <a:ahLst/>
              <a:cxnLst/>
              <a:rect l="l" t="t" r="r" b="b"/>
              <a:pathLst>
                <a:path w="20916900" h="1028700">
                  <a:moveTo>
                    <a:pt x="0" y="0"/>
                  </a:moveTo>
                  <a:lnTo>
                    <a:pt x="20916900" y="0"/>
                  </a:lnTo>
                  <a:lnTo>
                    <a:pt x="20916900" y="1028700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033897" y="6706200"/>
            <a:ext cx="2653903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يمر بلحظة إدراك مفاجئة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0641" y="6706200"/>
            <a:ext cx="3193256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وإلهام حقيقي (لحظة وجدتها!)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28983" y="6706200"/>
            <a:ext cx="1529267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يمر بلحظة حسابية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93269" y="6706200"/>
            <a:ext cx="3564731" cy="29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80"/>
              </a:lnSpc>
            </a:pPr>
            <a:r>
              <a:rPr lang="ar-EG" sz="19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لاختيار الكلمة الأكثر احتمالاً إحصائياً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6787812" y="8447484"/>
            <a:ext cx="214312" cy="285750"/>
            <a:chOff x="0" y="0"/>
            <a:chExt cx="285750" cy="381000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328862" y="8322469"/>
            <a:ext cx="14316075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أنت كإنسان تعتمد على الفهم والاستنتاج الذكي، بينما تعتمد الآلة على الذاكرة ومطابقة الأنماط المتشابهة!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226653" y="1000125"/>
            <a:ext cx="377547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مثال فيروس كورونا </a:t>
            </a:r>
            <a:r>
              <a:rPr lang="en-US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2020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6840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الثالث: الابتكار والقدرة على الاستنتاج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يناير </a:t>
            </a:r>
            <a:r>
              <a:rPr lang="en-US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2020</a:t>
            </a: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: عندما واجه العالم فيروساً جديداً تماماً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27091" y="3502228"/>
            <a:ext cx="275034" cy="314325"/>
            <a:chOff x="0" y="0"/>
            <a:chExt cx="366712" cy="419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66649" cy="419100"/>
            </a:xfrm>
            <a:custGeom>
              <a:avLst/>
              <a:gdLst/>
              <a:ahLst/>
              <a:cxnLst/>
              <a:rect l="l" t="t" r="r" b="b"/>
              <a:pathLst>
                <a:path w="366649" h="419100">
                  <a:moveTo>
                    <a:pt x="0" y="0"/>
                  </a:moveTo>
                  <a:lnTo>
                    <a:pt x="366649" y="0"/>
                  </a:lnTo>
                  <a:lnTo>
                    <a:pt x="366649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81" r="-17" b="-47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7262" y="3364706"/>
            <a:ext cx="4196953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الأطباء البشر (الاستنتاج الذكي)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412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مواجهة المجهول بلا بيانات سابقة 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412" y="5055394"/>
            <a:ext cx="6529388" cy="60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لم يملك الأطباء أي بيانات سابقة عن الفيروس، لكنهم استخدموا استنتاجهم الطبي وخبراتهم المتراكمة.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088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قاموا بربط الملاحظات السريرية، واختبار فرضيات جديدة، وابتكار بروتوكولات علاجية طارئة من الصفر لمواجهة الأزمة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في غياب تام لأي مرجع سابق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51006" y="3502228"/>
            <a:ext cx="392906" cy="314325"/>
            <a:chOff x="0" y="0"/>
            <a:chExt cx="523875" cy="419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523875" cy="419100"/>
            </a:xfrm>
            <a:custGeom>
              <a:avLst/>
              <a:gdLst/>
              <a:ahLst/>
              <a:cxnLst/>
              <a:rect l="l" t="t" r="r" b="b"/>
              <a:pathLst>
                <a:path w="523875" h="419100">
                  <a:moveTo>
                    <a:pt x="0" y="0"/>
                  </a:moveTo>
                  <a:lnTo>
                    <a:pt x="523875" y="0"/>
                  </a:lnTo>
                  <a:lnTo>
                    <a:pt x="52387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36" b="-1136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71812" y="3364706"/>
            <a:ext cx="4836319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(مطابقة الأنماط)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العجز التام أمام غياب البيانات ❄️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5055394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توقف الذكاء الاصطناعي عاجزاً لأنه لا يملك أي بيانات تدريبية سابقة عن هذا الفيروس الجديد.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كل ما استطاع فعله هو البحث في ملايين السجلات القديمة عن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أقرب نمط مألوف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لفيروسات الجهاز التنفسي السابقة، دون القدرة على ابتكار حلول جديدة خارج الصندوق.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809244" y="8488556"/>
            <a:ext cx="192881" cy="257175"/>
            <a:chOff x="0" y="0"/>
            <a:chExt cx="257175" cy="3429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0" y="0"/>
                  </a:moveTo>
                  <a:lnTo>
                    <a:pt x="257175" y="0"/>
                  </a:lnTo>
                  <a:lnTo>
                    <a:pt x="2571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88" b="-138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03797" y="8376047"/>
            <a:ext cx="1486257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الطبيب البشري كان يستنتج ويبتكر في الظلام.. بينما الذكاء الاصطناعي كان يبحث فقط عن أقرب ضوء مألوف لديه في الماضي!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930312" y="1000125"/>
            <a:ext cx="307181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لحظة الإدراك البشري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68403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الثالث: الابتكار والقدرة على الاستنتاج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لحظة الإدراك البشري المفاجئ مقابل التنبؤ الإحصائي الصامت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66381" y="3502228"/>
            <a:ext cx="235744" cy="314325"/>
            <a:chOff x="0" y="0"/>
            <a:chExt cx="314325" cy="419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0" y="0"/>
                  </a:moveTo>
                  <a:lnTo>
                    <a:pt x="314325" y="0"/>
                  </a:lnTo>
                  <a:lnTo>
                    <a:pt x="31432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36" b="-1136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48059" y="3364706"/>
            <a:ext cx="3575447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أنت كإنسان (لحظة الإدراك)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412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شرارة الإلهام المفاجئ 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412" y="5055394"/>
            <a:ext cx="6529388" cy="60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تقول لنفسك فجأة: "مهلاً! يمكنني استخدام هذه القاعدة بشكل عكسي لحل هذه المسألة الجديدة!"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088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يمتلك العقل البشري قدرة مذهلة على القفز فوق الفجوات المعرفية، وربط فكرتين متباعدتين تماماً لإنتاج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إدراك جديد كلياً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لم يسبق له تعلمه بشكل مباشر.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208169" y="3502228"/>
            <a:ext cx="235744" cy="314325"/>
            <a:chOff x="0" y="0"/>
            <a:chExt cx="314325" cy="419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0" y="0"/>
                  </a:moveTo>
                  <a:lnTo>
                    <a:pt x="314325" y="0"/>
                  </a:lnTo>
                  <a:lnTo>
                    <a:pt x="31432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36" b="-1136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275409" y="3364706"/>
            <a:ext cx="4789884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(التنبؤ الإحصائي)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حساب الاحتمال الرياضي الصامت 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5055394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يقول النموذج برمجياً: "الرمز أو الكلمة التالية الأكثر احتمالاً بناءً على السياق الحالي هي..."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الآلة لا تشعر بالدهشة ولا تملك ومضات إلهام؛ إنها تقوم فقط بـ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عمليات حسابية متتالية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لإنتاج الكلمة التالية الأكثر شبهاً بالنمط الإحصائي الذي تدربت عليه.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373475" y="8099222"/>
            <a:ext cx="257175" cy="257175"/>
            <a:chOff x="0" y="0"/>
            <a:chExt cx="342900" cy="3429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777" b="-277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930312" y="7986712"/>
            <a:ext cx="2328873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حقيقة علمية هامة: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3945" y="8487966"/>
            <a:ext cx="9986705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لا توجد طبقة برمجية واحدة أو معادلة رياضية داخل الشبكة العصبية الاصطناعية تتساءل، أو تشعر بالفضول، أو تختبر متعة الفهم والدهشة الإنسانية!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011400" y="3095625"/>
            <a:ext cx="1019175" cy="64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04"/>
              </a:lnSpc>
            </a:pPr>
            <a:r>
              <a:rPr lang="en-US" sz="4900" b="1" dirty="0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58736" y="3886200"/>
            <a:ext cx="7171830" cy="81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66"/>
              </a:lnSpc>
            </a:pPr>
            <a:r>
              <a:rPr lang="ar-EG" sz="5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الهلوسة وفهم السبب الأعمق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13244" y="5587347"/>
            <a:ext cx="8813311" cy="47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99"/>
              </a:lnSpc>
            </a:pPr>
            <a:r>
              <a:rPr lang="ar-EG" sz="2499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لماذا تخترع الآلة إجابات خاطئة بثقة مفرطة؟ وكيف نفهم طبيعة هذا الخلل البنيوي؟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3094" y="1000125"/>
            <a:ext cx="1619031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ما هي الهلوسة؟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3982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الرابع: الهلوسة وفهم السبب الأعمق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ما هي الهلوسة (</a:t>
            </a:r>
            <a:r>
              <a:rPr lang="en-US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Hallucination</a:t>
            </a: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) في الذكاء الاصطناعي؟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87800" y="3502228"/>
            <a:ext cx="314325" cy="314325"/>
            <a:chOff x="0" y="0"/>
            <a:chExt cx="419100" cy="419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72" b="-2272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05197" y="3364706"/>
            <a:ext cx="3539728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الحقيقة العلمية الصحيحة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412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معلومات دقيقة وموثقة ومؤكدة 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412" y="5055394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"برج إيفل يقع في باريس، وقام بتصميمه المهندس غوستاف إيفل عام </a:t>
            </a:r>
            <a:r>
              <a:rPr lang="en-US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1889</a:t>
            </a: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088" y="6068616"/>
            <a:ext cx="7158038" cy="36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هذه حقيقة تاريخية وعلمية صحيحة </a:t>
            </a:r>
            <a:r>
              <a:rPr lang="en-US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</a:rPr>
              <a:t>100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%، وتتطابق مع الواقع والكتب والوثائق التاريخية المعتمدة.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9588" y="3502228"/>
            <a:ext cx="314325" cy="314325"/>
            <a:chOff x="0" y="0"/>
            <a:chExt cx="419100" cy="419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2" b="-2272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564856" y="3364706"/>
            <a:ext cx="3421856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الهلوسة الرقمية الخادعة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4525566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كلام كاذب يبدو مقنعاً للغاية! ⚠️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76311" y="5055394"/>
            <a:ext cx="4953276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"برج إيفل يقع في باريس، وقام بتصميمه الرسام غوستاف مورو عام </a:t>
            </a:r>
            <a:r>
              <a:rPr lang="en-US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1892</a:t>
            </a: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."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60686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هذه إجابة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خاطئة تماماً وكاذبة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! لكنها تبدو مقنعة جداً لأنها تستخدم أسماء وتواريخ تبدو حقيقية وقريبة من الصواب، مما يسهل تصديقها.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744950" y="8488556"/>
            <a:ext cx="257175" cy="257175"/>
            <a:chOff x="0" y="0"/>
            <a:chExt cx="342900" cy="3429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777" b="-277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204097" y="8376047"/>
            <a:ext cx="1239797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الذكاء الاصطناعي لا يعرف أنه يخطئ؛ لأنه لم يُصمم ليعرف الحقيقة، بل ليخمن الكلمة التالية الأكثر احتمالاً فقط!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873162" y="1000125"/>
            <a:ext cx="312896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المهمة الوحيدة للآلة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3982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الرابع: الهلوسة وفهم السبب الأعمق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5111" y="2271712"/>
            <a:ext cx="11587014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المهمة الحقيقية لنماذج مثل تشات جي بي تي: التنبؤ بالكلمة التالية فقط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244512" y="3364706"/>
            <a:ext cx="3757612" cy="2571750"/>
            <a:chOff x="0" y="0"/>
            <a:chExt cx="5010150" cy="342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0150" cy="3429000"/>
            </a:xfrm>
            <a:custGeom>
              <a:avLst/>
              <a:gdLst/>
              <a:ahLst/>
              <a:cxnLst/>
              <a:rect l="l" t="t" r="r" b="b"/>
              <a:pathLst>
                <a:path w="5010150" h="3429000">
                  <a:moveTo>
                    <a:pt x="0" y="0"/>
                  </a:moveTo>
                  <a:lnTo>
                    <a:pt x="5010150" y="0"/>
                  </a:lnTo>
                  <a:lnTo>
                    <a:pt x="501015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44512" y="3364706"/>
            <a:ext cx="3757612" cy="57150"/>
            <a:chOff x="0" y="0"/>
            <a:chExt cx="501015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10150" cy="76200"/>
            </a:xfrm>
            <a:custGeom>
              <a:avLst/>
              <a:gdLst/>
              <a:ahLst/>
              <a:cxnLst/>
              <a:rect l="l" t="t" r="r" b="b"/>
              <a:pathLst>
                <a:path w="5010150" h="76200">
                  <a:moveTo>
                    <a:pt x="0" y="0"/>
                  </a:moveTo>
                  <a:lnTo>
                    <a:pt x="5010150" y="0"/>
                  </a:lnTo>
                  <a:lnTo>
                    <a:pt x="50101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73550" y="3364706"/>
            <a:ext cx="28575" cy="2571750"/>
            <a:chOff x="0" y="0"/>
            <a:chExt cx="38100" cy="3429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44512" y="5907881"/>
            <a:ext cx="3757612" cy="28575"/>
            <a:chOff x="0" y="0"/>
            <a:chExt cx="5010150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10150" cy="38100"/>
            </a:xfrm>
            <a:custGeom>
              <a:avLst/>
              <a:gdLst/>
              <a:ahLst/>
              <a:cxnLst/>
              <a:rect l="l" t="t" r="r" b="b"/>
              <a:pathLst>
                <a:path w="5010150" h="38100">
                  <a:moveTo>
                    <a:pt x="0" y="0"/>
                  </a:moveTo>
                  <a:lnTo>
                    <a:pt x="5010150" y="0"/>
                  </a:lnTo>
                  <a:lnTo>
                    <a:pt x="50101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44512" y="3364706"/>
            <a:ext cx="28575" cy="2571750"/>
            <a:chOff x="0" y="0"/>
            <a:chExt cx="38100" cy="342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473112" y="3650456"/>
            <a:ext cx="3300412" cy="21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</a:pPr>
            <a:r>
              <a:rPr lang="ar-EG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الخطوة </a:t>
            </a:r>
            <a:r>
              <a:rPr lang="en-US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452056" y="4095750"/>
            <a:ext cx="321469" cy="285750"/>
            <a:chOff x="0" y="0"/>
            <a:chExt cx="428625" cy="3810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428625" cy="3810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0" y="0"/>
                  </a:moveTo>
                  <a:lnTo>
                    <a:pt x="428625" y="0"/>
                  </a:lnTo>
                  <a:lnTo>
                    <a:pt x="4286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50" b="-125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66181" y="4139803"/>
            <a:ext cx="117157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 dirty="0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المدخلات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73112" y="4751784"/>
            <a:ext cx="3300412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يستقبل النموذج النص أو السؤال الذي كتبته له ويقوم بتحويله إلى أرقام ورموز.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073062" y="4536281"/>
            <a:ext cx="142875" cy="228600"/>
            <a:chOff x="0" y="0"/>
            <a:chExt cx="190500" cy="30480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125" b="-312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58300" y="3364706"/>
            <a:ext cx="3757612" cy="2571750"/>
            <a:chOff x="0" y="0"/>
            <a:chExt cx="5010150" cy="3429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10150" cy="3429000"/>
            </a:xfrm>
            <a:custGeom>
              <a:avLst/>
              <a:gdLst/>
              <a:ahLst/>
              <a:cxnLst/>
              <a:rect l="l" t="t" r="r" b="b"/>
              <a:pathLst>
                <a:path w="5010150" h="3429000">
                  <a:moveTo>
                    <a:pt x="0" y="0"/>
                  </a:moveTo>
                  <a:lnTo>
                    <a:pt x="5010150" y="0"/>
                  </a:lnTo>
                  <a:lnTo>
                    <a:pt x="501015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58300" y="3364706"/>
            <a:ext cx="3757612" cy="57150"/>
            <a:chOff x="0" y="0"/>
            <a:chExt cx="5010150" cy="76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10150" cy="76200"/>
            </a:xfrm>
            <a:custGeom>
              <a:avLst/>
              <a:gdLst/>
              <a:ahLst/>
              <a:cxnLst/>
              <a:rect l="l" t="t" r="r" b="b"/>
              <a:pathLst>
                <a:path w="5010150" h="76200">
                  <a:moveTo>
                    <a:pt x="0" y="0"/>
                  </a:moveTo>
                  <a:lnTo>
                    <a:pt x="5010150" y="0"/>
                  </a:lnTo>
                  <a:lnTo>
                    <a:pt x="50101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987338" y="3364706"/>
            <a:ext cx="28575" cy="2571750"/>
            <a:chOff x="0" y="0"/>
            <a:chExt cx="38100" cy="3429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258300" y="5907881"/>
            <a:ext cx="3757612" cy="28575"/>
            <a:chOff x="0" y="0"/>
            <a:chExt cx="5010150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10150" cy="38100"/>
            </a:xfrm>
            <a:custGeom>
              <a:avLst/>
              <a:gdLst/>
              <a:ahLst/>
              <a:cxnLst/>
              <a:rect l="l" t="t" r="r" b="b"/>
              <a:pathLst>
                <a:path w="5010150" h="38100">
                  <a:moveTo>
                    <a:pt x="0" y="0"/>
                  </a:moveTo>
                  <a:lnTo>
                    <a:pt x="5010150" y="0"/>
                  </a:lnTo>
                  <a:lnTo>
                    <a:pt x="50101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58300" y="3364706"/>
            <a:ext cx="28575" cy="2571750"/>
            <a:chOff x="0" y="0"/>
            <a:chExt cx="38100" cy="3429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486900" y="3650456"/>
            <a:ext cx="3300412" cy="21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</a:pPr>
            <a:r>
              <a:rPr lang="ar-EG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الخطوة </a:t>
            </a:r>
            <a:r>
              <a:rPr lang="en-US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02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573000" y="4076700"/>
            <a:ext cx="214312" cy="285750"/>
            <a:chOff x="0" y="0"/>
            <a:chExt cx="285750" cy="381000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37119" y="4139803"/>
            <a:ext cx="122158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 dirty="0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الاحتمالات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86900" y="4751784"/>
            <a:ext cx="3300412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يحسب النموذج رياضياً الكلمة الأكثر احتمالاً للظهور بعد النص الذي أدخلته.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086850" y="4536281"/>
            <a:ext cx="142875" cy="228600"/>
            <a:chOff x="0" y="0"/>
            <a:chExt cx="190500" cy="304800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125" b="-312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72088" y="3364706"/>
            <a:ext cx="3757612" cy="2571750"/>
            <a:chOff x="0" y="0"/>
            <a:chExt cx="5010150" cy="3429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10150" cy="3429000"/>
            </a:xfrm>
            <a:custGeom>
              <a:avLst/>
              <a:gdLst/>
              <a:ahLst/>
              <a:cxnLst/>
              <a:rect l="l" t="t" r="r" b="b"/>
              <a:pathLst>
                <a:path w="5010150" h="3429000">
                  <a:moveTo>
                    <a:pt x="0" y="0"/>
                  </a:moveTo>
                  <a:lnTo>
                    <a:pt x="5010150" y="0"/>
                  </a:lnTo>
                  <a:lnTo>
                    <a:pt x="501015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72088" y="3364706"/>
            <a:ext cx="3757612" cy="57150"/>
            <a:chOff x="0" y="0"/>
            <a:chExt cx="5010150" cy="76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10150" cy="76200"/>
            </a:xfrm>
            <a:custGeom>
              <a:avLst/>
              <a:gdLst/>
              <a:ahLst/>
              <a:cxnLst/>
              <a:rect l="l" t="t" r="r" b="b"/>
              <a:pathLst>
                <a:path w="5010150" h="76200">
                  <a:moveTo>
                    <a:pt x="0" y="0"/>
                  </a:moveTo>
                  <a:lnTo>
                    <a:pt x="5010150" y="0"/>
                  </a:lnTo>
                  <a:lnTo>
                    <a:pt x="50101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01125" y="3364706"/>
            <a:ext cx="28575" cy="2571750"/>
            <a:chOff x="0" y="0"/>
            <a:chExt cx="38100" cy="3429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72088" y="5907881"/>
            <a:ext cx="3757612" cy="28575"/>
            <a:chOff x="0" y="0"/>
            <a:chExt cx="5010150" cy="381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010150" cy="38100"/>
            </a:xfrm>
            <a:custGeom>
              <a:avLst/>
              <a:gdLst/>
              <a:ahLst/>
              <a:cxnLst/>
              <a:rect l="l" t="t" r="r" b="b"/>
              <a:pathLst>
                <a:path w="5010150" h="38100">
                  <a:moveTo>
                    <a:pt x="0" y="0"/>
                  </a:moveTo>
                  <a:lnTo>
                    <a:pt x="5010150" y="0"/>
                  </a:lnTo>
                  <a:lnTo>
                    <a:pt x="50101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72088" y="3364706"/>
            <a:ext cx="28575" cy="2571750"/>
            <a:chOff x="0" y="0"/>
            <a:chExt cx="38100" cy="3429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500688" y="3650456"/>
            <a:ext cx="3300412" cy="21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</a:pPr>
            <a:r>
              <a:rPr lang="ar-EG" sz="1399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الخطوة </a:t>
            </a:r>
            <a:r>
              <a:rPr lang="en-US" sz="1399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</a:rPr>
              <a:t>03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8515350" y="4076700"/>
            <a:ext cx="285750" cy="285750"/>
            <a:chOff x="0" y="0"/>
            <a:chExt cx="381000" cy="381000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765131" y="4139803"/>
            <a:ext cx="163591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 dirty="0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الكلمة التالية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00688" y="4751784"/>
            <a:ext cx="3300412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يختار الكلمة ذات الاحتمال الأعلى ويقوم بكتابتها مباشرة كجزء من الإجابة.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100638" y="4536281"/>
            <a:ext cx="142875" cy="228600"/>
            <a:chOff x="0" y="0"/>
            <a:chExt cx="190500" cy="304800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125" b="-3125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95400" y="3409950"/>
            <a:ext cx="3757612" cy="2571750"/>
            <a:chOff x="0" y="0"/>
            <a:chExt cx="5010150" cy="3429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10150" cy="3429000"/>
            </a:xfrm>
            <a:custGeom>
              <a:avLst/>
              <a:gdLst/>
              <a:ahLst/>
              <a:cxnLst/>
              <a:rect l="l" t="t" r="r" b="b"/>
              <a:pathLst>
                <a:path w="5010150" h="3429000">
                  <a:moveTo>
                    <a:pt x="0" y="0"/>
                  </a:moveTo>
                  <a:lnTo>
                    <a:pt x="5010150" y="0"/>
                  </a:lnTo>
                  <a:lnTo>
                    <a:pt x="501015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85875" y="3364706"/>
            <a:ext cx="3757612" cy="57150"/>
            <a:chOff x="0" y="0"/>
            <a:chExt cx="5010150" cy="76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010150" cy="76200"/>
            </a:xfrm>
            <a:custGeom>
              <a:avLst/>
              <a:gdLst/>
              <a:ahLst/>
              <a:cxnLst/>
              <a:rect l="l" t="t" r="r" b="b"/>
              <a:pathLst>
                <a:path w="5010150" h="76200">
                  <a:moveTo>
                    <a:pt x="0" y="0"/>
                  </a:moveTo>
                  <a:lnTo>
                    <a:pt x="5010150" y="0"/>
                  </a:lnTo>
                  <a:lnTo>
                    <a:pt x="50101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14912" y="3364706"/>
            <a:ext cx="28575" cy="2571750"/>
            <a:chOff x="0" y="0"/>
            <a:chExt cx="38100" cy="3429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85875" y="5907881"/>
            <a:ext cx="3757612" cy="28575"/>
            <a:chOff x="0" y="0"/>
            <a:chExt cx="5010150" cy="381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010150" cy="38100"/>
            </a:xfrm>
            <a:custGeom>
              <a:avLst/>
              <a:gdLst/>
              <a:ahLst/>
              <a:cxnLst/>
              <a:rect l="l" t="t" r="r" b="b"/>
              <a:pathLst>
                <a:path w="5010150" h="38100">
                  <a:moveTo>
                    <a:pt x="0" y="0"/>
                  </a:moveTo>
                  <a:lnTo>
                    <a:pt x="5010150" y="0"/>
                  </a:lnTo>
                  <a:lnTo>
                    <a:pt x="50101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85875" y="3364706"/>
            <a:ext cx="28575" cy="2571750"/>
            <a:chOff x="0" y="0"/>
            <a:chExt cx="38100" cy="3429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8100" cy="3429000"/>
            </a:xfrm>
            <a:custGeom>
              <a:avLst/>
              <a:gdLst/>
              <a:ahLst/>
              <a:cxnLst/>
              <a:rect l="l" t="t" r="r" b="b"/>
              <a:pathLst>
                <a:path w="38100" h="3429000">
                  <a:moveTo>
                    <a:pt x="0" y="0"/>
                  </a:moveTo>
                  <a:lnTo>
                    <a:pt x="38100" y="0"/>
                  </a:lnTo>
                  <a:lnTo>
                    <a:pt x="381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514475" y="3650456"/>
            <a:ext cx="3300412" cy="21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79"/>
              </a:lnSpc>
            </a:pPr>
            <a:r>
              <a:rPr lang="ar-EG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الخطوة </a:t>
            </a:r>
            <a:r>
              <a:rPr lang="en-US" sz="1399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04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4529138" y="4095750"/>
            <a:ext cx="285750" cy="285750"/>
            <a:chOff x="0" y="0"/>
            <a:chExt cx="381000" cy="381000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3550445" y="4139803"/>
            <a:ext cx="86439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 dirty="0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التكرار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514475" y="4751784"/>
            <a:ext cx="3300412" cy="5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5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يعيد هذه العملية كلمة تلو الأخرى حتى ينتهي من كتابة النص بالكامل.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6430625" y="8010525"/>
            <a:ext cx="257175" cy="257175"/>
            <a:chOff x="0" y="0"/>
            <a:chExt cx="342900" cy="34290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777" b="-277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3640991" y="8029575"/>
            <a:ext cx="2675334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أين تقع الفجوة الكبرى؟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00200" y="8549878"/>
            <a:ext cx="15087600" cy="28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50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لا توجد خطوة واحدة في هذه السلسلة تقول: </a:t>
            </a:r>
            <a:r>
              <a:rPr lang="ar-EG" sz="16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"هل هذا الكلام حقيقي وصادق علمياً؟"</a:t>
            </a: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. النموذج مصمم ليتنبأ بالكلمة الأكثر شبهاً بالبشر إحصائياً، وليس للتحقق من صحة المعلومات!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430250" y="9629775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423231" y="1000125"/>
            <a:ext cx="257889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الببغاء العشوائي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3982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الرابع: الهلوسة وفهم السبب الأعمق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تشبيه الببغاء العشوائي (</a:t>
            </a:r>
            <a:r>
              <a:rPr lang="en-US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Stochastic Parrot</a:t>
            </a: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09219" y="3364706"/>
            <a:ext cx="392906" cy="314325"/>
            <a:chOff x="0" y="0"/>
            <a:chExt cx="523875" cy="419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23875" cy="419100"/>
            </a:xfrm>
            <a:custGeom>
              <a:avLst/>
              <a:gdLst/>
              <a:ahLst/>
              <a:cxnLst/>
              <a:rect l="l" t="t" r="r" b="b"/>
              <a:pathLst>
                <a:path w="523875" h="419100">
                  <a:moveTo>
                    <a:pt x="0" y="0"/>
                  </a:moveTo>
                  <a:lnTo>
                    <a:pt x="523875" y="0"/>
                  </a:lnTo>
                  <a:lnTo>
                    <a:pt x="52387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36" b="-1136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890772" y="3364706"/>
            <a:ext cx="4575572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الببغاء الحقيقي (التقليد الصوتي)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412" y="4383014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ينطق بالكلمات دون فهم معناها 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412" y="4898136"/>
            <a:ext cx="6529388" cy="60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يستطيع الببغاء تقليد صوتك ونطق عبارة "أنا أحبك" بوضوح تام، دون أن يملك أي مشاعر حب حقيقية.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088" y="57257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الببغاء لا يدرك معنى الحروف التي تخرج من حنجرته؛ إنه فقط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يعيد تكرار الأصوات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التي سمعها وتدرب عليها في بيئته للحصول على مكافأة.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51006" y="3364706"/>
            <a:ext cx="392906" cy="314325"/>
            <a:chOff x="0" y="0"/>
            <a:chExt cx="523875" cy="419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523875" cy="419100"/>
            </a:xfrm>
            <a:custGeom>
              <a:avLst/>
              <a:gdLst/>
              <a:ahLst/>
              <a:cxnLst/>
              <a:rect l="l" t="t" r="r" b="b"/>
              <a:pathLst>
                <a:path w="523875" h="419100">
                  <a:moveTo>
                    <a:pt x="0" y="0"/>
                  </a:moveTo>
                  <a:lnTo>
                    <a:pt x="523875" y="0"/>
                  </a:lnTo>
                  <a:lnTo>
                    <a:pt x="52387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36" b="-1136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943225" y="3364706"/>
            <a:ext cx="4964906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EA580C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الببغاء الإحصائي (الذكاء الاصطناعي)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4387067"/>
            <a:ext cx="652938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يرتب الكلمات دون إدراك للواقع 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00" y="4850511"/>
            <a:ext cx="6529388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يستطيع النموذج كتابة "أثبتت الدراسات العلمية أن..." دون وجود أي دراسة حقيقية في الواقع.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875" y="5725716"/>
            <a:ext cx="7158038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الذكاء الاصطناعي لا يفهم المعنى العميق للجمل؛ إنه فقط </a:t>
            </a:r>
            <a:r>
              <a:rPr lang="ar-EG" sz="1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يعيد ترتيب الكلمات</a:t>
            </a:r>
            <a:r>
              <a:rPr lang="ar-EG" sz="17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بناءً على الاحتمالات الإحصائية المتكررة في البيانات التي تدرب عليها.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402050" y="7665144"/>
            <a:ext cx="228600" cy="257175"/>
            <a:chOff x="0" y="0"/>
            <a:chExt cx="304800" cy="3429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777" b="-2777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140928" y="7655233"/>
            <a:ext cx="314682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مفهوم "الببغاء العشوائي":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9104" y="8113509"/>
            <a:ext cx="8941546" cy="31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304"/>
              </a:lnSpc>
            </a:pPr>
            <a:r>
              <a:rPr lang="ar-EG" sz="16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إعادة ترتيب الكلمات والعبارات بناءً على الاحتمالات الإحصائية فقط. لا تفكير، لا فهم، لا كذب.. مجرد تخمين إحصائي ذكي ومقنع للغاية!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716000" y="1000125"/>
            <a:ext cx="3286125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لماذا تبدو الآلة واثقة؟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33982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الرابع: الهلوسة وفهم السبب الأعمق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27171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لماذا تبدو الآلة واثقة جداً حتى عندما تخطئ؟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93397" y="3777034"/>
            <a:ext cx="7808728" cy="84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100"/>
              </a:lnSpc>
            </a:pP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عندما تسأل الذكاء الاصطناعي ويجيبك بمعلومة خاطئة تماماً، ستلاحظ أنه يكتبها بنبرة جازمة وقوية للغاية. </a:t>
            </a: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لماذا يفعل ذلك؟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93397" y="4937112"/>
            <a:ext cx="7808728" cy="84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100"/>
              </a:lnSpc>
            </a:pP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السبب الإحصائي:</a:t>
            </a: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العبارات الأكثر ثقة هي الأكثر تكراراً وشيوعاً في الإنترنت. عبارات مثل </a:t>
            </a: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"أظهرت الدراسات العلمية أن..."</a:t>
            </a: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أو </a:t>
            </a: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"يتفق جميع الخبراء على..."</a:t>
            </a: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تسبق دائماً النصوص في مواقع الويب.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93397" y="6534360"/>
            <a:ext cx="7808728" cy="84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100"/>
              </a:lnSpc>
            </a:pP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الذكاء الاصطناعي لا يشعر بالثقة ولا يعرف أنه متأكد؛ هو فقط </a:t>
            </a:r>
            <a:r>
              <a:rPr lang="ar-EG" sz="19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يقلد نبرة الثقة اللغوية</a:t>
            </a:r>
            <a:r>
              <a:rPr lang="ar-EG" sz="190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لأنها النمط الإحصائي الأكثر شيوعاً في البيانات التي تدرب عليها، وليس لأن لديه دليلاً على صدق المعلومة.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10702" y="3896916"/>
            <a:ext cx="4857750" cy="4000500"/>
            <a:chOff x="0" y="0"/>
            <a:chExt cx="6477000" cy="533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7000" cy="5334000"/>
            </a:xfrm>
            <a:custGeom>
              <a:avLst/>
              <a:gdLst/>
              <a:ahLst/>
              <a:cxnLst/>
              <a:rect l="l" t="t" r="r" b="b"/>
              <a:pathLst>
                <a:path w="6477000" h="5334000">
                  <a:moveTo>
                    <a:pt x="0" y="0"/>
                  </a:moveTo>
                  <a:lnTo>
                    <a:pt x="6477000" y="0"/>
                  </a:lnTo>
                  <a:lnTo>
                    <a:pt x="6477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10702" y="3896916"/>
            <a:ext cx="4857750" cy="85725"/>
            <a:chOff x="0" y="0"/>
            <a:chExt cx="6477000" cy="114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0" cy="114300"/>
            </a:xfrm>
            <a:custGeom>
              <a:avLst/>
              <a:gdLst/>
              <a:ahLst/>
              <a:cxnLst/>
              <a:rect l="l" t="t" r="r" b="b"/>
              <a:pathLst>
                <a:path w="6477000" h="114300">
                  <a:moveTo>
                    <a:pt x="0" y="0"/>
                  </a:moveTo>
                  <a:lnTo>
                    <a:pt x="6477000" y="0"/>
                  </a:lnTo>
                  <a:lnTo>
                    <a:pt x="6477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39877" y="3896916"/>
            <a:ext cx="28575" cy="4000500"/>
            <a:chOff x="0" y="0"/>
            <a:chExt cx="38100" cy="533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" cy="5334000"/>
            </a:xfrm>
            <a:custGeom>
              <a:avLst/>
              <a:gdLst/>
              <a:ahLst/>
              <a:cxnLst/>
              <a:rect l="l" t="t" r="r" b="b"/>
              <a:pathLst>
                <a:path w="38100" h="5334000">
                  <a:moveTo>
                    <a:pt x="0" y="0"/>
                  </a:moveTo>
                  <a:lnTo>
                    <a:pt x="38100" y="0"/>
                  </a:lnTo>
                  <a:lnTo>
                    <a:pt x="381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10702" y="7868841"/>
            <a:ext cx="4857750" cy="28575"/>
            <a:chOff x="0" y="0"/>
            <a:chExt cx="6477000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77000" cy="38100"/>
            </a:xfrm>
            <a:custGeom>
              <a:avLst/>
              <a:gdLst/>
              <a:ahLst/>
              <a:cxnLst/>
              <a:rect l="l" t="t" r="r" b="b"/>
              <a:pathLst>
                <a:path w="6477000" h="38100">
                  <a:moveTo>
                    <a:pt x="0" y="0"/>
                  </a:moveTo>
                  <a:lnTo>
                    <a:pt x="6477000" y="0"/>
                  </a:lnTo>
                  <a:lnTo>
                    <a:pt x="6477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10702" y="3896916"/>
            <a:ext cx="28575" cy="4000500"/>
            <a:chOff x="0" y="0"/>
            <a:chExt cx="38100" cy="533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100" cy="5334000"/>
            </a:xfrm>
            <a:custGeom>
              <a:avLst/>
              <a:gdLst/>
              <a:ahLst/>
              <a:cxnLst/>
              <a:rect l="l" t="t" r="r" b="b"/>
              <a:pathLst>
                <a:path w="38100" h="5334000">
                  <a:moveTo>
                    <a:pt x="0" y="0"/>
                  </a:moveTo>
                  <a:lnTo>
                    <a:pt x="38100" y="0"/>
                  </a:lnTo>
                  <a:lnTo>
                    <a:pt x="381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196677" y="4381500"/>
            <a:ext cx="685800" cy="685800"/>
            <a:chOff x="0" y="0"/>
            <a:chExt cx="914400" cy="9144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53602" y="5343525"/>
            <a:ext cx="4171950" cy="3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956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"الثقة نمط لغوي وليست حقيقة!"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58352" y="6031411"/>
            <a:ext cx="4171950" cy="96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57"/>
              </a:lnSpc>
            </a:pPr>
            <a:r>
              <a:rPr lang="ar-EG" sz="160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  <a:rtl/>
              </a:rPr>
              <a:t>نبرة الجزم واليقين في إجابات الذكاء الاصطناعي هي مجرد تكرار إحصائي للأسلوب البشري الشائع، وليست مؤشراً على صدق أو دقة المعلومة العلمية.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515600" y="4029075"/>
            <a:ext cx="857250" cy="685800"/>
            <a:chOff x="0" y="0"/>
            <a:chExt cx="1143000" cy="9144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57775" y="4029075"/>
            <a:ext cx="685800" cy="685800"/>
            <a:chOff x="0" y="0"/>
            <a:chExt cx="914400" cy="9144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8" name="Freeform 8"/>
          <p:cNvSpPr/>
          <p:nvPr/>
        </p:nvSpPr>
        <p:spPr>
          <a:xfrm>
            <a:off x="16102454" y="3918785"/>
            <a:ext cx="919048" cy="1000324"/>
          </a:xfrm>
          <a:custGeom>
            <a:avLst/>
            <a:gdLst/>
            <a:ahLst/>
            <a:cxnLst/>
            <a:rect l="l" t="t" r="r" b="b"/>
            <a:pathLst>
              <a:path w="919048" h="1000324">
                <a:moveTo>
                  <a:pt x="0" y="0"/>
                </a:moveTo>
                <a:lnTo>
                  <a:pt x="919048" y="0"/>
                </a:lnTo>
                <a:lnTo>
                  <a:pt x="919048" y="1000325"/>
                </a:lnTo>
                <a:lnTo>
                  <a:pt x="0" y="1000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SA"/>
          </a:p>
        </p:txBody>
      </p:sp>
      <p:sp>
        <p:nvSpPr>
          <p:cNvPr id="9" name="TextBox 9"/>
          <p:cNvSpPr txBox="1"/>
          <p:nvPr/>
        </p:nvSpPr>
        <p:spPr>
          <a:xfrm>
            <a:off x="14073188" y="1000125"/>
            <a:ext cx="2928938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ملخص القسم الرابع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875" y="1107281"/>
            <a:ext cx="433982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الرابع: الهلوسة وفهم السبب الأعمق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5875" y="2414588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أهم ثلاثة مفاهيم يجب أن تتذكرها من هذا القسم: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4425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🎯 غياب طبقة التحقق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44425" y="6125766"/>
            <a:ext cx="4457700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النموذج يتنبأ بالرموز والكلمات الأكثر احتمالاً فقط، وليس بالحقائق العلمية. الصدق والتحقق من المعلومات ليس جزءاً من البنية البرمجية للآلة.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5150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🦜 الببغاء العشوائي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15150" y="6125766"/>
            <a:ext cx="4457700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الآلة تقوم بإعادة ترتيب لغة البشر وصياغتها إحصائياً بشكل مقنع وجذاب للغاية، ولكن دون فهم حقيقي أو إدراك للمعنى العميق وراء الكلمات.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875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⚠️ الثقة لا تعني الدقة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875" y="6125766"/>
            <a:ext cx="4457700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نبرة الجزم واليقين في إجابات الآلة هي مجرد نمط لغوي شائع تقلد به البشر، وليست دليلاً على صحة أو دقة المعلومة العلمية المطروحة.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63800" y="3095625"/>
            <a:ext cx="866775" cy="64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04"/>
              </a:lnSpc>
            </a:pPr>
            <a:r>
              <a:rPr lang="en-US" sz="4900" b="1" dirty="0">
                <a:solidFill>
                  <a:srgbClr val="0284C7"/>
                </a:solidFill>
                <a:latin typeface="Cairo Bold"/>
                <a:ea typeface="Cairo Bold"/>
                <a:cs typeface="Cairo Bold"/>
                <a:sym typeface="Cairo Bold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08805" y="3886200"/>
            <a:ext cx="6921770" cy="81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66"/>
              </a:lnSpc>
            </a:pPr>
            <a:r>
              <a:rPr lang="ar-EG" sz="57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فجوة المسؤولية والمحاسبة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04234" y="5636017"/>
            <a:ext cx="7226341" cy="47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99"/>
              </a:lnSpc>
            </a:pPr>
            <a:r>
              <a:rPr lang="ar-EG" sz="2499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من يتحمل عواقب أخطاء الآلة؟ فجوة المسؤولية الأخلاقية والقانونية.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165931" y="1000125"/>
            <a:ext cx="3836194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ثلاثة سيناريوهات حقيقية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507706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الخامس: فجوة المسؤولية والمحاسبة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414588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ثلاثة سيناريوهات حقيقية تضعنا أمام فجوة المسؤولية: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02050" y="4029075"/>
            <a:ext cx="600075" cy="685800"/>
            <a:chOff x="0" y="0"/>
            <a:chExt cx="800100" cy="9144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00100" cy="914400"/>
            </a:xfrm>
            <a:custGeom>
              <a:avLst/>
              <a:gdLst/>
              <a:ahLst/>
              <a:cxnLst/>
              <a:rect l="l" t="t" r="r" b="b"/>
              <a:pathLst>
                <a:path w="800100" h="9144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544425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🏥 تشخيص طبي خاطئ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44425" y="6125766"/>
            <a:ext cx="4457700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نظام ذكاء اصطناعي يخطئ في تحديد نوع الورم الخبيث لمريض، مما يدفع الطبيب لوصف علاج خاطئ يضر بصحة المريض.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44425" y="8039424"/>
            <a:ext cx="4457700" cy="35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من المسؤول؟ الطبيب؟ الشركة؟ أم الآلة؟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687050" y="4029075"/>
            <a:ext cx="685800" cy="685800"/>
            <a:chOff x="0" y="0"/>
            <a:chExt cx="914400" cy="914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15150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👔 توظيف متحيز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15150" y="6125766"/>
            <a:ext cx="4457700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نظام توظيف ذكي يرفض تلقائياً طلبات المتقدمات من النساء بناءً على أنماط تاريخية قديمة ومتحيزة في بيانات التدريب.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5150" y="8039424"/>
            <a:ext cx="4457700" cy="35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من يحاسب على هذا التمييز؟ ومن يصلحه؟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972050" y="4029075"/>
            <a:ext cx="771525" cy="685800"/>
            <a:chOff x="0" y="0"/>
            <a:chExt cx="1028700" cy="9144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875" y="5364956"/>
            <a:ext cx="4457700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🎭 التزييف العميق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5875" y="6125766"/>
            <a:ext cx="4457700" cy="70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برنامج ذكاء اصطناعي يستخدم وجه طالب لتركيبه في فيديو مفبرك ومسيء دون إذنه، مستخدماً صوراً عامة من الإنترنت.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5875" y="7610808"/>
            <a:ext cx="4457700" cy="35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من يعوض الطالب عن الضرر النفسي والاجتماعي؟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233922" y="1000125"/>
            <a:ext cx="276820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سلسلة إلقاء اللوم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507706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الخامس: فجوة المسؤولية والمحاسبة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414588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من المسؤول عند حدوث ضرر؟ سلسلة المسؤولية المكسورة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144875" y="4029075"/>
            <a:ext cx="857250" cy="685800"/>
            <a:chOff x="0" y="0"/>
            <a:chExt cx="1143000" cy="9144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737431" y="5364956"/>
            <a:ext cx="3264694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en-US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1</a:t>
            </a: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. الباحث والمطور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37431" y="6125766"/>
            <a:ext cx="3264694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يقول: "أنا قمت فقط بكتابة الخوارزميات الرياضية الأساسية، ولست مسؤولاً عن كيفية استخدامها لاحقاً."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423106" y="4079081"/>
            <a:ext cx="160734" cy="257175"/>
            <a:chOff x="0" y="0"/>
            <a:chExt cx="214312" cy="3429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14249" cy="342900"/>
            </a:xfrm>
            <a:custGeom>
              <a:avLst/>
              <a:gdLst/>
              <a:ahLst/>
              <a:cxnLst/>
              <a:rect l="l" t="t" r="r" b="b"/>
              <a:pathLst>
                <a:path w="214249" h="342900">
                  <a:moveTo>
                    <a:pt x="0" y="0"/>
                  </a:moveTo>
                  <a:lnTo>
                    <a:pt x="214249" y="0"/>
                  </a:lnTo>
                  <a:lnTo>
                    <a:pt x="214249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14" r="-113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37256" y="4029075"/>
            <a:ext cx="514350" cy="685800"/>
            <a:chOff x="0" y="0"/>
            <a:chExt cx="685800" cy="9144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12" r="-1612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586912" y="5364956"/>
            <a:ext cx="3264694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en-US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2</a:t>
            </a: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. الشركة المصنعة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6912" y="6125766"/>
            <a:ext cx="3264694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تقول: "نحن أطلقنا منتجاً تجريبياً ووضعنا شروط استخدام واضحة تحذر من الأخطاء، والمسؤولية تقع على المستخدم."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72588" y="4079081"/>
            <a:ext cx="160734" cy="257175"/>
            <a:chOff x="0" y="0"/>
            <a:chExt cx="214312" cy="3429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14249" cy="342900"/>
            </a:xfrm>
            <a:custGeom>
              <a:avLst/>
              <a:gdLst/>
              <a:ahLst/>
              <a:cxnLst/>
              <a:rect l="l" t="t" r="r" b="b"/>
              <a:pathLst>
                <a:path w="214249" h="342900">
                  <a:moveTo>
                    <a:pt x="0" y="0"/>
                  </a:moveTo>
                  <a:lnTo>
                    <a:pt x="214249" y="0"/>
                  </a:lnTo>
                  <a:lnTo>
                    <a:pt x="214249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14" r="-113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01012" y="4029075"/>
            <a:ext cx="600075" cy="685800"/>
            <a:chOff x="0" y="0"/>
            <a:chExt cx="800100" cy="9144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00100" cy="914400"/>
            </a:xfrm>
            <a:custGeom>
              <a:avLst/>
              <a:gdLst/>
              <a:ahLst/>
              <a:cxnLst/>
              <a:rect l="l" t="t" r="r" b="b"/>
              <a:pathLst>
                <a:path w="800100" h="9144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436394" y="5364956"/>
            <a:ext cx="3264694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en-US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3</a:t>
            </a: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. المستخدم البشري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36394" y="6125766"/>
            <a:ext cx="3264694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يقول: "أنا وثقت في إجابة الآلة الواثقة وقمت بتطبيقها، ولم أكن أعلم أنها ستهلوس وتخطئ."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122069" y="4079081"/>
            <a:ext cx="160734" cy="257175"/>
            <a:chOff x="0" y="0"/>
            <a:chExt cx="214312" cy="34290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214249" cy="342900"/>
            </a:xfrm>
            <a:custGeom>
              <a:avLst/>
              <a:gdLst/>
              <a:ahLst/>
              <a:cxnLst/>
              <a:rect l="l" t="t" r="r" b="b"/>
              <a:pathLst>
                <a:path w="214249" h="342900">
                  <a:moveTo>
                    <a:pt x="0" y="0"/>
                  </a:moveTo>
                  <a:lnTo>
                    <a:pt x="214249" y="0"/>
                  </a:lnTo>
                  <a:lnTo>
                    <a:pt x="214249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14" r="-113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64769" y="4029075"/>
            <a:ext cx="685800" cy="685800"/>
            <a:chOff x="0" y="0"/>
            <a:chExt cx="914400" cy="9144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063" r="-1063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875" y="5364956"/>
            <a:ext cx="3264694" cy="33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</a:pPr>
            <a:r>
              <a:rPr lang="en-US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</a:rPr>
              <a:t>4</a:t>
            </a:r>
            <a:r>
              <a:rPr lang="ar-EG" sz="22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. المخرج والضرر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5875" y="6125766"/>
            <a:ext cx="3264694" cy="10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1"/>
              </a:lnSpc>
            </a:pPr>
            <a:r>
              <a:rPr lang="ar-EG" sz="17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  <a:rtl/>
              </a:rPr>
              <a:t>يحدث الضرر الفعلي في الواقع، وتضيع المسؤولية بين الأطراف دون وجود جهة واحدة تتحمل الخطأ.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80656" y="8917191"/>
            <a:ext cx="321469" cy="257175"/>
            <a:chOff x="0" y="0"/>
            <a:chExt cx="428625" cy="34290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28625" cy="342900"/>
            </a:xfrm>
            <a:custGeom>
              <a:avLst/>
              <a:gdLst/>
              <a:ahLst/>
              <a:cxnLst/>
              <a:rect l="l" t="t" r="r" b="b"/>
              <a:pathLst>
                <a:path w="428625" h="342900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388" b="-1388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546872" y="8804672"/>
            <a:ext cx="12990909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السلسلة مكسورة ولا تملك مرساة حقيقية؛ فالآلة لا يمكن معاقبتها، والجميع يلقي باللوم على الطرف الآخر!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226653" y="1000125"/>
            <a:ext cx="3775472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غياب المحاسبة داخل الآلة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875" y="1107281"/>
            <a:ext cx="4507706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القسم الخامس: فجوة المسؤولية والمحاسبة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10026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مقارنة المسؤولية: الإنسان المهني مقابل نظام الذكاء الاصطناعي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850341" y="3036094"/>
            <a:ext cx="3137506" cy="635794"/>
            <a:chOff x="0" y="0"/>
            <a:chExt cx="4183342" cy="847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83380" cy="847725"/>
            </a:xfrm>
            <a:custGeom>
              <a:avLst/>
              <a:gdLst/>
              <a:ahLst/>
              <a:cxnLst/>
              <a:rect l="l" t="t" r="r" b="b"/>
              <a:pathLst>
                <a:path w="4183380" h="847725">
                  <a:moveTo>
                    <a:pt x="0" y="0"/>
                  </a:moveTo>
                  <a:lnTo>
                    <a:pt x="4183380" y="0"/>
                  </a:lnTo>
                  <a:lnTo>
                    <a:pt x="4183380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50341" y="3148546"/>
            <a:ext cx="3137506" cy="410880"/>
            <a:chOff x="0" y="0"/>
            <a:chExt cx="4183342" cy="547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83336" cy="547843"/>
            </a:xfrm>
            <a:custGeom>
              <a:avLst/>
              <a:gdLst/>
              <a:ahLst/>
              <a:cxnLst/>
              <a:rect l="l" t="t" r="r" b="b"/>
              <a:pathLst>
                <a:path w="4183336" h="547843">
                  <a:moveTo>
                    <a:pt x="0" y="0"/>
                  </a:moveTo>
                  <a:lnTo>
                    <a:pt x="4183336" y="0"/>
                  </a:lnTo>
                  <a:lnTo>
                    <a:pt x="4183336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788" b="-98788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183342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وجه المقارنة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75280" y="3036094"/>
            <a:ext cx="6275060" cy="635794"/>
            <a:chOff x="0" y="0"/>
            <a:chExt cx="8366747" cy="847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6760" cy="847725"/>
            </a:xfrm>
            <a:custGeom>
              <a:avLst/>
              <a:gdLst/>
              <a:ahLst/>
              <a:cxnLst/>
              <a:rect l="l" t="t" r="r" b="b"/>
              <a:pathLst>
                <a:path w="8366760" h="847725">
                  <a:moveTo>
                    <a:pt x="0" y="0"/>
                  </a:moveTo>
                  <a:lnTo>
                    <a:pt x="8366760" y="0"/>
                  </a:lnTo>
                  <a:lnTo>
                    <a:pt x="8366760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75280" y="3148546"/>
            <a:ext cx="6275060" cy="410880"/>
            <a:chOff x="0" y="0"/>
            <a:chExt cx="8366747" cy="547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66744" cy="547843"/>
            </a:xfrm>
            <a:custGeom>
              <a:avLst/>
              <a:gdLst/>
              <a:ahLst/>
              <a:cxnLst/>
              <a:rect l="l" t="t" r="r" b="b"/>
              <a:pathLst>
                <a:path w="8366744" h="547843">
                  <a:moveTo>
                    <a:pt x="0" y="0"/>
                  </a:moveTo>
                  <a:lnTo>
                    <a:pt x="8366744" y="0"/>
                  </a:lnTo>
                  <a:lnTo>
                    <a:pt x="8366744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7579" b="-247578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8366747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👨‍⚕️ الإنسان المهني (طبيب، مهندس، معلم)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0162" y="3036094"/>
            <a:ext cx="6275118" cy="635794"/>
            <a:chOff x="0" y="0"/>
            <a:chExt cx="8366823" cy="847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6760" cy="847725"/>
            </a:xfrm>
            <a:custGeom>
              <a:avLst/>
              <a:gdLst/>
              <a:ahLst/>
              <a:cxnLst/>
              <a:rect l="l" t="t" r="r" b="b"/>
              <a:pathLst>
                <a:path w="8366760" h="847725">
                  <a:moveTo>
                    <a:pt x="0" y="0"/>
                  </a:moveTo>
                  <a:lnTo>
                    <a:pt x="8366760" y="0"/>
                  </a:lnTo>
                  <a:lnTo>
                    <a:pt x="8366760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0162" y="3148546"/>
            <a:ext cx="6275118" cy="410880"/>
            <a:chOff x="0" y="0"/>
            <a:chExt cx="8366823" cy="547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66819" cy="547843"/>
            </a:xfrm>
            <a:custGeom>
              <a:avLst/>
              <a:gdLst/>
              <a:ahLst/>
              <a:cxnLst/>
              <a:rect l="l" t="t" r="r" b="b"/>
              <a:pathLst>
                <a:path w="8366819" h="547843">
                  <a:moveTo>
                    <a:pt x="0" y="0"/>
                  </a:moveTo>
                  <a:lnTo>
                    <a:pt x="8366819" y="0"/>
                  </a:lnTo>
                  <a:lnTo>
                    <a:pt x="8366819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7581" b="-24758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8366823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🤖 نظام الذكاء الاصطناعي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144598" y="3998709"/>
            <a:ext cx="165750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الترخيص والمسؤولية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575280" y="3901364"/>
            <a:ext cx="6275060" cy="782396"/>
            <a:chOff x="0" y="0"/>
            <a:chExt cx="8366747" cy="10431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366744" cy="1043201"/>
            </a:xfrm>
            <a:custGeom>
              <a:avLst/>
              <a:gdLst/>
              <a:ahLst/>
              <a:cxnLst/>
              <a:rect l="l" t="t" r="r" b="b"/>
              <a:pathLst>
                <a:path w="8366744" h="1043201">
                  <a:moveTo>
                    <a:pt x="0" y="0"/>
                  </a:moveTo>
                  <a:lnTo>
                    <a:pt x="8366744" y="0"/>
                  </a:lnTo>
                  <a:lnTo>
                    <a:pt x="8366744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1" b="-8154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8366747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يملك رخصة مهنية رسمية يمكن سحبها أو إلغاؤها عند الخطأ التقصيري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00162" y="3901364"/>
            <a:ext cx="6275118" cy="782396"/>
            <a:chOff x="0" y="0"/>
            <a:chExt cx="8366823" cy="10431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6819" cy="1043201"/>
            </a:xfrm>
            <a:custGeom>
              <a:avLst/>
              <a:gdLst/>
              <a:ahLst/>
              <a:cxnLst/>
              <a:rect l="l" t="t" r="r" b="b"/>
              <a:pathLst>
                <a:path w="8366819" h="1043201">
                  <a:moveTo>
                    <a:pt x="0" y="0"/>
                  </a:moveTo>
                  <a:lnTo>
                    <a:pt x="8366819" y="0"/>
                  </a:lnTo>
                  <a:lnTo>
                    <a:pt x="8366819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2" b="-8155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366823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يمكن ترخيصه قانونياً، ولا توجد رخصة مهنية يمكن سحبها منه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00162" y="4729162"/>
            <a:ext cx="15687675" cy="1064419"/>
            <a:chOff x="0" y="0"/>
            <a:chExt cx="20916900" cy="14192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16900" cy="1419225"/>
            </a:xfrm>
            <a:custGeom>
              <a:avLst/>
              <a:gdLst/>
              <a:ahLst/>
              <a:cxnLst/>
              <a:rect l="l" t="t" r="r" b="b"/>
              <a:pathLst>
                <a:path w="20916900" h="1419225">
                  <a:moveTo>
                    <a:pt x="0" y="0"/>
                  </a:moveTo>
                  <a:lnTo>
                    <a:pt x="20916900" y="0"/>
                  </a:lnTo>
                  <a:lnTo>
                    <a:pt x="20916900" y="1419225"/>
                  </a:lnTo>
                  <a:lnTo>
                    <a:pt x="0" y="1419225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404278" y="5063128"/>
            <a:ext cx="1397822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المساءلة القانونية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575280" y="5063623"/>
            <a:ext cx="6275060" cy="395488"/>
            <a:chOff x="0" y="0"/>
            <a:chExt cx="8366747" cy="52731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66744" cy="527323"/>
            </a:xfrm>
            <a:custGeom>
              <a:avLst/>
              <a:gdLst/>
              <a:ahLst/>
              <a:cxnLst/>
              <a:rect l="l" t="t" r="r" b="b"/>
              <a:pathLst>
                <a:path w="8366744" h="527323">
                  <a:moveTo>
                    <a:pt x="0" y="0"/>
                  </a:moveTo>
                  <a:lnTo>
                    <a:pt x="8366744" y="0"/>
                  </a:lnTo>
                  <a:lnTo>
                    <a:pt x="8366744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59" b="-259158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8366747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يمكن مقاضاته أمام المحاكم ومحاسبته قانونياً أو تغريمه مالياً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0162" y="4912360"/>
            <a:ext cx="6275118" cy="782396"/>
            <a:chOff x="0" y="0"/>
            <a:chExt cx="8366823" cy="104319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366819" cy="1043201"/>
            </a:xfrm>
            <a:custGeom>
              <a:avLst/>
              <a:gdLst/>
              <a:ahLst/>
              <a:cxnLst/>
              <a:rect l="l" t="t" r="r" b="b"/>
              <a:pathLst>
                <a:path w="8366819" h="1043201">
                  <a:moveTo>
                    <a:pt x="0" y="0"/>
                  </a:moveTo>
                  <a:lnTo>
                    <a:pt x="8366819" y="0"/>
                  </a:lnTo>
                  <a:lnTo>
                    <a:pt x="8366819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2" b="-8155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8366823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يمكن مقاضاته أو معاقبته أو سجنه؛ فهو مجرد برنامج حاسوبي صامت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715269" y="6127556"/>
            <a:ext cx="1086831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الوازع الداخلي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75280" y="5934593"/>
            <a:ext cx="6275060" cy="782396"/>
            <a:chOff x="0" y="0"/>
            <a:chExt cx="8366747" cy="104319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366744" cy="1043201"/>
            </a:xfrm>
            <a:custGeom>
              <a:avLst/>
              <a:gdLst/>
              <a:ahLst/>
              <a:cxnLst/>
              <a:rect l="l" t="t" r="r" b="b"/>
              <a:pathLst>
                <a:path w="8366744" h="1043201">
                  <a:moveTo>
                    <a:pt x="0" y="0"/>
                  </a:moveTo>
                  <a:lnTo>
                    <a:pt x="8366744" y="0"/>
                  </a:lnTo>
                  <a:lnTo>
                    <a:pt x="8366744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1" b="-8154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8366747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يشعر بالمسؤولية الأخلاقية، والذنب، والندم، والرغبة في إصلاح الخطأ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00162" y="5956205"/>
            <a:ext cx="6275118" cy="782396"/>
            <a:chOff x="0" y="0"/>
            <a:chExt cx="8366823" cy="104319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366819" cy="1043201"/>
            </a:xfrm>
            <a:custGeom>
              <a:avLst/>
              <a:gdLst/>
              <a:ahLst/>
              <a:cxnLst/>
              <a:rect l="l" t="t" r="r" b="b"/>
              <a:pathLst>
                <a:path w="8366819" h="1043201">
                  <a:moveTo>
                    <a:pt x="0" y="0"/>
                  </a:moveTo>
                  <a:lnTo>
                    <a:pt x="8366819" y="0"/>
                  </a:lnTo>
                  <a:lnTo>
                    <a:pt x="8366819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2" b="-8155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366823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يملك أي مشاعر أو وعي أو وازع داخلي؛ لا يشعر بالذنب أو الندم مطلقاً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00162" y="6858000"/>
            <a:ext cx="15687675" cy="1071562"/>
            <a:chOff x="0" y="0"/>
            <a:chExt cx="20916900" cy="14287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916900" cy="1428750"/>
            </a:xfrm>
            <a:custGeom>
              <a:avLst/>
              <a:gdLst/>
              <a:ahLst/>
              <a:cxnLst/>
              <a:rect l="l" t="t" r="r" b="b"/>
              <a:pathLst>
                <a:path w="20916900" h="1428750">
                  <a:moveTo>
                    <a:pt x="0" y="0"/>
                  </a:moveTo>
                  <a:lnTo>
                    <a:pt x="20916900" y="0"/>
                  </a:lnTo>
                  <a:lnTo>
                    <a:pt x="209169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5782592" y="7191966"/>
            <a:ext cx="1019508" cy="27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مفهوم الخطأ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575280" y="7024351"/>
            <a:ext cx="6275060" cy="782396"/>
            <a:chOff x="0" y="0"/>
            <a:chExt cx="8366747" cy="104319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366744" cy="1043201"/>
            </a:xfrm>
            <a:custGeom>
              <a:avLst/>
              <a:gdLst/>
              <a:ahLst/>
              <a:cxnLst/>
              <a:rect l="l" t="t" r="r" b="b"/>
              <a:pathLst>
                <a:path w="8366744" h="1043201">
                  <a:moveTo>
                    <a:pt x="0" y="0"/>
                  </a:moveTo>
                  <a:lnTo>
                    <a:pt x="8366744" y="0"/>
                  </a:lnTo>
                  <a:lnTo>
                    <a:pt x="8366744" y="1043201"/>
                  </a:lnTo>
                  <a:lnTo>
                    <a:pt x="0" y="104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1001" b="-8154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8366747" cy="1043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يتعلم من خطئه ويقول "أنا آسف، لقد أخطأت وسأقوم بتصحيح الأمر"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00162" y="7196033"/>
            <a:ext cx="6275118" cy="395488"/>
            <a:chOff x="0" y="0"/>
            <a:chExt cx="8366823" cy="52731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366819" cy="527323"/>
            </a:xfrm>
            <a:custGeom>
              <a:avLst/>
              <a:gdLst/>
              <a:ahLst/>
              <a:cxnLst/>
              <a:rect l="l" t="t" r="r" b="b"/>
              <a:pathLst>
                <a:path w="8366819" h="527323">
                  <a:moveTo>
                    <a:pt x="0" y="0"/>
                  </a:moveTo>
                  <a:lnTo>
                    <a:pt x="8366819" y="0"/>
                  </a:lnTo>
                  <a:lnTo>
                    <a:pt x="8366819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62" b="-25916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8366823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يدرك مفهوم الخطأ؛ سيكرر نفس الإجابة الخاطئة غداً بثقة تامة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644938" y="8704659"/>
            <a:ext cx="357188" cy="285750"/>
            <a:chOff x="0" y="0"/>
            <a:chExt cx="476250" cy="381000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2357438" y="8579644"/>
            <a:ext cx="14144625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الآلة لا تملك أي وازع أو عواقب؛ والنموذج الذي يخطئ اليوم سيكرر خطأه غداً، ما لم يتدخل الإنسان لإصلاحه!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316075" y="1000125"/>
            <a:ext cx="268605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79"/>
              </a:lnSpc>
            </a:pPr>
            <a:r>
              <a:rPr lang="ar-EG" sz="2400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القيود الأربعة معاً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06064" y="1107281"/>
            <a:ext cx="1365761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920"/>
              </a:lnSpc>
            </a:pPr>
            <a:r>
              <a:rPr lang="ar-EG" sz="16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ملخص اليوم الثالث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875" y="2100262"/>
            <a:ext cx="15716250" cy="43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ar-EG" sz="2799" b="1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الخلاصة: القيود الأربعة الكبرى للذكاء الاصطناعي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065919" y="3036094"/>
            <a:ext cx="3921919" cy="635794"/>
            <a:chOff x="0" y="0"/>
            <a:chExt cx="5229225" cy="847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29225" cy="847725"/>
            </a:xfrm>
            <a:custGeom>
              <a:avLst/>
              <a:gdLst/>
              <a:ahLst/>
              <a:cxnLst/>
              <a:rect l="l" t="t" r="r" b="b"/>
              <a:pathLst>
                <a:path w="5229225" h="847725">
                  <a:moveTo>
                    <a:pt x="0" y="0"/>
                  </a:moveTo>
                  <a:lnTo>
                    <a:pt x="5229225" y="0"/>
                  </a:lnTo>
                  <a:lnTo>
                    <a:pt x="5229225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65919" y="3148546"/>
            <a:ext cx="3921919" cy="410880"/>
            <a:chOff x="0" y="0"/>
            <a:chExt cx="5229225" cy="547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29224" cy="547843"/>
            </a:xfrm>
            <a:custGeom>
              <a:avLst/>
              <a:gdLst/>
              <a:ahLst/>
              <a:cxnLst/>
              <a:rect l="l" t="t" r="r" b="b"/>
              <a:pathLst>
                <a:path w="5229224" h="547843">
                  <a:moveTo>
                    <a:pt x="0" y="0"/>
                  </a:moveTo>
                  <a:lnTo>
                    <a:pt x="5229224" y="0"/>
                  </a:lnTo>
                  <a:lnTo>
                    <a:pt x="5229224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5987" b="-135986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229225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القيد الأساسي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75280" y="3036094"/>
            <a:ext cx="5490639" cy="635794"/>
            <a:chOff x="0" y="0"/>
            <a:chExt cx="7320852" cy="847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15" cy="847725"/>
            </a:xfrm>
            <a:custGeom>
              <a:avLst/>
              <a:gdLst/>
              <a:ahLst/>
              <a:cxnLst/>
              <a:rect l="l" t="t" r="r" b="b"/>
              <a:pathLst>
                <a:path w="7320915" h="847725">
                  <a:moveTo>
                    <a:pt x="0" y="0"/>
                  </a:moveTo>
                  <a:lnTo>
                    <a:pt x="7320915" y="0"/>
                  </a:lnTo>
                  <a:lnTo>
                    <a:pt x="7320915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75280" y="3148546"/>
            <a:ext cx="5490639" cy="410880"/>
            <a:chOff x="0" y="0"/>
            <a:chExt cx="7320852" cy="547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20856" cy="547843"/>
            </a:xfrm>
            <a:custGeom>
              <a:avLst/>
              <a:gdLst/>
              <a:ahLst/>
              <a:cxnLst/>
              <a:rect l="l" t="t" r="r" b="b"/>
              <a:pathLst>
                <a:path w="7320856" h="547843">
                  <a:moveTo>
                    <a:pt x="0" y="0"/>
                  </a:moveTo>
                  <a:lnTo>
                    <a:pt x="7320856" y="0"/>
                  </a:lnTo>
                  <a:lnTo>
                    <a:pt x="7320856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0379" b="-210379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7320852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السبب الجذري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0162" y="3036094"/>
            <a:ext cx="6275118" cy="635794"/>
            <a:chOff x="0" y="0"/>
            <a:chExt cx="8366823" cy="847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6760" cy="847725"/>
            </a:xfrm>
            <a:custGeom>
              <a:avLst/>
              <a:gdLst/>
              <a:ahLst/>
              <a:cxnLst/>
              <a:rect l="l" t="t" r="r" b="b"/>
              <a:pathLst>
                <a:path w="8366760" h="847725">
                  <a:moveTo>
                    <a:pt x="0" y="0"/>
                  </a:moveTo>
                  <a:lnTo>
                    <a:pt x="8366760" y="0"/>
                  </a:lnTo>
                  <a:lnTo>
                    <a:pt x="8366760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/>
            <a:lstStyle/>
            <a:p>
              <a:endParaRPr lang="en-SA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0162" y="3148546"/>
            <a:ext cx="6275118" cy="410880"/>
            <a:chOff x="0" y="0"/>
            <a:chExt cx="8366823" cy="547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66819" cy="547843"/>
            </a:xfrm>
            <a:custGeom>
              <a:avLst/>
              <a:gdLst/>
              <a:ahLst/>
              <a:cxnLst/>
              <a:rect l="l" t="t" r="r" b="b"/>
              <a:pathLst>
                <a:path w="8366819" h="547843">
                  <a:moveTo>
                    <a:pt x="0" y="0"/>
                  </a:moveTo>
                  <a:lnTo>
                    <a:pt x="8366819" y="0"/>
                  </a:lnTo>
                  <a:lnTo>
                    <a:pt x="8366819" y="547843"/>
                  </a:lnTo>
                  <a:lnTo>
                    <a:pt x="0" y="547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7581" b="-24758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8366823" cy="54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400"/>
                </a:lnSpc>
              </a:pPr>
              <a:r>
                <a:rPr lang="ar-EG" sz="2000" b="1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/>
                </a:rPr>
                <a:t>الأثر والنتيجة في الواقع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011400" y="3770109"/>
            <a:ext cx="17907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🧭 غياب البديهة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575280" y="3774176"/>
            <a:ext cx="5490639" cy="395488"/>
            <a:chOff x="0" y="0"/>
            <a:chExt cx="7320852" cy="5273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20856" cy="527323"/>
            </a:xfrm>
            <a:custGeom>
              <a:avLst/>
              <a:gdLst/>
              <a:ahLst/>
              <a:cxnLst/>
              <a:rect l="l" t="t" r="r" b="b"/>
              <a:pathLst>
                <a:path w="7320856" h="527323">
                  <a:moveTo>
                    <a:pt x="0" y="0"/>
                  </a:moveTo>
                  <a:lnTo>
                    <a:pt x="7320856" y="0"/>
                  </a:lnTo>
                  <a:lnTo>
                    <a:pt x="7320856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512" b="-22051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7320852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لم يعش في العالم المادي ولا يملك حواساً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00162" y="3774176"/>
            <a:ext cx="6275118" cy="395488"/>
            <a:chOff x="0" y="0"/>
            <a:chExt cx="8366823" cy="5273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6819" cy="527323"/>
            </a:xfrm>
            <a:custGeom>
              <a:avLst/>
              <a:gdLst/>
              <a:ahLst/>
              <a:cxnLst/>
              <a:rect l="l" t="t" r="r" b="b"/>
              <a:pathLst>
                <a:path w="8366819" h="527323">
                  <a:moveTo>
                    <a:pt x="0" y="0"/>
                  </a:moveTo>
                  <a:lnTo>
                    <a:pt x="8366819" y="0"/>
                  </a:lnTo>
                  <a:lnTo>
                    <a:pt x="8366819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62" b="-25916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366823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يخطئ في فهم السياق البشري والبديهيات اليومية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00162" y="4271962"/>
            <a:ext cx="15687675" cy="600075"/>
            <a:chOff x="0" y="0"/>
            <a:chExt cx="20916900" cy="800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16900" cy="800100"/>
            </a:xfrm>
            <a:custGeom>
              <a:avLst/>
              <a:gdLst/>
              <a:ahLst/>
              <a:cxnLst/>
              <a:rect l="l" t="t" r="r" b="b"/>
              <a:pathLst>
                <a:path w="20916900" h="800100">
                  <a:moveTo>
                    <a:pt x="0" y="0"/>
                  </a:moveTo>
                  <a:lnTo>
                    <a:pt x="20916900" y="0"/>
                  </a:lnTo>
                  <a:lnTo>
                    <a:pt x="209169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706600" y="4373756"/>
            <a:ext cx="2095500" cy="284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🔄 العجز عن الابتكار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575280" y="4374251"/>
            <a:ext cx="5490639" cy="395488"/>
            <a:chOff x="0" y="0"/>
            <a:chExt cx="7320852" cy="52731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20856" cy="527323"/>
            </a:xfrm>
            <a:custGeom>
              <a:avLst/>
              <a:gdLst/>
              <a:ahLst/>
              <a:cxnLst/>
              <a:rect l="l" t="t" r="r" b="b"/>
              <a:pathLst>
                <a:path w="7320856" h="527323">
                  <a:moveTo>
                    <a:pt x="0" y="0"/>
                  </a:moveTo>
                  <a:lnTo>
                    <a:pt x="7320856" y="0"/>
                  </a:lnTo>
                  <a:lnTo>
                    <a:pt x="7320856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512" b="-22051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320852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يعتمد على مطابقة الأنماط القديمة فقط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0162" y="4374251"/>
            <a:ext cx="6275118" cy="395488"/>
            <a:chOff x="0" y="0"/>
            <a:chExt cx="8366823" cy="52731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366819" cy="527323"/>
            </a:xfrm>
            <a:custGeom>
              <a:avLst/>
              <a:gdLst/>
              <a:ahLst/>
              <a:cxnLst/>
              <a:rect l="l" t="t" r="r" b="b"/>
              <a:pathLst>
                <a:path w="8366819" h="527323">
                  <a:moveTo>
                    <a:pt x="0" y="0"/>
                  </a:moveTo>
                  <a:lnTo>
                    <a:pt x="8366819" y="0"/>
                  </a:lnTo>
                  <a:lnTo>
                    <a:pt x="8366819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62" b="-25916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8366823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يفشل تماماً عند مواجهة مشكلات جديدة كلياً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706601" y="4973841"/>
            <a:ext cx="2095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🦜 الهلوسة الرقمية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75280" y="4974326"/>
            <a:ext cx="5490639" cy="395488"/>
            <a:chOff x="0" y="0"/>
            <a:chExt cx="7320852" cy="52731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20856" cy="527323"/>
            </a:xfrm>
            <a:custGeom>
              <a:avLst/>
              <a:gdLst/>
              <a:ahLst/>
              <a:cxnLst/>
              <a:rect l="l" t="t" r="r" b="b"/>
              <a:pathLst>
                <a:path w="7320856" h="527323">
                  <a:moveTo>
                    <a:pt x="0" y="0"/>
                  </a:moveTo>
                  <a:lnTo>
                    <a:pt x="7320856" y="0"/>
                  </a:lnTo>
                  <a:lnTo>
                    <a:pt x="7320856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512" b="-22051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7320852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يملك طبقة برمجية للتحقق من الصدق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00162" y="4974326"/>
            <a:ext cx="6275118" cy="395488"/>
            <a:chOff x="0" y="0"/>
            <a:chExt cx="8366823" cy="5273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366819" cy="527323"/>
            </a:xfrm>
            <a:custGeom>
              <a:avLst/>
              <a:gdLst/>
              <a:ahLst/>
              <a:cxnLst/>
              <a:rect l="l" t="t" r="r" b="b"/>
              <a:pathLst>
                <a:path w="8366819" h="527323">
                  <a:moveTo>
                    <a:pt x="0" y="0"/>
                  </a:moveTo>
                  <a:lnTo>
                    <a:pt x="8366819" y="0"/>
                  </a:lnTo>
                  <a:lnTo>
                    <a:pt x="8366819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62" b="-25916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366823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يعطي إجابات خاطئة تماماً بنبرة واثقة ومقنعة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00162" y="5472112"/>
            <a:ext cx="15687675" cy="600075"/>
            <a:chOff x="0" y="0"/>
            <a:chExt cx="20916900" cy="8001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916900" cy="800100"/>
            </a:xfrm>
            <a:custGeom>
              <a:avLst/>
              <a:gdLst/>
              <a:ahLst/>
              <a:cxnLst/>
              <a:rect l="l" t="t" r="r" b="b"/>
              <a:pathLst>
                <a:path w="20916900" h="800100">
                  <a:moveTo>
                    <a:pt x="0" y="0"/>
                  </a:moveTo>
                  <a:lnTo>
                    <a:pt x="20916900" y="0"/>
                  </a:lnTo>
                  <a:lnTo>
                    <a:pt x="209169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4706601" y="5570344"/>
            <a:ext cx="2095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800" b="1" dirty="0">
                <a:solidFill>
                  <a:srgbClr val="475569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⚖️ فجوة المسؤولية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575280" y="5574401"/>
            <a:ext cx="5490639" cy="395488"/>
            <a:chOff x="0" y="0"/>
            <a:chExt cx="7320852" cy="52731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20856" cy="527323"/>
            </a:xfrm>
            <a:custGeom>
              <a:avLst/>
              <a:gdLst/>
              <a:ahLst/>
              <a:cxnLst/>
              <a:rect l="l" t="t" r="r" b="b"/>
              <a:pathLst>
                <a:path w="7320856" h="527323">
                  <a:moveTo>
                    <a:pt x="0" y="0"/>
                  </a:moveTo>
                  <a:lnTo>
                    <a:pt x="7320856" y="0"/>
                  </a:lnTo>
                  <a:lnTo>
                    <a:pt x="7320856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512" b="-220511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7320852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لا يملك وعياً أو مشاعر أو عواقب قانونية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00162" y="5574401"/>
            <a:ext cx="6275118" cy="395488"/>
            <a:chOff x="0" y="0"/>
            <a:chExt cx="8366823" cy="52731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366819" cy="527323"/>
            </a:xfrm>
            <a:custGeom>
              <a:avLst/>
              <a:gdLst/>
              <a:ahLst/>
              <a:cxnLst/>
              <a:rect l="l" t="t" r="r" b="b"/>
              <a:pathLst>
                <a:path w="8366819" h="527323">
                  <a:moveTo>
                    <a:pt x="0" y="0"/>
                  </a:moveTo>
                  <a:lnTo>
                    <a:pt x="8366819" y="0"/>
                  </a:lnTo>
                  <a:lnTo>
                    <a:pt x="8366819" y="527323"/>
                  </a:lnTo>
                  <a:lnTo>
                    <a:pt x="0" y="527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162" b="-259160"/>
              </a:stretch>
            </a:blipFill>
          </p:spPr>
          <p:txBody>
            <a:bodyPr/>
            <a:lstStyle/>
            <a:p>
              <a:endParaRPr lang="en-SA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8366823" cy="52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rtl="1">
                <a:lnSpc>
                  <a:spcPts val="2280"/>
                </a:lnSpc>
              </a:pPr>
              <a:r>
                <a:rPr lang="ar-EG" sz="19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  <a:rtl/>
                </a:rPr>
                <a:t>حدوث أضرار حقيقية دون وجود جهة تتحمل الخطأ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716375" y="8704659"/>
            <a:ext cx="285750" cy="285750"/>
            <a:chOff x="0" y="0"/>
            <a:chExt cx="381000" cy="381000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00" b="-2500"/>
              </a:stretch>
            </a:blipFill>
          </p:spPr>
          <p:txBody>
            <a:bodyPr/>
            <a:lstStyle/>
            <a:p>
              <a:endParaRPr lang="en-SA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4068366" y="8579644"/>
            <a:ext cx="12505134" cy="30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ar-EG" sz="2000" b="1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كل هذه القيود تشترك في حقيقة واحدة: الذكاء الاصطناعي لم يعش أبداً، ولن يملك روحاً أو وعياً بشرياً!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430250" y="96012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SA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372600" y="2324100"/>
            <a:ext cx="6921770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44"/>
              </a:lnSpc>
            </a:pPr>
            <a:r>
              <a:rPr lang="ar-EG" sz="6000" b="1" dirty="0">
                <a:solidFill>
                  <a:srgbClr val="0F172A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الفكرة الكبرى لليوم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07905" y="3456037"/>
            <a:ext cx="722634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753"/>
              </a:lnSpc>
            </a:pPr>
            <a:r>
              <a:rPr lang="ar-EG" sz="2800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الذكاء الاصطناعي لا يملك حواساً، ولا يشعر بالفضول، ولا يمكن محاسبته قانونياً أو أخلاقياً على أخطائه.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44500" y="7886700"/>
            <a:ext cx="3571875" cy="26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039"/>
              </a:lnSpc>
            </a:pPr>
            <a:r>
              <a:rPr lang="ar-EG" sz="1700">
                <a:solidFill>
                  <a:srgbClr val="64748B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اليوم الثالث · حيث يقصر الذكاء الاصطناعي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580F1F6-5521-038B-B2FB-E70A150BB82B}"/>
              </a:ext>
            </a:extLst>
          </p:cNvPr>
          <p:cNvSpPr txBox="1"/>
          <p:nvPr/>
        </p:nvSpPr>
        <p:spPr>
          <a:xfrm>
            <a:off x="8712532" y="5240198"/>
            <a:ext cx="7621714" cy="101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753"/>
              </a:lnSpc>
            </a:pPr>
            <a:r>
              <a:rPr lang="ar-EG" sz="2300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إنه </a:t>
            </a:r>
            <a:r>
              <a:rPr lang="ar-EG" sz="2300" b="1" dirty="0">
                <a:solidFill>
                  <a:srgbClr val="EF4444"/>
                </a:solidFill>
                <a:latin typeface="Cairo Bold"/>
                <a:ea typeface="Cairo Bold"/>
                <a:cs typeface="Cairo Bold"/>
                <a:sym typeface="Cairo Bold"/>
                <a:rtl/>
              </a:rPr>
              <a:t>أداة استثنائية فائقة القوة</a:t>
            </a:r>
            <a:r>
              <a:rPr lang="ar-EG" sz="2300" dirty="0">
                <a:solidFill>
                  <a:srgbClr val="475569"/>
                </a:solidFill>
                <a:latin typeface="Cairo Light"/>
                <a:ea typeface="Cairo Light"/>
                <a:cs typeface="Cairo Light"/>
                <a:sym typeface="Cairo Light"/>
                <a:rtl/>
              </a:rPr>
              <a:t> صنعها البشر، ويديرها البشر، وتظل مسؤولة بالكامل أمام البشر.</a:t>
            </a:r>
          </a:p>
        </p:txBody>
      </p:sp>
    </p:spTree>
    <p:extLst>
      <p:ext uri="{BB962C8B-B14F-4D97-AF65-F5344CB8AC3E}">
        <p14:creationId xmlns:p14="http://schemas.microsoft.com/office/powerpoint/2010/main" val="201145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2991</Words>
  <Application>Microsoft Macintosh PowerPoint</Application>
  <PresentationFormat>Custom</PresentationFormat>
  <Paragraphs>426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Cairo Bold</vt:lpstr>
      <vt:lpstr>Cairo Light</vt:lpstr>
      <vt:lpstr>Calibri</vt:lpstr>
      <vt:lpstr>Cairo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2حيث_يقصر_الذكاء_الاصطناعي.pptx</dc:title>
  <cp:lastModifiedBy>Balkhair, Mohammed Ahmed M</cp:lastModifiedBy>
  <cp:revision>3</cp:revision>
  <dcterms:created xsi:type="dcterms:W3CDTF">2006-08-16T00:00:00Z</dcterms:created>
  <dcterms:modified xsi:type="dcterms:W3CDTF">2026-06-08T19:00:32Z</dcterms:modified>
  <dc:identifier>DAHLmwK9Hfc</dc:identifier>
</cp:coreProperties>
</file>