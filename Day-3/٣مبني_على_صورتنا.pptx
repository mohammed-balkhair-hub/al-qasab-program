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8" r:id="rId26"/>
    <p:sldId id="289" r:id="rId27"/>
    <p:sldId id="290" r:id="rId28"/>
    <p:sldId id="291" r:id="rId29"/>
    <p:sldId id="292" r:id="rId30"/>
    <p:sldId id="293" r:id="rId31"/>
  </p:sldIdLst>
  <p:sldSz cx="18288000" cy="10287000"/>
  <p:notesSz cx="6858000" cy="9144000"/>
  <p:embeddedFontLst>
    <p:embeddedFont>
      <p:font typeface="Cairo" charset="0"/>
      <p:regular r:id="rId33"/>
    </p:embeddedFont>
    <p:embeddedFont>
      <p:font typeface="Cairo Bold" charset="0"/>
      <p:regular r:id="rId34"/>
      <p:bold r:id="rId35"/>
    </p:embeddedFont>
    <p:embeddedFont>
      <p:font typeface="Cairo Light" charset="0"/>
      <p:regular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autoAdjust="0"/>
    <p:restoredTop sz="94626" autoAdjust="0"/>
  </p:normalViewPr>
  <p:slideViewPr>
    <p:cSldViewPr>
      <p:cViewPr varScale="1">
        <p:scale>
          <a:sx n="80" d="100"/>
          <a:sy n="80" d="100"/>
        </p:scale>
        <p:origin x="824" y="21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6/18/26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7"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jpeg"/></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7"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jpeg"/></Relationships>
</file>

<file path=ppt/slides/_rels/slide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jpeg"/><Relationship Id="rId7"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29.png"/><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4.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36.png"/><Relationship Id="rId4" Type="http://schemas.openxmlformats.org/officeDocument/2006/relationships/image" Target="../media/image35.png"/></Relationships>
</file>

<file path=ppt/slides/_rels/slide15.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38.png"/></Relationships>
</file>

<file path=ppt/slides/_rels/slide16.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1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19.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47.pn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20.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48.jpeg"/><Relationship Id="rId7" Type="http://schemas.openxmlformats.org/officeDocument/2006/relationships/image" Target="../media/image52.pn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 Id="rId9" Type="http://schemas.openxmlformats.org/officeDocument/2006/relationships/image" Target="../media/image54.png"/></Relationships>
</file>

<file path=ppt/slides/_rels/slide21.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4.jpeg"/><Relationship Id="rId7" Type="http://schemas.openxmlformats.org/officeDocument/2006/relationships/image" Target="../media/image47.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22.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22.xml"/><Relationship Id="rId1" Type="http://schemas.openxmlformats.org/officeDocument/2006/relationships/slideLayout" Target="../slideLayouts/slideLayout7.xml"/><Relationship Id="rId5" Type="http://schemas.openxmlformats.org/officeDocument/2006/relationships/image" Target="../media/image57.png"/><Relationship Id="rId4" Type="http://schemas.openxmlformats.org/officeDocument/2006/relationships/image" Target="../media/image14.jpeg"/></Relationships>
</file>

<file path=ppt/slides/_rels/slide23.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23.xml"/><Relationship Id="rId1" Type="http://schemas.openxmlformats.org/officeDocument/2006/relationships/slideLayout" Target="../slideLayouts/slideLayout7.xml"/><Relationship Id="rId5" Type="http://schemas.openxmlformats.org/officeDocument/2006/relationships/image" Target="../media/image60.png"/><Relationship Id="rId4" Type="http://schemas.openxmlformats.org/officeDocument/2006/relationships/image" Target="../media/image59.png"/></Relationships>
</file>

<file path=ppt/slides/_rels/slide24.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24.xml"/><Relationship Id="rId1" Type="http://schemas.openxmlformats.org/officeDocument/2006/relationships/slideLayout" Target="../slideLayouts/slideLayout7.xml"/><Relationship Id="rId5" Type="http://schemas.openxmlformats.org/officeDocument/2006/relationships/image" Target="../media/image42.png"/><Relationship Id="rId4" Type="http://schemas.openxmlformats.org/officeDocument/2006/relationships/image" Target="../media/image40.png"/></Relationships>
</file>

<file path=ppt/slides/_rels/slide2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image" Target="../media/image62.png"/><Relationship Id="rId5" Type="http://schemas.openxmlformats.org/officeDocument/2006/relationships/image" Target="../media/image32.png"/><Relationship Id="rId4" Type="http://schemas.openxmlformats.org/officeDocument/2006/relationships/image" Target="../media/image31.png"/></Relationships>
</file>

<file path=ppt/slides/_rels/slide27.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27.xml"/><Relationship Id="rId1" Type="http://schemas.openxmlformats.org/officeDocument/2006/relationships/slideLayout" Target="../slideLayouts/slideLayout7.xml"/><Relationship Id="rId6" Type="http://schemas.openxmlformats.org/officeDocument/2006/relationships/image" Target="../media/image65.png"/><Relationship Id="rId5" Type="http://schemas.openxmlformats.org/officeDocument/2006/relationships/image" Target="../media/image32.png"/><Relationship Id="rId4" Type="http://schemas.openxmlformats.org/officeDocument/2006/relationships/image" Target="../media/image64.png"/></Relationships>
</file>

<file path=ppt/slides/_rels/slide28.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7.png"/></Relationships>
</file>

<file path=ppt/slides/_rels/slide29.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29.xml"/><Relationship Id="rId1" Type="http://schemas.openxmlformats.org/officeDocument/2006/relationships/slideLayout" Target="../slideLayouts/slideLayout7.xml"/><Relationship Id="rId5" Type="http://schemas.openxmlformats.org/officeDocument/2006/relationships/image" Target="../media/image71.png"/><Relationship Id="rId4" Type="http://schemas.openxmlformats.org/officeDocument/2006/relationships/image" Target="../media/image14.jpeg"/></Relationships>
</file>

<file path=ppt/slides/_rels/slide30.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7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SA"/>
            </a:p>
          </p:txBody>
        </p:sp>
      </p:grpSp>
      <p:grpSp>
        <p:nvGrpSpPr>
          <p:cNvPr id="4" name="Group 4"/>
          <p:cNvGrpSpPr/>
          <p:nvPr/>
        </p:nvGrpSpPr>
        <p:grpSpPr>
          <a:xfrm>
            <a:off x="1458496" y="2906564"/>
            <a:ext cx="6028075" cy="4473872"/>
            <a:chOff x="0" y="0"/>
            <a:chExt cx="7187007" cy="5334000"/>
          </a:xfrm>
        </p:grpSpPr>
        <p:sp>
          <p:nvSpPr>
            <p:cNvPr id="5" name="Freeform 5"/>
            <p:cNvSpPr/>
            <p:nvPr/>
          </p:nvSpPr>
          <p:spPr>
            <a:xfrm>
              <a:off x="0" y="0"/>
              <a:ext cx="7187007" cy="5334000"/>
            </a:xfrm>
            <a:custGeom>
              <a:avLst/>
              <a:gdLst/>
              <a:ahLst/>
              <a:cxnLst/>
              <a:rect l="l" t="t" r="r" b="b"/>
              <a:pathLst>
                <a:path w="7187007" h="5334000">
                  <a:moveTo>
                    <a:pt x="0" y="0"/>
                  </a:moveTo>
                  <a:lnTo>
                    <a:pt x="7187007" y="0"/>
                  </a:lnTo>
                  <a:lnTo>
                    <a:pt x="7187007" y="5334000"/>
                  </a:lnTo>
                  <a:lnTo>
                    <a:pt x="0" y="5334000"/>
                  </a:lnTo>
                  <a:lnTo>
                    <a:pt x="0" y="0"/>
                  </a:lnTo>
                  <a:close/>
                </a:path>
              </a:pathLst>
            </a:custGeom>
            <a:blipFill>
              <a:blip r:embed="rId4"/>
              <a:stretch>
                <a:fillRect l="-16413" r="-16413"/>
              </a:stretch>
            </a:blipFill>
          </p:spPr>
          <p:txBody>
            <a:bodyPr/>
            <a:lstStyle/>
            <a:p>
              <a:endParaRPr lang="en-SA"/>
            </a:p>
          </p:txBody>
        </p:sp>
      </p:grpSp>
      <p:sp>
        <p:nvSpPr>
          <p:cNvPr id="6" name="TextBox 6"/>
          <p:cNvSpPr txBox="1"/>
          <p:nvPr/>
        </p:nvSpPr>
        <p:spPr>
          <a:xfrm>
            <a:off x="8980360" y="3487064"/>
            <a:ext cx="8307514" cy="1078182"/>
          </a:xfrm>
          <a:prstGeom prst="rect">
            <a:avLst/>
          </a:prstGeom>
        </p:spPr>
        <p:txBody>
          <a:bodyPr lIns="0" tIns="0" rIns="0" bIns="0" rtlCol="0" anchor="t">
            <a:spAutoFit/>
          </a:bodyPr>
          <a:lstStyle/>
          <a:p>
            <a:pPr algn="r">
              <a:lnSpc>
                <a:spcPts val="7603"/>
              </a:lnSpc>
            </a:pPr>
            <a:r>
              <a:rPr lang="ar-EG" sz="6600" b="1">
                <a:solidFill>
                  <a:srgbClr val="0F172A"/>
                </a:solidFill>
                <a:latin typeface="Cairo Bold"/>
                <a:ea typeface="Cairo Bold"/>
                <a:cs typeface="Cairo Bold"/>
                <a:sym typeface="Cairo Bold"/>
                <a:rtl/>
              </a:rPr>
              <a:t>مبني على صورتنا</a:t>
            </a:r>
          </a:p>
        </p:txBody>
      </p:sp>
      <p:sp>
        <p:nvSpPr>
          <p:cNvPr id="7" name="TextBox 7"/>
          <p:cNvSpPr txBox="1"/>
          <p:nvPr/>
        </p:nvSpPr>
        <p:spPr>
          <a:xfrm>
            <a:off x="8980360" y="4698597"/>
            <a:ext cx="8307514" cy="1158221"/>
          </a:xfrm>
          <a:prstGeom prst="rect">
            <a:avLst/>
          </a:prstGeom>
        </p:spPr>
        <p:txBody>
          <a:bodyPr lIns="0" tIns="0" rIns="0" bIns="0" rtlCol="0" anchor="t">
            <a:spAutoFit/>
          </a:bodyPr>
          <a:lstStyle/>
          <a:p>
            <a:pPr algn="r">
              <a:lnSpc>
                <a:spcPts val="4032"/>
              </a:lnSpc>
            </a:pPr>
            <a:r>
              <a:rPr lang="ar-EG" sz="3000">
                <a:solidFill>
                  <a:srgbClr val="EA580C"/>
                </a:solidFill>
                <a:latin typeface="Cairo"/>
                <a:ea typeface="Cairo"/>
                <a:cs typeface="Cairo"/>
                <a:sym typeface="Cairo"/>
                <a:rtl/>
              </a:rPr>
              <a:t>كيف استلهم الذكاء الاصطناعي من دماغك البشري؟</a:t>
            </a:r>
          </a:p>
        </p:txBody>
      </p:sp>
      <p:sp>
        <p:nvSpPr>
          <p:cNvPr id="8" name="TextBox 8"/>
          <p:cNvSpPr txBox="1"/>
          <p:nvPr/>
        </p:nvSpPr>
        <p:spPr>
          <a:xfrm>
            <a:off x="13214152" y="9493929"/>
            <a:ext cx="3847694" cy="333425"/>
          </a:xfrm>
          <a:prstGeom prst="rect">
            <a:avLst/>
          </a:prstGeom>
        </p:spPr>
        <p:txBody>
          <a:bodyPr lIns="0" tIns="0" rIns="0" bIns="0" rtlCol="0" anchor="t">
            <a:spAutoFit/>
          </a:bodyPr>
          <a:lstStyle/>
          <a:p>
            <a:pPr algn="r">
              <a:lnSpc>
                <a:spcPts val="2595"/>
              </a:lnSpc>
            </a:pPr>
            <a:r>
              <a:rPr lang="ar-EG" sz="2163" dirty="0">
                <a:solidFill>
                  <a:srgbClr val="64748B"/>
                </a:solidFill>
                <a:latin typeface="Cairo Light"/>
                <a:ea typeface="Cairo Light"/>
                <a:cs typeface="Cairo Light"/>
                <a:sym typeface="Cairo Light"/>
                <a:rtl/>
              </a:rPr>
              <a:t>اليوم الثالث · مبني على صورتنا</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SA"/>
            </a:p>
          </p:txBody>
        </p:sp>
      </p:grpSp>
      <p:sp>
        <p:nvSpPr>
          <p:cNvPr id="4" name="TextBox 4"/>
          <p:cNvSpPr txBox="1"/>
          <p:nvPr/>
        </p:nvSpPr>
        <p:spPr>
          <a:xfrm>
            <a:off x="15401925" y="1000125"/>
            <a:ext cx="1600200" cy="642938"/>
          </a:xfrm>
          <a:prstGeom prst="rect">
            <a:avLst/>
          </a:prstGeom>
        </p:spPr>
        <p:txBody>
          <a:bodyPr lIns="0" tIns="0" rIns="0" bIns="0" rtlCol="0" anchor="t">
            <a:spAutoFit/>
          </a:bodyPr>
          <a:lstStyle/>
          <a:p>
            <a:pPr algn="r">
              <a:lnSpc>
                <a:spcPts val="2879"/>
              </a:lnSpc>
            </a:pPr>
            <a:r>
              <a:rPr lang="ar-EG" sz="2400" b="1">
                <a:solidFill>
                  <a:srgbClr val="0F172A"/>
                </a:solidFill>
                <a:latin typeface="Cairo Bold"/>
                <a:ea typeface="Cairo Bold"/>
                <a:cs typeface="Cairo Bold"/>
                <a:sym typeface="Cairo Bold"/>
                <a:rtl/>
              </a:rPr>
              <a:t>قصة اليوم</a:t>
            </a:r>
          </a:p>
        </p:txBody>
      </p:sp>
      <p:sp>
        <p:nvSpPr>
          <p:cNvPr id="5" name="TextBox 5"/>
          <p:cNvSpPr txBox="1"/>
          <p:nvPr/>
        </p:nvSpPr>
        <p:spPr>
          <a:xfrm>
            <a:off x="4082653" y="4161758"/>
            <a:ext cx="10122694" cy="1447832"/>
          </a:xfrm>
          <a:prstGeom prst="rect">
            <a:avLst/>
          </a:prstGeom>
        </p:spPr>
        <p:txBody>
          <a:bodyPr lIns="0" tIns="0" rIns="0" bIns="0" rtlCol="0" anchor="t">
            <a:spAutoFit/>
          </a:bodyPr>
          <a:lstStyle/>
          <a:p>
            <a:pPr algn="ctr" rtl="1">
              <a:lnSpc>
                <a:spcPts val="5836"/>
              </a:lnSpc>
            </a:pPr>
            <a:r>
              <a:rPr lang="ar-EG" sz="3800" b="1" dirty="0">
                <a:solidFill>
                  <a:srgbClr val="0F172A"/>
                </a:solidFill>
                <a:latin typeface="Cairo Bold"/>
                <a:ea typeface="Cairo Bold"/>
                <a:cs typeface="Cairo Bold"/>
                <a:sym typeface="Cairo Bold"/>
                <a:rtl/>
              </a:rPr>
              <a:t>الذكاء الاصطناعي استلهم أفكاره منّا</a:t>
            </a:r>
            <a:endParaRPr lang="en-US" sz="3800" b="1" dirty="0">
              <a:solidFill>
                <a:srgbClr val="0F172A"/>
              </a:solidFill>
              <a:latin typeface="Cairo Bold"/>
              <a:ea typeface="Cairo Bold"/>
              <a:cs typeface="Cairo Bold"/>
              <a:sym typeface="Cairo Bold"/>
            </a:endParaRPr>
          </a:p>
          <a:p>
            <a:pPr algn="ctr">
              <a:lnSpc>
                <a:spcPts val="5836"/>
              </a:lnSpc>
            </a:pPr>
            <a:r>
              <a:rPr lang="ar-EG" sz="3800" b="1" dirty="0">
                <a:solidFill>
                  <a:srgbClr val="0F172A"/>
                </a:solidFill>
                <a:latin typeface="Cairo Bold"/>
                <a:ea typeface="Cairo Bold"/>
                <a:cs typeface="Cairo Bold"/>
                <a:sym typeface="Cairo Bold"/>
                <a:rtl/>
              </a:rPr>
              <a:t>فلنتتبّع تلك الأفكار — ونرى إلى أين وصلت</a:t>
            </a:r>
            <a:endParaRPr lang="en-US" sz="3800" b="1" dirty="0">
              <a:solidFill>
                <a:srgbClr val="0F172A"/>
              </a:solidFill>
              <a:latin typeface="Cairo Bold"/>
              <a:ea typeface="Cairo Bold"/>
              <a:cs typeface="Cairo Bold"/>
              <a:sym typeface="Cairo Bold"/>
            </a:endParaRPr>
          </a:p>
        </p:txBody>
      </p:sp>
      <p:sp>
        <p:nvSpPr>
          <p:cNvPr id="6" name="TextBox 6"/>
          <p:cNvSpPr txBox="1"/>
          <p:nvPr/>
        </p:nvSpPr>
        <p:spPr>
          <a:xfrm>
            <a:off x="13214152" y="9493929"/>
            <a:ext cx="3847694" cy="333425"/>
          </a:xfrm>
          <a:prstGeom prst="rect">
            <a:avLst/>
          </a:prstGeom>
        </p:spPr>
        <p:txBody>
          <a:bodyPr lIns="0" tIns="0" rIns="0" bIns="0" rtlCol="0" anchor="t">
            <a:spAutoFit/>
          </a:bodyPr>
          <a:lstStyle/>
          <a:p>
            <a:pPr algn="r">
              <a:lnSpc>
                <a:spcPts val="2595"/>
              </a:lnSpc>
            </a:pPr>
            <a:r>
              <a:rPr lang="ar-EG" sz="2163" dirty="0">
                <a:solidFill>
                  <a:srgbClr val="64748B"/>
                </a:solidFill>
                <a:latin typeface="Cairo Light"/>
                <a:ea typeface="Cairo Light"/>
                <a:cs typeface="Cairo Light"/>
                <a:sym typeface="Cairo Light"/>
                <a:rtl/>
              </a:rPr>
              <a:t>اليوم الثالث · مبني على صورتنا</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SA"/>
            </a:p>
          </p:txBody>
        </p:sp>
      </p:grpSp>
      <p:sp>
        <p:nvSpPr>
          <p:cNvPr id="4" name="TextBox 4"/>
          <p:cNvSpPr txBox="1"/>
          <p:nvPr/>
        </p:nvSpPr>
        <p:spPr>
          <a:xfrm>
            <a:off x="14941153" y="1000125"/>
            <a:ext cx="2060972" cy="361950"/>
          </a:xfrm>
          <a:prstGeom prst="rect">
            <a:avLst/>
          </a:prstGeom>
        </p:spPr>
        <p:txBody>
          <a:bodyPr lIns="0" tIns="0" rIns="0" bIns="0" rtlCol="0" anchor="t">
            <a:spAutoFit/>
          </a:bodyPr>
          <a:lstStyle/>
          <a:p>
            <a:pPr algn="r">
              <a:lnSpc>
                <a:spcPts val="2879"/>
              </a:lnSpc>
            </a:pPr>
            <a:r>
              <a:rPr lang="ar-EG" sz="2400" b="1">
                <a:solidFill>
                  <a:srgbClr val="0F172A"/>
                </a:solidFill>
                <a:latin typeface="Cairo Bold"/>
                <a:ea typeface="Cairo Bold"/>
                <a:cs typeface="Cairo Bold"/>
                <a:sym typeface="Cairo Bold"/>
                <a:rtl/>
              </a:rPr>
              <a:t>أهداف اليوم</a:t>
            </a:r>
          </a:p>
        </p:txBody>
      </p:sp>
      <p:sp>
        <p:nvSpPr>
          <p:cNvPr id="5" name="TextBox 5"/>
          <p:cNvSpPr txBox="1"/>
          <p:nvPr/>
        </p:nvSpPr>
        <p:spPr>
          <a:xfrm>
            <a:off x="1285875" y="2271712"/>
            <a:ext cx="15716250" cy="419100"/>
          </a:xfrm>
          <a:prstGeom prst="rect">
            <a:avLst/>
          </a:prstGeom>
        </p:spPr>
        <p:txBody>
          <a:bodyPr lIns="0" tIns="0" rIns="0" bIns="0" rtlCol="0" anchor="t">
            <a:spAutoFit/>
          </a:bodyPr>
          <a:lstStyle/>
          <a:p>
            <a:pPr algn="r">
              <a:lnSpc>
                <a:spcPts val="3359"/>
              </a:lnSpc>
            </a:pPr>
            <a:r>
              <a:rPr lang="en-US" sz="2799" b="1">
                <a:solidFill>
                  <a:srgbClr val="0F172A"/>
                </a:solidFill>
                <a:latin typeface="Cairo Bold"/>
                <a:ea typeface="Cairo Bold"/>
                <a:cs typeface="Cairo Bold"/>
                <a:sym typeface="Cairo Bold"/>
              </a:rPr>
              <a:t>:</a:t>
            </a:r>
            <a:r>
              <a:rPr lang="ar-EG" sz="2799" b="1">
                <a:solidFill>
                  <a:srgbClr val="0F172A"/>
                </a:solidFill>
                <a:latin typeface="Cairo Bold"/>
                <a:ea typeface="Cairo Bold"/>
                <a:cs typeface="Cairo Bold"/>
                <a:sym typeface="Cairo Bold"/>
                <a:rtl/>
              </a:rPr>
              <a:t>بنهاية درس اليوم، ستتمكن من</a:t>
            </a:r>
          </a:p>
        </p:txBody>
      </p:sp>
      <p:grpSp>
        <p:nvGrpSpPr>
          <p:cNvPr id="6" name="Group 6"/>
          <p:cNvGrpSpPr/>
          <p:nvPr/>
        </p:nvGrpSpPr>
        <p:grpSpPr>
          <a:xfrm>
            <a:off x="9315450" y="3364706"/>
            <a:ext cx="7686675" cy="2000250"/>
            <a:chOff x="0" y="0"/>
            <a:chExt cx="10248900" cy="2667000"/>
          </a:xfrm>
        </p:grpSpPr>
        <p:sp>
          <p:nvSpPr>
            <p:cNvPr id="7" name="Freeform 7"/>
            <p:cNvSpPr/>
            <p:nvPr/>
          </p:nvSpPr>
          <p:spPr>
            <a:xfrm>
              <a:off x="0" y="0"/>
              <a:ext cx="10248900" cy="2667000"/>
            </a:xfrm>
            <a:custGeom>
              <a:avLst/>
              <a:gdLst/>
              <a:ahLst/>
              <a:cxnLst/>
              <a:rect l="l" t="t" r="r" b="b"/>
              <a:pathLst>
                <a:path w="10248900" h="2667000">
                  <a:moveTo>
                    <a:pt x="0" y="0"/>
                  </a:moveTo>
                  <a:lnTo>
                    <a:pt x="10248900" y="0"/>
                  </a:lnTo>
                  <a:lnTo>
                    <a:pt x="10248900" y="2667000"/>
                  </a:lnTo>
                  <a:lnTo>
                    <a:pt x="0" y="2667000"/>
                  </a:lnTo>
                  <a:close/>
                </a:path>
              </a:pathLst>
            </a:custGeom>
            <a:solidFill>
              <a:srgbClr val="FFFFFF"/>
            </a:solidFill>
          </p:spPr>
          <p:txBody>
            <a:bodyPr/>
            <a:lstStyle/>
            <a:p>
              <a:endParaRPr lang="en-SA"/>
            </a:p>
          </p:txBody>
        </p:sp>
      </p:grpSp>
      <p:grpSp>
        <p:nvGrpSpPr>
          <p:cNvPr id="8" name="Group 8"/>
          <p:cNvGrpSpPr/>
          <p:nvPr/>
        </p:nvGrpSpPr>
        <p:grpSpPr>
          <a:xfrm>
            <a:off x="9315450" y="3364706"/>
            <a:ext cx="7686675" cy="57150"/>
            <a:chOff x="0" y="0"/>
            <a:chExt cx="10248900" cy="76200"/>
          </a:xfrm>
        </p:grpSpPr>
        <p:sp>
          <p:nvSpPr>
            <p:cNvPr id="9" name="Freeform 9"/>
            <p:cNvSpPr/>
            <p:nvPr/>
          </p:nvSpPr>
          <p:spPr>
            <a:xfrm>
              <a:off x="0" y="0"/>
              <a:ext cx="10248900" cy="76200"/>
            </a:xfrm>
            <a:custGeom>
              <a:avLst/>
              <a:gdLst/>
              <a:ahLst/>
              <a:cxnLst/>
              <a:rect l="l" t="t" r="r" b="b"/>
              <a:pathLst>
                <a:path w="10248900" h="76200">
                  <a:moveTo>
                    <a:pt x="0" y="0"/>
                  </a:moveTo>
                  <a:lnTo>
                    <a:pt x="10248900" y="0"/>
                  </a:lnTo>
                  <a:lnTo>
                    <a:pt x="10248900" y="76200"/>
                  </a:lnTo>
                  <a:lnTo>
                    <a:pt x="0" y="76200"/>
                  </a:lnTo>
                  <a:close/>
                </a:path>
              </a:pathLst>
            </a:custGeom>
            <a:solidFill>
              <a:srgbClr val="0284C7"/>
            </a:solidFill>
          </p:spPr>
          <p:txBody>
            <a:bodyPr/>
            <a:lstStyle/>
            <a:p>
              <a:endParaRPr lang="en-SA"/>
            </a:p>
          </p:txBody>
        </p:sp>
      </p:grpSp>
      <p:grpSp>
        <p:nvGrpSpPr>
          <p:cNvPr id="10" name="Group 10"/>
          <p:cNvGrpSpPr/>
          <p:nvPr/>
        </p:nvGrpSpPr>
        <p:grpSpPr>
          <a:xfrm>
            <a:off x="16973550" y="3364706"/>
            <a:ext cx="28575" cy="2000250"/>
            <a:chOff x="0" y="0"/>
            <a:chExt cx="38100" cy="2667000"/>
          </a:xfrm>
        </p:grpSpPr>
        <p:sp>
          <p:nvSpPr>
            <p:cNvPr id="11" name="Freeform 11"/>
            <p:cNvSpPr/>
            <p:nvPr/>
          </p:nvSpPr>
          <p:spPr>
            <a:xfrm>
              <a:off x="0" y="0"/>
              <a:ext cx="38100" cy="2667000"/>
            </a:xfrm>
            <a:custGeom>
              <a:avLst/>
              <a:gdLst/>
              <a:ahLst/>
              <a:cxnLst/>
              <a:rect l="l" t="t" r="r" b="b"/>
              <a:pathLst>
                <a:path w="38100" h="2667000">
                  <a:moveTo>
                    <a:pt x="0" y="0"/>
                  </a:moveTo>
                  <a:lnTo>
                    <a:pt x="38100" y="0"/>
                  </a:lnTo>
                  <a:lnTo>
                    <a:pt x="38100" y="2667000"/>
                  </a:lnTo>
                  <a:lnTo>
                    <a:pt x="0" y="2667000"/>
                  </a:lnTo>
                  <a:close/>
                </a:path>
              </a:pathLst>
            </a:custGeom>
            <a:solidFill>
              <a:srgbClr val="E2E8F0"/>
            </a:solidFill>
          </p:spPr>
          <p:txBody>
            <a:bodyPr/>
            <a:lstStyle/>
            <a:p>
              <a:endParaRPr lang="en-SA"/>
            </a:p>
          </p:txBody>
        </p:sp>
      </p:grpSp>
      <p:grpSp>
        <p:nvGrpSpPr>
          <p:cNvPr id="12" name="Group 12"/>
          <p:cNvGrpSpPr/>
          <p:nvPr/>
        </p:nvGrpSpPr>
        <p:grpSpPr>
          <a:xfrm>
            <a:off x="9315450" y="5336381"/>
            <a:ext cx="7686675" cy="28575"/>
            <a:chOff x="0" y="0"/>
            <a:chExt cx="10248900" cy="38100"/>
          </a:xfrm>
        </p:grpSpPr>
        <p:sp>
          <p:nvSpPr>
            <p:cNvPr id="13" name="Freeform 13"/>
            <p:cNvSpPr/>
            <p:nvPr/>
          </p:nvSpPr>
          <p:spPr>
            <a:xfrm>
              <a:off x="0" y="0"/>
              <a:ext cx="10248900" cy="38100"/>
            </a:xfrm>
            <a:custGeom>
              <a:avLst/>
              <a:gdLst/>
              <a:ahLst/>
              <a:cxnLst/>
              <a:rect l="l" t="t" r="r" b="b"/>
              <a:pathLst>
                <a:path w="10248900" h="38100">
                  <a:moveTo>
                    <a:pt x="0" y="0"/>
                  </a:moveTo>
                  <a:lnTo>
                    <a:pt x="10248900" y="0"/>
                  </a:lnTo>
                  <a:lnTo>
                    <a:pt x="10248900" y="38100"/>
                  </a:lnTo>
                  <a:lnTo>
                    <a:pt x="0" y="38100"/>
                  </a:lnTo>
                  <a:close/>
                </a:path>
              </a:pathLst>
            </a:custGeom>
            <a:solidFill>
              <a:srgbClr val="E2E8F0"/>
            </a:solidFill>
          </p:spPr>
          <p:txBody>
            <a:bodyPr/>
            <a:lstStyle/>
            <a:p>
              <a:endParaRPr lang="en-SA"/>
            </a:p>
          </p:txBody>
        </p:sp>
      </p:grpSp>
      <p:grpSp>
        <p:nvGrpSpPr>
          <p:cNvPr id="14" name="Group 14"/>
          <p:cNvGrpSpPr/>
          <p:nvPr/>
        </p:nvGrpSpPr>
        <p:grpSpPr>
          <a:xfrm>
            <a:off x="9315450" y="3364706"/>
            <a:ext cx="28575" cy="2000250"/>
            <a:chOff x="0" y="0"/>
            <a:chExt cx="38100" cy="2667000"/>
          </a:xfrm>
        </p:grpSpPr>
        <p:sp>
          <p:nvSpPr>
            <p:cNvPr id="15" name="Freeform 15"/>
            <p:cNvSpPr/>
            <p:nvPr/>
          </p:nvSpPr>
          <p:spPr>
            <a:xfrm>
              <a:off x="0" y="0"/>
              <a:ext cx="38100" cy="2667000"/>
            </a:xfrm>
            <a:custGeom>
              <a:avLst/>
              <a:gdLst/>
              <a:ahLst/>
              <a:cxnLst/>
              <a:rect l="l" t="t" r="r" b="b"/>
              <a:pathLst>
                <a:path w="38100" h="2667000">
                  <a:moveTo>
                    <a:pt x="0" y="0"/>
                  </a:moveTo>
                  <a:lnTo>
                    <a:pt x="38100" y="0"/>
                  </a:lnTo>
                  <a:lnTo>
                    <a:pt x="38100" y="2667000"/>
                  </a:lnTo>
                  <a:lnTo>
                    <a:pt x="0" y="2667000"/>
                  </a:lnTo>
                  <a:close/>
                </a:path>
              </a:pathLst>
            </a:custGeom>
            <a:solidFill>
              <a:srgbClr val="E2E8F0"/>
            </a:solidFill>
          </p:spPr>
          <p:txBody>
            <a:bodyPr/>
            <a:lstStyle/>
            <a:p>
              <a:endParaRPr lang="en-SA"/>
            </a:p>
          </p:txBody>
        </p:sp>
      </p:grpSp>
      <p:grpSp>
        <p:nvGrpSpPr>
          <p:cNvPr id="20" name="Group 20"/>
          <p:cNvGrpSpPr/>
          <p:nvPr/>
        </p:nvGrpSpPr>
        <p:grpSpPr>
          <a:xfrm>
            <a:off x="1285875" y="3364706"/>
            <a:ext cx="7686675" cy="2000250"/>
            <a:chOff x="0" y="0"/>
            <a:chExt cx="10248900" cy="2667000"/>
          </a:xfrm>
        </p:grpSpPr>
        <p:sp>
          <p:nvSpPr>
            <p:cNvPr id="21" name="Freeform 21"/>
            <p:cNvSpPr/>
            <p:nvPr/>
          </p:nvSpPr>
          <p:spPr>
            <a:xfrm>
              <a:off x="0" y="0"/>
              <a:ext cx="10248900" cy="2667000"/>
            </a:xfrm>
            <a:custGeom>
              <a:avLst/>
              <a:gdLst/>
              <a:ahLst/>
              <a:cxnLst/>
              <a:rect l="l" t="t" r="r" b="b"/>
              <a:pathLst>
                <a:path w="10248900" h="2667000">
                  <a:moveTo>
                    <a:pt x="0" y="0"/>
                  </a:moveTo>
                  <a:lnTo>
                    <a:pt x="10248900" y="0"/>
                  </a:lnTo>
                  <a:lnTo>
                    <a:pt x="10248900" y="2667000"/>
                  </a:lnTo>
                  <a:lnTo>
                    <a:pt x="0" y="2667000"/>
                  </a:lnTo>
                  <a:close/>
                </a:path>
              </a:pathLst>
            </a:custGeom>
            <a:solidFill>
              <a:srgbClr val="FFFFFF"/>
            </a:solidFill>
          </p:spPr>
          <p:txBody>
            <a:bodyPr/>
            <a:lstStyle/>
            <a:p>
              <a:endParaRPr lang="en-SA"/>
            </a:p>
          </p:txBody>
        </p:sp>
      </p:grpSp>
      <p:grpSp>
        <p:nvGrpSpPr>
          <p:cNvPr id="22" name="Group 22"/>
          <p:cNvGrpSpPr/>
          <p:nvPr/>
        </p:nvGrpSpPr>
        <p:grpSpPr>
          <a:xfrm>
            <a:off x="1285875" y="3364706"/>
            <a:ext cx="7686675" cy="57150"/>
            <a:chOff x="0" y="0"/>
            <a:chExt cx="10248900" cy="76200"/>
          </a:xfrm>
        </p:grpSpPr>
        <p:sp>
          <p:nvSpPr>
            <p:cNvPr id="23" name="Freeform 23"/>
            <p:cNvSpPr/>
            <p:nvPr/>
          </p:nvSpPr>
          <p:spPr>
            <a:xfrm>
              <a:off x="0" y="0"/>
              <a:ext cx="10248900" cy="76200"/>
            </a:xfrm>
            <a:custGeom>
              <a:avLst/>
              <a:gdLst/>
              <a:ahLst/>
              <a:cxnLst/>
              <a:rect l="l" t="t" r="r" b="b"/>
              <a:pathLst>
                <a:path w="10248900" h="76200">
                  <a:moveTo>
                    <a:pt x="0" y="0"/>
                  </a:moveTo>
                  <a:lnTo>
                    <a:pt x="10248900" y="0"/>
                  </a:lnTo>
                  <a:lnTo>
                    <a:pt x="10248900" y="76200"/>
                  </a:lnTo>
                  <a:lnTo>
                    <a:pt x="0" y="76200"/>
                  </a:lnTo>
                  <a:close/>
                </a:path>
              </a:pathLst>
            </a:custGeom>
            <a:solidFill>
              <a:srgbClr val="EA580C"/>
            </a:solidFill>
          </p:spPr>
          <p:txBody>
            <a:bodyPr/>
            <a:lstStyle/>
            <a:p>
              <a:endParaRPr lang="en-SA"/>
            </a:p>
          </p:txBody>
        </p:sp>
      </p:grpSp>
      <p:grpSp>
        <p:nvGrpSpPr>
          <p:cNvPr id="24" name="Group 24"/>
          <p:cNvGrpSpPr/>
          <p:nvPr/>
        </p:nvGrpSpPr>
        <p:grpSpPr>
          <a:xfrm>
            <a:off x="8943975" y="3364706"/>
            <a:ext cx="28575" cy="2000250"/>
            <a:chOff x="0" y="0"/>
            <a:chExt cx="38100" cy="2667000"/>
          </a:xfrm>
        </p:grpSpPr>
        <p:sp>
          <p:nvSpPr>
            <p:cNvPr id="25" name="Freeform 25"/>
            <p:cNvSpPr/>
            <p:nvPr/>
          </p:nvSpPr>
          <p:spPr>
            <a:xfrm>
              <a:off x="0" y="0"/>
              <a:ext cx="38100" cy="2667000"/>
            </a:xfrm>
            <a:custGeom>
              <a:avLst/>
              <a:gdLst/>
              <a:ahLst/>
              <a:cxnLst/>
              <a:rect l="l" t="t" r="r" b="b"/>
              <a:pathLst>
                <a:path w="38100" h="2667000">
                  <a:moveTo>
                    <a:pt x="0" y="0"/>
                  </a:moveTo>
                  <a:lnTo>
                    <a:pt x="38100" y="0"/>
                  </a:lnTo>
                  <a:lnTo>
                    <a:pt x="38100" y="2667000"/>
                  </a:lnTo>
                  <a:lnTo>
                    <a:pt x="0" y="2667000"/>
                  </a:lnTo>
                  <a:close/>
                </a:path>
              </a:pathLst>
            </a:custGeom>
            <a:solidFill>
              <a:srgbClr val="E2E8F0"/>
            </a:solidFill>
          </p:spPr>
          <p:txBody>
            <a:bodyPr/>
            <a:lstStyle/>
            <a:p>
              <a:endParaRPr lang="en-SA"/>
            </a:p>
          </p:txBody>
        </p:sp>
      </p:grpSp>
      <p:grpSp>
        <p:nvGrpSpPr>
          <p:cNvPr id="26" name="Group 26"/>
          <p:cNvGrpSpPr/>
          <p:nvPr/>
        </p:nvGrpSpPr>
        <p:grpSpPr>
          <a:xfrm>
            <a:off x="1285875" y="5336381"/>
            <a:ext cx="7686675" cy="28575"/>
            <a:chOff x="0" y="0"/>
            <a:chExt cx="10248900" cy="38100"/>
          </a:xfrm>
        </p:grpSpPr>
        <p:sp>
          <p:nvSpPr>
            <p:cNvPr id="27" name="Freeform 27"/>
            <p:cNvSpPr/>
            <p:nvPr/>
          </p:nvSpPr>
          <p:spPr>
            <a:xfrm>
              <a:off x="0" y="0"/>
              <a:ext cx="10248900" cy="38100"/>
            </a:xfrm>
            <a:custGeom>
              <a:avLst/>
              <a:gdLst/>
              <a:ahLst/>
              <a:cxnLst/>
              <a:rect l="l" t="t" r="r" b="b"/>
              <a:pathLst>
                <a:path w="10248900" h="38100">
                  <a:moveTo>
                    <a:pt x="0" y="0"/>
                  </a:moveTo>
                  <a:lnTo>
                    <a:pt x="10248900" y="0"/>
                  </a:lnTo>
                  <a:lnTo>
                    <a:pt x="10248900" y="38100"/>
                  </a:lnTo>
                  <a:lnTo>
                    <a:pt x="0" y="38100"/>
                  </a:lnTo>
                  <a:close/>
                </a:path>
              </a:pathLst>
            </a:custGeom>
            <a:solidFill>
              <a:srgbClr val="E2E8F0"/>
            </a:solidFill>
          </p:spPr>
          <p:txBody>
            <a:bodyPr/>
            <a:lstStyle/>
            <a:p>
              <a:endParaRPr lang="en-SA"/>
            </a:p>
          </p:txBody>
        </p:sp>
      </p:grpSp>
      <p:grpSp>
        <p:nvGrpSpPr>
          <p:cNvPr id="28" name="Group 28"/>
          <p:cNvGrpSpPr/>
          <p:nvPr/>
        </p:nvGrpSpPr>
        <p:grpSpPr>
          <a:xfrm>
            <a:off x="1285875" y="3364706"/>
            <a:ext cx="28575" cy="2000250"/>
            <a:chOff x="0" y="0"/>
            <a:chExt cx="38100" cy="2667000"/>
          </a:xfrm>
        </p:grpSpPr>
        <p:sp>
          <p:nvSpPr>
            <p:cNvPr id="29" name="Freeform 29"/>
            <p:cNvSpPr/>
            <p:nvPr/>
          </p:nvSpPr>
          <p:spPr>
            <a:xfrm>
              <a:off x="0" y="0"/>
              <a:ext cx="38100" cy="2667000"/>
            </a:xfrm>
            <a:custGeom>
              <a:avLst/>
              <a:gdLst/>
              <a:ahLst/>
              <a:cxnLst/>
              <a:rect l="l" t="t" r="r" b="b"/>
              <a:pathLst>
                <a:path w="38100" h="2667000">
                  <a:moveTo>
                    <a:pt x="0" y="0"/>
                  </a:moveTo>
                  <a:lnTo>
                    <a:pt x="38100" y="0"/>
                  </a:lnTo>
                  <a:lnTo>
                    <a:pt x="38100" y="2667000"/>
                  </a:lnTo>
                  <a:lnTo>
                    <a:pt x="0" y="2667000"/>
                  </a:lnTo>
                  <a:close/>
                </a:path>
              </a:pathLst>
            </a:custGeom>
            <a:solidFill>
              <a:srgbClr val="E2E8F0"/>
            </a:solidFill>
          </p:spPr>
          <p:txBody>
            <a:bodyPr/>
            <a:lstStyle/>
            <a:p>
              <a:endParaRPr lang="en-SA"/>
            </a:p>
          </p:txBody>
        </p:sp>
      </p:grpSp>
      <p:grpSp>
        <p:nvGrpSpPr>
          <p:cNvPr id="34" name="Group 34"/>
          <p:cNvGrpSpPr/>
          <p:nvPr/>
        </p:nvGrpSpPr>
        <p:grpSpPr>
          <a:xfrm>
            <a:off x="9315450" y="5707856"/>
            <a:ext cx="7686675" cy="2000250"/>
            <a:chOff x="0" y="0"/>
            <a:chExt cx="10248900" cy="2667000"/>
          </a:xfrm>
        </p:grpSpPr>
        <p:sp>
          <p:nvSpPr>
            <p:cNvPr id="35" name="Freeform 35"/>
            <p:cNvSpPr/>
            <p:nvPr/>
          </p:nvSpPr>
          <p:spPr>
            <a:xfrm>
              <a:off x="0" y="0"/>
              <a:ext cx="10248900" cy="2667000"/>
            </a:xfrm>
            <a:custGeom>
              <a:avLst/>
              <a:gdLst/>
              <a:ahLst/>
              <a:cxnLst/>
              <a:rect l="l" t="t" r="r" b="b"/>
              <a:pathLst>
                <a:path w="10248900" h="2667000">
                  <a:moveTo>
                    <a:pt x="0" y="0"/>
                  </a:moveTo>
                  <a:lnTo>
                    <a:pt x="10248900" y="0"/>
                  </a:lnTo>
                  <a:lnTo>
                    <a:pt x="10248900" y="2667000"/>
                  </a:lnTo>
                  <a:lnTo>
                    <a:pt x="0" y="2667000"/>
                  </a:lnTo>
                  <a:close/>
                </a:path>
              </a:pathLst>
            </a:custGeom>
            <a:solidFill>
              <a:srgbClr val="FFFFFF"/>
            </a:solidFill>
          </p:spPr>
          <p:txBody>
            <a:bodyPr/>
            <a:lstStyle/>
            <a:p>
              <a:endParaRPr lang="en-SA"/>
            </a:p>
          </p:txBody>
        </p:sp>
      </p:grpSp>
      <p:grpSp>
        <p:nvGrpSpPr>
          <p:cNvPr id="36" name="Group 36"/>
          <p:cNvGrpSpPr/>
          <p:nvPr/>
        </p:nvGrpSpPr>
        <p:grpSpPr>
          <a:xfrm>
            <a:off x="9315450" y="5707856"/>
            <a:ext cx="7686675" cy="57150"/>
            <a:chOff x="0" y="0"/>
            <a:chExt cx="10248900" cy="76200"/>
          </a:xfrm>
        </p:grpSpPr>
        <p:sp>
          <p:nvSpPr>
            <p:cNvPr id="37" name="Freeform 37"/>
            <p:cNvSpPr/>
            <p:nvPr/>
          </p:nvSpPr>
          <p:spPr>
            <a:xfrm>
              <a:off x="0" y="0"/>
              <a:ext cx="10248900" cy="76200"/>
            </a:xfrm>
            <a:custGeom>
              <a:avLst/>
              <a:gdLst/>
              <a:ahLst/>
              <a:cxnLst/>
              <a:rect l="l" t="t" r="r" b="b"/>
              <a:pathLst>
                <a:path w="10248900" h="76200">
                  <a:moveTo>
                    <a:pt x="0" y="0"/>
                  </a:moveTo>
                  <a:lnTo>
                    <a:pt x="10248900" y="0"/>
                  </a:lnTo>
                  <a:lnTo>
                    <a:pt x="10248900" y="76200"/>
                  </a:lnTo>
                  <a:lnTo>
                    <a:pt x="0" y="76200"/>
                  </a:lnTo>
                  <a:close/>
                </a:path>
              </a:pathLst>
            </a:custGeom>
            <a:solidFill>
              <a:srgbClr val="EA580C"/>
            </a:solidFill>
          </p:spPr>
          <p:txBody>
            <a:bodyPr/>
            <a:lstStyle/>
            <a:p>
              <a:endParaRPr lang="en-SA"/>
            </a:p>
          </p:txBody>
        </p:sp>
      </p:grpSp>
      <p:grpSp>
        <p:nvGrpSpPr>
          <p:cNvPr id="38" name="Group 38"/>
          <p:cNvGrpSpPr/>
          <p:nvPr/>
        </p:nvGrpSpPr>
        <p:grpSpPr>
          <a:xfrm>
            <a:off x="16973550" y="5707856"/>
            <a:ext cx="28575" cy="2000250"/>
            <a:chOff x="0" y="0"/>
            <a:chExt cx="38100" cy="2667000"/>
          </a:xfrm>
        </p:grpSpPr>
        <p:sp>
          <p:nvSpPr>
            <p:cNvPr id="39" name="Freeform 39"/>
            <p:cNvSpPr/>
            <p:nvPr/>
          </p:nvSpPr>
          <p:spPr>
            <a:xfrm>
              <a:off x="0" y="0"/>
              <a:ext cx="38100" cy="2667000"/>
            </a:xfrm>
            <a:custGeom>
              <a:avLst/>
              <a:gdLst/>
              <a:ahLst/>
              <a:cxnLst/>
              <a:rect l="l" t="t" r="r" b="b"/>
              <a:pathLst>
                <a:path w="38100" h="2667000">
                  <a:moveTo>
                    <a:pt x="0" y="0"/>
                  </a:moveTo>
                  <a:lnTo>
                    <a:pt x="38100" y="0"/>
                  </a:lnTo>
                  <a:lnTo>
                    <a:pt x="38100" y="2667000"/>
                  </a:lnTo>
                  <a:lnTo>
                    <a:pt x="0" y="2667000"/>
                  </a:lnTo>
                  <a:close/>
                </a:path>
              </a:pathLst>
            </a:custGeom>
            <a:solidFill>
              <a:srgbClr val="E2E8F0"/>
            </a:solidFill>
          </p:spPr>
          <p:txBody>
            <a:bodyPr/>
            <a:lstStyle/>
            <a:p>
              <a:endParaRPr lang="en-SA"/>
            </a:p>
          </p:txBody>
        </p:sp>
      </p:grpSp>
      <p:grpSp>
        <p:nvGrpSpPr>
          <p:cNvPr id="40" name="Group 40"/>
          <p:cNvGrpSpPr/>
          <p:nvPr/>
        </p:nvGrpSpPr>
        <p:grpSpPr>
          <a:xfrm>
            <a:off x="9315450" y="7679531"/>
            <a:ext cx="7686675" cy="28575"/>
            <a:chOff x="0" y="0"/>
            <a:chExt cx="10248900" cy="38100"/>
          </a:xfrm>
        </p:grpSpPr>
        <p:sp>
          <p:nvSpPr>
            <p:cNvPr id="41" name="Freeform 41"/>
            <p:cNvSpPr/>
            <p:nvPr/>
          </p:nvSpPr>
          <p:spPr>
            <a:xfrm>
              <a:off x="0" y="0"/>
              <a:ext cx="10248900" cy="38100"/>
            </a:xfrm>
            <a:custGeom>
              <a:avLst/>
              <a:gdLst/>
              <a:ahLst/>
              <a:cxnLst/>
              <a:rect l="l" t="t" r="r" b="b"/>
              <a:pathLst>
                <a:path w="10248900" h="38100">
                  <a:moveTo>
                    <a:pt x="0" y="0"/>
                  </a:moveTo>
                  <a:lnTo>
                    <a:pt x="10248900" y="0"/>
                  </a:lnTo>
                  <a:lnTo>
                    <a:pt x="10248900" y="38100"/>
                  </a:lnTo>
                  <a:lnTo>
                    <a:pt x="0" y="38100"/>
                  </a:lnTo>
                  <a:close/>
                </a:path>
              </a:pathLst>
            </a:custGeom>
            <a:solidFill>
              <a:srgbClr val="E2E8F0"/>
            </a:solidFill>
          </p:spPr>
          <p:txBody>
            <a:bodyPr/>
            <a:lstStyle/>
            <a:p>
              <a:endParaRPr lang="en-SA"/>
            </a:p>
          </p:txBody>
        </p:sp>
      </p:grpSp>
      <p:grpSp>
        <p:nvGrpSpPr>
          <p:cNvPr id="42" name="Group 42"/>
          <p:cNvGrpSpPr/>
          <p:nvPr/>
        </p:nvGrpSpPr>
        <p:grpSpPr>
          <a:xfrm>
            <a:off x="9315450" y="5707856"/>
            <a:ext cx="28575" cy="2000250"/>
            <a:chOff x="0" y="0"/>
            <a:chExt cx="38100" cy="2667000"/>
          </a:xfrm>
        </p:grpSpPr>
        <p:sp>
          <p:nvSpPr>
            <p:cNvPr id="43" name="Freeform 43"/>
            <p:cNvSpPr/>
            <p:nvPr/>
          </p:nvSpPr>
          <p:spPr>
            <a:xfrm>
              <a:off x="0" y="0"/>
              <a:ext cx="38100" cy="2667000"/>
            </a:xfrm>
            <a:custGeom>
              <a:avLst/>
              <a:gdLst/>
              <a:ahLst/>
              <a:cxnLst/>
              <a:rect l="l" t="t" r="r" b="b"/>
              <a:pathLst>
                <a:path w="38100" h="2667000">
                  <a:moveTo>
                    <a:pt x="0" y="0"/>
                  </a:moveTo>
                  <a:lnTo>
                    <a:pt x="38100" y="0"/>
                  </a:lnTo>
                  <a:lnTo>
                    <a:pt x="38100" y="2667000"/>
                  </a:lnTo>
                  <a:lnTo>
                    <a:pt x="0" y="2667000"/>
                  </a:lnTo>
                  <a:close/>
                </a:path>
              </a:pathLst>
            </a:custGeom>
            <a:solidFill>
              <a:srgbClr val="E2E8F0"/>
            </a:solidFill>
          </p:spPr>
          <p:txBody>
            <a:bodyPr/>
            <a:lstStyle/>
            <a:p>
              <a:endParaRPr lang="en-SA"/>
            </a:p>
          </p:txBody>
        </p:sp>
      </p:grpSp>
      <p:grpSp>
        <p:nvGrpSpPr>
          <p:cNvPr id="48" name="Group 48"/>
          <p:cNvGrpSpPr/>
          <p:nvPr/>
        </p:nvGrpSpPr>
        <p:grpSpPr>
          <a:xfrm>
            <a:off x="1285875" y="5707856"/>
            <a:ext cx="7686675" cy="2000250"/>
            <a:chOff x="0" y="0"/>
            <a:chExt cx="10248900" cy="2667000"/>
          </a:xfrm>
        </p:grpSpPr>
        <p:sp>
          <p:nvSpPr>
            <p:cNvPr id="49" name="Freeform 49"/>
            <p:cNvSpPr/>
            <p:nvPr/>
          </p:nvSpPr>
          <p:spPr>
            <a:xfrm>
              <a:off x="0" y="0"/>
              <a:ext cx="10248900" cy="2667000"/>
            </a:xfrm>
            <a:custGeom>
              <a:avLst/>
              <a:gdLst/>
              <a:ahLst/>
              <a:cxnLst/>
              <a:rect l="l" t="t" r="r" b="b"/>
              <a:pathLst>
                <a:path w="10248900" h="2667000">
                  <a:moveTo>
                    <a:pt x="0" y="0"/>
                  </a:moveTo>
                  <a:lnTo>
                    <a:pt x="10248900" y="0"/>
                  </a:lnTo>
                  <a:lnTo>
                    <a:pt x="10248900" y="2667000"/>
                  </a:lnTo>
                  <a:lnTo>
                    <a:pt x="0" y="2667000"/>
                  </a:lnTo>
                  <a:close/>
                </a:path>
              </a:pathLst>
            </a:custGeom>
            <a:solidFill>
              <a:srgbClr val="FFFFFF"/>
            </a:solidFill>
          </p:spPr>
          <p:txBody>
            <a:bodyPr/>
            <a:lstStyle/>
            <a:p>
              <a:endParaRPr lang="en-SA"/>
            </a:p>
          </p:txBody>
        </p:sp>
      </p:grpSp>
      <p:grpSp>
        <p:nvGrpSpPr>
          <p:cNvPr id="50" name="Group 50"/>
          <p:cNvGrpSpPr/>
          <p:nvPr/>
        </p:nvGrpSpPr>
        <p:grpSpPr>
          <a:xfrm>
            <a:off x="1285875" y="5707856"/>
            <a:ext cx="7686675" cy="57150"/>
            <a:chOff x="0" y="0"/>
            <a:chExt cx="10248900" cy="76200"/>
          </a:xfrm>
        </p:grpSpPr>
        <p:sp>
          <p:nvSpPr>
            <p:cNvPr id="51" name="Freeform 51"/>
            <p:cNvSpPr/>
            <p:nvPr/>
          </p:nvSpPr>
          <p:spPr>
            <a:xfrm>
              <a:off x="0" y="0"/>
              <a:ext cx="10248900" cy="76200"/>
            </a:xfrm>
            <a:custGeom>
              <a:avLst/>
              <a:gdLst/>
              <a:ahLst/>
              <a:cxnLst/>
              <a:rect l="l" t="t" r="r" b="b"/>
              <a:pathLst>
                <a:path w="10248900" h="76200">
                  <a:moveTo>
                    <a:pt x="0" y="0"/>
                  </a:moveTo>
                  <a:lnTo>
                    <a:pt x="10248900" y="0"/>
                  </a:lnTo>
                  <a:lnTo>
                    <a:pt x="10248900" y="76200"/>
                  </a:lnTo>
                  <a:lnTo>
                    <a:pt x="0" y="76200"/>
                  </a:lnTo>
                  <a:close/>
                </a:path>
              </a:pathLst>
            </a:custGeom>
            <a:solidFill>
              <a:srgbClr val="0284C7"/>
            </a:solidFill>
          </p:spPr>
          <p:txBody>
            <a:bodyPr/>
            <a:lstStyle/>
            <a:p>
              <a:endParaRPr lang="en-SA"/>
            </a:p>
          </p:txBody>
        </p:sp>
      </p:grpSp>
      <p:grpSp>
        <p:nvGrpSpPr>
          <p:cNvPr id="52" name="Group 52"/>
          <p:cNvGrpSpPr/>
          <p:nvPr/>
        </p:nvGrpSpPr>
        <p:grpSpPr>
          <a:xfrm>
            <a:off x="8943975" y="5707856"/>
            <a:ext cx="28575" cy="2000250"/>
            <a:chOff x="0" y="0"/>
            <a:chExt cx="38100" cy="2667000"/>
          </a:xfrm>
        </p:grpSpPr>
        <p:sp>
          <p:nvSpPr>
            <p:cNvPr id="53" name="Freeform 53"/>
            <p:cNvSpPr/>
            <p:nvPr/>
          </p:nvSpPr>
          <p:spPr>
            <a:xfrm>
              <a:off x="0" y="0"/>
              <a:ext cx="38100" cy="2667000"/>
            </a:xfrm>
            <a:custGeom>
              <a:avLst/>
              <a:gdLst/>
              <a:ahLst/>
              <a:cxnLst/>
              <a:rect l="l" t="t" r="r" b="b"/>
              <a:pathLst>
                <a:path w="38100" h="2667000">
                  <a:moveTo>
                    <a:pt x="0" y="0"/>
                  </a:moveTo>
                  <a:lnTo>
                    <a:pt x="38100" y="0"/>
                  </a:lnTo>
                  <a:lnTo>
                    <a:pt x="38100" y="2667000"/>
                  </a:lnTo>
                  <a:lnTo>
                    <a:pt x="0" y="2667000"/>
                  </a:lnTo>
                  <a:close/>
                </a:path>
              </a:pathLst>
            </a:custGeom>
            <a:solidFill>
              <a:srgbClr val="E2E8F0"/>
            </a:solidFill>
          </p:spPr>
          <p:txBody>
            <a:bodyPr/>
            <a:lstStyle/>
            <a:p>
              <a:endParaRPr lang="en-SA"/>
            </a:p>
          </p:txBody>
        </p:sp>
      </p:grpSp>
      <p:grpSp>
        <p:nvGrpSpPr>
          <p:cNvPr id="54" name="Group 54"/>
          <p:cNvGrpSpPr/>
          <p:nvPr/>
        </p:nvGrpSpPr>
        <p:grpSpPr>
          <a:xfrm>
            <a:off x="1285875" y="7679531"/>
            <a:ext cx="7686675" cy="28575"/>
            <a:chOff x="0" y="0"/>
            <a:chExt cx="10248900" cy="38100"/>
          </a:xfrm>
        </p:grpSpPr>
        <p:sp>
          <p:nvSpPr>
            <p:cNvPr id="55" name="Freeform 55"/>
            <p:cNvSpPr/>
            <p:nvPr/>
          </p:nvSpPr>
          <p:spPr>
            <a:xfrm>
              <a:off x="0" y="0"/>
              <a:ext cx="10248900" cy="38100"/>
            </a:xfrm>
            <a:custGeom>
              <a:avLst/>
              <a:gdLst/>
              <a:ahLst/>
              <a:cxnLst/>
              <a:rect l="l" t="t" r="r" b="b"/>
              <a:pathLst>
                <a:path w="10248900" h="38100">
                  <a:moveTo>
                    <a:pt x="0" y="0"/>
                  </a:moveTo>
                  <a:lnTo>
                    <a:pt x="10248900" y="0"/>
                  </a:lnTo>
                  <a:lnTo>
                    <a:pt x="10248900" y="38100"/>
                  </a:lnTo>
                  <a:lnTo>
                    <a:pt x="0" y="38100"/>
                  </a:lnTo>
                  <a:close/>
                </a:path>
              </a:pathLst>
            </a:custGeom>
            <a:solidFill>
              <a:srgbClr val="E2E8F0"/>
            </a:solidFill>
          </p:spPr>
          <p:txBody>
            <a:bodyPr/>
            <a:lstStyle/>
            <a:p>
              <a:endParaRPr lang="en-SA"/>
            </a:p>
          </p:txBody>
        </p:sp>
      </p:grpSp>
      <p:grpSp>
        <p:nvGrpSpPr>
          <p:cNvPr id="56" name="Group 56"/>
          <p:cNvGrpSpPr/>
          <p:nvPr/>
        </p:nvGrpSpPr>
        <p:grpSpPr>
          <a:xfrm>
            <a:off x="1285875" y="5707856"/>
            <a:ext cx="28575" cy="2000250"/>
            <a:chOff x="0" y="0"/>
            <a:chExt cx="38100" cy="2667000"/>
          </a:xfrm>
        </p:grpSpPr>
        <p:sp>
          <p:nvSpPr>
            <p:cNvPr id="57" name="Freeform 57"/>
            <p:cNvSpPr/>
            <p:nvPr/>
          </p:nvSpPr>
          <p:spPr>
            <a:xfrm>
              <a:off x="0" y="0"/>
              <a:ext cx="38100" cy="2667000"/>
            </a:xfrm>
            <a:custGeom>
              <a:avLst/>
              <a:gdLst/>
              <a:ahLst/>
              <a:cxnLst/>
              <a:rect l="l" t="t" r="r" b="b"/>
              <a:pathLst>
                <a:path w="38100" h="2667000">
                  <a:moveTo>
                    <a:pt x="0" y="0"/>
                  </a:moveTo>
                  <a:lnTo>
                    <a:pt x="38100" y="0"/>
                  </a:lnTo>
                  <a:lnTo>
                    <a:pt x="38100" y="2667000"/>
                  </a:lnTo>
                  <a:lnTo>
                    <a:pt x="0" y="2667000"/>
                  </a:lnTo>
                  <a:close/>
                </a:path>
              </a:pathLst>
            </a:custGeom>
            <a:solidFill>
              <a:srgbClr val="E2E8F0"/>
            </a:solidFill>
          </p:spPr>
          <p:txBody>
            <a:bodyPr/>
            <a:lstStyle/>
            <a:p>
              <a:endParaRPr lang="en-SA"/>
            </a:p>
          </p:txBody>
        </p:sp>
      </p:grpSp>
      <p:sp>
        <p:nvSpPr>
          <p:cNvPr id="60" name="TextBox 60"/>
          <p:cNvSpPr txBox="1"/>
          <p:nvPr/>
        </p:nvSpPr>
        <p:spPr>
          <a:xfrm>
            <a:off x="5599509" y="6050756"/>
            <a:ext cx="3011091" cy="535781"/>
          </a:xfrm>
          <a:prstGeom prst="rect">
            <a:avLst/>
          </a:prstGeom>
        </p:spPr>
        <p:txBody>
          <a:bodyPr lIns="0" tIns="0" rIns="0" bIns="0" rtlCol="0" anchor="t">
            <a:spAutoFit/>
          </a:bodyPr>
          <a:lstStyle/>
          <a:p>
            <a:pPr algn="r">
              <a:lnSpc>
                <a:spcPts val="2400"/>
              </a:lnSpc>
            </a:pPr>
            <a:r>
              <a:rPr lang="ar-EG" sz="2000" b="1" dirty="0">
                <a:solidFill>
                  <a:srgbClr val="0F172A"/>
                </a:solidFill>
                <a:latin typeface="Cairo Bold"/>
                <a:ea typeface="Cairo Bold"/>
                <a:cs typeface="Cairo Bold"/>
                <a:sym typeface="Cairo Bold"/>
                <a:rtl/>
              </a:rPr>
              <a:t>معرفة الفروق الحقيقية</a:t>
            </a:r>
          </a:p>
        </p:txBody>
      </p:sp>
      <p:sp>
        <p:nvSpPr>
          <p:cNvPr id="61" name="TextBox 61"/>
          <p:cNvSpPr txBox="1"/>
          <p:nvPr/>
        </p:nvSpPr>
        <p:spPr>
          <a:xfrm>
            <a:off x="1628775" y="6643688"/>
            <a:ext cx="7000875" cy="648896"/>
          </a:xfrm>
          <a:prstGeom prst="rect">
            <a:avLst/>
          </a:prstGeom>
        </p:spPr>
        <p:txBody>
          <a:bodyPr lIns="0" tIns="0" rIns="0" bIns="0" rtlCol="0" anchor="t">
            <a:spAutoFit/>
          </a:bodyPr>
          <a:lstStyle/>
          <a:p>
            <a:pPr algn="r" rtl="1">
              <a:lnSpc>
                <a:spcPts val="2611"/>
              </a:lnSpc>
            </a:pPr>
            <a:r>
              <a:rPr lang="ar-EG" sz="1700" dirty="0">
                <a:solidFill>
                  <a:srgbClr val="475569"/>
                </a:solidFill>
                <a:latin typeface="Cairo"/>
                <a:ea typeface="Cairo"/>
                <a:cs typeface="Cairo"/>
                <a:sym typeface="Cairo"/>
                <a:rtl/>
              </a:rPr>
              <a:t>تحديد </a:t>
            </a:r>
            <a:r>
              <a:rPr lang="en-US" sz="1700" dirty="0">
                <a:solidFill>
                  <a:srgbClr val="475569"/>
                </a:solidFill>
                <a:latin typeface="Cairo"/>
                <a:ea typeface="Cairo"/>
                <a:cs typeface="Cairo"/>
                <a:sym typeface="Cairo"/>
              </a:rPr>
              <a:t>٣</a:t>
            </a:r>
            <a:r>
              <a:rPr lang="ar-EG" sz="1700" dirty="0">
                <a:solidFill>
                  <a:srgbClr val="475569"/>
                </a:solidFill>
                <a:latin typeface="Cairo"/>
                <a:ea typeface="Cairo"/>
                <a:cs typeface="Cairo"/>
                <a:sym typeface="Cairo"/>
                <a:rtl/>
              </a:rPr>
              <a:t> طرق رئيسية يختلف فيها الدماغ البشري عن الشبكات العصبية الاصطناعية</a:t>
            </a:r>
            <a:r>
              <a:rPr lang="en-US" sz="1700" dirty="0">
                <a:solidFill>
                  <a:srgbClr val="475569"/>
                </a:solidFill>
                <a:latin typeface="Cairo"/>
                <a:ea typeface="Cairo"/>
                <a:cs typeface="Cairo"/>
                <a:sym typeface="Cairo"/>
              </a:rPr>
              <a:t>.</a:t>
            </a:r>
          </a:p>
        </p:txBody>
      </p:sp>
      <p:sp>
        <p:nvSpPr>
          <p:cNvPr id="62" name="TextBox 62"/>
          <p:cNvSpPr txBox="1"/>
          <p:nvPr/>
        </p:nvSpPr>
        <p:spPr>
          <a:xfrm>
            <a:off x="13214152" y="9493929"/>
            <a:ext cx="3847694" cy="333425"/>
          </a:xfrm>
          <a:prstGeom prst="rect">
            <a:avLst/>
          </a:prstGeom>
        </p:spPr>
        <p:txBody>
          <a:bodyPr lIns="0" tIns="0" rIns="0" bIns="0" rtlCol="0" anchor="t">
            <a:spAutoFit/>
          </a:bodyPr>
          <a:lstStyle/>
          <a:p>
            <a:pPr algn="r">
              <a:lnSpc>
                <a:spcPts val="2595"/>
              </a:lnSpc>
            </a:pPr>
            <a:r>
              <a:rPr lang="ar-EG" sz="2163" dirty="0">
                <a:solidFill>
                  <a:srgbClr val="64748B"/>
                </a:solidFill>
                <a:latin typeface="Cairo Light"/>
                <a:ea typeface="Cairo Light"/>
                <a:cs typeface="Cairo Light"/>
                <a:sym typeface="Cairo Light"/>
                <a:rtl/>
              </a:rPr>
              <a:t>اليوم الثالث · مبني على صورتنا</a:t>
            </a:r>
          </a:p>
        </p:txBody>
      </p:sp>
      <p:sp>
        <p:nvSpPr>
          <p:cNvPr id="33" name="TextBox 33"/>
          <p:cNvSpPr txBox="1"/>
          <p:nvPr/>
        </p:nvSpPr>
        <p:spPr>
          <a:xfrm>
            <a:off x="9801225" y="6643688"/>
            <a:ext cx="7000875" cy="648896"/>
          </a:xfrm>
          <a:prstGeom prst="rect">
            <a:avLst/>
          </a:prstGeom>
        </p:spPr>
        <p:txBody>
          <a:bodyPr lIns="0" tIns="0" rIns="0" bIns="0" rtlCol="0" anchor="t">
            <a:spAutoFit/>
          </a:bodyPr>
          <a:lstStyle/>
          <a:p>
            <a:pPr algn="r" rtl="1">
              <a:lnSpc>
                <a:spcPts val="2611"/>
              </a:lnSpc>
            </a:pPr>
            <a:r>
              <a:rPr lang="ar-EG" sz="1700" dirty="0">
                <a:solidFill>
                  <a:srgbClr val="475569"/>
                </a:solidFill>
                <a:latin typeface="Cairo"/>
                <a:ea typeface="Cairo"/>
                <a:cs typeface="Cairo"/>
                <a:sym typeface="Cairo"/>
                <a:rtl/>
              </a:rPr>
              <a:t>وصف الطبقات المخفية في الشبكات العصبية باستخدام تشبيه قشرة الدماغ البصرية</a:t>
            </a:r>
            <a:r>
              <a:rPr lang="en-US" sz="1700" dirty="0">
                <a:solidFill>
                  <a:srgbClr val="475569"/>
                </a:solidFill>
                <a:latin typeface="Cairo"/>
                <a:ea typeface="Cairo"/>
                <a:cs typeface="Cairo"/>
                <a:sym typeface="Cairo"/>
              </a:rPr>
              <a:t>.</a:t>
            </a:r>
          </a:p>
        </p:txBody>
      </p:sp>
      <p:sp>
        <p:nvSpPr>
          <p:cNvPr id="32" name="TextBox 32"/>
          <p:cNvSpPr txBox="1"/>
          <p:nvPr/>
        </p:nvSpPr>
        <p:spPr>
          <a:xfrm>
            <a:off x="13426678" y="6064103"/>
            <a:ext cx="3261122" cy="535781"/>
          </a:xfrm>
          <a:prstGeom prst="rect">
            <a:avLst/>
          </a:prstGeom>
        </p:spPr>
        <p:txBody>
          <a:bodyPr lIns="0" tIns="0" rIns="0" bIns="0" rtlCol="0" anchor="t">
            <a:spAutoFit/>
          </a:bodyPr>
          <a:lstStyle/>
          <a:p>
            <a:pPr algn="r">
              <a:lnSpc>
                <a:spcPts val="2400"/>
              </a:lnSpc>
            </a:pPr>
            <a:r>
              <a:rPr lang="ar-EG" sz="2000" b="1" dirty="0">
                <a:solidFill>
                  <a:srgbClr val="0F172A"/>
                </a:solidFill>
                <a:latin typeface="Cairo Bold"/>
                <a:ea typeface="Cairo Bold"/>
                <a:cs typeface="Cairo Bold"/>
                <a:sym typeface="Cairo Bold"/>
                <a:rtl/>
              </a:rPr>
              <a:t>اكتشاف الطبقات المخفية</a:t>
            </a:r>
          </a:p>
        </p:txBody>
      </p:sp>
      <p:sp>
        <p:nvSpPr>
          <p:cNvPr id="18" name="TextBox 18"/>
          <p:cNvSpPr txBox="1"/>
          <p:nvPr/>
        </p:nvSpPr>
        <p:spPr>
          <a:xfrm>
            <a:off x="6131719" y="3663552"/>
            <a:ext cx="2478881" cy="535781"/>
          </a:xfrm>
          <a:prstGeom prst="rect">
            <a:avLst/>
          </a:prstGeom>
        </p:spPr>
        <p:txBody>
          <a:bodyPr lIns="0" tIns="0" rIns="0" bIns="0" rtlCol="0" anchor="t">
            <a:spAutoFit/>
          </a:bodyPr>
          <a:lstStyle/>
          <a:p>
            <a:pPr algn="r">
              <a:lnSpc>
                <a:spcPts val="2400"/>
              </a:lnSpc>
            </a:pPr>
            <a:r>
              <a:rPr lang="ar-EG" sz="2000" b="1" dirty="0">
                <a:solidFill>
                  <a:srgbClr val="0F172A"/>
                </a:solidFill>
                <a:latin typeface="Cairo Bold"/>
                <a:ea typeface="Cairo Bold"/>
                <a:cs typeface="Cairo Bold"/>
                <a:sym typeface="Cairo Bold"/>
                <a:rtl/>
              </a:rPr>
              <a:t>فهم الخلايا العصبية</a:t>
            </a:r>
          </a:p>
        </p:txBody>
      </p:sp>
      <p:sp>
        <p:nvSpPr>
          <p:cNvPr id="19" name="TextBox 19"/>
          <p:cNvSpPr txBox="1"/>
          <p:nvPr/>
        </p:nvSpPr>
        <p:spPr>
          <a:xfrm>
            <a:off x="1676400" y="4267564"/>
            <a:ext cx="7000875" cy="315471"/>
          </a:xfrm>
          <a:prstGeom prst="rect">
            <a:avLst/>
          </a:prstGeom>
        </p:spPr>
        <p:txBody>
          <a:bodyPr lIns="0" tIns="0" rIns="0" bIns="0" rtlCol="0" anchor="t">
            <a:spAutoFit/>
          </a:bodyPr>
          <a:lstStyle/>
          <a:p>
            <a:pPr algn="r" rtl="1">
              <a:lnSpc>
                <a:spcPts val="2611"/>
              </a:lnSpc>
            </a:pPr>
            <a:r>
              <a:rPr lang="ar-EG" sz="1700" dirty="0">
                <a:solidFill>
                  <a:srgbClr val="475569"/>
                </a:solidFill>
                <a:latin typeface="Cairo"/>
                <a:ea typeface="Cairo"/>
                <a:cs typeface="Cairo"/>
                <a:sym typeface="Cairo"/>
                <a:rtl/>
              </a:rPr>
              <a:t>شرح ما تفعله الخلية العصبية (البيولوجية والاصطناعية) وكيف تتخذ القرار</a:t>
            </a:r>
            <a:r>
              <a:rPr lang="en-US" sz="1700" dirty="0">
                <a:solidFill>
                  <a:srgbClr val="475569"/>
                </a:solidFill>
                <a:latin typeface="Cairo"/>
                <a:ea typeface="Cairo"/>
                <a:cs typeface="Cairo"/>
                <a:sym typeface="Cairo"/>
              </a:rPr>
              <a:t>.</a:t>
            </a:r>
          </a:p>
        </p:txBody>
      </p:sp>
      <p:sp>
        <p:nvSpPr>
          <p:cNvPr id="63" name="TextBox 18">
            <a:extLst>
              <a:ext uri="{FF2B5EF4-FFF2-40B4-BE49-F238E27FC236}">
                <a16:creationId xmlns:a16="http://schemas.microsoft.com/office/drawing/2014/main" id="{ADF1504B-B9EA-BA4A-8B59-36011FF91C79}"/>
              </a:ext>
            </a:extLst>
          </p:cNvPr>
          <p:cNvSpPr txBox="1"/>
          <p:nvPr/>
        </p:nvSpPr>
        <p:spPr>
          <a:xfrm>
            <a:off x="14194945" y="3673755"/>
            <a:ext cx="2478881" cy="307777"/>
          </a:xfrm>
          <a:prstGeom prst="rect">
            <a:avLst/>
          </a:prstGeom>
        </p:spPr>
        <p:txBody>
          <a:bodyPr lIns="0" tIns="0" rIns="0" bIns="0" rtlCol="0" anchor="t">
            <a:spAutoFit/>
          </a:bodyPr>
          <a:lstStyle/>
          <a:p>
            <a:pPr algn="r">
              <a:lnSpc>
                <a:spcPts val="2400"/>
              </a:lnSpc>
            </a:pPr>
            <a:r>
              <a:rPr lang="ar-EG" sz="2000" b="1" dirty="0">
                <a:solidFill>
                  <a:srgbClr val="0F172A"/>
                </a:solidFill>
                <a:latin typeface="Cairo Bold"/>
                <a:ea typeface="Cairo Bold"/>
                <a:cs typeface="Cairo Bold"/>
                <a:sym typeface="Cairo Bold"/>
                <a:rtl/>
              </a:rPr>
              <a:t>من اين جائت الفكرة ؟</a:t>
            </a:r>
          </a:p>
        </p:txBody>
      </p:sp>
      <p:sp>
        <p:nvSpPr>
          <p:cNvPr id="64" name="TextBox 19">
            <a:extLst>
              <a:ext uri="{FF2B5EF4-FFF2-40B4-BE49-F238E27FC236}">
                <a16:creationId xmlns:a16="http://schemas.microsoft.com/office/drawing/2014/main" id="{096E3AEC-5F80-E13F-634E-77162EE58F4C}"/>
              </a:ext>
            </a:extLst>
          </p:cNvPr>
          <p:cNvSpPr txBox="1"/>
          <p:nvPr/>
        </p:nvSpPr>
        <p:spPr>
          <a:xfrm>
            <a:off x="9686925" y="4263137"/>
            <a:ext cx="7000875" cy="315471"/>
          </a:xfrm>
          <a:prstGeom prst="rect">
            <a:avLst/>
          </a:prstGeom>
        </p:spPr>
        <p:txBody>
          <a:bodyPr lIns="0" tIns="0" rIns="0" bIns="0" rtlCol="0" anchor="t">
            <a:spAutoFit/>
          </a:bodyPr>
          <a:lstStyle/>
          <a:p>
            <a:pPr algn="r" rtl="1">
              <a:lnSpc>
                <a:spcPts val="2611"/>
              </a:lnSpc>
            </a:pPr>
            <a:r>
              <a:rPr lang="ar-SA" sz="1700" dirty="0">
                <a:solidFill>
                  <a:srgbClr val="475569"/>
                </a:solidFill>
                <a:latin typeface="Cairo"/>
                <a:ea typeface="Cairo"/>
                <a:cs typeface="Cairo"/>
                <a:sym typeface="Cairo"/>
                <a:rtl/>
              </a:rPr>
              <a:t>من اين استلهم المهندسون معمارية يمكنها تعلم مدخلات معقدة </a:t>
            </a:r>
            <a:r>
              <a:rPr lang="ar-SA" sz="1700" dirty="0" err="1">
                <a:solidFill>
                  <a:srgbClr val="475569"/>
                </a:solidFill>
                <a:latin typeface="Cairo"/>
                <a:ea typeface="Cairo"/>
                <a:cs typeface="Cairo"/>
                <a:sym typeface="Cairo"/>
                <a:rtl/>
              </a:rPr>
              <a:t>بكفائة</a:t>
            </a:r>
            <a:r>
              <a:rPr lang="ar-SA" sz="1700" dirty="0">
                <a:solidFill>
                  <a:srgbClr val="475569"/>
                </a:solidFill>
                <a:latin typeface="Cairo"/>
                <a:ea typeface="Cairo"/>
                <a:cs typeface="Cairo"/>
                <a:sym typeface="Cairo"/>
                <a:rtl/>
              </a:rPr>
              <a:t> عالية</a:t>
            </a:r>
            <a:endParaRPr lang="en-US" sz="1700" dirty="0">
              <a:solidFill>
                <a:srgbClr val="475569"/>
              </a:solidFill>
              <a:latin typeface="Cairo"/>
              <a:ea typeface="Cairo"/>
              <a:cs typeface="Cairo"/>
              <a:sym typeface="Cair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SA"/>
            </a:p>
          </p:txBody>
        </p:sp>
      </p:grpSp>
      <p:sp>
        <p:nvSpPr>
          <p:cNvPr id="5" name="TextBox 5"/>
          <p:cNvSpPr txBox="1"/>
          <p:nvPr/>
        </p:nvSpPr>
        <p:spPr>
          <a:xfrm>
            <a:off x="9611916" y="3886200"/>
            <a:ext cx="6418659" cy="943889"/>
          </a:xfrm>
          <a:prstGeom prst="rect">
            <a:avLst/>
          </a:prstGeom>
        </p:spPr>
        <p:txBody>
          <a:bodyPr lIns="0" tIns="0" rIns="0" bIns="0" rtlCol="0" anchor="t">
            <a:spAutoFit/>
          </a:bodyPr>
          <a:lstStyle/>
          <a:p>
            <a:pPr algn="just" rtl="1">
              <a:lnSpc>
                <a:spcPts val="7372"/>
              </a:lnSpc>
            </a:pPr>
            <a:r>
              <a:rPr lang="ar-EG" sz="6399" b="1">
                <a:solidFill>
                  <a:srgbClr val="0F172A"/>
                </a:solidFill>
                <a:latin typeface="Cairo Bold"/>
                <a:ea typeface="Cairo Bold"/>
                <a:cs typeface="Cairo Bold"/>
                <a:sym typeface="Cairo Bold"/>
                <a:rtl/>
              </a:rPr>
              <a:t>خيال</a:t>
            </a:r>
          </a:p>
        </p:txBody>
      </p:sp>
      <p:sp>
        <p:nvSpPr>
          <p:cNvPr id="6" name="TextBox 6"/>
          <p:cNvSpPr txBox="1"/>
          <p:nvPr/>
        </p:nvSpPr>
        <p:spPr>
          <a:xfrm>
            <a:off x="8651981" y="5409322"/>
            <a:ext cx="7378594" cy="512961"/>
          </a:xfrm>
          <a:prstGeom prst="rect">
            <a:avLst/>
          </a:prstGeom>
        </p:spPr>
        <p:txBody>
          <a:bodyPr lIns="0" tIns="0" rIns="0" bIns="0" rtlCol="0" anchor="t">
            <a:spAutoFit/>
          </a:bodyPr>
          <a:lstStyle/>
          <a:p>
            <a:pPr algn="r" rtl="1">
              <a:lnSpc>
                <a:spcPts val="4031"/>
              </a:lnSpc>
            </a:pPr>
            <a:r>
              <a:rPr lang="ar-EG" sz="2799" dirty="0">
                <a:solidFill>
                  <a:srgbClr val="475569"/>
                </a:solidFill>
                <a:latin typeface="Cairo Light"/>
                <a:ea typeface="Cairo Light"/>
                <a:cs typeface="Cairo Light"/>
                <a:sym typeface="Cairo Light"/>
                <a:rtl/>
              </a:rPr>
              <a:t>شيء يبدو مستحيلاً.. ثم سؤال محيّر يغير كل شيء</a:t>
            </a:r>
            <a:r>
              <a:rPr lang="en-US" sz="2799" dirty="0">
                <a:solidFill>
                  <a:srgbClr val="475569"/>
                </a:solidFill>
                <a:latin typeface="Cairo Light"/>
                <a:ea typeface="Cairo Light"/>
                <a:cs typeface="Cairo Light"/>
                <a:sym typeface="Cairo Light"/>
              </a:rPr>
              <a:t>.</a:t>
            </a:r>
          </a:p>
        </p:txBody>
      </p:sp>
      <p:sp>
        <p:nvSpPr>
          <p:cNvPr id="7" name="TextBox 7"/>
          <p:cNvSpPr txBox="1"/>
          <p:nvPr/>
        </p:nvSpPr>
        <p:spPr>
          <a:xfrm>
            <a:off x="12821245" y="7903591"/>
            <a:ext cx="3847694" cy="333425"/>
          </a:xfrm>
          <a:prstGeom prst="rect">
            <a:avLst/>
          </a:prstGeom>
        </p:spPr>
        <p:txBody>
          <a:bodyPr lIns="0" tIns="0" rIns="0" bIns="0" rtlCol="0" anchor="t">
            <a:spAutoFit/>
          </a:bodyPr>
          <a:lstStyle/>
          <a:p>
            <a:pPr algn="r">
              <a:lnSpc>
                <a:spcPts val="2595"/>
              </a:lnSpc>
            </a:pPr>
            <a:r>
              <a:rPr lang="ar-EG" sz="2163" dirty="0">
                <a:solidFill>
                  <a:srgbClr val="64748B"/>
                </a:solidFill>
                <a:latin typeface="Cairo Light"/>
                <a:ea typeface="Cairo Light"/>
                <a:cs typeface="Cairo Light"/>
                <a:sym typeface="Cairo Light"/>
                <a:rtl/>
              </a:rPr>
              <a:t>اليوم الثالث · مبني على صورتنا</a:t>
            </a:r>
          </a:p>
        </p:txBody>
      </p:sp>
      <p:sp>
        <p:nvSpPr>
          <p:cNvPr id="9" name="TextBox 4">
            <a:extLst>
              <a:ext uri="{FF2B5EF4-FFF2-40B4-BE49-F238E27FC236}">
                <a16:creationId xmlns:a16="http://schemas.microsoft.com/office/drawing/2014/main" id="{49FDA862-6E3E-D0F9-7ABF-B5835C21E4C6}"/>
              </a:ext>
            </a:extLst>
          </p:cNvPr>
          <p:cNvSpPr txBox="1"/>
          <p:nvPr/>
        </p:nvSpPr>
        <p:spPr>
          <a:xfrm>
            <a:off x="8530421" y="3189751"/>
            <a:ext cx="7621714" cy="307777"/>
          </a:xfrm>
          <a:prstGeom prst="rect">
            <a:avLst/>
          </a:prstGeom>
        </p:spPr>
        <p:txBody>
          <a:bodyPr lIns="0" tIns="0" rIns="0" bIns="0" rtlCol="0" anchor="t">
            <a:spAutoFit/>
          </a:bodyPr>
          <a:lstStyle/>
          <a:p>
            <a:pPr algn="r">
              <a:lnSpc>
                <a:spcPts val="2400"/>
              </a:lnSpc>
            </a:pPr>
            <a:r>
              <a:rPr lang="ar-EG" sz="2000" b="1" spc="2" dirty="0">
                <a:solidFill>
                  <a:srgbClr val="EA580C"/>
                </a:solidFill>
                <a:latin typeface="Cairo Bold"/>
                <a:ea typeface="Cairo Bold"/>
                <a:cs typeface="Cairo Bold"/>
                <a:sym typeface="Cairo Bold"/>
                <a:rtl/>
              </a:rPr>
              <a:t>القسم الأول</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SA"/>
            </a:p>
          </p:txBody>
        </p:sp>
      </p:grpSp>
      <p:grpSp>
        <p:nvGrpSpPr>
          <p:cNvPr id="4" name="Group 4"/>
          <p:cNvGrpSpPr/>
          <p:nvPr/>
        </p:nvGrpSpPr>
        <p:grpSpPr>
          <a:xfrm>
            <a:off x="16716375" y="5076415"/>
            <a:ext cx="285750" cy="285750"/>
            <a:chOff x="0" y="0"/>
            <a:chExt cx="381000" cy="381000"/>
          </a:xfrm>
        </p:grpSpPr>
        <p:sp>
          <p:nvSpPr>
            <p:cNvPr id="5" name="Freeform 5" descr="preencoded.png"/>
            <p:cNvSpPr/>
            <p:nvPr/>
          </p:nvSpPr>
          <p:spPr>
            <a:xfrm>
              <a:off x="0" y="0"/>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blipFill>
              <a:blip r:embed="rId4"/>
              <a:stretch>
                <a:fillRect t="-2500" b="-2500"/>
              </a:stretch>
            </a:blipFill>
          </p:spPr>
          <p:txBody>
            <a:bodyPr/>
            <a:lstStyle/>
            <a:p>
              <a:endParaRPr lang="en-SA"/>
            </a:p>
          </p:txBody>
        </p:sp>
      </p:grpSp>
      <p:grpSp>
        <p:nvGrpSpPr>
          <p:cNvPr id="6" name="Group 6"/>
          <p:cNvGrpSpPr/>
          <p:nvPr/>
        </p:nvGrpSpPr>
        <p:grpSpPr>
          <a:xfrm>
            <a:off x="16716376" y="6004065"/>
            <a:ext cx="214312" cy="285750"/>
            <a:chOff x="0" y="0"/>
            <a:chExt cx="285750" cy="381000"/>
          </a:xfrm>
        </p:grpSpPr>
        <p:sp>
          <p:nvSpPr>
            <p:cNvPr id="7" name="Freeform 7" descr="preencoded.png"/>
            <p:cNvSpPr/>
            <p:nvPr/>
          </p:nvSpPr>
          <p:spPr>
            <a:xfrm>
              <a:off x="0" y="0"/>
              <a:ext cx="285750" cy="381000"/>
            </a:xfrm>
            <a:custGeom>
              <a:avLst/>
              <a:gdLst/>
              <a:ahLst/>
              <a:cxnLst/>
              <a:rect l="l" t="t" r="r" b="b"/>
              <a:pathLst>
                <a:path w="285750" h="381000">
                  <a:moveTo>
                    <a:pt x="0" y="0"/>
                  </a:moveTo>
                  <a:lnTo>
                    <a:pt x="285750" y="0"/>
                  </a:lnTo>
                  <a:lnTo>
                    <a:pt x="285750" y="381000"/>
                  </a:lnTo>
                  <a:lnTo>
                    <a:pt x="0" y="381000"/>
                  </a:lnTo>
                  <a:lnTo>
                    <a:pt x="0" y="0"/>
                  </a:lnTo>
                  <a:close/>
                </a:path>
              </a:pathLst>
            </a:custGeom>
            <a:blipFill>
              <a:blip r:embed="rId5"/>
              <a:stretch>
                <a:fillRect t="-2500" b="-2500"/>
              </a:stretch>
            </a:blipFill>
          </p:spPr>
          <p:txBody>
            <a:bodyPr/>
            <a:lstStyle/>
            <a:p>
              <a:endParaRPr lang="en-SA"/>
            </a:p>
          </p:txBody>
        </p:sp>
      </p:grpSp>
      <p:grpSp>
        <p:nvGrpSpPr>
          <p:cNvPr id="8" name="Group 8"/>
          <p:cNvGrpSpPr/>
          <p:nvPr/>
        </p:nvGrpSpPr>
        <p:grpSpPr>
          <a:xfrm>
            <a:off x="16644938" y="6767922"/>
            <a:ext cx="357188" cy="285750"/>
            <a:chOff x="0" y="0"/>
            <a:chExt cx="476250" cy="381000"/>
          </a:xfrm>
        </p:grpSpPr>
        <p:sp>
          <p:nvSpPr>
            <p:cNvPr id="9" name="Freeform 9" descr="preencoded.png"/>
            <p:cNvSpPr/>
            <p:nvPr/>
          </p:nvSpPr>
          <p:spPr>
            <a:xfrm>
              <a:off x="0" y="0"/>
              <a:ext cx="476250" cy="381000"/>
            </a:xfrm>
            <a:custGeom>
              <a:avLst/>
              <a:gdLst/>
              <a:ahLst/>
              <a:cxnLst/>
              <a:rect l="l" t="t" r="r" b="b"/>
              <a:pathLst>
                <a:path w="476250" h="381000">
                  <a:moveTo>
                    <a:pt x="0" y="0"/>
                  </a:moveTo>
                  <a:lnTo>
                    <a:pt x="476250" y="0"/>
                  </a:lnTo>
                  <a:lnTo>
                    <a:pt x="476250" y="381000"/>
                  </a:lnTo>
                  <a:lnTo>
                    <a:pt x="0" y="381000"/>
                  </a:lnTo>
                  <a:lnTo>
                    <a:pt x="0" y="0"/>
                  </a:lnTo>
                  <a:close/>
                </a:path>
              </a:pathLst>
            </a:custGeom>
            <a:blipFill>
              <a:blip r:embed="rId6"/>
              <a:stretch>
                <a:fillRect t="-2500" b="-2500"/>
              </a:stretch>
            </a:blipFill>
          </p:spPr>
          <p:txBody>
            <a:bodyPr/>
            <a:lstStyle/>
            <a:p>
              <a:endParaRPr lang="en-SA"/>
            </a:p>
          </p:txBody>
        </p:sp>
      </p:grpSp>
      <p:grpSp>
        <p:nvGrpSpPr>
          <p:cNvPr id="10" name="Group 10"/>
          <p:cNvGrpSpPr/>
          <p:nvPr/>
        </p:nvGrpSpPr>
        <p:grpSpPr>
          <a:xfrm>
            <a:off x="2301858" y="7555112"/>
            <a:ext cx="4318829" cy="646335"/>
            <a:chOff x="0" y="0"/>
            <a:chExt cx="8725230" cy="1305776"/>
          </a:xfrm>
        </p:grpSpPr>
        <p:sp>
          <p:nvSpPr>
            <p:cNvPr id="11" name="Freeform 11"/>
            <p:cNvSpPr/>
            <p:nvPr/>
          </p:nvSpPr>
          <p:spPr>
            <a:xfrm>
              <a:off x="0" y="0"/>
              <a:ext cx="8725281" cy="1305766"/>
            </a:xfrm>
            <a:custGeom>
              <a:avLst/>
              <a:gdLst/>
              <a:ahLst/>
              <a:cxnLst/>
              <a:rect l="l" t="t" r="r" b="b"/>
              <a:pathLst>
                <a:path w="8725281" h="1305766">
                  <a:moveTo>
                    <a:pt x="0" y="0"/>
                  </a:moveTo>
                  <a:lnTo>
                    <a:pt x="8725281" y="0"/>
                  </a:lnTo>
                  <a:lnTo>
                    <a:pt x="8725281" y="1305766"/>
                  </a:lnTo>
                  <a:lnTo>
                    <a:pt x="0" y="1305766"/>
                  </a:lnTo>
                  <a:close/>
                </a:path>
              </a:pathLst>
            </a:custGeom>
            <a:solidFill>
              <a:srgbClr val="FFFFFF"/>
            </a:solidFill>
            <a:ln w="36576" cap="sq">
              <a:solidFill>
                <a:srgbClr val="EA580C"/>
              </a:solidFill>
              <a:prstDash val="solid"/>
              <a:miter/>
            </a:ln>
          </p:spPr>
          <p:txBody>
            <a:bodyPr/>
            <a:lstStyle/>
            <a:p>
              <a:endParaRPr lang="en-SA"/>
            </a:p>
          </p:txBody>
        </p:sp>
      </p:grpSp>
      <p:sp>
        <p:nvSpPr>
          <p:cNvPr id="12" name="Freeform 12"/>
          <p:cNvSpPr/>
          <p:nvPr/>
        </p:nvSpPr>
        <p:spPr>
          <a:xfrm>
            <a:off x="73010" y="2973865"/>
            <a:ext cx="9347215" cy="5094232"/>
          </a:xfrm>
          <a:custGeom>
            <a:avLst/>
            <a:gdLst/>
            <a:ahLst/>
            <a:cxnLst/>
            <a:rect l="l" t="t" r="r" b="b"/>
            <a:pathLst>
              <a:path w="9347215" h="5094232">
                <a:moveTo>
                  <a:pt x="0" y="0"/>
                </a:moveTo>
                <a:lnTo>
                  <a:pt x="9347215" y="0"/>
                </a:lnTo>
                <a:lnTo>
                  <a:pt x="9347215" y="5094233"/>
                </a:lnTo>
                <a:lnTo>
                  <a:pt x="0" y="5094233"/>
                </a:lnTo>
                <a:lnTo>
                  <a:pt x="0" y="0"/>
                </a:lnTo>
                <a:close/>
              </a:path>
            </a:pathLst>
          </a:custGeom>
          <a:blipFill>
            <a:blip r:embed="rId7"/>
            <a:stretch>
              <a:fillRect/>
            </a:stretch>
          </a:blipFill>
        </p:spPr>
        <p:txBody>
          <a:bodyPr/>
          <a:lstStyle/>
          <a:p>
            <a:endParaRPr lang="en-SA"/>
          </a:p>
        </p:txBody>
      </p:sp>
      <p:sp>
        <p:nvSpPr>
          <p:cNvPr id="13" name="TextBox 13"/>
          <p:cNvSpPr txBox="1"/>
          <p:nvPr/>
        </p:nvSpPr>
        <p:spPr>
          <a:xfrm>
            <a:off x="14176772" y="1000125"/>
            <a:ext cx="2825353" cy="642938"/>
          </a:xfrm>
          <a:prstGeom prst="rect">
            <a:avLst/>
          </a:prstGeom>
        </p:spPr>
        <p:txBody>
          <a:bodyPr lIns="0" tIns="0" rIns="0" bIns="0" rtlCol="0" anchor="t">
            <a:spAutoFit/>
          </a:bodyPr>
          <a:lstStyle/>
          <a:p>
            <a:pPr algn="r">
              <a:lnSpc>
                <a:spcPts val="2879"/>
              </a:lnSpc>
            </a:pPr>
            <a:r>
              <a:rPr lang="ar-EG" sz="2400" b="1">
                <a:solidFill>
                  <a:srgbClr val="0F172A"/>
                </a:solidFill>
                <a:latin typeface="Cairo Bold"/>
                <a:ea typeface="Cairo Bold"/>
                <a:cs typeface="Cairo Bold"/>
                <a:sym typeface="Cairo Bold"/>
                <a:rtl/>
              </a:rPr>
              <a:t>المهمة المستحيلة</a:t>
            </a:r>
          </a:p>
        </p:txBody>
      </p:sp>
      <p:sp>
        <p:nvSpPr>
          <p:cNvPr id="14" name="TextBox 14"/>
          <p:cNvSpPr txBox="1"/>
          <p:nvPr/>
        </p:nvSpPr>
        <p:spPr>
          <a:xfrm>
            <a:off x="1285875" y="1107281"/>
            <a:ext cx="3175397" cy="238125"/>
          </a:xfrm>
          <a:prstGeom prst="rect">
            <a:avLst/>
          </a:prstGeom>
        </p:spPr>
        <p:txBody>
          <a:bodyPr lIns="0" tIns="0" rIns="0" bIns="0" rtlCol="0" anchor="t">
            <a:spAutoFit/>
          </a:bodyPr>
          <a:lstStyle/>
          <a:p>
            <a:pPr algn="r">
              <a:lnSpc>
                <a:spcPts val="1920"/>
              </a:lnSpc>
            </a:pPr>
            <a:r>
              <a:rPr lang="ar-EG" sz="1600" b="1">
                <a:solidFill>
                  <a:srgbClr val="EA580C"/>
                </a:solidFill>
                <a:latin typeface="Cairo Bold"/>
                <a:ea typeface="Cairo Bold"/>
                <a:cs typeface="Cairo Bold"/>
                <a:sym typeface="Cairo Bold"/>
                <a:rtl/>
              </a:rPr>
              <a:t>القسم الأول: خيال</a:t>
            </a:r>
          </a:p>
        </p:txBody>
      </p:sp>
      <p:sp>
        <p:nvSpPr>
          <p:cNvPr id="15" name="TextBox 15"/>
          <p:cNvSpPr txBox="1"/>
          <p:nvPr/>
        </p:nvSpPr>
        <p:spPr>
          <a:xfrm>
            <a:off x="9193397" y="3988708"/>
            <a:ext cx="7808728" cy="577081"/>
          </a:xfrm>
          <a:prstGeom prst="rect">
            <a:avLst/>
          </a:prstGeom>
        </p:spPr>
        <p:txBody>
          <a:bodyPr lIns="0" tIns="0" rIns="0" bIns="0" rtlCol="0" anchor="t">
            <a:spAutoFit/>
          </a:bodyPr>
          <a:lstStyle/>
          <a:p>
            <a:pPr algn="r" rtl="1">
              <a:lnSpc>
                <a:spcPts val="4492"/>
              </a:lnSpc>
            </a:pPr>
            <a:r>
              <a:rPr lang="ar-EG" sz="3600" b="1" dirty="0">
                <a:solidFill>
                  <a:srgbClr val="0F172A"/>
                </a:solidFill>
                <a:latin typeface="Cairo Bold"/>
                <a:ea typeface="Cairo Bold"/>
                <a:cs typeface="Cairo Bold"/>
                <a:sym typeface="Cairo Bold"/>
                <a:rtl/>
              </a:rPr>
              <a:t>تخيل هذه المهمة الصعبة</a:t>
            </a:r>
            <a:r>
              <a:rPr lang="en-US" sz="3600" b="1" dirty="0">
                <a:solidFill>
                  <a:srgbClr val="0F172A"/>
                </a:solidFill>
                <a:latin typeface="Cairo Bold"/>
                <a:ea typeface="Cairo Bold"/>
                <a:cs typeface="Cairo Bold"/>
                <a:sym typeface="Cairo Bold"/>
              </a:rPr>
              <a:t>...</a:t>
            </a:r>
          </a:p>
        </p:txBody>
      </p:sp>
      <p:sp>
        <p:nvSpPr>
          <p:cNvPr id="16" name="TextBox 16"/>
          <p:cNvSpPr txBox="1"/>
          <p:nvPr/>
        </p:nvSpPr>
        <p:spPr>
          <a:xfrm>
            <a:off x="9193397" y="4952590"/>
            <a:ext cx="7294378" cy="723916"/>
          </a:xfrm>
          <a:prstGeom prst="rect">
            <a:avLst/>
          </a:prstGeom>
        </p:spPr>
        <p:txBody>
          <a:bodyPr lIns="0" tIns="0" rIns="0" bIns="0" rtlCol="0" anchor="t">
            <a:spAutoFit/>
          </a:bodyPr>
          <a:lstStyle/>
          <a:p>
            <a:pPr algn="r" rtl="1">
              <a:lnSpc>
                <a:spcPts val="2918"/>
              </a:lnSpc>
            </a:pPr>
            <a:r>
              <a:rPr lang="ar-EG" sz="1900" dirty="0">
                <a:solidFill>
                  <a:srgbClr val="475569"/>
                </a:solidFill>
                <a:latin typeface="Cairo"/>
                <a:ea typeface="Cairo"/>
                <a:cs typeface="Cairo"/>
                <a:sym typeface="Cairo"/>
                <a:rtl/>
              </a:rPr>
              <a:t>جهاز ذكي يفحص </a:t>
            </a:r>
            <a:r>
              <a:rPr lang="ar-EG" sz="1900" b="1" dirty="0">
                <a:solidFill>
                  <a:srgbClr val="0F172A"/>
                </a:solidFill>
                <a:latin typeface="Cairo Bold"/>
                <a:ea typeface="Cairo Bold"/>
                <a:cs typeface="Cairo Bold"/>
                <a:sym typeface="Cairo Bold"/>
                <a:rtl/>
              </a:rPr>
              <a:t>ملايين النقاط الملونة</a:t>
            </a:r>
            <a:r>
              <a:rPr lang="ar-EG" sz="1900" dirty="0">
                <a:solidFill>
                  <a:srgbClr val="475569"/>
                </a:solidFill>
                <a:latin typeface="Cairo"/>
                <a:ea typeface="Cairo"/>
                <a:cs typeface="Cairo"/>
                <a:sym typeface="Cairo"/>
                <a:rtl/>
              </a:rPr>
              <a:t> في صورة واحدة في نفس اللحظة</a:t>
            </a:r>
            <a:r>
              <a:rPr lang="en-US" sz="1900" dirty="0">
                <a:solidFill>
                  <a:srgbClr val="475569"/>
                </a:solidFill>
                <a:latin typeface="Cairo"/>
                <a:ea typeface="Cairo"/>
                <a:cs typeface="Cairo"/>
                <a:sym typeface="Cairo"/>
              </a:rPr>
              <a:t>.</a:t>
            </a:r>
          </a:p>
        </p:txBody>
      </p:sp>
      <p:sp>
        <p:nvSpPr>
          <p:cNvPr id="17" name="TextBox 17"/>
          <p:cNvSpPr txBox="1"/>
          <p:nvPr/>
        </p:nvSpPr>
        <p:spPr>
          <a:xfrm>
            <a:off x="9869091" y="6004065"/>
            <a:ext cx="6690122" cy="347548"/>
          </a:xfrm>
          <a:prstGeom prst="rect">
            <a:avLst/>
          </a:prstGeom>
        </p:spPr>
        <p:txBody>
          <a:bodyPr lIns="0" tIns="0" rIns="0" bIns="0" rtlCol="0" anchor="t">
            <a:spAutoFit/>
          </a:bodyPr>
          <a:lstStyle/>
          <a:p>
            <a:pPr algn="r">
              <a:lnSpc>
                <a:spcPts val="2918"/>
              </a:lnSpc>
            </a:pPr>
            <a:r>
              <a:rPr lang="ar-EG" sz="1900" dirty="0">
                <a:solidFill>
                  <a:srgbClr val="475569"/>
                </a:solidFill>
                <a:latin typeface="Cairo"/>
                <a:ea typeface="Cairo"/>
                <a:cs typeface="Cairo"/>
                <a:sym typeface="Cairo"/>
                <a:rtl/>
              </a:rPr>
              <a:t>يتمكن من تحديد </a:t>
            </a:r>
            <a:r>
              <a:rPr lang="ar-EG" sz="1900" b="1" dirty="0">
                <a:solidFill>
                  <a:srgbClr val="0F172A"/>
                </a:solidFill>
                <a:latin typeface="Cairo Bold"/>
                <a:ea typeface="Cairo Bold"/>
                <a:cs typeface="Cairo Bold"/>
                <a:sym typeface="Cairo Bold"/>
                <a:rtl/>
              </a:rPr>
              <a:t>ملامح وجهك بدقة</a:t>
            </a:r>
            <a:r>
              <a:rPr lang="ar-EG" sz="1900" dirty="0">
                <a:solidFill>
                  <a:srgbClr val="475569"/>
                </a:solidFill>
                <a:latin typeface="Cairo"/>
                <a:ea typeface="Cairo"/>
                <a:cs typeface="Cairo"/>
                <a:sym typeface="Cairo"/>
                <a:rtl/>
              </a:rPr>
              <a:t> في أقل من </a:t>
            </a:r>
            <a:r>
              <a:rPr lang="en-US" sz="1900" b="1" dirty="0">
                <a:solidFill>
                  <a:srgbClr val="0F172A"/>
                </a:solidFill>
                <a:latin typeface="Cairo Bold"/>
                <a:ea typeface="Cairo Bold"/>
                <a:cs typeface="Cairo Bold"/>
                <a:sym typeface="Cairo Bold"/>
              </a:rPr>
              <a:t>٠.٣</a:t>
            </a:r>
            <a:r>
              <a:rPr lang="ar-EG" sz="1900" b="1" dirty="0">
                <a:solidFill>
                  <a:srgbClr val="0F172A"/>
                </a:solidFill>
                <a:latin typeface="Cairo Bold"/>
                <a:ea typeface="Cairo Bold"/>
                <a:cs typeface="Cairo Bold"/>
                <a:sym typeface="Cairo Bold"/>
                <a:rtl/>
              </a:rPr>
              <a:t> ثانية</a:t>
            </a:r>
            <a:r>
              <a:rPr lang="ar-EG" sz="1900" dirty="0">
                <a:solidFill>
                  <a:srgbClr val="475569"/>
                </a:solidFill>
                <a:latin typeface="Cairo"/>
                <a:ea typeface="Cairo"/>
                <a:cs typeface="Cairo"/>
                <a:sym typeface="Cairo"/>
                <a:rtl/>
              </a:rPr>
              <a:t> فقط</a:t>
            </a:r>
          </a:p>
        </p:txBody>
      </p:sp>
      <p:sp>
        <p:nvSpPr>
          <p:cNvPr id="18" name="TextBox 18"/>
          <p:cNvSpPr txBox="1"/>
          <p:nvPr/>
        </p:nvSpPr>
        <p:spPr>
          <a:xfrm>
            <a:off x="9572625" y="6644097"/>
            <a:ext cx="6843712" cy="709498"/>
          </a:xfrm>
          <a:prstGeom prst="rect">
            <a:avLst/>
          </a:prstGeom>
        </p:spPr>
        <p:txBody>
          <a:bodyPr lIns="0" tIns="0" rIns="0" bIns="0" rtlCol="0" anchor="t">
            <a:spAutoFit/>
          </a:bodyPr>
          <a:lstStyle/>
          <a:p>
            <a:pPr algn="r">
              <a:lnSpc>
                <a:spcPts val="2918"/>
              </a:lnSpc>
            </a:pPr>
            <a:r>
              <a:rPr lang="ar-EG" sz="1899">
                <a:solidFill>
                  <a:srgbClr val="475569"/>
                </a:solidFill>
                <a:latin typeface="Cairo"/>
                <a:ea typeface="Cairo"/>
                <a:cs typeface="Cairo"/>
                <a:sym typeface="Cairo"/>
                <a:rtl/>
              </a:rPr>
              <a:t>يستطيع تمييزك ومعرفتك من بين </a:t>
            </a:r>
            <a:r>
              <a:rPr lang="en-US" sz="1899">
                <a:solidFill>
                  <a:srgbClr val="475569"/>
                </a:solidFill>
                <a:latin typeface="Cairo"/>
                <a:ea typeface="Cairo"/>
                <a:cs typeface="Cairo"/>
                <a:sym typeface="Cairo"/>
              </a:rPr>
              <a:t>٨</a:t>
            </a:r>
            <a:r>
              <a:rPr lang="ar-EG" sz="1899" b="1">
                <a:solidFill>
                  <a:srgbClr val="0F172A"/>
                </a:solidFill>
                <a:latin typeface="Cairo Bold"/>
                <a:ea typeface="Cairo Bold"/>
                <a:cs typeface="Cairo Bold"/>
                <a:sym typeface="Cairo Bold"/>
                <a:rtl/>
              </a:rPr>
              <a:t> مليارات بشر</a:t>
            </a:r>
            <a:r>
              <a:rPr lang="ar-EG" sz="1899">
                <a:solidFill>
                  <a:srgbClr val="475569"/>
                </a:solidFill>
                <a:latin typeface="Cairo"/>
                <a:ea typeface="Cairo"/>
                <a:cs typeface="Cairo"/>
                <a:sym typeface="Cairo"/>
                <a:rtl/>
              </a:rPr>
              <a:t> على كوكب الأرض</a:t>
            </a:r>
          </a:p>
          <a:p>
            <a:pPr algn="r">
              <a:lnSpc>
                <a:spcPts val="2918"/>
              </a:lnSpc>
            </a:pPr>
            <a:endParaRPr lang="ar-EG" sz="1899">
              <a:solidFill>
                <a:srgbClr val="475569"/>
              </a:solidFill>
              <a:latin typeface="Cairo"/>
              <a:ea typeface="Cairo"/>
              <a:cs typeface="Cairo"/>
              <a:sym typeface="Cairo"/>
              <a:rtl/>
            </a:endParaRPr>
          </a:p>
        </p:txBody>
      </p:sp>
      <p:sp>
        <p:nvSpPr>
          <p:cNvPr id="19" name="TextBox 19"/>
          <p:cNvSpPr txBox="1"/>
          <p:nvPr/>
        </p:nvSpPr>
        <p:spPr>
          <a:xfrm>
            <a:off x="2741414" y="7684059"/>
            <a:ext cx="3439716" cy="642938"/>
          </a:xfrm>
          <a:prstGeom prst="rect">
            <a:avLst/>
          </a:prstGeom>
        </p:spPr>
        <p:txBody>
          <a:bodyPr lIns="0" tIns="0" rIns="0" bIns="0" rtlCol="0" anchor="t">
            <a:spAutoFit/>
          </a:bodyPr>
          <a:lstStyle/>
          <a:p>
            <a:pPr algn="ctr">
              <a:lnSpc>
                <a:spcPts val="2879"/>
              </a:lnSpc>
            </a:pPr>
            <a:r>
              <a:rPr lang="ar-EG" sz="2400" b="1">
                <a:solidFill>
                  <a:srgbClr val="0F172A"/>
                </a:solidFill>
                <a:latin typeface="Cairo Bold"/>
                <a:ea typeface="Cairo Bold"/>
                <a:cs typeface="Cairo Bold"/>
                <a:sym typeface="Cairo Bold"/>
                <a:rtl/>
              </a:rPr>
              <a:t>كيف يكون هذا ممكناً؟</a:t>
            </a:r>
          </a:p>
        </p:txBody>
      </p:sp>
      <p:sp>
        <p:nvSpPr>
          <p:cNvPr id="20" name="TextBox 20"/>
          <p:cNvSpPr txBox="1"/>
          <p:nvPr/>
        </p:nvSpPr>
        <p:spPr>
          <a:xfrm>
            <a:off x="13214152" y="9493929"/>
            <a:ext cx="3847694" cy="333425"/>
          </a:xfrm>
          <a:prstGeom prst="rect">
            <a:avLst/>
          </a:prstGeom>
        </p:spPr>
        <p:txBody>
          <a:bodyPr lIns="0" tIns="0" rIns="0" bIns="0" rtlCol="0" anchor="t">
            <a:spAutoFit/>
          </a:bodyPr>
          <a:lstStyle/>
          <a:p>
            <a:pPr algn="r">
              <a:lnSpc>
                <a:spcPts val="2595"/>
              </a:lnSpc>
            </a:pPr>
            <a:r>
              <a:rPr lang="ar-EG" sz="2163" dirty="0">
                <a:solidFill>
                  <a:srgbClr val="64748B"/>
                </a:solidFill>
                <a:latin typeface="Cairo Light"/>
                <a:ea typeface="Cairo Light"/>
                <a:cs typeface="Cairo Light"/>
                <a:sym typeface="Cairo Light"/>
                <a:rtl/>
              </a:rPr>
              <a:t>اليوم الثالث · مبني على صورتنا</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6200" y="-38100"/>
            <a:ext cx="18288000" cy="10369772"/>
            <a:chOff x="0" y="0"/>
            <a:chExt cx="24384000" cy="13826363"/>
          </a:xfrm>
        </p:grpSpPr>
        <p:sp>
          <p:nvSpPr>
            <p:cNvPr id="3" name="Freeform 3" descr="preencoded.png"/>
            <p:cNvSpPr/>
            <p:nvPr/>
          </p:nvSpPr>
          <p:spPr>
            <a:xfrm>
              <a:off x="0" y="0"/>
              <a:ext cx="24384000" cy="13826362"/>
            </a:xfrm>
            <a:custGeom>
              <a:avLst/>
              <a:gdLst/>
              <a:ahLst/>
              <a:cxnLst/>
              <a:rect l="l" t="t" r="r" b="b"/>
              <a:pathLst>
                <a:path w="24384000" h="13826362">
                  <a:moveTo>
                    <a:pt x="0" y="0"/>
                  </a:moveTo>
                  <a:lnTo>
                    <a:pt x="24384000" y="0"/>
                  </a:lnTo>
                  <a:lnTo>
                    <a:pt x="24384000" y="13826362"/>
                  </a:lnTo>
                  <a:lnTo>
                    <a:pt x="0" y="13826362"/>
                  </a:lnTo>
                  <a:lnTo>
                    <a:pt x="0" y="0"/>
                  </a:lnTo>
                  <a:close/>
                </a:path>
              </a:pathLst>
            </a:custGeom>
            <a:blipFill>
              <a:blip r:embed="rId3"/>
              <a:stretch>
                <a:fillRect t="-14" b="-14"/>
              </a:stretch>
            </a:blipFill>
          </p:spPr>
          <p:txBody>
            <a:bodyPr/>
            <a:lstStyle/>
            <a:p>
              <a:endParaRPr lang="en-SA"/>
            </a:p>
          </p:txBody>
        </p:sp>
      </p:grpSp>
      <p:sp>
        <p:nvSpPr>
          <p:cNvPr id="4" name="Freeform 4"/>
          <p:cNvSpPr/>
          <p:nvPr/>
        </p:nvSpPr>
        <p:spPr>
          <a:xfrm flipH="1">
            <a:off x="6350868" y="2934556"/>
            <a:ext cx="5860863" cy="3291500"/>
          </a:xfrm>
          <a:custGeom>
            <a:avLst/>
            <a:gdLst/>
            <a:ahLst/>
            <a:cxnLst/>
            <a:rect l="l" t="t" r="r" b="b"/>
            <a:pathLst>
              <a:path w="5860863" h="3291500">
                <a:moveTo>
                  <a:pt x="5860863" y="0"/>
                </a:moveTo>
                <a:lnTo>
                  <a:pt x="0" y="0"/>
                </a:lnTo>
                <a:lnTo>
                  <a:pt x="0" y="3291500"/>
                </a:lnTo>
                <a:lnTo>
                  <a:pt x="5860863" y="3291500"/>
                </a:lnTo>
                <a:lnTo>
                  <a:pt x="5860863" y="0"/>
                </a:lnTo>
                <a:close/>
              </a:path>
            </a:pathLst>
          </a:custGeom>
          <a:blipFill>
            <a:blip r:embed="rId4"/>
            <a:stretch>
              <a:fillRect l="-511"/>
            </a:stretch>
          </a:blipFill>
        </p:spPr>
        <p:txBody>
          <a:bodyPr/>
          <a:lstStyle/>
          <a:p>
            <a:endParaRPr lang="en-SA"/>
          </a:p>
        </p:txBody>
      </p:sp>
      <p:sp>
        <p:nvSpPr>
          <p:cNvPr id="5" name="TextBox 5"/>
          <p:cNvSpPr txBox="1"/>
          <p:nvPr/>
        </p:nvSpPr>
        <p:spPr>
          <a:xfrm>
            <a:off x="15969853" y="1000125"/>
            <a:ext cx="1032272" cy="642938"/>
          </a:xfrm>
          <a:prstGeom prst="rect">
            <a:avLst/>
          </a:prstGeom>
        </p:spPr>
        <p:txBody>
          <a:bodyPr lIns="0" tIns="0" rIns="0" bIns="0" rtlCol="0" anchor="t">
            <a:spAutoFit/>
          </a:bodyPr>
          <a:lstStyle/>
          <a:p>
            <a:pPr algn="r">
              <a:lnSpc>
                <a:spcPts val="2879"/>
              </a:lnSpc>
            </a:pPr>
            <a:r>
              <a:rPr lang="ar-EG" sz="2400" b="1">
                <a:solidFill>
                  <a:srgbClr val="0F172A"/>
                </a:solidFill>
                <a:latin typeface="Cairo Bold"/>
                <a:ea typeface="Cairo Bold"/>
                <a:cs typeface="Cairo Bold"/>
                <a:sym typeface="Cairo Bold"/>
                <a:rtl/>
              </a:rPr>
              <a:t>الجواب</a:t>
            </a:r>
          </a:p>
        </p:txBody>
      </p:sp>
      <p:sp>
        <p:nvSpPr>
          <p:cNvPr id="6" name="TextBox 6"/>
          <p:cNvSpPr txBox="1"/>
          <p:nvPr/>
        </p:nvSpPr>
        <p:spPr>
          <a:xfrm>
            <a:off x="1285875" y="1107281"/>
            <a:ext cx="3175397" cy="238125"/>
          </a:xfrm>
          <a:prstGeom prst="rect">
            <a:avLst/>
          </a:prstGeom>
        </p:spPr>
        <p:txBody>
          <a:bodyPr lIns="0" tIns="0" rIns="0" bIns="0" rtlCol="0" anchor="t">
            <a:spAutoFit/>
          </a:bodyPr>
          <a:lstStyle/>
          <a:p>
            <a:pPr algn="r">
              <a:lnSpc>
                <a:spcPts val="1920"/>
              </a:lnSpc>
            </a:pPr>
            <a:r>
              <a:rPr lang="ar-EG" sz="1600" b="1">
                <a:solidFill>
                  <a:srgbClr val="EA580C"/>
                </a:solidFill>
                <a:latin typeface="Cairo Bold"/>
                <a:ea typeface="Cairo Bold"/>
                <a:cs typeface="Cairo Bold"/>
                <a:sym typeface="Cairo Bold"/>
                <a:rtl/>
              </a:rPr>
              <a:t>القسم الأول: خيال</a:t>
            </a:r>
          </a:p>
        </p:txBody>
      </p:sp>
      <p:sp>
        <p:nvSpPr>
          <p:cNvPr id="7" name="TextBox 7"/>
          <p:cNvSpPr txBox="1"/>
          <p:nvPr/>
        </p:nvSpPr>
        <p:spPr>
          <a:xfrm>
            <a:off x="3559098" y="6089775"/>
            <a:ext cx="11615854" cy="2078133"/>
          </a:xfrm>
          <a:prstGeom prst="rect">
            <a:avLst/>
          </a:prstGeom>
        </p:spPr>
        <p:txBody>
          <a:bodyPr lIns="0" tIns="0" rIns="0" bIns="0" rtlCol="0" anchor="t">
            <a:spAutoFit/>
          </a:bodyPr>
          <a:lstStyle/>
          <a:p>
            <a:pPr algn="ctr" rtl="1">
              <a:lnSpc>
                <a:spcPts val="5529"/>
              </a:lnSpc>
            </a:pPr>
            <a:r>
              <a:rPr lang="ar-EG" sz="3600" b="1" dirty="0">
                <a:solidFill>
                  <a:srgbClr val="0F172A"/>
                </a:solidFill>
                <a:latin typeface="Cairo Bold"/>
                <a:ea typeface="Cairo Bold"/>
                <a:cs typeface="Cairo Bold"/>
                <a:sym typeface="Cairo Bold"/>
                <a:rtl/>
              </a:rPr>
              <a:t>المهندسون نظروا إلى الشيء الوحيد في الكون</a:t>
            </a:r>
          </a:p>
          <a:p>
            <a:pPr algn="ctr" rtl="1">
              <a:lnSpc>
                <a:spcPts val="5529"/>
              </a:lnSpc>
            </a:pPr>
            <a:r>
              <a:rPr lang="ar-EG" sz="3600" b="1" dirty="0">
                <a:solidFill>
                  <a:srgbClr val="0F172A"/>
                </a:solidFill>
                <a:latin typeface="Cairo Bold"/>
                <a:ea typeface="Cairo Bold"/>
                <a:cs typeface="Cairo Bold"/>
                <a:sym typeface="Cairo Bold"/>
                <a:rtl/>
              </a:rPr>
              <a:t>الذي كان يفعل ذلك بالفعل وبمنتهى المثالية</a:t>
            </a:r>
            <a:r>
              <a:rPr lang="en-US" sz="3600" b="1" dirty="0">
                <a:solidFill>
                  <a:srgbClr val="0F172A"/>
                </a:solidFill>
                <a:latin typeface="Cairo Bold"/>
                <a:ea typeface="Cairo Bold"/>
                <a:cs typeface="Cairo Bold"/>
                <a:sym typeface="Cairo Bold"/>
              </a:rPr>
              <a:t>:</a:t>
            </a:r>
          </a:p>
          <a:p>
            <a:pPr algn="ctr">
              <a:lnSpc>
                <a:spcPts val="5529"/>
              </a:lnSpc>
            </a:pPr>
            <a:r>
              <a:rPr lang="ar-EG" sz="3600" b="1" dirty="0">
                <a:solidFill>
                  <a:srgbClr val="0F172A"/>
                </a:solidFill>
                <a:latin typeface="Cairo Bold"/>
                <a:ea typeface="Cairo Bold"/>
                <a:cs typeface="Cairo Bold"/>
                <a:sym typeface="Cairo Bold"/>
                <a:rtl/>
              </a:rPr>
              <a:t>الدماغ البشري</a:t>
            </a:r>
            <a:endParaRPr lang="en-US" sz="3600" b="1" dirty="0">
              <a:solidFill>
                <a:srgbClr val="0F172A"/>
              </a:solidFill>
              <a:latin typeface="Cairo Bold"/>
              <a:ea typeface="Cairo Bold"/>
              <a:cs typeface="Cairo Bold"/>
              <a:sym typeface="Cairo Bold"/>
            </a:endParaRPr>
          </a:p>
        </p:txBody>
      </p:sp>
      <p:sp>
        <p:nvSpPr>
          <p:cNvPr id="8" name="TextBox 8"/>
          <p:cNvSpPr txBox="1"/>
          <p:nvPr/>
        </p:nvSpPr>
        <p:spPr>
          <a:xfrm>
            <a:off x="14462522" y="9683972"/>
            <a:ext cx="2796778" cy="333425"/>
          </a:xfrm>
          <a:prstGeom prst="rect">
            <a:avLst/>
          </a:prstGeom>
        </p:spPr>
        <p:txBody>
          <a:bodyPr lIns="0" tIns="0" rIns="0" bIns="0" rtlCol="0" anchor="t">
            <a:spAutoFit/>
          </a:bodyPr>
          <a:lstStyle/>
          <a:p>
            <a:pPr algn="r">
              <a:lnSpc>
                <a:spcPts val="2595"/>
              </a:lnSpc>
            </a:pPr>
            <a:r>
              <a:rPr lang="ar-EG" sz="1800" dirty="0">
                <a:solidFill>
                  <a:srgbClr val="64748B"/>
                </a:solidFill>
                <a:latin typeface="Cairo Light"/>
                <a:ea typeface="Cairo Light"/>
                <a:cs typeface="Cairo Light"/>
                <a:sym typeface="Cairo Light"/>
                <a:rtl/>
              </a:rPr>
              <a:t>اليوم الثالث · مبني على صورتنا</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SA"/>
            </a:p>
          </p:txBody>
        </p:sp>
      </p:grpSp>
      <p:sp>
        <p:nvSpPr>
          <p:cNvPr id="4" name="TextBox 4"/>
          <p:cNvSpPr txBox="1"/>
          <p:nvPr/>
        </p:nvSpPr>
        <p:spPr>
          <a:xfrm>
            <a:off x="14980444" y="1000125"/>
            <a:ext cx="2021681" cy="642938"/>
          </a:xfrm>
          <a:prstGeom prst="rect">
            <a:avLst/>
          </a:prstGeom>
        </p:spPr>
        <p:txBody>
          <a:bodyPr lIns="0" tIns="0" rIns="0" bIns="0" rtlCol="0" anchor="t">
            <a:spAutoFit/>
          </a:bodyPr>
          <a:lstStyle/>
          <a:p>
            <a:pPr algn="r">
              <a:lnSpc>
                <a:spcPts val="2879"/>
              </a:lnSpc>
            </a:pPr>
            <a:r>
              <a:rPr lang="ar-EG" sz="2400" b="1">
                <a:solidFill>
                  <a:srgbClr val="0F172A"/>
                </a:solidFill>
                <a:latin typeface="Cairo Bold"/>
                <a:ea typeface="Cairo Bold"/>
                <a:cs typeface="Cairo Bold"/>
                <a:sym typeface="Cairo Bold"/>
                <a:rtl/>
              </a:rPr>
              <a:t>الرابط العجيب</a:t>
            </a:r>
          </a:p>
        </p:txBody>
      </p:sp>
      <p:sp>
        <p:nvSpPr>
          <p:cNvPr id="5" name="TextBox 5"/>
          <p:cNvSpPr txBox="1"/>
          <p:nvPr/>
        </p:nvSpPr>
        <p:spPr>
          <a:xfrm>
            <a:off x="1285875" y="1107281"/>
            <a:ext cx="3175397" cy="238125"/>
          </a:xfrm>
          <a:prstGeom prst="rect">
            <a:avLst/>
          </a:prstGeom>
        </p:spPr>
        <p:txBody>
          <a:bodyPr lIns="0" tIns="0" rIns="0" bIns="0" rtlCol="0" anchor="t">
            <a:spAutoFit/>
          </a:bodyPr>
          <a:lstStyle/>
          <a:p>
            <a:pPr algn="r">
              <a:lnSpc>
                <a:spcPts val="1920"/>
              </a:lnSpc>
            </a:pPr>
            <a:r>
              <a:rPr lang="ar-EG" sz="1600" b="1">
                <a:solidFill>
                  <a:srgbClr val="EA580C"/>
                </a:solidFill>
                <a:latin typeface="Cairo Bold"/>
                <a:ea typeface="Cairo Bold"/>
                <a:cs typeface="Cairo Bold"/>
                <a:sym typeface="Cairo Bold"/>
                <a:rtl/>
              </a:rPr>
              <a:t>القسم الأول: خيال</a:t>
            </a:r>
          </a:p>
        </p:txBody>
      </p:sp>
      <p:sp>
        <p:nvSpPr>
          <p:cNvPr id="6" name="TextBox 6"/>
          <p:cNvSpPr txBox="1"/>
          <p:nvPr/>
        </p:nvSpPr>
        <p:spPr>
          <a:xfrm>
            <a:off x="1285875" y="2271712"/>
            <a:ext cx="15716250" cy="750094"/>
          </a:xfrm>
          <a:prstGeom prst="rect">
            <a:avLst/>
          </a:prstGeom>
        </p:spPr>
        <p:txBody>
          <a:bodyPr lIns="0" tIns="0" rIns="0" bIns="0" rtlCol="0" anchor="t">
            <a:spAutoFit/>
          </a:bodyPr>
          <a:lstStyle/>
          <a:p>
            <a:pPr algn="r">
              <a:lnSpc>
                <a:spcPts val="3359"/>
              </a:lnSpc>
            </a:pPr>
            <a:r>
              <a:rPr lang="ar-EG" sz="2799" b="1">
                <a:solidFill>
                  <a:srgbClr val="0F172A"/>
                </a:solidFill>
                <a:latin typeface="Cairo Bold"/>
                <a:ea typeface="Cairo Bold"/>
                <a:cs typeface="Cairo Bold"/>
                <a:sym typeface="Cairo Bold"/>
                <a:rtl/>
              </a:rPr>
              <a:t>الربط بين الدماغ والشبكة العصبية</a:t>
            </a:r>
          </a:p>
        </p:txBody>
      </p:sp>
      <p:grpSp>
        <p:nvGrpSpPr>
          <p:cNvPr id="7" name="Group 7"/>
          <p:cNvGrpSpPr/>
          <p:nvPr/>
        </p:nvGrpSpPr>
        <p:grpSpPr>
          <a:xfrm>
            <a:off x="13486790" y="4354116"/>
            <a:ext cx="3501057" cy="771525"/>
            <a:chOff x="0" y="0"/>
            <a:chExt cx="4668076" cy="1028700"/>
          </a:xfrm>
        </p:grpSpPr>
        <p:sp>
          <p:nvSpPr>
            <p:cNvPr id="8" name="Freeform 8"/>
            <p:cNvSpPr/>
            <p:nvPr/>
          </p:nvSpPr>
          <p:spPr>
            <a:xfrm>
              <a:off x="0" y="0"/>
              <a:ext cx="4668012" cy="1028700"/>
            </a:xfrm>
            <a:custGeom>
              <a:avLst/>
              <a:gdLst/>
              <a:ahLst/>
              <a:cxnLst/>
              <a:rect l="l" t="t" r="r" b="b"/>
              <a:pathLst>
                <a:path w="4668012" h="1028700">
                  <a:moveTo>
                    <a:pt x="0" y="0"/>
                  </a:moveTo>
                  <a:lnTo>
                    <a:pt x="4668012" y="0"/>
                  </a:lnTo>
                  <a:lnTo>
                    <a:pt x="4668012" y="1028700"/>
                  </a:lnTo>
                  <a:lnTo>
                    <a:pt x="0" y="1028700"/>
                  </a:lnTo>
                  <a:close/>
                </a:path>
              </a:pathLst>
            </a:custGeom>
            <a:solidFill>
              <a:srgbClr val="0284C7"/>
            </a:solidFill>
          </p:spPr>
          <p:txBody>
            <a:bodyPr/>
            <a:lstStyle/>
            <a:p>
              <a:endParaRPr lang="en-SA"/>
            </a:p>
          </p:txBody>
        </p:sp>
      </p:grpSp>
      <p:grpSp>
        <p:nvGrpSpPr>
          <p:cNvPr id="9" name="Group 9"/>
          <p:cNvGrpSpPr/>
          <p:nvPr/>
        </p:nvGrpSpPr>
        <p:grpSpPr>
          <a:xfrm>
            <a:off x="13486790" y="4354116"/>
            <a:ext cx="3501057" cy="771526"/>
            <a:chOff x="0" y="0"/>
            <a:chExt cx="4668076" cy="1028701"/>
          </a:xfrm>
        </p:grpSpPr>
        <p:sp>
          <p:nvSpPr>
            <p:cNvPr id="10" name="Freeform 10"/>
            <p:cNvSpPr/>
            <p:nvPr/>
          </p:nvSpPr>
          <p:spPr>
            <a:xfrm>
              <a:off x="0" y="0"/>
              <a:ext cx="4668069" cy="1028703"/>
            </a:xfrm>
            <a:custGeom>
              <a:avLst/>
              <a:gdLst/>
              <a:ahLst/>
              <a:cxnLst/>
              <a:rect l="l" t="t" r="r" b="b"/>
              <a:pathLst>
                <a:path w="4668069" h="1028703">
                  <a:moveTo>
                    <a:pt x="0" y="0"/>
                  </a:moveTo>
                  <a:lnTo>
                    <a:pt x="4668069" y="0"/>
                  </a:lnTo>
                  <a:lnTo>
                    <a:pt x="4668069" y="1028703"/>
                  </a:lnTo>
                  <a:lnTo>
                    <a:pt x="0" y="1028703"/>
                  </a:lnTo>
                  <a:close/>
                </a:path>
              </a:pathLst>
            </a:custGeom>
            <a:blipFill>
              <a:blip r:embed="rId4">
                <a:alphaModFix amt="0"/>
              </a:blip>
              <a:stretch>
                <a:fillRect t="-38419" b="-38419"/>
              </a:stretch>
            </a:blipFill>
          </p:spPr>
          <p:txBody>
            <a:bodyPr/>
            <a:lstStyle/>
            <a:p>
              <a:endParaRPr lang="en-SA"/>
            </a:p>
          </p:txBody>
        </p:sp>
        <p:sp>
          <p:nvSpPr>
            <p:cNvPr id="11" name="TextBox 11"/>
            <p:cNvSpPr txBox="1"/>
            <p:nvPr/>
          </p:nvSpPr>
          <p:spPr>
            <a:xfrm>
              <a:off x="0" y="0"/>
              <a:ext cx="4668076" cy="1028701"/>
            </a:xfrm>
            <a:prstGeom prst="rect">
              <a:avLst/>
            </a:prstGeom>
          </p:spPr>
          <p:txBody>
            <a:bodyPr lIns="0" tIns="0" rIns="0" bIns="0" rtlCol="0" anchor="ctr"/>
            <a:lstStyle/>
            <a:p>
              <a:pPr algn="ctr">
                <a:lnSpc>
                  <a:spcPts val="2400"/>
                </a:lnSpc>
              </a:pPr>
              <a:r>
                <a:rPr lang="en-US" sz="2000" b="1">
                  <a:solidFill>
                    <a:srgbClr val="FFFFFF"/>
                  </a:solidFill>
                  <a:latin typeface="Cairo Bold"/>
                  <a:ea typeface="Cairo Bold"/>
                  <a:cs typeface="Cairo Bold"/>
                  <a:sym typeface="Cairo Bold"/>
                </a:rPr>
                <a:t>🧠 </a:t>
              </a:r>
              <a:r>
                <a:rPr lang="ar-EG" sz="2000" b="1">
                  <a:solidFill>
                    <a:srgbClr val="FFFFFF"/>
                  </a:solidFill>
                  <a:latin typeface="Cairo Bold"/>
                  <a:ea typeface="Cairo Bold"/>
                  <a:cs typeface="Cairo Bold"/>
                  <a:sym typeface="Cairo Bold"/>
                  <a:rtl/>
                </a:rPr>
                <a:t>الدماغ البشري</a:t>
              </a:r>
            </a:p>
          </p:txBody>
        </p:sp>
      </p:grpSp>
      <p:grpSp>
        <p:nvGrpSpPr>
          <p:cNvPr id="12" name="Group 12"/>
          <p:cNvGrpSpPr/>
          <p:nvPr/>
        </p:nvGrpSpPr>
        <p:grpSpPr>
          <a:xfrm>
            <a:off x="12708788" y="4354116"/>
            <a:ext cx="778002" cy="771525"/>
            <a:chOff x="0" y="0"/>
            <a:chExt cx="1037336" cy="1028700"/>
          </a:xfrm>
        </p:grpSpPr>
        <p:sp>
          <p:nvSpPr>
            <p:cNvPr id="13" name="Freeform 13"/>
            <p:cNvSpPr/>
            <p:nvPr/>
          </p:nvSpPr>
          <p:spPr>
            <a:xfrm>
              <a:off x="0" y="0"/>
              <a:ext cx="1037336" cy="1028700"/>
            </a:xfrm>
            <a:custGeom>
              <a:avLst/>
              <a:gdLst/>
              <a:ahLst/>
              <a:cxnLst/>
              <a:rect l="l" t="t" r="r" b="b"/>
              <a:pathLst>
                <a:path w="1037336" h="1028700">
                  <a:moveTo>
                    <a:pt x="0" y="0"/>
                  </a:moveTo>
                  <a:lnTo>
                    <a:pt x="1037336" y="0"/>
                  </a:lnTo>
                  <a:lnTo>
                    <a:pt x="1037336" y="1028700"/>
                  </a:lnTo>
                  <a:lnTo>
                    <a:pt x="0" y="1028700"/>
                  </a:lnTo>
                  <a:close/>
                </a:path>
              </a:pathLst>
            </a:custGeom>
            <a:solidFill>
              <a:srgbClr val="0284C7"/>
            </a:solidFill>
          </p:spPr>
          <p:txBody>
            <a:bodyPr/>
            <a:lstStyle/>
            <a:p>
              <a:endParaRPr lang="en-SA"/>
            </a:p>
          </p:txBody>
        </p:sp>
      </p:grpSp>
      <p:grpSp>
        <p:nvGrpSpPr>
          <p:cNvPr id="14" name="Group 14"/>
          <p:cNvGrpSpPr/>
          <p:nvPr/>
        </p:nvGrpSpPr>
        <p:grpSpPr>
          <a:xfrm>
            <a:off x="12708788" y="4354116"/>
            <a:ext cx="778002" cy="771525"/>
            <a:chOff x="0" y="0"/>
            <a:chExt cx="1037336" cy="1028700"/>
          </a:xfrm>
        </p:grpSpPr>
        <p:sp>
          <p:nvSpPr>
            <p:cNvPr id="15" name="Freeform 15"/>
            <p:cNvSpPr/>
            <p:nvPr/>
          </p:nvSpPr>
          <p:spPr>
            <a:xfrm>
              <a:off x="0" y="0"/>
              <a:ext cx="1037333" cy="1028701"/>
            </a:xfrm>
            <a:custGeom>
              <a:avLst/>
              <a:gdLst/>
              <a:ahLst/>
              <a:cxnLst/>
              <a:rect l="l" t="t" r="r" b="b"/>
              <a:pathLst>
                <a:path w="1037333" h="1028701">
                  <a:moveTo>
                    <a:pt x="0" y="0"/>
                  </a:moveTo>
                  <a:lnTo>
                    <a:pt x="1037333" y="0"/>
                  </a:lnTo>
                  <a:lnTo>
                    <a:pt x="1037333" y="1028701"/>
                  </a:lnTo>
                  <a:lnTo>
                    <a:pt x="0" y="1028701"/>
                  </a:lnTo>
                  <a:close/>
                </a:path>
              </a:pathLst>
            </a:custGeom>
            <a:blipFill>
              <a:blip r:embed="rId4">
                <a:alphaModFix amt="0"/>
              </a:blip>
              <a:stretch>
                <a:fillRect l="-77235" r="-77235"/>
              </a:stretch>
            </a:blipFill>
          </p:spPr>
          <p:txBody>
            <a:bodyPr/>
            <a:lstStyle/>
            <a:p>
              <a:endParaRPr lang="en-SA"/>
            </a:p>
          </p:txBody>
        </p:sp>
        <p:sp>
          <p:nvSpPr>
            <p:cNvPr id="16" name="TextBox 16"/>
            <p:cNvSpPr txBox="1"/>
            <p:nvPr/>
          </p:nvSpPr>
          <p:spPr>
            <a:xfrm>
              <a:off x="0" y="0"/>
              <a:ext cx="1037336" cy="1028700"/>
            </a:xfrm>
            <a:prstGeom prst="rect">
              <a:avLst/>
            </a:prstGeom>
          </p:spPr>
          <p:txBody>
            <a:bodyPr lIns="0" tIns="0" rIns="0" bIns="0" rtlCol="0" anchor="ctr"/>
            <a:lstStyle/>
            <a:p>
              <a:pPr algn="ctr">
                <a:lnSpc>
                  <a:spcPts val="2400"/>
                </a:lnSpc>
              </a:pPr>
              <a:r>
                <a:rPr lang="en-US" sz="2000" b="1">
                  <a:solidFill>
                    <a:srgbClr val="FFFFFF"/>
                  </a:solidFill>
                  <a:latin typeface="Cairo Bold"/>
                  <a:ea typeface="Cairo Bold"/>
                  <a:cs typeface="Cairo Bold"/>
                  <a:sym typeface="Cairo Bold"/>
                </a:rPr>
                <a:t>←</a:t>
              </a:r>
            </a:p>
          </p:txBody>
        </p:sp>
      </p:grpSp>
      <p:grpSp>
        <p:nvGrpSpPr>
          <p:cNvPr id="17" name="Group 17"/>
          <p:cNvGrpSpPr/>
          <p:nvPr/>
        </p:nvGrpSpPr>
        <p:grpSpPr>
          <a:xfrm>
            <a:off x="9207684" y="4354116"/>
            <a:ext cx="3501104" cy="771525"/>
            <a:chOff x="0" y="0"/>
            <a:chExt cx="4668139" cy="1028700"/>
          </a:xfrm>
        </p:grpSpPr>
        <p:sp>
          <p:nvSpPr>
            <p:cNvPr id="18" name="Freeform 18"/>
            <p:cNvSpPr/>
            <p:nvPr/>
          </p:nvSpPr>
          <p:spPr>
            <a:xfrm>
              <a:off x="0" y="0"/>
              <a:ext cx="4668139" cy="1028700"/>
            </a:xfrm>
            <a:custGeom>
              <a:avLst/>
              <a:gdLst/>
              <a:ahLst/>
              <a:cxnLst/>
              <a:rect l="l" t="t" r="r" b="b"/>
              <a:pathLst>
                <a:path w="4668139" h="1028700">
                  <a:moveTo>
                    <a:pt x="0" y="0"/>
                  </a:moveTo>
                  <a:lnTo>
                    <a:pt x="4668139" y="0"/>
                  </a:lnTo>
                  <a:lnTo>
                    <a:pt x="4668139" y="1028700"/>
                  </a:lnTo>
                  <a:lnTo>
                    <a:pt x="0" y="1028700"/>
                  </a:lnTo>
                  <a:close/>
                </a:path>
              </a:pathLst>
            </a:custGeom>
            <a:solidFill>
              <a:srgbClr val="EA580C"/>
            </a:solidFill>
          </p:spPr>
          <p:txBody>
            <a:bodyPr/>
            <a:lstStyle/>
            <a:p>
              <a:endParaRPr lang="en-SA"/>
            </a:p>
          </p:txBody>
        </p:sp>
      </p:grpSp>
      <p:grpSp>
        <p:nvGrpSpPr>
          <p:cNvPr id="19" name="Group 19"/>
          <p:cNvGrpSpPr/>
          <p:nvPr/>
        </p:nvGrpSpPr>
        <p:grpSpPr>
          <a:xfrm>
            <a:off x="9207684" y="4354115"/>
            <a:ext cx="3501104" cy="771526"/>
            <a:chOff x="0" y="0"/>
            <a:chExt cx="4668139" cy="1028701"/>
          </a:xfrm>
        </p:grpSpPr>
        <p:sp>
          <p:nvSpPr>
            <p:cNvPr id="20" name="Freeform 20"/>
            <p:cNvSpPr/>
            <p:nvPr/>
          </p:nvSpPr>
          <p:spPr>
            <a:xfrm>
              <a:off x="0" y="0"/>
              <a:ext cx="4668144" cy="1028703"/>
            </a:xfrm>
            <a:custGeom>
              <a:avLst/>
              <a:gdLst/>
              <a:ahLst/>
              <a:cxnLst/>
              <a:rect l="l" t="t" r="r" b="b"/>
              <a:pathLst>
                <a:path w="4668144" h="1028703">
                  <a:moveTo>
                    <a:pt x="0" y="0"/>
                  </a:moveTo>
                  <a:lnTo>
                    <a:pt x="4668144" y="0"/>
                  </a:lnTo>
                  <a:lnTo>
                    <a:pt x="4668144" y="1028703"/>
                  </a:lnTo>
                  <a:lnTo>
                    <a:pt x="0" y="1028703"/>
                  </a:lnTo>
                  <a:close/>
                </a:path>
              </a:pathLst>
            </a:custGeom>
            <a:blipFill>
              <a:blip r:embed="rId4">
                <a:alphaModFix amt="0"/>
              </a:blip>
              <a:stretch>
                <a:fillRect t="-38421" b="-38420"/>
              </a:stretch>
            </a:blipFill>
          </p:spPr>
          <p:txBody>
            <a:bodyPr/>
            <a:lstStyle/>
            <a:p>
              <a:endParaRPr lang="en-SA"/>
            </a:p>
          </p:txBody>
        </p:sp>
        <p:sp>
          <p:nvSpPr>
            <p:cNvPr id="21" name="TextBox 21"/>
            <p:cNvSpPr txBox="1"/>
            <p:nvPr/>
          </p:nvSpPr>
          <p:spPr>
            <a:xfrm>
              <a:off x="0" y="0"/>
              <a:ext cx="4668139" cy="1028701"/>
            </a:xfrm>
            <a:prstGeom prst="rect">
              <a:avLst/>
            </a:prstGeom>
          </p:spPr>
          <p:txBody>
            <a:bodyPr lIns="0" tIns="0" rIns="0" bIns="0" rtlCol="0" anchor="ctr"/>
            <a:lstStyle/>
            <a:p>
              <a:pPr algn="ctr">
                <a:lnSpc>
                  <a:spcPts val="2400"/>
                </a:lnSpc>
              </a:pPr>
              <a:r>
                <a:rPr lang="en-US" sz="2000" b="1">
                  <a:solidFill>
                    <a:srgbClr val="FFFFFF"/>
                  </a:solidFill>
                  <a:latin typeface="Cairo Bold"/>
                  <a:ea typeface="Cairo Bold"/>
                  <a:cs typeface="Cairo Bold"/>
                  <a:sym typeface="Cairo Bold"/>
                </a:rPr>
                <a:t>🤖 </a:t>
              </a:r>
              <a:r>
                <a:rPr lang="ar-EG" sz="2000" b="1">
                  <a:solidFill>
                    <a:srgbClr val="FFFFFF"/>
                  </a:solidFill>
                  <a:latin typeface="Cairo Bold"/>
                  <a:ea typeface="Cairo Bold"/>
                  <a:cs typeface="Cairo Bold"/>
                  <a:sym typeface="Cairo Bold"/>
                  <a:rtl/>
                </a:rPr>
                <a:t>الشبكة العصبية</a:t>
              </a:r>
            </a:p>
          </p:txBody>
        </p:sp>
      </p:grpSp>
      <p:grpSp>
        <p:nvGrpSpPr>
          <p:cNvPr id="22" name="Group 22"/>
          <p:cNvGrpSpPr/>
          <p:nvPr/>
        </p:nvGrpSpPr>
        <p:grpSpPr>
          <a:xfrm>
            <a:off x="13229915" y="5125641"/>
            <a:ext cx="3501057" cy="771526"/>
            <a:chOff x="0" y="0"/>
            <a:chExt cx="4668076" cy="1028701"/>
          </a:xfrm>
        </p:grpSpPr>
        <p:sp>
          <p:nvSpPr>
            <p:cNvPr id="23" name="Freeform 23"/>
            <p:cNvSpPr/>
            <p:nvPr/>
          </p:nvSpPr>
          <p:spPr>
            <a:xfrm>
              <a:off x="0" y="0"/>
              <a:ext cx="4668069" cy="1028703"/>
            </a:xfrm>
            <a:custGeom>
              <a:avLst/>
              <a:gdLst/>
              <a:ahLst/>
              <a:cxnLst/>
              <a:rect l="l" t="t" r="r" b="b"/>
              <a:pathLst>
                <a:path w="4668069" h="1028703">
                  <a:moveTo>
                    <a:pt x="0" y="0"/>
                  </a:moveTo>
                  <a:lnTo>
                    <a:pt x="4668069" y="0"/>
                  </a:lnTo>
                  <a:lnTo>
                    <a:pt x="4668069" y="1028703"/>
                  </a:lnTo>
                  <a:lnTo>
                    <a:pt x="0" y="1028703"/>
                  </a:lnTo>
                  <a:close/>
                </a:path>
              </a:pathLst>
            </a:custGeom>
            <a:blipFill>
              <a:blip r:embed="rId4">
                <a:alphaModFix amt="0"/>
              </a:blip>
              <a:stretch>
                <a:fillRect t="-38419" b="-38419"/>
              </a:stretch>
            </a:blipFill>
          </p:spPr>
          <p:txBody>
            <a:bodyPr/>
            <a:lstStyle/>
            <a:p>
              <a:endParaRPr lang="en-SA"/>
            </a:p>
          </p:txBody>
        </p:sp>
        <p:sp>
          <p:nvSpPr>
            <p:cNvPr id="24" name="TextBox 24"/>
            <p:cNvSpPr txBox="1"/>
            <p:nvPr/>
          </p:nvSpPr>
          <p:spPr>
            <a:xfrm>
              <a:off x="0" y="0"/>
              <a:ext cx="4668076" cy="1028701"/>
            </a:xfrm>
            <a:prstGeom prst="rect">
              <a:avLst/>
            </a:prstGeom>
          </p:spPr>
          <p:txBody>
            <a:bodyPr lIns="0" tIns="0" rIns="0" bIns="0" rtlCol="0" anchor="ctr"/>
            <a:lstStyle/>
            <a:p>
              <a:pPr algn="ctr">
                <a:lnSpc>
                  <a:spcPts val="2280"/>
                </a:lnSpc>
              </a:pPr>
              <a:r>
                <a:rPr lang="en-US" sz="1900">
                  <a:solidFill>
                    <a:srgbClr val="475569"/>
                  </a:solidFill>
                  <a:latin typeface="Cairo"/>
                  <a:ea typeface="Cairo"/>
                  <a:cs typeface="Cairo"/>
                  <a:sym typeface="Cairo"/>
                </a:rPr>
                <a:t> (Neurons) </a:t>
              </a:r>
              <a:r>
                <a:rPr lang="ar-EG" sz="1900">
                  <a:solidFill>
                    <a:srgbClr val="475569"/>
                  </a:solidFill>
                  <a:latin typeface="Cairo"/>
                  <a:ea typeface="Cairo"/>
                  <a:cs typeface="Cairo"/>
                  <a:sym typeface="Cairo"/>
                  <a:rtl/>
                </a:rPr>
                <a:t>خلايا عصبية</a:t>
              </a:r>
              <a:r>
                <a:rPr lang="en-US" sz="1900">
                  <a:solidFill>
                    <a:srgbClr val="475569"/>
                  </a:solidFill>
                  <a:latin typeface="Cairo"/>
                  <a:ea typeface="Cairo"/>
                  <a:cs typeface="Cairo"/>
                  <a:sym typeface="Cairo"/>
                </a:rPr>
                <a:t> </a:t>
              </a:r>
            </a:p>
          </p:txBody>
        </p:sp>
      </p:grpSp>
      <p:grpSp>
        <p:nvGrpSpPr>
          <p:cNvPr id="25" name="Group 25"/>
          <p:cNvGrpSpPr/>
          <p:nvPr/>
        </p:nvGrpSpPr>
        <p:grpSpPr>
          <a:xfrm>
            <a:off x="12937055" y="5477466"/>
            <a:ext cx="321469" cy="257175"/>
            <a:chOff x="0" y="0"/>
            <a:chExt cx="428625" cy="342900"/>
          </a:xfrm>
        </p:grpSpPr>
        <p:sp>
          <p:nvSpPr>
            <p:cNvPr id="26" name="Freeform 26" descr="preencoded.png"/>
            <p:cNvSpPr/>
            <p:nvPr/>
          </p:nvSpPr>
          <p:spPr>
            <a:xfrm>
              <a:off x="0" y="0"/>
              <a:ext cx="428625" cy="342900"/>
            </a:xfrm>
            <a:custGeom>
              <a:avLst/>
              <a:gdLst/>
              <a:ahLst/>
              <a:cxnLst/>
              <a:rect l="l" t="t" r="r" b="b"/>
              <a:pathLst>
                <a:path w="428625" h="342900">
                  <a:moveTo>
                    <a:pt x="0" y="0"/>
                  </a:moveTo>
                  <a:lnTo>
                    <a:pt x="428625" y="0"/>
                  </a:lnTo>
                  <a:lnTo>
                    <a:pt x="428625" y="342900"/>
                  </a:lnTo>
                  <a:lnTo>
                    <a:pt x="0" y="342900"/>
                  </a:lnTo>
                  <a:lnTo>
                    <a:pt x="0" y="0"/>
                  </a:lnTo>
                  <a:close/>
                </a:path>
              </a:pathLst>
            </a:custGeom>
            <a:blipFill>
              <a:blip r:embed="rId5"/>
              <a:stretch>
                <a:fillRect t="-1388" b="-1388"/>
              </a:stretch>
            </a:blipFill>
          </p:spPr>
          <p:txBody>
            <a:bodyPr/>
            <a:lstStyle/>
            <a:p>
              <a:endParaRPr lang="en-SA"/>
            </a:p>
          </p:txBody>
        </p:sp>
      </p:grpSp>
      <p:grpSp>
        <p:nvGrpSpPr>
          <p:cNvPr id="27" name="Group 27"/>
          <p:cNvGrpSpPr/>
          <p:nvPr/>
        </p:nvGrpSpPr>
        <p:grpSpPr>
          <a:xfrm>
            <a:off x="9207684" y="5125641"/>
            <a:ext cx="3501104" cy="771526"/>
            <a:chOff x="0" y="0"/>
            <a:chExt cx="4668139" cy="1028701"/>
          </a:xfrm>
        </p:grpSpPr>
        <p:sp>
          <p:nvSpPr>
            <p:cNvPr id="28" name="Freeform 28"/>
            <p:cNvSpPr/>
            <p:nvPr/>
          </p:nvSpPr>
          <p:spPr>
            <a:xfrm>
              <a:off x="0" y="0"/>
              <a:ext cx="4668144" cy="1028703"/>
            </a:xfrm>
            <a:custGeom>
              <a:avLst/>
              <a:gdLst/>
              <a:ahLst/>
              <a:cxnLst/>
              <a:rect l="l" t="t" r="r" b="b"/>
              <a:pathLst>
                <a:path w="4668144" h="1028703">
                  <a:moveTo>
                    <a:pt x="0" y="0"/>
                  </a:moveTo>
                  <a:lnTo>
                    <a:pt x="4668144" y="0"/>
                  </a:lnTo>
                  <a:lnTo>
                    <a:pt x="4668144" y="1028703"/>
                  </a:lnTo>
                  <a:lnTo>
                    <a:pt x="0" y="1028703"/>
                  </a:lnTo>
                  <a:close/>
                </a:path>
              </a:pathLst>
            </a:custGeom>
            <a:blipFill>
              <a:blip r:embed="rId4">
                <a:alphaModFix amt="0"/>
              </a:blip>
              <a:stretch>
                <a:fillRect t="-38421" b="-38420"/>
              </a:stretch>
            </a:blipFill>
          </p:spPr>
          <p:txBody>
            <a:bodyPr/>
            <a:lstStyle/>
            <a:p>
              <a:endParaRPr lang="en-SA"/>
            </a:p>
          </p:txBody>
        </p:sp>
        <p:sp>
          <p:nvSpPr>
            <p:cNvPr id="29" name="TextBox 29"/>
            <p:cNvSpPr txBox="1"/>
            <p:nvPr/>
          </p:nvSpPr>
          <p:spPr>
            <a:xfrm>
              <a:off x="0" y="0"/>
              <a:ext cx="4668139" cy="1028701"/>
            </a:xfrm>
            <a:prstGeom prst="rect">
              <a:avLst/>
            </a:prstGeom>
          </p:spPr>
          <p:txBody>
            <a:bodyPr lIns="0" tIns="0" rIns="0" bIns="0" rtlCol="0" anchor="ctr"/>
            <a:lstStyle/>
            <a:p>
              <a:pPr algn="ctr">
                <a:lnSpc>
                  <a:spcPts val="2280"/>
                </a:lnSpc>
              </a:pPr>
              <a:r>
                <a:rPr lang="en-US" sz="1900">
                  <a:solidFill>
                    <a:srgbClr val="475569"/>
                  </a:solidFill>
                  <a:latin typeface="Cairo"/>
                  <a:ea typeface="Cairo"/>
                  <a:cs typeface="Cairo"/>
                  <a:sym typeface="Cairo"/>
                </a:rPr>
                <a:t>(Nodes) </a:t>
              </a:r>
              <a:r>
                <a:rPr lang="ar-EG" sz="1900">
                  <a:solidFill>
                    <a:srgbClr val="475569"/>
                  </a:solidFill>
                  <a:latin typeface="Cairo"/>
                  <a:ea typeface="Cairo"/>
                  <a:cs typeface="Cairo"/>
                  <a:sym typeface="Cairo"/>
                  <a:rtl/>
                </a:rPr>
                <a:t>عقد اصطناعية</a:t>
              </a:r>
              <a:r>
                <a:rPr lang="en-US" sz="1900">
                  <a:solidFill>
                    <a:srgbClr val="475569"/>
                  </a:solidFill>
                  <a:latin typeface="Cairo"/>
                  <a:ea typeface="Cairo"/>
                  <a:cs typeface="Cairo"/>
                  <a:sym typeface="Cairo"/>
                </a:rPr>
                <a:t> </a:t>
              </a:r>
            </a:p>
          </p:txBody>
        </p:sp>
      </p:grpSp>
      <p:grpSp>
        <p:nvGrpSpPr>
          <p:cNvPr id="30" name="Group 30"/>
          <p:cNvGrpSpPr/>
          <p:nvPr/>
        </p:nvGrpSpPr>
        <p:grpSpPr>
          <a:xfrm>
            <a:off x="9207684" y="5897166"/>
            <a:ext cx="7780153" cy="771525"/>
            <a:chOff x="0" y="0"/>
            <a:chExt cx="10373538" cy="1028700"/>
          </a:xfrm>
        </p:grpSpPr>
        <p:sp>
          <p:nvSpPr>
            <p:cNvPr id="31" name="Freeform 31"/>
            <p:cNvSpPr/>
            <p:nvPr/>
          </p:nvSpPr>
          <p:spPr>
            <a:xfrm>
              <a:off x="0" y="0"/>
              <a:ext cx="10373487" cy="1028700"/>
            </a:xfrm>
            <a:custGeom>
              <a:avLst/>
              <a:gdLst/>
              <a:ahLst/>
              <a:cxnLst/>
              <a:rect l="l" t="t" r="r" b="b"/>
              <a:pathLst>
                <a:path w="10373487" h="1028700">
                  <a:moveTo>
                    <a:pt x="0" y="0"/>
                  </a:moveTo>
                  <a:lnTo>
                    <a:pt x="10373487" y="0"/>
                  </a:lnTo>
                  <a:lnTo>
                    <a:pt x="10373487" y="1028700"/>
                  </a:lnTo>
                  <a:lnTo>
                    <a:pt x="0" y="1028700"/>
                  </a:lnTo>
                  <a:close/>
                </a:path>
              </a:pathLst>
            </a:custGeom>
            <a:solidFill>
              <a:srgbClr val="F1F5F9"/>
            </a:solidFill>
          </p:spPr>
          <p:txBody>
            <a:bodyPr/>
            <a:lstStyle/>
            <a:p>
              <a:endParaRPr lang="en-SA"/>
            </a:p>
          </p:txBody>
        </p:sp>
      </p:grpSp>
      <p:grpSp>
        <p:nvGrpSpPr>
          <p:cNvPr id="32" name="Group 32"/>
          <p:cNvGrpSpPr/>
          <p:nvPr/>
        </p:nvGrpSpPr>
        <p:grpSpPr>
          <a:xfrm>
            <a:off x="13486781" y="5897166"/>
            <a:ext cx="3501057" cy="771526"/>
            <a:chOff x="0" y="0"/>
            <a:chExt cx="4668076" cy="1028701"/>
          </a:xfrm>
        </p:grpSpPr>
        <p:sp>
          <p:nvSpPr>
            <p:cNvPr id="33" name="Freeform 33"/>
            <p:cNvSpPr/>
            <p:nvPr/>
          </p:nvSpPr>
          <p:spPr>
            <a:xfrm>
              <a:off x="0" y="0"/>
              <a:ext cx="4668069" cy="1028703"/>
            </a:xfrm>
            <a:custGeom>
              <a:avLst/>
              <a:gdLst/>
              <a:ahLst/>
              <a:cxnLst/>
              <a:rect l="l" t="t" r="r" b="b"/>
              <a:pathLst>
                <a:path w="4668069" h="1028703">
                  <a:moveTo>
                    <a:pt x="0" y="0"/>
                  </a:moveTo>
                  <a:lnTo>
                    <a:pt x="4668069" y="0"/>
                  </a:lnTo>
                  <a:lnTo>
                    <a:pt x="4668069" y="1028703"/>
                  </a:lnTo>
                  <a:lnTo>
                    <a:pt x="0" y="1028703"/>
                  </a:lnTo>
                  <a:close/>
                </a:path>
              </a:pathLst>
            </a:custGeom>
            <a:blipFill>
              <a:blip r:embed="rId4">
                <a:alphaModFix amt="0"/>
              </a:blip>
              <a:stretch>
                <a:fillRect t="-38419" b="-38419"/>
              </a:stretch>
            </a:blipFill>
          </p:spPr>
          <p:txBody>
            <a:bodyPr/>
            <a:lstStyle/>
            <a:p>
              <a:endParaRPr lang="en-SA"/>
            </a:p>
          </p:txBody>
        </p:sp>
        <p:sp>
          <p:nvSpPr>
            <p:cNvPr id="34" name="TextBox 34"/>
            <p:cNvSpPr txBox="1"/>
            <p:nvPr/>
          </p:nvSpPr>
          <p:spPr>
            <a:xfrm>
              <a:off x="0" y="0"/>
              <a:ext cx="4668076" cy="1028701"/>
            </a:xfrm>
            <a:prstGeom prst="rect">
              <a:avLst/>
            </a:prstGeom>
          </p:spPr>
          <p:txBody>
            <a:bodyPr lIns="0" tIns="0" rIns="0" bIns="0" rtlCol="0" anchor="ctr"/>
            <a:lstStyle/>
            <a:p>
              <a:pPr algn="ctr">
                <a:lnSpc>
                  <a:spcPts val="2280"/>
                </a:lnSpc>
              </a:pPr>
              <a:r>
                <a:rPr lang="en-US" sz="1900">
                  <a:solidFill>
                    <a:srgbClr val="475569"/>
                  </a:solidFill>
                  <a:latin typeface="Cairo"/>
                  <a:ea typeface="Cairo"/>
                  <a:cs typeface="Cairo"/>
                  <a:sym typeface="Cairo"/>
                </a:rPr>
                <a:t>(Synapses) </a:t>
              </a:r>
              <a:r>
                <a:rPr lang="ar-EG" sz="1900">
                  <a:solidFill>
                    <a:srgbClr val="475569"/>
                  </a:solidFill>
                  <a:latin typeface="Cairo"/>
                  <a:ea typeface="Cairo"/>
                  <a:cs typeface="Cairo"/>
                  <a:sym typeface="Cairo"/>
                  <a:rtl/>
                </a:rPr>
                <a:t>وصلات عصبية</a:t>
              </a:r>
              <a:r>
                <a:rPr lang="en-US" sz="1900">
                  <a:solidFill>
                    <a:srgbClr val="475569"/>
                  </a:solidFill>
                  <a:latin typeface="Cairo"/>
                  <a:ea typeface="Cairo"/>
                  <a:cs typeface="Cairo"/>
                  <a:sym typeface="Cairo"/>
                </a:rPr>
                <a:t> </a:t>
              </a:r>
            </a:p>
          </p:txBody>
        </p:sp>
      </p:grpSp>
      <p:grpSp>
        <p:nvGrpSpPr>
          <p:cNvPr id="35" name="Group 35"/>
          <p:cNvGrpSpPr/>
          <p:nvPr/>
        </p:nvGrpSpPr>
        <p:grpSpPr>
          <a:xfrm>
            <a:off x="12937055" y="6252572"/>
            <a:ext cx="321469" cy="257175"/>
            <a:chOff x="0" y="0"/>
            <a:chExt cx="428625" cy="342900"/>
          </a:xfrm>
        </p:grpSpPr>
        <p:sp>
          <p:nvSpPr>
            <p:cNvPr id="36" name="Freeform 36" descr="preencoded.png"/>
            <p:cNvSpPr/>
            <p:nvPr/>
          </p:nvSpPr>
          <p:spPr>
            <a:xfrm>
              <a:off x="0" y="0"/>
              <a:ext cx="428625" cy="342900"/>
            </a:xfrm>
            <a:custGeom>
              <a:avLst/>
              <a:gdLst/>
              <a:ahLst/>
              <a:cxnLst/>
              <a:rect l="l" t="t" r="r" b="b"/>
              <a:pathLst>
                <a:path w="428625" h="342900">
                  <a:moveTo>
                    <a:pt x="0" y="0"/>
                  </a:moveTo>
                  <a:lnTo>
                    <a:pt x="428625" y="0"/>
                  </a:lnTo>
                  <a:lnTo>
                    <a:pt x="428625" y="342900"/>
                  </a:lnTo>
                  <a:lnTo>
                    <a:pt x="0" y="342900"/>
                  </a:lnTo>
                  <a:lnTo>
                    <a:pt x="0" y="0"/>
                  </a:lnTo>
                  <a:close/>
                </a:path>
              </a:pathLst>
            </a:custGeom>
            <a:blipFill>
              <a:blip r:embed="rId6"/>
              <a:stretch>
                <a:fillRect t="-1388" b="-1388"/>
              </a:stretch>
            </a:blipFill>
          </p:spPr>
          <p:txBody>
            <a:bodyPr/>
            <a:lstStyle/>
            <a:p>
              <a:endParaRPr lang="en-SA"/>
            </a:p>
          </p:txBody>
        </p:sp>
      </p:grpSp>
      <p:grpSp>
        <p:nvGrpSpPr>
          <p:cNvPr id="37" name="Group 37"/>
          <p:cNvGrpSpPr/>
          <p:nvPr/>
        </p:nvGrpSpPr>
        <p:grpSpPr>
          <a:xfrm>
            <a:off x="9207684" y="5897166"/>
            <a:ext cx="3501104" cy="771526"/>
            <a:chOff x="0" y="0"/>
            <a:chExt cx="4668139" cy="1028701"/>
          </a:xfrm>
        </p:grpSpPr>
        <p:sp>
          <p:nvSpPr>
            <p:cNvPr id="38" name="Freeform 38"/>
            <p:cNvSpPr/>
            <p:nvPr/>
          </p:nvSpPr>
          <p:spPr>
            <a:xfrm>
              <a:off x="0" y="0"/>
              <a:ext cx="4668144" cy="1028703"/>
            </a:xfrm>
            <a:custGeom>
              <a:avLst/>
              <a:gdLst/>
              <a:ahLst/>
              <a:cxnLst/>
              <a:rect l="l" t="t" r="r" b="b"/>
              <a:pathLst>
                <a:path w="4668144" h="1028703">
                  <a:moveTo>
                    <a:pt x="0" y="0"/>
                  </a:moveTo>
                  <a:lnTo>
                    <a:pt x="4668144" y="0"/>
                  </a:lnTo>
                  <a:lnTo>
                    <a:pt x="4668144" y="1028703"/>
                  </a:lnTo>
                  <a:lnTo>
                    <a:pt x="0" y="1028703"/>
                  </a:lnTo>
                  <a:close/>
                </a:path>
              </a:pathLst>
            </a:custGeom>
            <a:blipFill>
              <a:blip r:embed="rId4">
                <a:alphaModFix amt="0"/>
              </a:blip>
              <a:stretch>
                <a:fillRect t="-38421" b="-38420"/>
              </a:stretch>
            </a:blipFill>
          </p:spPr>
          <p:txBody>
            <a:bodyPr/>
            <a:lstStyle/>
            <a:p>
              <a:endParaRPr lang="en-SA"/>
            </a:p>
          </p:txBody>
        </p:sp>
        <p:sp>
          <p:nvSpPr>
            <p:cNvPr id="39" name="TextBox 39"/>
            <p:cNvSpPr txBox="1"/>
            <p:nvPr/>
          </p:nvSpPr>
          <p:spPr>
            <a:xfrm>
              <a:off x="0" y="0"/>
              <a:ext cx="4668139" cy="1028701"/>
            </a:xfrm>
            <a:prstGeom prst="rect">
              <a:avLst/>
            </a:prstGeom>
          </p:spPr>
          <p:txBody>
            <a:bodyPr lIns="0" tIns="0" rIns="0" bIns="0" rtlCol="0" anchor="ctr"/>
            <a:lstStyle/>
            <a:p>
              <a:pPr algn="ctr">
                <a:lnSpc>
                  <a:spcPts val="2280"/>
                </a:lnSpc>
              </a:pPr>
              <a:r>
                <a:rPr lang="en-US" sz="1900">
                  <a:solidFill>
                    <a:srgbClr val="475569"/>
                  </a:solidFill>
                  <a:latin typeface="Cairo"/>
                  <a:ea typeface="Cairo"/>
                  <a:cs typeface="Cairo"/>
                  <a:sym typeface="Cairo"/>
                </a:rPr>
                <a:t>(Weights) </a:t>
              </a:r>
              <a:r>
                <a:rPr lang="ar-EG" sz="1900">
                  <a:solidFill>
                    <a:srgbClr val="475569"/>
                  </a:solidFill>
                  <a:latin typeface="Cairo"/>
                  <a:ea typeface="Cairo"/>
                  <a:cs typeface="Cairo"/>
                  <a:sym typeface="Cairo"/>
                  <a:rtl/>
                </a:rPr>
                <a:t>أوزان رقمية</a:t>
              </a:r>
              <a:r>
                <a:rPr lang="en-US" sz="1900">
                  <a:solidFill>
                    <a:srgbClr val="475569"/>
                  </a:solidFill>
                  <a:latin typeface="Cairo"/>
                  <a:ea typeface="Cairo"/>
                  <a:cs typeface="Cairo"/>
                  <a:sym typeface="Cairo"/>
                </a:rPr>
                <a:t> </a:t>
              </a:r>
            </a:p>
          </p:txBody>
        </p:sp>
      </p:grpSp>
      <p:grpSp>
        <p:nvGrpSpPr>
          <p:cNvPr id="40" name="Group 40"/>
          <p:cNvGrpSpPr/>
          <p:nvPr/>
        </p:nvGrpSpPr>
        <p:grpSpPr>
          <a:xfrm>
            <a:off x="13486790" y="6668691"/>
            <a:ext cx="3501057" cy="771526"/>
            <a:chOff x="0" y="0"/>
            <a:chExt cx="4668076" cy="1028701"/>
          </a:xfrm>
        </p:grpSpPr>
        <p:sp>
          <p:nvSpPr>
            <p:cNvPr id="41" name="Freeform 41"/>
            <p:cNvSpPr/>
            <p:nvPr/>
          </p:nvSpPr>
          <p:spPr>
            <a:xfrm>
              <a:off x="0" y="0"/>
              <a:ext cx="4668069" cy="1028703"/>
            </a:xfrm>
            <a:custGeom>
              <a:avLst/>
              <a:gdLst/>
              <a:ahLst/>
              <a:cxnLst/>
              <a:rect l="l" t="t" r="r" b="b"/>
              <a:pathLst>
                <a:path w="4668069" h="1028703">
                  <a:moveTo>
                    <a:pt x="0" y="0"/>
                  </a:moveTo>
                  <a:lnTo>
                    <a:pt x="4668069" y="0"/>
                  </a:lnTo>
                  <a:lnTo>
                    <a:pt x="4668069" y="1028703"/>
                  </a:lnTo>
                  <a:lnTo>
                    <a:pt x="0" y="1028703"/>
                  </a:lnTo>
                  <a:close/>
                </a:path>
              </a:pathLst>
            </a:custGeom>
            <a:blipFill>
              <a:blip r:embed="rId4">
                <a:alphaModFix amt="0"/>
              </a:blip>
              <a:stretch>
                <a:fillRect t="-38419" b="-38419"/>
              </a:stretch>
            </a:blipFill>
          </p:spPr>
          <p:txBody>
            <a:bodyPr/>
            <a:lstStyle/>
            <a:p>
              <a:endParaRPr lang="en-SA"/>
            </a:p>
          </p:txBody>
        </p:sp>
        <p:sp>
          <p:nvSpPr>
            <p:cNvPr id="42" name="TextBox 42"/>
            <p:cNvSpPr txBox="1"/>
            <p:nvPr/>
          </p:nvSpPr>
          <p:spPr>
            <a:xfrm>
              <a:off x="0" y="0"/>
              <a:ext cx="4668076" cy="1028701"/>
            </a:xfrm>
            <a:prstGeom prst="rect">
              <a:avLst/>
            </a:prstGeom>
          </p:spPr>
          <p:txBody>
            <a:bodyPr lIns="0" tIns="0" rIns="0" bIns="0" rtlCol="0" anchor="ctr"/>
            <a:lstStyle/>
            <a:p>
              <a:pPr algn="ctr">
                <a:lnSpc>
                  <a:spcPts val="2280"/>
                </a:lnSpc>
              </a:pPr>
              <a:r>
                <a:rPr lang="ar-EG" sz="1900">
                  <a:solidFill>
                    <a:srgbClr val="475569"/>
                  </a:solidFill>
                  <a:latin typeface="Cairo"/>
                  <a:ea typeface="Cairo"/>
                  <a:cs typeface="Cairo"/>
                  <a:sym typeface="Cairo"/>
                  <a:rtl/>
                </a:rPr>
                <a:t>التعلم من التجارب اليومية</a:t>
              </a:r>
            </a:p>
          </p:txBody>
        </p:sp>
      </p:grpSp>
      <p:grpSp>
        <p:nvGrpSpPr>
          <p:cNvPr id="43" name="Group 43"/>
          <p:cNvGrpSpPr/>
          <p:nvPr/>
        </p:nvGrpSpPr>
        <p:grpSpPr>
          <a:xfrm>
            <a:off x="12937055" y="7020516"/>
            <a:ext cx="321469" cy="257175"/>
            <a:chOff x="0" y="0"/>
            <a:chExt cx="428625" cy="342900"/>
          </a:xfrm>
        </p:grpSpPr>
        <p:sp>
          <p:nvSpPr>
            <p:cNvPr id="44" name="Freeform 44" descr="preencoded.png"/>
            <p:cNvSpPr/>
            <p:nvPr/>
          </p:nvSpPr>
          <p:spPr>
            <a:xfrm>
              <a:off x="0" y="0"/>
              <a:ext cx="428625" cy="342900"/>
            </a:xfrm>
            <a:custGeom>
              <a:avLst/>
              <a:gdLst/>
              <a:ahLst/>
              <a:cxnLst/>
              <a:rect l="l" t="t" r="r" b="b"/>
              <a:pathLst>
                <a:path w="428625" h="342900">
                  <a:moveTo>
                    <a:pt x="0" y="0"/>
                  </a:moveTo>
                  <a:lnTo>
                    <a:pt x="428625" y="0"/>
                  </a:lnTo>
                  <a:lnTo>
                    <a:pt x="428625" y="342900"/>
                  </a:lnTo>
                  <a:lnTo>
                    <a:pt x="0" y="342900"/>
                  </a:lnTo>
                  <a:lnTo>
                    <a:pt x="0" y="0"/>
                  </a:lnTo>
                  <a:close/>
                </a:path>
              </a:pathLst>
            </a:custGeom>
            <a:blipFill>
              <a:blip r:embed="rId5"/>
              <a:stretch>
                <a:fillRect t="-1388" b="-1388"/>
              </a:stretch>
            </a:blipFill>
          </p:spPr>
          <p:txBody>
            <a:bodyPr/>
            <a:lstStyle/>
            <a:p>
              <a:endParaRPr lang="en-SA"/>
            </a:p>
          </p:txBody>
        </p:sp>
      </p:grpSp>
      <p:grpSp>
        <p:nvGrpSpPr>
          <p:cNvPr id="45" name="Group 45"/>
          <p:cNvGrpSpPr/>
          <p:nvPr/>
        </p:nvGrpSpPr>
        <p:grpSpPr>
          <a:xfrm>
            <a:off x="9207684" y="6668691"/>
            <a:ext cx="3501104" cy="771526"/>
            <a:chOff x="0" y="0"/>
            <a:chExt cx="4668139" cy="1028701"/>
          </a:xfrm>
        </p:grpSpPr>
        <p:sp>
          <p:nvSpPr>
            <p:cNvPr id="46" name="Freeform 46"/>
            <p:cNvSpPr/>
            <p:nvPr/>
          </p:nvSpPr>
          <p:spPr>
            <a:xfrm>
              <a:off x="0" y="0"/>
              <a:ext cx="4668144" cy="1028703"/>
            </a:xfrm>
            <a:custGeom>
              <a:avLst/>
              <a:gdLst/>
              <a:ahLst/>
              <a:cxnLst/>
              <a:rect l="l" t="t" r="r" b="b"/>
              <a:pathLst>
                <a:path w="4668144" h="1028703">
                  <a:moveTo>
                    <a:pt x="0" y="0"/>
                  </a:moveTo>
                  <a:lnTo>
                    <a:pt x="4668144" y="0"/>
                  </a:lnTo>
                  <a:lnTo>
                    <a:pt x="4668144" y="1028703"/>
                  </a:lnTo>
                  <a:lnTo>
                    <a:pt x="0" y="1028703"/>
                  </a:lnTo>
                  <a:close/>
                </a:path>
              </a:pathLst>
            </a:custGeom>
            <a:blipFill>
              <a:blip r:embed="rId4">
                <a:alphaModFix amt="0"/>
              </a:blip>
              <a:stretch>
                <a:fillRect t="-38421" b="-38420"/>
              </a:stretch>
            </a:blipFill>
          </p:spPr>
          <p:txBody>
            <a:bodyPr/>
            <a:lstStyle/>
            <a:p>
              <a:endParaRPr lang="en-SA"/>
            </a:p>
          </p:txBody>
        </p:sp>
        <p:sp>
          <p:nvSpPr>
            <p:cNvPr id="47" name="TextBox 47"/>
            <p:cNvSpPr txBox="1"/>
            <p:nvPr/>
          </p:nvSpPr>
          <p:spPr>
            <a:xfrm>
              <a:off x="0" y="0"/>
              <a:ext cx="4668139" cy="1028701"/>
            </a:xfrm>
            <a:prstGeom prst="rect">
              <a:avLst/>
            </a:prstGeom>
          </p:spPr>
          <p:txBody>
            <a:bodyPr lIns="0" tIns="0" rIns="0" bIns="0" rtlCol="0" anchor="ctr"/>
            <a:lstStyle/>
            <a:p>
              <a:pPr algn="ctr">
                <a:lnSpc>
                  <a:spcPts val="2280"/>
                </a:lnSpc>
              </a:pPr>
              <a:r>
                <a:rPr lang="ar-EG" sz="1900">
                  <a:solidFill>
                    <a:srgbClr val="475569"/>
                  </a:solidFill>
                  <a:latin typeface="Cairo"/>
                  <a:ea typeface="Cairo"/>
                  <a:cs typeface="Cairo"/>
                  <a:sym typeface="Cairo"/>
                  <a:rtl/>
                </a:rPr>
                <a:t>التدريب على البيانات</a:t>
              </a:r>
            </a:p>
          </p:txBody>
        </p:sp>
      </p:grpSp>
      <p:grpSp>
        <p:nvGrpSpPr>
          <p:cNvPr id="48" name="Group 48"/>
          <p:cNvGrpSpPr/>
          <p:nvPr/>
        </p:nvGrpSpPr>
        <p:grpSpPr>
          <a:xfrm>
            <a:off x="2110702" y="3896916"/>
            <a:ext cx="4857750" cy="4000500"/>
            <a:chOff x="0" y="0"/>
            <a:chExt cx="6477000" cy="5334000"/>
          </a:xfrm>
        </p:grpSpPr>
        <p:sp>
          <p:nvSpPr>
            <p:cNvPr id="49" name="Freeform 49"/>
            <p:cNvSpPr/>
            <p:nvPr/>
          </p:nvSpPr>
          <p:spPr>
            <a:xfrm>
              <a:off x="0" y="0"/>
              <a:ext cx="6477000" cy="5334000"/>
            </a:xfrm>
            <a:custGeom>
              <a:avLst/>
              <a:gdLst/>
              <a:ahLst/>
              <a:cxnLst/>
              <a:rect l="l" t="t" r="r" b="b"/>
              <a:pathLst>
                <a:path w="6477000" h="5334000">
                  <a:moveTo>
                    <a:pt x="0" y="0"/>
                  </a:moveTo>
                  <a:lnTo>
                    <a:pt x="6477000" y="0"/>
                  </a:lnTo>
                  <a:lnTo>
                    <a:pt x="6477000" y="5334000"/>
                  </a:lnTo>
                  <a:lnTo>
                    <a:pt x="0" y="5334000"/>
                  </a:lnTo>
                  <a:close/>
                </a:path>
              </a:pathLst>
            </a:custGeom>
            <a:solidFill>
              <a:srgbClr val="FFFFFF"/>
            </a:solidFill>
          </p:spPr>
          <p:txBody>
            <a:bodyPr/>
            <a:lstStyle/>
            <a:p>
              <a:endParaRPr lang="en-SA"/>
            </a:p>
          </p:txBody>
        </p:sp>
      </p:grpSp>
      <p:grpSp>
        <p:nvGrpSpPr>
          <p:cNvPr id="50" name="Group 50"/>
          <p:cNvGrpSpPr/>
          <p:nvPr/>
        </p:nvGrpSpPr>
        <p:grpSpPr>
          <a:xfrm>
            <a:off x="2110702" y="3896916"/>
            <a:ext cx="4857750" cy="85725"/>
            <a:chOff x="0" y="0"/>
            <a:chExt cx="6477000" cy="114300"/>
          </a:xfrm>
        </p:grpSpPr>
        <p:sp>
          <p:nvSpPr>
            <p:cNvPr id="51" name="Freeform 51"/>
            <p:cNvSpPr/>
            <p:nvPr/>
          </p:nvSpPr>
          <p:spPr>
            <a:xfrm>
              <a:off x="0" y="0"/>
              <a:ext cx="6477000" cy="114300"/>
            </a:xfrm>
            <a:custGeom>
              <a:avLst/>
              <a:gdLst/>
              <a:ahLst/>
              <a:cxnLst/>
              <a:rect l="l" t="t" r="r" b="b"/>
              <a:pathLst>
                <a:path w="6477000" h="114300">
                  <a:moveTo>
                    <a:pt x="0" y="0"/>
                  </a:moveTo>
                  <a:lnTo>
                    <a:pt x="6477000" y="0"/>
                  </a:lnTo>
                  <a:lnTo>
                    <a:pt x="6477000" y="114300"/>
                  </a:lnTo>
                  <a:lnTo>
                    <a:pt x="0" y="114300"/>
                  </a:lnTo>
                  <a:close/>
                </a:path>
              </a:pathLst>
            </a:custGeom>
            <a:solidFill>
              <a:srgbClr val="EA580C"/>
            </a:solidFill>
          </p:spPr>
          <p:txBody>
            <a:bodyPr/>
            <a:lstStyle/>
            <a:p>
              <a:endParaRPr lang="en-SA"/>
            </a:p>
          </p:txBody>
        </p:sp>
      </p:grpSp>
      <p:grpSp>
        <p:nvGrpSpPr>
          <p:cNvPr id="52" name="Group 52"/>
          <p:cNvGrpSpPr/>
          <p:nvPr/>
        </p:nvGrpSpPr>
        <p:grpSpPr>
          <a:xfrm>
            <a:off x="6939877" y="3896916"/>
            <a:ext cx="28575" cy="4000500"/>
            <a:chOff x="0" y="0"/>
            <a:chExt cx="38100" cy="5334000"/>
          </a:xfrm>
        </p:grpSpPr>
        <p:sp>
          <p:nvSpPr>
            <p:cNvPr id="53" name="Freeform 53"/>
            <p:cNvSpPr/>
            <p:nvPr/>
          </p:nvSpPr>
          <p:spPr>
            <a:xfrm>
              <a:off x="0" y="0"/>
              <a:ext cx="38100" cy="5334000"/>
            </a:xfrm>
            <a:custGeom>
              <a:avLst/>
              <a:gdLst/>
              <a:ahLst/>
              <a:cxnLst/>
              <a:rect l="l" t="t" r="r" b="b"/>
              <a:pathLst>
                <a:path w="38100" h="5334000">
                  <a:moveTo>
                    <a:pt x="0" y="0"/>
                  </a:moveTo>
                  <a:lnTo>
                    <a:pt x="38100" y="0"/>
                  </a:lnTo>
                  <a:lnTo>
                    <a:pt x="38100" y="5334000"/>
                  </a:lnTo>
                  <a:lnTo>
                    <a:pt x="0" y="5334000"/>
                  </a:lnTo>
                  <a:close/>
                </a:path>
              </a:pathLst>
            </a:custGeom>
            <a:solidFill>
              <a:srgbClr val="EA580C"/>
            </a:solidFill>
          </p:spPr>
          <p:txBody>
            <a:bodyPr/>
            <a:lstStyle/>
            <a:p>
              <a:endParaRPr lang="en-SA"/>
            </a:p>
          </p:txBody>
        </p:sp>
      </p:grpSp>
      <p:grpSp>
        <p:nvGrpSpPr>
          <p:cNvPr id="54" name="Group 54"/>
          <p:cNvGrpSpPr/>
          <p:nvPr/>
        </p:nvGrpSpPr>
        <p:grpSpPr>
          <a:xfrm>
            <a:off x="2110702" y="7868841"/>
            <a:ext cx="4857750" cy="28575"/>
            <a:chOff x="0" y="0"/>
            <a:chExt cx="6477000" cy="38100"/>
          </a:xfrm>
        </p:grpSpPr>
        <p:sp>
          <p:nvSpPr>
            <p:cNvPr id="55" name="Freeform 55"/>
            <p:cNvSpPr/>
            <p:nvPr/>
          </p:nvSpPr>
          <p:spPr>
            <a:xfrm>
              <a:off x="0" y="0"/>
              <a:ext cx="6477000" cy="38100"/>
            </a:xfrm>
            <a:custGeom>
              <a:avLst/>
              <a:gdLst/>
              <a:ahLst/>
              <a:cxnLst/>
              <a:rect l="l" t="t" r="r" b="b"/>
              <a:pathLst>
                <a:path w="6477000" h="38100">
                  <a:moveTo>
                    <a:pt x="0" y="0"/>
                  </a:moveTo>
                  <a:lnTo>
                    <a:pt x="6477000" y="0"/>
                  </a:lnTo>
                  <a:lnTo>
                    <a:pt x="6477000" y="38100"/>
                  </a:lnTo>
                  <a:lnTo>
                    <a:pt x="0" y="38100"/>
                  </a:lnTo>
                  <a:close/>
                </a:path>
              </a:pathLst>
            </a:custGeom>
            <a:solidFill>
              <a:srgbClr val="EA580C"/>
            </a:solidFill>
          </p:spPr>
          <p:txBody>
            <a:bodyPr/>
            <a:lstStyle/>
            <a:p>
              <a:endParaRPr lang="en-SA"/>
            </a:p>
          </p:txBody>
        </p:sp>
      </p:grpSp>
      <p:grpSp>
        <p:nvGrpSpPr>
          <p:cNvPr id="56" name="Group 56"/>
          <p:cNvGrpSpPr/>
          <p:nvPr/>
        </p:nvGrpSpPr>
        <p:grpSpPr>
          <a:xfrm>
            <a:off x="2110702" y="3896916"/>
            <a:ext cx="28575" cy="4000500"/>
            <a:chOff x="0" y="0"/>
            <a:chExt cx="38100" cy="5334000"/>
          </a:xfrm>
        </p:grpSpPr>
        <p:sp>
          <p:nvSpPr>
            <p:cNvPr id="57" name="Freeform 57"/>
            <p:cNvSpPr/>
            <p:nvPr/>
          </p:nvSpPr>
          <p:spPr>
            <a:xfrm>
              <a:off x="0" y="0"/>
              <a:ext cx="38100" cy="5334000"/>
            </a:xfrm>
            <a:custGeom>
              <a:avLst/>
              <a:gdLst/>
              <a:ahLst/>
              <a:cxnLst/>
              <a:rect l="l" t="t" r="r" b="b"/>
              <a:pathLst>
                <a:path w="38100" h="5334000">
                  <a:moveTo>
                    <a:pt x="0" y="0"/>
                  </a:moveTo>
                  <a:lnTo>
                    <a:pt x="38100" y="0"/>
                  </a:lnTo>
                  <a:lnTo>
                    <a:pt x="38100" y="5334000"/>
                  </a:lnTo>
                  <a:lnTo>
                    <a:pt x="0" y="5334000"/>
                  </a:lnTo>
                  <a:close/>
                </a:path>
              </a:pathLst>
            </a:custGeom>
            <a:solidFill>
              <a:srgbClr val="EA580C"/>
            </a:solidFill>
          </p:spPr>
          <p:txBody>
            <a:bodyPr/>
            <a:lstStyle/>
            <a:p>
              <a:endParaRPr lang="en-SA"/>
            </a:p>
          </p:txBody>
        </p:sp>
      </p:grpSp>
      <p:grpSp>
        <p:nvGrpSpPr>
          <p:cNvPr id="58" name="Group 58"/>
          <p:cNvGrpSpPr/>
          <p:nvPr/>
        </p:nvGrpSpPr>
        <p:grpSpPr>
          <a:xfrm>
            <a:off x="4282402" y="4704159"/>
            <a:ext cx="514350" cy="685800"/>
            <a:chOff x="0" y="0"/>
            <a:chExt cx="685800" cy="914400"/>
          </a:xfrm>
        </p:grpSpPr>
        <p:sp>
          <p:nvSpPr>
            <p:cNvPr id="59" name="Freeform 59" descr="preencoded.png"/>
            <p:cNvSpPr/>
            <p:nvPr/>
          </p:nvSpPr>
          <p:spPr>
            <a:xfrm>
              <a:off x="0" y="0"/>
              <a:ext cx="685800" cy="914400"/>
            </a:xfrm>
            <a:custGeom>
              <a:avLst/>
              <a:gdLst/>
              <a:ahLst/>
              <a:cxnLst/>
              <a:rect l="l" t="t" r="r" b="b"/>
              <a:pathLst>
                <a:path w="685800" h="914400">
                  <a:moveTo>
                    <a:pt x="0" y="0"/>
                  </a:moveTo>
                  <a:lnTo>
                    <a:pt x="685800" y="0"/>
                  </a:lnTo>
                  <a:lnTo>
                    <a:pt x="685800" y="914400"/>
                  </a:lnTo>
                  <a:lnTo>
                    <a:pt x="0" y="914400"/>
                  </a:lnTo>
                  <a:lnTo>
                    <a:pt x="0" y="0"/>
                  </a:lnTo>
                  <a:close/>
                </a:path>
              </a:pathLst>
            </a:custGeom>
            <a:blipFill>
              <a:blip r:embed="rId7"/>
              <a:stretch>
                <a:fillRect l="-525" r="-525"/>
              </a:stretch>
            </a:blipFill>
          </p:spPr>
          <p:txBody>
            <a:bodyPr/>
            <a:lstStyle/>
            <a:p>
              <a:endParaRPr lang="en-SA"/>
            </a:p>
          </p:txBody>
        </p:sp>
      </p:grpSp>
      <p:sp>
        <p:nvSpPr>
          <p:cNvPr id="60" name="TextBox 60"/>
          <p:cNvSpPr txBox="1"/>
          <p:nvPr/>
        </p:nvSpPr>
        <p:spPr>
          <a:xfrm>
            <a:off x="2491102" y="5954316"/>
            <a:ext cx="4096941" cy="384721"/>
          </a:xfrm>
          <a:prstGeom prst="rect">
            <a:avLst/>
          </a:prstGeom>
        </p:spPr>
        <p:txBody>
          <a:bodyPr lIns="0" tIns="0" rIns="0" bIns="0" rtlCol="0" anchor="t">
            <a:spAutoFit/>
          </a:bodyPr>
          <a:lstStyle/>
          <a:p>
            <a:pPr algn="r" rtl="1">
              <a:lnSpc>
                <a:spcPts val="2956"/>
              </a:lnSpc>
            </a:pPr>
            <a:r>
              <a:rPr lang="en-US" sz="2200" b="1" dirty="0">
                <a:solidFill>
                  <a:srgbClr val="0F172A"/>
                </a:solidFill>
                <a:latin typeface="Cairo Bold"/>
                <a:ea typeface="Cairo Bold"/>
                <a:cs typeface="Cairo Bold"/>
                <a:sym typeface="Cairo Bold"/>
              </a:rPr>
              <a:t>"</a:t>
            </a:r>
            <a:r>
              <a:rPr lang="ar-EG" sz="2200" b="1" dirty="0">
                <a:solidFill>
                  <a:srgbClr val="0F172A"/>
                </a:solidFill>
                <a:latin typeface="Cairo Bold"/>
                <a:ea typeface="Cairo Bold"/>
                <a:cs typeface="Cairo Bold"/>
                <a:sym typeface="Cairo Bold"/>
                <a:rtl/>
              </a:rPr>
              <a:t>نفس الفكرة.. مادة مختلفة</a:t>
            </a:r>
            <a:r>
              <a:rPr lang="en-US" sz="2200" b="1" dirty="0">
                <a:solidFill>
                  <a:srgbClr val="0F172A"/>
                </a:solidFill>
                <a:latin typeface="Cairo Bold"/>
                <a:ea typeface="Cairo Bold"/>
                <a:cs typeface="Cairo Bold"/>
                <a:sym typeface="Cairo Bold"/>
              </a:rPr>
              <a:t>!"</a:t>
            </a:r>
          </a:p>
        </p:txBody>
      </p:sp>
      <p:sp>
        <p:nvSpPr>
          <p:cNvPr id="61" name="TextBox 61"/>
          <p:cNvSpPr txBox="1"/>
          <p:nvPr/>
        </p:nvSpPr>
        <p:spPr>
          <a:xfrm>
            <a:off x="2453602" y="6546723"/>
            <a:ext cx="4171950" cy="943207"/>
          </a:xfrm>
          <a:prstGeom prst="rect">
            <a:avLst/>
          </a:prstGeom>
        </p:spPr>
        <p:txBody>
          <a:bodyPr lIns="0" tIns="0" rIns="0" bIns="0" rtlCol="0" anchor="t">
            <a:spAutoFit/>
          </a:bodyPr>
          <a:lstStyle/>
          <a:p>
            <a:pPr algn="r" rtl="1">
              <a:lnSpc>
                <a:spcPts val="2457"/>
              </a:lnSpc>
            </a:pPr>
            <a:r>
              <a:rPr lang="ar-EG" sz="1600" dirty="0">
                <a:solidFill>
                  <a:srgbClr val="64748B"/>
                </a:solidFill>
                <a:latin typeface="Cairo"/>
                <a:ea typeface="Cairo"/>
                <a:cs typeface="Cairo"/>
                <a:sym typeface="Cairo"/>
                <a:rtl/>
              </a:rPr>
              <a:t>العلماء لم يخترعوا طريقة تفكير جديدة للحاسوب، بل أخذوا نفس منطق دماغك البشري وطبقوه باستخدام لغة الأرقام والبرمجة</a:t>
            </a:r>
            <a:r>
              <a:rPr lang="en-US" sz="1600" dirty="0">
                <a:solidFill>
                  <a:srgbClr val="64748B"/>
                </a:solidFill>
                <a:latin typeface="Cairo"/>
                <a:ea typeface="Cairo"/>
                <a:cs typeface="Cairo"/>
                <a:sym typeface="Cairo"/>
              </a:rPr>
              <a:t>.</a:t>
            </a:r>
          </a:p>
        </p:txBody>
      </p:sp>
      <p:sp>
        <p:nvSpPr>
          <p:cNvPr id="62" name="TextBox 62"/>
          <p:cNvSpPr txBox="1"/>
          <p:nvPr/>
        </p:nvSpPr>
        <p:spPr>
          <a:xfrm>
            <a:off x="14462522" y="9601200"/>
            <a:ext cx="2796778" cy="333425"/>
          </a:xfrm>
          <a:prstGeom prst="rect">
            <a:avLst/>
          </a:prstGeom>
        </p:spPr>
        <p:txBody>
          <a:bodyPr lIns="0" tIns="0" rIns="0" bIns="0" rtlCol="0" anchor="t">
            <a:spAutoFit/>
          </a:bodyPr>
          <a:lstStyle/>
          <a:p>
            <a:pPr algn="r">
              <a:lnSpc>
                <a:spcPts val="2595"/>
              </a:lnSpc>
            </a:pPr>
            <a:r>
              <a:rPr lang="ar-EG" sz="1800" dirty="0">
                <a:solidFill>
                  <a:srgbClr val="64748B"/>
                </a:solidFill>
                <a:latin typeface="Cairo Light"/>
                <a:ea typeface="Cairo Light"/>
                <a:cs typeface="Cairo Light"/>
                <a:sym typeface="Cairo Light"/>
                <a:rtl/>
              </a:rPr>
              <a:t>اليوم الثالث · مبني على صورتنا</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SA"/>
            </a:p>
          </p:txBody>
        </p:sp>
      </p:grpSp>
      <p:grpSp>
        <p:nvGrpSpPr>
          <p:cNvPr id="4" name="Group 4"/>
          <p:cNvGrpSpPr/>
          <p:nvPr/>
        </p:nvGrpSpPr>
        <p:grpSpPr>
          <a:xfrm>
            <a:off x="13486790" y="4354116"/>
            <a:ext cx="3501057" cy="771525"/>
            <a:chOff x="0" y="0"/>
            <a:chExt cx="4668076" cy="1028700"/>
          </a:xfrm>
        </p:grpSpPr>
        <p:sp>
          <p:nvSpPr>
            <p:cNvPr id="5" name="Freeform 5"/>
            <p:cNvSpPr/>
            <p:nvPr/>
          </p:nvSpPr>
          <p:spPr>
            <a:xfrm>
              <a:off x="0" y="0"/>
              <a:ext cx="4668012" cy="1028700"/>
            </a:xfrm>
            <a:custGeom>
              <a:avLst/>
              <a:gdLst/>
              <a:ahLst/>
              <a:cxnLst/>
              <a:rect l="l" t="t" r="r" b="b"/>
              <a:pathLst>
                <a:path w="4668012" h="1028700">
                  <a:moveTo>
                    <a:pt x="0" y="0"/>
                  </a:moveTo>
                  <a:lnTo>
                    <a:pt x="4668012" y="0"/>
                  </a:lnTo>
                  <a:lnTo>
                    <a:pt x="4668012" y="1028700"/>
                  </a:lnTo>
                  <a:lnTo>
                    <a:pt x="0" y="1028700"/>
                  </a:lnTo>
                  <a:close/>
                </a:path>
              </a:pathLst>
            </a:custGeom>
            <a:solidFill>
              <a:srgbClr val="0284C7"/>
            </a:solidFill>
          </p:spPr>
          <p:txBody>
            <a:bodyPr/>
            <a:lstStyle/>
            <a:p>
              <a:endParaRPr lang="en-SA"/>
            </a:p>
          </p:txBody>
        </p:sp>
      </p:grpSp>
      <p:grpSp>
        <p:nvGrpSpPr>
          <p:cNvPr id="6" name="Group 6"/>
          <p:cNvGrpSpPr/>
          <p:nvPr/>
        </p:nvGrpSpPr>
        <p:grpSpPr>
          <a:xfrm>
            <a:off x="13486790" y="4354116"/>
            <a:ext cx="3501057" cy="771526"/>
            <a:chOff x="0" y="0"/>
            <a:chExt cx="4668076" cy="1028701"/>
          </a:xfrm>
        </p:grpSpPr>
        <p:sp>
          <p:nvSpPr>
            <p:cNvPr id="7" name="Freeform 7"/>
            <p:cNvSpPr/>
            <p:nvPr/>
          </p:nvSpPr>
          <p:spPr>
            <a:xfrm>
              <a:off x="0" y="0"/>
              <a:ext cx="4668069" cy="1028703"/>
            </a:xfrm>
            <a:custGeom>
              <a:avLst/>
              <a:gdLst/>
              <a:ahLst/>
              <a:cxnLst/>
              <a:rect l="l" t="t" r="r" b="b"/>
              <a:pathLst>
                <a:path w="4668069" h="1028703">
                  <a:moveTo>
                    <a:pt x="0" y="0"/>
                  </a:moveTo>
                  <a:lnTo>
                    <a:pt x="4668069" y="0"/>
                  </a:lnTo>
                  <a:lnTo>
                    <a:pt x="4668069" y="1028703"/>
                  </a:lnTo>
                  <a:lnTo>
                    <a:pt x="0" y="1028703"/>
                  </a:lnTo>
                  <a:close/>
                </a:path>
              </a:pathLst>
            </a:custGeom>
            <a:blipFill>
              <a:blip r:embed="rId4">
                <a:alphaModFix amt="0"/>
              </a:blip>
              <a:stretch>
                <a:fillRect t="-38419" b="-38419"/>
              </a:stretch>
            </a:blipFill>
          </p:spPr>
          <p:txBody>
            <a:bodyPr/>
            <a:lstStyle/>
            <a:p>
              <a:endParaRPr lang="en-SA"/>
            </a:p>
          </p:txBody>
        </p:sp>
        <p:sp>
          <p:nvSpPr>
            <p:cNvPr id="8" name="TextBox 8"/>
            <p:cNvSpPr txBox="1"/>
            <p:nvPr/>
          </p:nvSpPr>
          <p:spPr>
            <a:xfrm>
              <a:off x="0" y="0"/>
              <a:ext cx="4668076" cy="1028701"/>
            </a:xfrm>
            <a:prstGeom prst="rect">
              <a:avLst/>
            </a:prstGeom>
          </p:spPr>
          <p:txBody>
            <a:bodyPr lIns="0" tIns="0" rIns="0" bIns="0" rtlCol="0" anchor="ctr"/>
            <a:lstStyle/>
            <a:p>
              <a:pPr algn="ctr">
                <a:lnSpc>
                  <a:spcPts val="2400"/>
                </a:lnSpc>
              </a:pPr>
              <a:r>
                <a:rPr lang="en-US" sz="2000" b="1">
                  <a:solidFill>
                    <a:srgbClr val="FFFFFF"/>
                  </a:solidFill>
                  <a:latin typeface="Cairo Bold"/>
                  <a:ea typeface="Cairo Bold"/>
                  <a:cs typeface="Cairo Bold"/>
                  <a:sym typeface="Cairo Bold"/>
                </a:rPr>
                <a:t>🧠 </a:t>
              </a:r>
              <a:r>
                <a:rPr lang="ar-EG" sz="2000" b="1">
                  <a:solidFill>
                    <a:srgbClr val="FFFFFF"/>
                  </a:solidFill>
                  <a:latin typeface="Cairo Bold"/>
                  <a:ea typeface="Cairo Bold"/>
                  <a:cs typeface="Cairo Bold"/>
                  <a:sym typeface="Cairo Bold"/>
                  <a:rtl/>
                </a:rPr>
                <a:t>الدماغ البشري</a:t>
              </a:r>
            </a:p>
          </p:txBody>
        </p:sp>
      </p:grpSp>
      <p:grpSp>
        <p:nvGrpSpPr>
          <p:cNvPr id="9" name="Group 9"/>
          <p:cNvGrpSpPr/>
          <p:nvPr/>
        </p:nvGrpSpPr>
        <p:grpSpPr>
          <a:xfrm>
            <a:off x="12708788" y="4354116"/>
            <a:ext cx="778002" cy="771525"/>
            <a:chOff x="0" y="0"/>
            <a:chExt cx="1037336" cy="1028700"/>
          </a:xfrm>
        </p:grpSpPr>
        <p:sp>
          <p:nvSpPr>
            <p:cNvPr id="10" name="Freeform 10"/>
            <p:cNvSpPr/>
            <p:nvPr/>
          </p:nvSpPr>
          <p:spPr>
            <a:xfrm>
              <a:off x="0" y="0"/>
              <a:ext cx="1037336" cy="1028700"/>
            </a:xfrm>
            <a:custGeom>
              <a:avLst/>
              <a:gdLst/>
              <a:ahLst/>
              <a:cxnLst/>
              <a:rect l="l" t="t" r="r" b="b"/>
              <a:pathLst>
                <a:path w="1037336" h="1028700">
                  <a:moveTo>
                    <a:pt x="0" y="0"/>
                  </a:moveTo>
                  <a:lnTo>
                    <a:pt x="1037336" y="0"/>
                  </a:lnTo>
                  <a:lnTo>
                    <a:pt x="1037336" y="1028700"/>
                  </a:lnTo>
                  <a:lnTo>
                    <a:pt x="0" y="1028700"/>
                  </a:lnTo>
                  <a:close/>
                </a:path>
              </a:pathLst>
            </a:custGeom>
            <a:solidFill>
              <a:srgbClr val="0284C7"/>
            </a:solidFill>
          </p:spPr>
          <p:txBody>
            <a:bodyPr/>
            <a:lstStyle/>
            <a:p>
              <a:endParaRPr lang="en-SA"/>
            </a:p>
          </p:txBody>
        </p:sp>
      </p:grpSp>
      <p:grpSp>
        <p:nvGrpSpPr>
          <p:cNvPr id="11" name="Group 11"/>
          <p:cNvGrpSpPr/>
          <p:nvPr/>
        </p:nvGrpSpPr>
        <p:grpSpPr>
          <a:xfrm>
            <a:off x="12708788" y="4354116"/>
            <a:ext cx="778002" cy="771525"/>
            <a:chOff x="0" y="0"/>
            <a:chExt cx="1037336" cy="1028700"/>
          </a:xfrm>
        </p:grpSpPr>
        <p:sp>
          <p:nvSpPr>
            <p:cNvPr id="12" name="Freeform 12"/>
            <p:cNvSpPr/>
            <p:nvPr/>
          </p:nvSpPr>
          <p:spPr>
            <a:xfrm>
              <a:off x="0" y="0"/>
              <a:ext cx="1037333" cy="1028701"/>
            </a:xfrm>
            <a:custGeom>
              <a:avLst/>
              <a:gdLst/>
              <a:ahLst/>
              <a:cxnLst/>
              <a:rect l="l" t="t" r="r" b="b"/>
              <a:pathLst>
                <a:path w="1037333" h="1028701">
                  <a:moveTo>
                    <a:pt x="0" y="0"/>
                  </a:moveTo>
                  <a:lnTo>
                    <a:pt x="1037333" y="0"/>
                  </a:lnTo>
                  <a:lnTo>
                    <a:pt x="1037333" y="1028701"/>
                  </a:lnTo>
                  <a:lnTo>
                    <a:pt x="0" y="1028701"/>
                  </a:lnTo>
                  <a:close/>
                </a:path>
              </a:pathLst>
            </a:custGeom>
            <a:blipFill>
              <a:blip r:embed="rId4">
                <a:alphaModFix amt="0"/>
              </a:blip>
              <a:stretch>
                <a:fillRect l="-77235" r="-77235"/>
              </a:stretch>
            </a:blipFill>
          </p:spPr>
          <p:txBody>
            <a:bodyPr/>
            <a:lstStyle/>
            <a:p>
              <a:endParaRPr lang="en-SA"/>
            </a:p>
          </p:txBody>
        </p:sp>
        <p:sp>
          <p:nvSpPr>
            <p:cNvPr id="13" name="TextBox 13"/>
            <p:cNvSpPr txBox="1"/>
            <p:nvPr/>
          </p:nvSpPr>
          <p:spPr>
            <a:xfrm>
              <a:off x="0" y="0"/>
              <a:ext cx="1037336" cy="1028700"/>
            </a:xfrm>
            <a:prstGeom prst="rect">
              <a:avLst/>
            </a:prstGeom>
          </p:spPr>
          <p:txBody>
            <a:bodyPr lIns="0" tIns="0" rIns="0" bIns="0" rtlCol="0" anchor="ctr"/>
            <a:lstStyle/>
            <a:p>
              <a:pPr algn="ctr">
                <a:lnSpc>
                  <a:spcPts val="2400"/>
                </a:lnSpc>
              </a:pPr>
              <a:r>
                <a:rPr lang="en-US" sz="2000" b="1">
                  <a:solidFill>
                    <a:srgbClr val="FFFFFF"/>
                  </a:solidFill>
                  <a:latin typeface="Cairo Bold"/>
                  <a:ea typeface="Cairo Bold"/>
                  <a:cs typeface="Cairo Bold"/>
                  <a:sym typeface="Cairo Bold"/>
                </a:rPr>
                <a:t>←</a:t>
              </a:r>
            </a:p>
          </p:txBody>
        </p:sp>
      </p:grpSp>
      <p:grpSp>
        <p:nvGrpSpPr>
          <p:cNvPr id="14" name="Group 14"/>
          <p:cNvGrpSpPr/>
          <p:nvPr/>
        </p:nvGrpSpPr>
        <p:grpSpPr>
          <a:xfrm>
            <a:off x="9207684" y="4354116"/>
            <a:ext cx="3501104" cy="771525"/>
            <a:chOff x="0" y="0"/>
            <a:chExt cx="4668139" cy="1028700"/>
          </a:xfrm>
        </p:grpSpPr>
        <p:sp>
          <p:nvSpPr>
            <p:cNvPr id="15" name="Freeform 15"/>
            <p:cNvSpPr/>
            <p:nvPr/>
          </p:nvSpPr>
          <p:spPr>
            <a:xfrm>
              <a:off x="0" y="0"/>
              <a:ext cx="4668139" cy="1028700"/>
            </a:xfrm>
            <a:custGeom>
              <a:avLst/>
              <a:gdLst/>
              <a:ahLst/>
              <a:cxnLst/>
              <a:rect l="l" t="t" r="r" b="b"/>
              <a:pathLst>
                <a:path w="4668139" h="1028700">
                  <a:moveTo>
                    <a:pt x="0" y="0"/>
                  </a:moveTo>
                  <a:lnTo>
                    <a:pt x="4668139" y="0"/>
                  </a:lnTo>
                  <a:lnTo>
                    <a:pt x="4668139" y="1028700"/>
                  </a:lnTo>
                  <a:lnTo>
                    <a:pt x="0" y="1028700"/>
                  </a:lnTo>
                  <a:close/>
                </a:path>
              </a:pathLst>
            </a:custGeom>
            <a:solidFill>
              <a:srgbClr val="EA580C"/>
            </a:solidFill>
          </p:spPr>
          <p:txBody>
            <a:bodyPr/>
            <a:lstStyle/>
            <a:p>
              <a:endParaRPr lang="en-SA"/>
            </a:p>
          </p:txBody>
        </p:sp>
      </p:grpSp>
      <p:grpSp>
        <p:nvGrpSpPr>
          <p:cNvPr id="16" name="Group 16"/>
          <p:cNvGrpSpPr/>
          <p:nvPr/>
        </p:nvGrpSpPr>
        <p:grpSpPr>
          <a:xfrm>
            <a:off x="9207684" y="4354115"/>
            <a:ext cx="3501104" cy="771526"/>
            <a:chOff x="0" y="0"/>
            <a:chExt cx="4668139" cy="1028701"/>
          </a:xfrm>
        </p:grpSpPr>
        <p:sp>
          <p:nvSpPr>
            <p:cNvPr id="17" name="Freeform 17"/>
            <p:cNvSpPr/>
            <p:nvPr/>
          </p:nvSpPr>
          <p:spPr>
            <a:xfrm>
              <a:off x="0" y="0"/>
              <a:ext cx="4668144" cy="1028703"/>
            </a:xfrm>
            <a:custGeom>
              <a:avLst/>
              <a:gdLst/>
              <a:ahLst/>
              <a:cxnLst/>
              <a:rect l="l" t="t" r="r" b="b"/>
              <a:pathLst>
                <a:path w="4668144" h="1028703">
                  <a:moveTo>
                    <a:pt x="0" y="0"/>
                  </a:moveTo>
                  <a:lnTo>
                    <a:pt x="4668144" y="0"/>
                  </a:lnTo>
                  <a:lnTo>
                    <a:pt x="4668144" y="1028703"/>
                  </a:lnTo>
                  <a:lnTo>
                    <a:pt x="0" y="1028703"/>
                  </a:lnTo>
                  <a:close/>
                </a:path>
              </a:pathLst>
            </a:custGeom>
            <a:blipFill>
              <a:blip r:embed="rId4">
                <a:alphaModFix amt="0"/>
              </a:blip>
              <a:stretch>
                <a:fillRect t="-38421" b="-38420"/>
              </a:stretch>
            </a:blipFill>
          </p:spPr>
          <p:txBody>
            <a:bodyPr/>
            <a:lstStyle/>
            <a:p>
              <a:endParaRPr lang="en-SA"/>
            </a:p>
          </p:txBody>
        </p:sp>
        <p:sp>
          <p:nvSpPr>
            <p:cNvPr id="18" name="TextBox 18"/>
            <p:cNvSpPr txBox="1"/>
            <p:nvPr/>
          </p:nvSpPr>
          <p:spPr>
            <a:xfrm>
              <a:off x="0" y="0"/>
              <a:ext cx="4668139" cy="1028701"/>
            </a:xfrm>
            <a:prstGeom prst="rect">
              <a:avLst/>
            </a:prstGeom>
          </p:spPr>
          <p:txBody>
            <a:bodyPr lIns="0" tIns="0" rIns="0" bIns="0" rtlCol="0" anchor="ctr"/>
            <a:lstStyle/>
            <a:p>
              <a:pPr algn="ctr">
                <a:lnSpc>
                  <a:spcPts val="2400"/>
                </a:lnSpc>
              </a:pPr>
              <a:r>
                <a:rPr lang="en-US" sz="2000" b="1">
                  <a:solidFill>
                    <a:srgbClr val="FFFFFF"/>
                  </a:solidFill>
                  <a:latin typeface="Cairo Bold"/>
                  <a:ea typeface="Cairo Bold"/>
                  <a:cs typeface="Cairo Bold"/>
                  <a:sym typeface="Cairo Bold"/>
                </a:rPr>
                <a:t>🤖 </a:t>
              </a:r>
              <a:r>
                <a:rPr lang="ar-EG" sz="2000" b="1">
                  <a:solidFill>
                    <a:srgbClr val="FFFFFF"/>
                  </a:solidFill>
                  <a:latin typeface="Cairo Bold"/>
                  <a:ea typeface="Cairo Bold"/>
                  <a:cs typeface="Cairo Bold"/>
                  <a:sym typeface="Cairo Bold"/>
                  <a:rtl/>
                </a:rPr>
                <a:t>الشبكة العصبية</a:t>
              </a:r>
            </a:p>
          </p:txBody>
        </p:sp>
      </p:grpSp>
      <p:grpSp>
        <p:nvGrpSpPr>
          <p:cNvPr id="19" name="Group 19"/>
          <p:cNvGrpSpPr/>
          <p:nvPr/>
        </p:nvGrpSpPr>
        <p:grpSpPr>
          <a:xfrm>
            <a:off x="13229915" y="5125641"/>
            <a:ext cx="3501057" cy="771526"/>
            <a:chOff x="0" y="0"/>
            <a:chExt cx="4668076" cy="1028701"/>
          </a:xfrm>
        </p:grpSpPr>
        <p:sp>
          <p:nvSpPr>
            <p:cNvPr id="20" name="Freeform 20"/>
            <p:cNvSpPr/>
            <p:nvPr/>
          </p:nvSpPr>
          <p:spPr>
            <a:xfrm>
              <a:off x="0" y="0"/>
              <a:ext cx="4668069" cy="1028703"/>
            </a:xfrm>
            <a:custGeom>
              <a:avLst/>
              <a:gdLst/>
              <a:ahLst/>
              <a:cxnLst/>
              <a:rect l="l" t="t" r="r" b="b"/>
              <a:pathLst>
                <a:path w="4668069" h="1028703">
                  <a:moveTo>
                    <a:pt x="0" y="0"/>
                  </a:moveTo>
                  <a:lnTo>
                    <a:pt x="4668069" y="0"/>
                  </a:lnTo>
                  <a:lnTo>
                    <a:pt x="4668069" y="1028703"/>
                  </a:lnTo>
                  <a:lnTo>
                    <a:pt x="0" y="1028703"/>
                  </a:lnTo>
                  <a:close/>
                </a:path>
              </a:pathLst>
            </a:custGeom>
            <a:blipFill>
              <a:blip r:embed="rId4">
                <a:alphaModFix amt="0"/>
              </a:blip>
              <a:stretch>
                <a:fillRect t="-38419" b="-38419"/>
              </a:stretch>
            </a:blipFill>
          </p:spPr>
          <p:txBody>
            <a:bodyPr/>
            <a:lstStyle/>
            <a:p>
              <a:endParaRPr lang="en-SA"/>
            </a:p>
          </p:txBody>
        </p:sp>
        <p:sp>
          <p:nvSpPr>
            <p:cNvPr id="21" name="TextBox 21"/>
            <p:cNvSpPr txBox="1"/>
            <p:nvPr/>
          </p:nvSpPr>
          <p:spPr>
            <a:xfrm>
              <a:off x="0" y="0"/>
              <a:ext cx="4668076" cy="1028701"/>
            </a:xfrm>
            <a:prstGeom prst="rect">
              <a:avLst/>
            </a:prstGeom>
          </p:spPr>
          <p:txBody>
            <a:bodyPr lIns="0" tIns="0" rIns="0" bIns="0" rtlCol="0" anchor="ctr"/>
            <a:lstStyle/>
            <a:p>
              <a:pPr algn="ctr">
                <a:lnSpc>
                  <a:spcPts val="2280"/>
                </a:lnSpc>
              </a:pPr>
              <a:r>
                <a:rPr lang="en-US" sz="1900">
                  <a:solidFill>
                    <a:srgbClr val="475569"/>
                  </a:solidFill>
                  <a:latin typeface="Cairo"/>
                  <a:ea typeface="Cairo"/>
                  <a:cs typeface="Cairo"/>
                  <a:sym typeface="Cairo"/>
                </a:rPr>
                <a:t>(Neurons) </a:t>
              </a:r>
              <a:r>
                <a:rPr lang="ar-EG" sz="1900">
                  <a:solidFill>
                    <a:srgbClr val="475569"/>
                  </a:solidFill>
                  <a:latin typeface="Cairo"/>
                  <a:ea typeface="Cairo"/>
                  <a:cs typeface="Cairo"/>
                  <a:sym typeface="Cairo"/>
                  <a:rtl/>
                </a:rPr>
                <a:t>خلايا عصبية</a:t>
              </a:r>
              <a:r>
                <a:rPr lang="en-US" sz="1900">
                  <a:solidFill>
                    <a:srgbClr val="475569"/>
                  </a:solidFill>
                  <a:latin typeface="Cairo"/>
                  <a:ea typeface="Cairo"/>
                  <a:cs typeface="Cairo"/>
                  <a:sym typeface="Cairo"/>
                </a:rPr>
                <a:t> </a:t>
              </a:r>
            </a:p>
          </p:txBody>
        </p:sp>
      </p:grpSp>
      <p:grpSp>
        <p:nvGrpSpPr>
          <p:cNvPr id="22" name="Group 22"/>
          <p:cNvGrpSpPr/>
          <p:nvPr/>
        </p:nvGrpSpPr>
        <p:grpSpPr>
          <a:xfrm>
            <a:off x="12937055" y="5477466"/>
            <a:ext cx="321469" cy="257175"/>
            <a:chOff x="0" y="0"/>
            <a:chExt cx="428625" cy="342900"/>
          </a:xfrm>
        </p:grpSpPr>
        <p:sp>
          <p:nvSpPr>
            <p:cNvPr id="23" name="Freeform 23" descr="preencoded.png"/>
            <p:cNvSpPr/>
            <p:nvPr/>
          </p:nvSpPr>
          <p:spPr>
            <a:xfrm>
              <a:off x="0" y="0"/>
              <a:ext cx="428625" cy="342900"/>
            </a:xfrm>
            <a:custGeom>
              <a:avLst/>
              <a:gdLst/>
              <a:ahLst/>
              <a:cxnLst/>
              <a:rect l="l" t="t" r="r" b="b"/>
              <a:pathLst>
                <a:path w="428625" h="342900">
                  <a:moveTo>
                    <a:pt x="0" y="0"/>
                  </a:moveTo>
                  <a:lnTo>
                    <a:pt x="428625" y="0"/>
                  </a:lnTo>
                  <a:lnTo>
                    <a:pt x="428625" y="342900"/>
                  </a:lnTo>
                  <a:lnTo>
                    <a:pt x="0" y="342900"/>
                  </a:lnTo>
                  <a:lnTo>
                    <a:pt x="0" y="0"/>
                  </a:lnTo>
                  <a:close/>
                </a:path>
              </a:pathLst>
            </a:custGeom>
            <a:blipFill>
              <a:blip r:embed="rId5"/>
              <a:stretch>
                <a:fillRect t="-1388" b="-1388"/>
              </a:stretch>
            </a:blipFill>
          </p:spPr>
          <p:txBody>
            <a:bodyPr/>
            <a:lstStyle/>
            <a:p>
              <a:endParaRPr lang="en-SA"/>
            </a:p>
          </p:txBody>
        </p:sp>
      </p:grpSp>
      <p:grpSp>
        <p:nvGrpSpPr>
          <p:cNvPr id="24" name="Group 24"/>
          <p:cNvGrpSpPr/>
          <p:nvPr/>
        </p:nvGrpSpPr>
        <p:grpSpPr>
          <a:xfrm>
            <a:off x="9207684" y="5125641"/>
            <a:ext cx="3501104" cy="771526"/>
            <a:chOff x="0" y="0"/>
            <a:chExt cx="4668139" cy="1028701"/>
          </a:xfrm>
        </p:grpSpPr>
        <p:sp>
          <p:nvSpPr>
            <p:cNvPr id="25" name="Freeform 25"/>
            <p:cNvSpPr/>
            <p:nvPr/>
          </p:nvSpPr>
          <p:spPr>
            <a:xfrm>
              <a:off x="0" y="0"/>
              <a:ext cx="4668144" cy="1028703"/>
            </a:xfrm>
            <a:custGeom>
              <a:avLst/>
              <a:gdLst/>
              <a:ahLst/>
              <a:cxnLst/>
              <a:rect l="l" t="t" r="r" b="b"/>
              <a:pathLst>
                <a:path w="4668144" h="1028703">
                  <a:moveTo>
                    <a:pt x="0" y="0"/>
                  </a:moveTo>
                  <a:lnTo>
                    <a:pt x="4668144" y="0"/>
                  </a:lnTo>
                  <a:lnTo>
                    <a:pt x="4668144" y="1028703"/>
                  </a:lnTo>
                  <a:lnTo>
                    <a:pt x="0" y="1028703"/>
                  </a:lnTo>
                  <a:close/>
                </a:path>
              </a:pathLst>
            </a:custGeom>
            <a:blipFill>
              <a:blip r:embed="rId4">
                <a:alphaModFix amt="0"/>
              </a:blip>
              <a:stretch>
                <a:fillRect t="-38421" b="-38420"/>
              </a:stretch>
            </a:blipFill>
          </p:spPr>
          <p:txBody>
            <a:bodyPr/>
            <a:lstStyle/>
            <a:p>
              <a:endParaRPr lang="en-SA"/>
            </a:p>
          </p:txBody>
        </p:sp>
        <p:sp>
          <p:nvSpPr>
            <p:cNvPr id="26" name="TextBox 26"/>
            <p:cNvSpPr txBox="1"/>
            <p:nvPr/>
          </p:nvSpPr>
          <p:spPr>
            <a:xfrm>
              <a:off x="0" y="0"/>
              <a:ext cx="4668139" cy="1028701"/>
            </a:xfrm>
            <a:prstGeom prst="rect">
              <a:avLst/>
            </a:prstGeom>
          </p:spPr>
          <p:txBody>
            <a:bodyPr lIns="0" tIns="0" rIns="0" bIns="0" rtlCol="0" anchor="ctr"/>
            <a:lstStyle/>
            <a:p>
              <a:pPr algn="ctr">
                <a:lnSpc>
                  <a:spcPts val="2280"/>
                </a:lnSpc>
              </a:pPr>
              <a:r>
                <a:rPr lang="en-US" sz="1900">
                  <a:solidFill>
                    <a:srgbClr val="475569"/>
                  </a:solidFill>
                  <a:latin typeface="Cairo"/>
                  <a:ea typeface="Cairo"/>
                  <a:cs typeface="Cairo"/>
                  <a:sym typeface="Cairo"/>
                </a:rPr>
                <a:t> (Nodes)</a:t>
              </a:r>
              <a:r>
                <a:rPr lang="ar-EG" sz="1900">
                  <a:solidFill>
                    <a:srgbClr val="475569"/>
                  </a:solidFill>
                  <a:latin typeface="Cairo"/>
                  <a:ea typeface="Cairo"/>
                  <a:cs typeface="Cairo"/>
                  <a:sym typeface="Cairo"/>
                  <a:rtl/>
                </a:rPr>
                <a:t>عقد اصطناعية</a:t>
              </a:r>
              <a:r>
                <a:rPr lang="en-US" sz="1900">
                  <a:solidFill>
                    <a:srgbClr val="475569"/>
                  </a:solidFill>
                  <a:latin typeface="Cairo"/>
                  <a:ea typeface="Cairo"/>
                  <a:cs typeface="Cairo"/>
                  <a:sym typeface="Cairo"/>
                </a:rPr>
                <a:t> </a:t>
              </a:r>
            </a:p>
          </p:txBody>
        </p:sp>
      </p:grpSp>
      <p:grpSp>
        <p:nvGrpSpPr>
          <p:cNvPr id="27" name="Group 27"/>
          <p:cNvGrpSpPr/>
          <p:nvPr/>
        </p:nvGrpSpPr>
        <p:grpSpPr>
          <a:xfrm>
            <a:off x="9207684" y="5897166"/>
            <a:ext cx="7780153" cy="771525"/>
            <a:chOff x="0" y="0"/>
            <a:chExt cx="10373538" cy="1028700"/>
          </a:xfrm>
        </p:grpSpPr>
        <p:sp>
          <p:nvSpPr>
            <p:cNvPr id="28" name="Freeform 28"/>
            <p:cNvSpPr/>
            <p:nvPr/>
          </p:nvSpPr>
          <p:spPr>
            <a:xfrm>
              <a:off x="0" y="0"/>
              <a:ext cx="10373487" cy="1028700"/>
            </a:xfrm>
            <a:custGeom>
              <a:avLst/>
              <a:gdLst/>
              <a:ahLst/>
              <a:cxnLst/>
              <a:rect l="l" t="t" r="r" b="b"/>
              <a:pathLst>
                <a:path w="10373487" h="1028700">
                  <a:moveTo>
                    <a:pt x="0" y="0"/>
                  </a:moveTo>
                  <a:lnTo>
                    <a:pt x="10373487" y="0"/>
                  </a:lnTo>
                  <a:lnTo>
                    <a:pt x="10373487" y="1028700"/>
                  </a:lnTo>
                  <a:lnTo>
                    <a:pt x="0" y="1028700"/>
                  </a:lnTo>
                  <a:close/>
                </a:path>
              </a:pathLst>
            </a:custGeom>
            <a:solidFill>
              <a:srgbClr val="F1F5F9"/>
            </a:solidFill>
          </p:spPr>
          <p:txBody>
            <a:bodyPr/>
            <a:lstStyle/>
            <a:p>
              <a:endParaRPr lang="en-SA"/>
            </a:p>
          </p:txBody>
        </p:sp>
      </p:grpSp>
      <p:grpSp>
        <p:nvGrpSpPr>
          <p:cNvPr id="29" name="Group 29"/>
          <p:cNvGrpSpPr/>
          <p:nvPr/>
        </p:nvGrpSpPr>
        <p:grpSpPr>
          <a:xfrm>
            <a:off x="13486781" y="5897166"/>
            <a:ext cx="3501057" cy="771526"/>
            <a:chOff x="0" y="0"/>
            <a:chExt cx="4668076" cy="1028701"/>
          </a:xfrm>
        </p:grpSpPr>
        <p:sp>
          <p:nvSpPr>
            <p:cNvPr id="30" name="Freeform 30"/>
            <p:cNvSpPr/>
            <p:nvPr/>
          </p:nvSpPr>
          <p:spPr>
            <a:xfrm>
              <a:off x="0" y="0"/>
              <a:ext cx="4668069" cy="1028703"/>
            </a:xfrm>
            <a:custGeom>
              <a:avLst/>
              <a:gdLst/>
              <a:ahLst/>
              <a:cxnLst/>
              <a:rect l="l" t="t" r="r" b="b"/>
              <a:pathLst>
                <a:path w="4668069" h="1028703">
                  <a:moveTo>
                    <a:pt x="0" y="0"/>
                  </a:moveTo>
                  <a:lnTo>
                    <a:pt x="4668069" y="0"/>
                  </a:lnTo>
                  <a:lnTo>
                    <a:pt x="4668069" y="1028703"/>
                  </a:lnTo>
                  <a:lnTo>
                    <a:pt x="0" y="1028703"/>
                  </a:lnTo>
                  <a:close/>
                </a:path>
              </a:pathLst>
            </a:custGeom>
            <a:blipFill>
              <a:blip r:embed="rId4">
                <a:alphaModFix amt="0"/>
              </a:blip>
              <a:stretch>
                <a:fillRect t="-38419" b="-38419"/>
              </a:stretch>
            </a:blipFill>
          </p:spPr>
          <p:txBody>
            <a:bodyPr/>
            <a:lstStyle/>
            <a:p>
              <a:endParaRPr lang="en-SA"/>
            </a:p>
          </p:txBody>
        </p:sp>
        <p:sp>
          <p:nvSpPr>
            <p:cNvPr id="31" name="TextBox 31"/>
            <p:cNvSpPr txBox="1"/>
            <p:nvPr/>
          </p:nvSpPr>
          <p:spPr>
            <a:xfrm>
              <a:off x="0" y="0"/>
              <a:ext cx="4668076" cy="1028701"/>
            </a:xfrm>
            <a:prstGeom prst="rect">
              <a:avLst/>
            </a:prstGeom>
          </p:spPr>
          <p:txBody>
            <a:bodyPr lIns="0" tIns="0" rIns="0" bIns="0" rtlCol="0" anchor="ctr"/>
            <a:lstStyle/>
            <a:p>
              <a:pPr algn="ctr">
                <a:lnSpc>
                  <a:spcPts val="2280"/>
                </a:lnSpc>
              </a:pPr>
              <a:r>
                <a:rPr lang="en-US" sz="1900">
                  <a:solidFill>
                    <a:srgbClr val="475569"/>
                  </a:solidFill>
                  <a:latin typeface="Cairo"/>
                  <a:ea typeface="Cairo"/>
                  <a:cs typeface="Cairo"/>
                  <a:sym typeface="Cairo"/>
                </a:rPr>
                <a:t>  (Synapses) </a:t>
              </a:r>
              <a:r>
                <a:rPr lang="ar-EG" sz="1900">
                  <a:solidFill>
                    <a:srgbClr val="475569"/>
                  </a:solidFill>
                  <a:latin typeface="Cairo"/>
                  <a:ea typeface="Cairo"/>
                  <a:cs typeface="Cairo"/>
                  <a:sym typeface="Cairo"/>
                  <a:rtl/>
                </a:rPr>
                <a:t>وصلات عصبية</a:t>
              </a:r>
            </a:p>
          </p:txBody>
        </p:sp>
      </p:grpSp>
      <p:grpSp>
        <p:nvGrpSpPr>
          <p:cNvPr id="32" name="Group 32"/>
          <p:cNvGrpSpPr/>
          <p:nvPr/>
        </p:nvGrpSpPr>
        <p:grpSpPr>
          <a:xfrm>
            <a:off x="12937055" y="6252572"/>
            <a:ext cx="321469" cy="257175"/>
            <a:chOff x="0" y="0"/>
            <a:chExt cx="428625" cy="342900"/>
          </a:xfrm>
        </p:grpSpPr>
        <p:sp>
          <p:nvSpPr>
            <p:cNvPr id="33" name="Freeform 33" descr="preencoded.png"/>
            <p:cNvSpPr/>
            <p:nvPr/>
          </p:nvSpPr>
          <p:spPr>
            <a:xfrm>
              <a:off x="0" y="0"/>
              <a:ext cx="428625" cy="342900"/>
            </a:xfrm>
            <a:custGeom>
              <a:avLst/>
              <a:gdLst/>
              <a:ahLst/>
              <a:cxnLst/>
              <a:rect l="l" t="t" r="r" b="b"/>
              <a:pathLst>
                <a:path w="428625" h="342900">
                  <a:moveTo>
                    <a:pt x="0" y="0"/>
                  </a:moveTo>
                  <a:lnTo>
                    <a:pt x="428625" y="0"/>
                  </a:lnTo>
                  <a:lnTo>
                    <a:pt x="428625" y="342900"/>
                  </a:lnTo>
                  <a:lnTo>
                    <a:pt x="0" y="342900"/>
                  </a:lnTo>
                  <a:lnTo>
                    <a:pt x="0" y="0"/>
                  </a:lnTo>
                  <a:close/>
                </a:path>
              </a:pathLst>
            </a:custGeom>
            <a:blipFill>
              <a:blip r:embed="rId6"/>
              <a:stretch>
                <a:fillRect t="-1388" b="-1388"/>
              </a:stretch>
            </a:blipFill>
          </p:spPr>
          <p:txBody>
            <a:bodyPr/>
            <a:lstStyle/>
            <a:p>
              <a:endParaRPr lang="en-SA"/>
            </a:p>
          </p:txBody>
        </p:sp>
      </p:grpSp>
      <p:grpSp>
        <p:nvGrpSpPr>
          <p:cNvPr id="34" name="Group 34"/>
          <p:cNvGrpSpPr/>
          <p:nvPr/>
        </p:nvGrpSpPr>
        <p:grpSpPr>
          <a:xfrm>
            <a:off x="9207684" y="5897166"/>
            <a:ext cx="3501104" cy="771526"/>
            <a:chOff x="0" y="0"/>
            <a:chExt cx="4668139" cy="1028701"/>
          </a:xfrm>
        </p:grpSpPr>
        <p:sp>
          <p:nvSpPr>
            <p:cNvPr id="35" name="Freeform 35"/>
            <p:cNvSpPr/>
            <p:nvPr/>
          </p:nvSpPr>
          <p:spPr>
            <a:xfrm>
              <a:off x="0" y="0"/>
              <a:ext cx="4668144" cy="1028703"/>
            </a:xfrm>
            <a:custGeom>
              <a:avLst/>
              <a:gdLst/>
              <a:ahLst/>
              <a:cxnLst/>
              <a:rect l="l" t="t" r="r" b="b"/>
              <a:pathLst>
                <a:path w="4668144" h="1028703">
                  <a:moveTo>
                    <a:pt x="0" y="0"/>
                  </a:moveTo>
                  <a:lnTo>
                    <a:pt x="4668144" y="0"/>
                  </a:lnTo>
                  <a:lnTo>
                    <a:pt x="4668144" y="1028703"/>
                  </a:lnTo>
                  <a:lnTo>
                    <a:pt x="0" y="1028703"/>
                  </a:lnTo>
                  <a:close/>
                </a:path>
              </a:pathLst>
            </a:custGeom>
            <a:blipFill>
              <a:blip r:embed="rId4">
                <a:alphaModFix amt="0"/>
              </a:blip>
              <a:stretch>
                <a:fillRect t="-38421" b="-38420"/>
              </a:stretch>
            </a:blipFill>
          </p:spPr>
          <p:txBody>
            <a:bodyPr/>
            <a:lstStyle/>
            <a:p>
              <a:endParaRPr lang="en-SA"/>
            </a:p>
          </p:txBody>
        </p:sp>
        <p:sp>
          <p:nvSpPr>
            <p:cNvPr id="36" name="TextBox 36"/>
            <p:cNvSpPr txBox="1"/>
            <p:nvPr/>
          </p:nvSpPr>
          <p:spPr>
            <a:xfrm>
              <a:off x="0" y="0"/>
              <a:ext cx="4668139" cy="1028701"/>
            </a:xfrm>
            <a:prstGeom prst="rect">
              <a:avLst/>
            </a:prstGeom>
          </p:spPr>
          <p:txBody>
            <a:bodyPr lIns="0" tIns="0" rIns="0" bIns="0" rtlCol="0" anchor="ctr"/>
            <a:lstStyle/>
            <a:p>
              <a:pPr algn="ctr">
                <a:lnSpc>
                  <a:spcPts val="2280"/>
                </a:lnSpc>
              </a:pPr>
              <a:r>
                <a:rPr lang="en-US" sz="1900">
                  <a:solidFill>
                    <a:srgbClr val="475569"/>
                  </a:solidFill>
                  <a:latin typeface="Cairo"/>
                  <a:ea typeface="Cairo"/>
                  <a:cs typeface="Cairo"/>
                  <a:sym typeface="Cairo"/>
                </a:rPr>
                <a:t> (Weights) </a:t>
              </a:r>
              <a:r>
                <a:rPr lang="ar-EG" sz="1900">
                  <a:solidFill>
                    <a:srgbClr val="475569"/>
                  </a:solidFill>
                  <a:latin typeface="Cairo"/>
                  <a:ea typeface="Cairo"/>
                  <a:cs typeface="Cairo"/>
                  <a:sym typeface="Cairo"/>
                  <a:rtl/>
                </a:rPr>
                <a:t>أوزان رقمية</a:t>
              </a:r>
              <a:r>
                <a:rPr lang="en-US" sz="1900">
                  <a:solidFill>
                    <a:srgbClr val="475569"/>
                  </a:solidFill>
                  <a:latin typeface="Cairo"/>
                  <a:ea typeface="Cairo"/>
                  <a:cs typeface="Cairo"/>
                  <a:sym typeface="Cairo"/>
                </a:rPr>
                <a:t> </a:t>
              </a:r>
            </a:p>
          </p:txBody>
        </p:sp>
      </p:grpSp>
      <p:grpSp>
        <p:nvGrpSpPr>
          <p:cNvPr id="37" name="Group 37"/>
          <p:cNvGrpSpPr/>
          <p:nvPr/>
        </p:nvGrpSpPr>
        <p:grpSpPr>
          <a:xfrm>
            <a:off x="13486790" y="6668691"/>
            <a:ext cx="3501057" cy="771526"/>
            <a:chOff x="0" y="0"/>
            <a:chExt cx="4668076" cy="1028701"/>
          </a:xfrm>
        </p:grpSpPr>
        <p:sp>
          <p:nvSpPr>
            <p:cNvPr id="38" name="Freeform 38"/>
            <p:cNvSpPr/>
            <p:nvPr/>
          </p:nvSpPr>
          <p:spPr>
            <a:xfrm>
              <a:off x="0" y="0"/>
              <a:ext cx="4668069" cy="1028703"/>
            </a:xfrm>
            <a:custGeom>
              <a:avLst/>
              <a:gdLst/>
              <a:ahLst/>
              <a:cxnLst/>
              <a:rect l="l" t="t" r="r" b="b"/>
              <a:pathLst>
                <a:path w="4668069" h="1028703">
                  <a:moveTo>
                    <a:pt x="0" y="0"/>
                  </a:moveTo>
                  <a:lnTo>
                    <a:pt x="4668069" y="0"/>
                  </a:lnTo>
                  <a:lnTo>
                    <a:pt x="4668069" y="1028703"/>
                  </a:lnTo>
                  <a:lnTo>
                    <a:pt x="0" y="1028703"/>
                  </a:lnTo>
                  <a:close/>
                </a:path>
              </a:pathLst>
            </a:custGeom>
            <a:blipFill>
              <a:blip r:embed="rId4">
                <a:alphaModFix amt="0"/>
              </a:blip>
              <a:stretch>
                <a:fillRect t="-38419" b="-38419"/>
              </a:stretch>
            </a:blipFill>
          </p:spPr>
          <p:txBody>
            <a:bodyPr/>
            <a:lstStyle/>
            <a:p>
              <a:endParaRPr lang="en-SA"/>
            </a:p>
          </p:txBody>
        </p:sp>
        <p:sp>
          <p:nvSpPr>
            <p:cNvPr id="39" name="TextBox 39"/>
            <p:cNvSpPr txBox="1"/>
            <p:nvPr/>
          </p:nvSpPr>
          <p:spPr>
            <a:xfrm>
              <a:off x="0" y="0"/>
              <a:ext cx="4668076" cy="1028701"/>
            </a:xfrm>
            <a:prstGeom prst="rect">
              <a:avLst/>
            </a:prstGeom>
          </p:spPr>
          <p:txBody>
            <a:bodyPr lIns="0" tIns="0" rIns="0" bIns="0" rtlCol="0" anchor="ctr"/>
            <a:lstStyle/>
            <a:p>
              <a:pPr algn="ctr">
                <a:lnSpc>
                  <a:spcPts val="2280"/>
                </a:lnSpc>
              </a:pPr>
              <a:r>
                <a:rPr lang="ar-EG" sz="1900">
                  <a:solidFill>
                    <a:srgbClr val="475569"/>
                  </a:solidFill>
                  <a:latin typeface="Cairo"/>
                  <a:ea typeface="Cairo"/>
                  <a:cs typeface="Cairo"/>
                  <a:sym typeface="Cairo"/>
                  <a:rtl/>
                </a:rPr>
                <a:t>التعلم من التجارب اليومية</a:t>
              </a:r>
            </a:p>
          </p:txBody>
        </p:sp>
      </p:grpSp>
      <p:grpSp>
        <p:nvGrpSpPr>
          <p:cNvPr id="40" name="Group 40"/>
          <p:cNvGrpSpPr/>
          <p:nvPr/>
        </p:nvGrpSpPr>
        <p:grpSpPr>
          <a:xfrm>
            <a:off x="12937055" y="7020516"/>
            <a:ext cx="321469" cy="257175"/>
            <a:chOff x="0" y="0"/>
            <a:chExt cx="428625" cy="342900"/>
          </a:xfrm>
        </p:grpSpPr>
        <p:sp>
          <p:nvSpPr>
            <p:cNvPr id="41" name="Freeform 41" descr="preencoded.png"/>
            <p:cNvSpPr/>
            <p:nvPr/>
          </p:nvSpPr>
          <p:spPr>
            <a:xfrm>
              <a:off x="0" y="0"/>
              <a:ext cx="428625" cy="342900"/>
            </a:xfrm>
            <a:custGeom>
              <a:avLst/>
              <a:gdLst/>
              <a:ahLst/>
              <a:cxnLst/>
              <a:rect l="l" t="t" r="r" b="b"/>
              <a:pathLst>
                <a:path w="428625" h="342900">
                  <a:moveTo>
                    <a:pt x="0" y="0"/>
                  </a:moveTo>
                  <a:lnTo>
                    <a:pt x="428625" y="0"/>
                  </a:lnTo>
                  <a:lnTo>
                    <a:pt x="428625" y="342900"/>
                  </a:lnTo>
                  <a:lnTo>
                    <a:pt x="0" y="342900"/>
                  </a:lnTo>
                  <a:lnTo>
                    <a:pt x="0" y="0"/>
                  </a:lnTo>
                  <a:close/>
                </a:path>
              </a:pathLst>
            </a:custGeom>
            <a:blipFill>
              <a:blip r:embed="rId5"/>
              <a:stretch>
                <a:fillRect t="-1388" b="-1388"/>
              </a:stretch>
            </a:blipFill>
          </p:spPr>
          <p:txBody>
            <a:bodyPr/>
            <a:lstStyle/>
            <a:p>
              <a:endParaRPr lang="en-SA"/>
            </a:p>
          </p:txBody>
        </p:sp>
      </p:grpSp>
      <p:grpSp>
        <p:nvGrpSpPr>
          <p:cNvPr id="42" name="Group 42"/>
          <p:cNvGrpSpPr/>
          <p:nvPr/>
        </p:nvGrpSpPr>
        <p:grpSpPr>
          <a:xfrm>
            <a:off x="9207684" y="6668691"/>
            <a:ext cx="3501104" cy="771526"/>
            <a:chOff x="0" y="0"/>
            <a:chExt cx="4668139" cy="1028701"/>
          </a:xfrm>
        </p:grpSpPr>
        <p:sp>
          <p:nvSpPr>
            <p:cNvPr id="43" name="Freeform 43"/>
            <p:cNvSpPr/>
            <p:nvPr/>
          </p:nvSpPr>
          <p:spPr>
            <a:xfrm>
              <a:off x="0" y="0"/>
              <a:ext cx="4668144" cy="1028703"/>
            </a:xfrm>
            <a:custGeom>
              <a:avLst/>
              <a:gdLst/>
              <a:ahLst/>
              <a:cxnLst/>
              <a:rect l="l" t="t" r="r" b="b"/>
              <a:pathLst>
                <a:path w="4668144" h="1028703">
                  <a:moveTo>
                    <a:pt x="0" y="0"/>
                  </a:moveTo>
                  <a:lnTo>
                    <a:pt x="4668144" y="0"/>
                  </a:lnTo>
                  <a:lnTo>
                    <a:pt x="4668144" y="1028703"/>
                  </a:lnTo>
                  <a:lnTo>
                    <a:pt x="0" y="1028703"/>
                  </a:lnTo>
                  <a:close/>
                </a:path>
              </a:pathLst>
            </a:custGeom>
            <a:blipFill>
              <a:blip r:embed="rId4">
                <a:alphaModFix amt="0"/>
              </a:blip>
              <a:stretch>
                <a:fillRect t="-38421" b="-38420"/>
              </a:stretch>
            </a:blipFill>
          </p:spPr>
          <p:txBody>
            <a:bodyPr/>
            <a:lstStyle/>
            <a:p>
              <a:endParaRPr lang="en-SA"/>
            </a:p>
          </p:txBody>
        </p:sp>
        <p:sp>
          <p:nvSpPr>
            <p:cNvPr id="44" name="TextBox 44"/>
            <p:cNvSpPr txBox="1"/>
            <p:nvPr/>
          </p:nvSpPr>
          <p:spPr>
            <a:xfrm>
              <a:off x="0" y="0"/>
              <a:ext cx="4668139" cy="1028701"/>
            </a:xfrm>
            <a:prstGeom prst="rect">
              <a:avLst/>
            </a:prstGeom>
          </p:spPr>
          <p:txBody>
            <a:bodyPr lIns="0" tIns="0" rIns="0" bIns="0" rtlCol="0" anchor="ctr"/>
            <a:lstStyle/>
            <a:p>
              <a:pPr algn="ctr">
                <a:lnSpc>
                  <a:spcPts val="2280"/>
                </a:lnSpc>
              </a:pPr>
              <a:r>
                <a:rPr lang="ar-EG" sz="1900">
                  <a:solidFill>
                    <a:srgbClr val="475569"/>
                  </a:solidFill>
                  <a:latin typeface="Cairo"/>
                  <a:ea typeface="Cairo"/>
                  <a:cs typeface="Cairo"/>
                  <a:sym typeface="Cairo"/>
                  <a:rtl/>
                </a:rPr>
                <a:t>التدريب على البيانات</a:t>
              </a:r>
            </a:p>
          </p:txBody>
        </p:sp>
      </p:grpSp>
      <p:sp>
        <p:nvSpPr>
          <p:cNvPr id="45" name="Freeform 45"/>
          <p:cNvSpPr/>
          <p:nvPr/>
        </p:nvSpPr>
        <p:spPr>
          <a:xfrm flipH="1">
            <a:off x="511559" y="3533894"/>
            <a:ext cx="7689875" cy="4296718"/>
          </a:xfrm>
          <a:custGeom>
            <a:avLst/>
            <a:gdLst/>
            <a:ahLst/>
            <a:cxnLst/>
            <a:rect l="l" t="t" r="r" b="b"/>
            <a:pathLst>
              <a:path w="7689875" h="4296718">
                <a:moveTo>
                  <a:pt x="7689876" y="0"/>
                </a:moveTo>
                <a:lnTo>
                  <a:pt x="0" y="0"/>
                </a:lnTo>
                <a:lnTo>
                  <a:pt x="0" y="4296718"/>
                </a:lnTo>
                <a:lnTo>
                  <a:pt x="7689876" y="4296718"/>
                </a:lnTo>
                <a:lnTo>
                  <a:pt x="7689876" y="0"/>
                </a:lnTo>
                <a:close/>
              </a:path>
            </a:pathLst>
          </a:custGeom>
          <a:blipFill>
            <a:blip r:embed="rId7"/>
            <a:stretch>
              <a:fillRect/>
            </a:stretch>
          </a:blipFill>
        </p:spPr>
        <p:txBody>
          <a:bodyPr/>
          <a:lstStyle/>
          <a:p>
            <a:endParaRPr lang="en-SA"/>
          </a:p>
        </p:txBody>
      </p:sp>
      <p:sp>
        <p:nvSpPr>
          <p:cNvPr id="46" name="TextBox 46"/>
          <p:cNvSpPr txBox="1"/>
          <p:nvPr/>
        </p:nvSpPr>
        <p:spPr>
          <a:xfrm>
            <a:off x="14980444" y="1000125"/>
            <a:ext cx="2021681" cy="642938"/>
          </a:xfrm>
          <a:prstGeom prst="rect">
            <a:avLst/>
          </a:prstGeom>
        </p:spPr>
        <p:txBody>
          <a:bodyPr lIns="0" tIns="0" rIns="0" bIns="0" rtlCol="0" anchor="t">
            <a:spAutoFit/>
          </a:bodyPr>
          <a:lstStyle/>
          <a:p>
            <a:pPr algn="r">
              <a:lnSpc>
                <a:spcPts val="2879"/>
              </a:lnSpc>
            </a:pPr>
            <a:r>
              <a:rPr lang="ar-EG" sz="2400" b="1">
                <a:solidFill>
                  <a:srgbClr val="0F172A"/>
                </a:solidFill>
                <a:latin typeface="Cairo Bold"/>
                <a:ea typeface="Cairo Bold"/>
                <a:cs typeface="Cairo Bold"/>
                <a:sym typeface="Cairo Bold"/>
                <a:rtl/>
              </a:rPr>
              <a:t>الرابط العجيب</a:t>
            </a:r>
          </a:p>
        </p:txBody>
      </p:sp>
      <p:sp>
        <p:nvSpPr>
          <p:cNvPr id="47" name="TextBox 47"/>
          <p:cNvSpPr txBox="1"/>
          <p:nvPr/>
        </p:nvSpPr>
        <p:spPr>
          <a:xfrm>
            <a:off x="1285875" y="1107281"/>
            <a:ext cx="3175397" cy="238125"/>
          </a:xfrm>
          <a:prstGeom prst="rect">
            <a:avLst/>
          </a:prstGeom>
        </p:spPr>
        <p:txBody>
          <a:bodyPr lIns="0" tIns="0" rIns="0" bIns="0" rtlCol="0" anchor="t">
            <a:spAutoFit/>
          </a:bodyPr>
          <a:lstStyle/>
          <a:p>
            <a:pPr algn="r">
              <a:lnSpc>
                <a:spcPts val="1920"/>
              </a:lnSpc>
            </a:pPr>
            <a:r>
              <a:rPr lang="ar-EG" sz="1600" b="1">
                <a:solidFill>
                  <a:srgbClr val="EA580C"/>
                </a:solidFill>
                <a:latin typeface="Cairo Bold"/>
                <a:ea typeface="Cairo Bold"/>
                <a:cs typeface="Cairo Bold"/>
                <a:sym typeface="Cairo Bold"/>
                <a:rtl/>
              </a:rPr>
              <a:t>القسم الأول: خيال</a:t>
            </a:r>
          </a:p>
        </p:txBody>
      </p:sp>
      <p:sp>
        <p:nvSpPr>
          <p:cNvPr id="48" name="TextBox 48"/>
          <p:cNvSpPr txBox="1"/>
          <p:nvPr/>
        </p:nvSpPr>
        <p:spPr>
          <a:xfrm>
            <a:off x="1285875" y="2271712"/>
            <a:ext cx="15716250" cy="750094"/>
          </a:xfrm>
          <a:prstGeom prst="rect">
            <a:avLst/>
          </a:prstGeom>
        </p:spPr>
        <p:txBody>
          <a:bodyPr lIns="0" tIns="0" rIns="0" bIns="0" rtlCol="0" anchor="t">
            <a:spAutoFit/>
          </a:bodyPr>
          <a:lstStyle/>
          <a:p>
            <a:pPr algn="r">
              <a:lnSpc>
                <a:spcPts val="3359"/>
              </a:lnSpc>
            </a:pPr>
            <a:r>
              <a:rPr lang="ar-EG" sz="2799" b="1">
                <a:solidFill>
                  <a:srgbClr val="0F172A"/>
                </a:solidFill>
                <a:latin typeface="Cairo Bold"/>
                <a:ea typeface="Cairo Bold"/>
                <a:cs typeface="Cairo Bold"/>
                <a:sym typeface="Cairo Bold"/>
                <a:rtl/>
              </a:rPr>
              <a:t>الربط بين الدماغ والشبكة العصبية</a:t>
            </a:r>
          </a:p>
        </p:txBody>
      </p:sp>
      <p:sp>
        <p:nvSpPr>
          <p:cNvPr id="49" name="TextBox 49"/>
          <p:cNvSpPr txBox="1"/>
          <p:nvPr/>
        </p:nvSpPr>
        <p:spPr>
          <a:xfrm>
            <a:off x="14462522" y="9601200"/>
            <a:ext cx="2796778" cy="333425"/>
          </a:xfrm>
          <a:prstGeom prst="rect">
            <a:avLst/>
          </a:prstGeom>
        </p:spPr>
        <p:txBody>
          <a:bodyPr lIns="0" tIns="0" rIns="0" bIns="0" rtlCol="0" anchor="t">
            <a:spAutoFit/>
          </a:bodyPr>
          <a:lstStyle/>
          <a:p>
            <a:pPr algn="r">
              <a:lnSpc>
                <a:spcPts val="2595"/>
              </a:lnSpc>
            </a:pPr>
            <a:r>
              <a:rPr lang="ar-EG" sz="1800" dirty="0">
                <a:solidFill>
                  <a:srgbClr val="64748B"/>
                </a:solidFill>
                <a:latin typeface="Cairo Light"/>
                <a:ea typeface="Cairo Light"/>
                <a:cs typeface="Cairo Light"/>
                <a:sym typeface="Cairo Light"/>
                <a:rtl/>
              </a:rPr>
              <a:t>اليوم الثالث · مبني على صورتنا</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SA"/>
            </a:p>
          </p:txBody>
        </p:sp>
      </p:grpSp>
      <p:sp>
        <p:nvSpPr>
          <p:cNvPr id="4" name="TextBox 4"/>
          <p:cNvSpPr txBox="1"/>
          <p:nvPr/>
        </p:nvSpPr>
        <p:spPr>
          <a:xfrm>
            <a:off x="9380410" y="4281230"/>
            <a:ext cx="7621714" cy="535781"/>
          </a:xfrm>
          <a:prstGeom prst="rect">
            <a:avLst/>
          </a:prstGeom>
        </p:spPr>
        <p:txBody>
          <a:bodyPr lIns="0" tIns="0" rIns="0" bIns="0" rtlCol="0" anchor="t">
            <a:spAutoFit/>
          </a:bodyPr>
          <a:lstStyle/>
          <a:p>
            <a:pPr algn="r">
              <a:lnSpc>
                <a:spcPts val="2400"/>
              </a:lnSpc>
            </a:pPr>
            <a:r>
              <a:rPr lang="ar-EG" sz="2000" b="1" spc="2" dirty="0">
                <a:solidFill>
                  <a:srgbClr val="EA580C"/>
                </a:solidFill>
                <a:latin typeface="Cairo Bold"/>
                <a:ea typeface="Cairo Bold"/>
                <a:cs typeface="Cairo Bold"/>
                <a:sym typeface="Cairo Bold"/>
                <a:rtl/>
              </a:rPr>
              <a:t>القسم الثاني</a:t>
            </a:r>
          </a:p>
        </p:txBody>
      </p:sp>
      <p:sp>
        <p:nvSpPr>
          <p:cNvPr id="5" name="TextBox 5"/>
          <p:cNvSpPr txBox="1"/>
          <p:nvPr/>
        </p:nvSpPr>
        <p:spPr>
          <a:xfrm>
            <a:off x="9380410" y="5074187"/>
            <a:ext cx="7621714" cy="931535"/>
          </a:xfrm>
          <a:prstGeom prst="rect">
            <a:avLst/>
          </a:prstGeom>
        </p:spPr>
        <p:txBody>
          <a:bodyPr lIns="0" tIns="0" rIns="0" bIns="0" rtlCol="0" anchor="t">
            <a:spAutoFit/>
          </a:bodyPr>
          <a:lstStyle/>
          <a:p>
            <a:pPr algn="r">
              <a:lnSpc>
                <a:spcPts val="6566"/>
              </a:lnSpc>
            </a:pPr>
            <a:r>
              <a:rPr lang="ar-EG" sz="5700" b="1">
                <a:solidFill>
                  <a:srgbClr val="0F172A"/>
                </a:solidFill>
                <a:latin typeface="Cairo Bold"/>
                <a:ea typeface="Cairo Bold"/>
                <a:cs typeface="Cairo Bold"/>
                <a:sym typeface="Cairo Bold"/>
                <a:rtl/>
              </a:rPr>
              <a:t>تشبيه الخلية العصبية</a:t>
            </a:r>
          </a:p>
        </p:txBody>
      </p:sp>
      <p:sp>
        <p:nvSpPr>
          <p:cNvPr id="6" name="TextBox 6"/>
          <p:cNvSpPr txBox="1"/>
          <p:nvPr/>
        </p:nvSpPr>
        <p:spPr>
          <a:xfrm>
            <a:off x="1285932" y="3941435"/>
            <a:ext cx="6351403" cy="1964640"/>
          </a:xfrm>
          <a:prstGeom prst="rect">
            <a:avLst/>
          </a:prstGeom>
        </p:spPr>
        <p:txBody>
          <a:bodyPr lIns="0" tIns="0" rIns="0" bIns="0" rtlCol="0" anchor="t">
            <a:spAutoFit/>
          </a:bodyPr>
          <a:lstStyle/>
          <a:p>
            <a:pPr algn="r">
              <a:lnSpc>
                <a:spcPts val="5222"/>
              </a:lnSpc>
            </a:pPr>
            <a:r>
              <a:rPr lang="ar-EG" sz="3400" dirty="0">
                <a:solidFill>
                  <a:srgbClr val="0284C7"/>
                </a:solidFill>
                <a:latin typeface="Cairo Light"/>
                <a:ea typeface="Cairo Light"/>
                <a:cs typeface="Cairo Light"/>
                <a:sym typeface="Cairo Light"/>
                <a:rtl/>
              </a:rPr>
              <a:t>خلية واحدة</a:t>
            </a:r>
          </a:p>
          <a:p>
            <a:pPr algn="r">
              <a:lnSpc>
                <a:spcPts val="5222"/>
              </a:lnSpc>
            </a:pPr>
            <a:r>
              <a:rPr lang="ar-EG" sz="3400" dirty="0">
                <a:solidFill>
                  <a:srgbClr val="0284C7"/>
                </a:solidFill>
                <a:latin typeface="Cairo Light"/>
                <a:ea typeface="Cairo Light"/>
                <a:cs typeface="Cairo Light"/>
                <a:sym typeface="Cairo Light"/>
                <a:rtl/>
              </a:rPr>
              <a:t>قرار واحد</a:t>
            </a:r>
            <a:endParaRPr lang="en-US" sz="3400" dirty="0">
              <a:solidFill>
                <a:srgbClr val="0284C7"/>
              </a:solidFill>
              <a:latin typeface="Cairo Light"/>
              <a:ea typeface="Cairo Light"/>
              <a:cs typeface="Cairo Light"/>
              <a:sym typeface="Cairo Light"/>
            </a:endParaRPr>
          </a:p>
          <a:p>
            <a:pPr algn="r">
              <a:lnSpc>
                <a:spcPts val="5222"/>
              </a:lnSpc>
            </a:pPr>
            <a:r>
              <a:rPr lang="ar-EG" sz="3400" dirty="0">
                <a:solidFill>
                  <a:srgbClr val="0284C7"/>
                </a:solidFill>
                <a:latin typeface="Cairo Light"/>
                <a:ea typeface="Cairo Light"/>
                <a:cs typeface="Cairo Light"/>
                <a:sym typeface="Cairo Light"/>
                <a:rtl/>
              </a:rPr>
              <a:t>شرارة واحدة</a:t>
            </a:r>
            <a:endParaRPr lang="en-US" sz="3400" dirty="0">
              <a:solidFill>
                <a:srgbClr val="0284C7"/>
              </a:solidFill>
              <a:latin typeface="Cairo Light"/>
              <a:ea typeface="Cairo Light"/>
              <a:cs typeface="Cairo Light"/>
              <a:sym typeface="Cairo Light"/>
            </a:endParaRPr>
          </a:p>
        </p:txBody>
      </p:sp>
      <p:sp>
        <p:nvSpPr>
          <p:cNvPr id="7" name="TextBox 7"/>
          <p:cNvSpPr txBox="1"/>
          <p:nvPr/>
        </p:nvSpPr>
        <p:spPr>
          <a:xfrm>
            <a:off x="14462522" y="9601200"/>
            <a:ext cx="2796778" cy="333425"/>
          </a:xfrm>
          <a:prstGeom prst="rect">
            <a:avLst/>
          </a:prstGeom>
        </p:spPr>
        <p:txBody>
          <a:bodyPr lIns="0" tIns="0" rIns="0" bIns="0" rtlCol="0" anchor="t">
            <a:spAutoFit/>
          </a:bodyPr>
          <a:lstStyle/>
          <a:p>
            <a:pPr algn="r">
              <a:lnSpc>
                <a:spcPts val="2595"/>
              </a:lnSpc>
            </a:pPr>
            <a:r>
              <a:rPr lang="ar-EG" sz="1800" dirty="0">
                <a:solidFill>
                  <a:srgbClr val="64748B"/>
                </a:solidFill>
                <a:latin typeface="Cairo Light"/>
                <a:ea typeface="Cairo Light"/>
                <a:cs typeface="Cairo Light"/>
                <a:sym typeface="Cairo Light"/>
                <a:rtl/>
              </a:rPr>
              <a:t>اليوم الثالث · مبني على صورتنا</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SA"/>
            </a:p>
          </p:txBody>
        </p:sp>
      </p:grpSp>
      <p:sp>
        <p:nvSpPr>
          <p:cNvPr id="4" name="TextBox 4"/>
          <p:cNvSpPr txBox="1"/>
          <p:nvPr/>
        </p:nvSpPr>
        <p:spPr>
          <a:xfrm>
            <a:off x="11597878" y="1000125"/>
            <a:ext cx="5404247" cy="642938"/>
          </a:xfrm>
          <a:prstGeom prst="rect">
            <a:avLst/>
          </a:prstGeom>
        </p:spPr>
        <p:txBody>
          <a:bodyPr lIns="0" tIns="0" rIns="0" bIns="0" rtlCol="0" anchor="t">
            <a:spAutoFit/>
          </a:bodyPr>
          <a:lstStyle/>
          <a:p>
            <a:pPr algn="r">
              <a:lnSpc>
                <a:spcPts val="2879"/>
              </a:lnSpc>
            </a:pPr>
            <a:r>
              <a:rPr lang="ar-EG" sz="2400" b="1">
                <a:solidFill>
                  <a:srgbClr val="0F172A"/>
                </a:solidFill>
                <a:latin typeface="Cairo Bold"/>
                <a:ea typeface="Cairo Bold"/>
                <a:cs typeface="Cairo Bold"/>
                <a:sym typeface="Cairo Bold"/>
                <a:rtl/>
              </a:rPr>
              <a:t>تعرّف على الخلية العصبية البيولوجية</a:t>
            </a:r>
          </a:p>
        </p:txBody>
      </p:sp>
      <p:sp>
        <p:nvSpPr>
          <p:cNvPr id="5" name="TextBox 5"/>
          <p:cNvSpPr txBox="1"/>
          <p:nvPr/>
        </p:nvSpPr>
        <p:spPr>
          <a:xfrm>
            <a:off x="1285875" y="1107281"/>
            <a:ext cx="3568303" cy="238125"/>
          </a:xfrm>
          <a:prstGeom prst="rect">
            <a:avLst/>
          </a:prstGeom>
        </p:spPr>
        <p:txBody>
          <a:bodyPr lIns="0" tIns="0" rIns="0" bIns="0" rtlCol="0" anchor="t">
            <a:spAutoFit/>
          </a:bodyPr>
          <a:lstStyle/>
          <a:p>
            <a:pPr algn="r">
              <a:lnSpc>
                <a:spcPts val="1920"/>
              </a:lnSpc>
            </a:pPr>
            <a:r>
              <a:rPr lang="ar-EG" sz="1600" b="1">
                <a:solidFill>
                  <a:srgbClr val="EA580C"/>
                </a:solidFill>
                <a:latin typeface="Cairo Bold"/>
                <a:ea typeface="Cairo Bold"/>
                <a:cs typeface="Cairo Bold"/>
                <a:sym typeface="Cairo Bold"/>
                <a:rtl/>
              </a:rPr>
              <a:t>القسم الثاني: خيال</a:t>
            </a:r>
          </a:p>
        </p:txBody>
      </p:sp>
      <p:sp>
        <p:nvSpPr>
          <p:cNvPr id="6" name="TextBox 6"/>
          <p:cNvSpPr txBox="1"/>
          <p:nvPr/>
        </p:nvSpPr>
        <p:spPr>
          <a:xfrm>
            <a:off x="1285875" y="2271712"/>
            <a:ext cx="15716250" cy="750094"/>
          </a:xfrm>
          <a:prstGeom prst="rect">
            <a:avLst/>
          </a:prstGeom>
        </p:spPr>
        <p:txBody>
          <a:bodyPr lIns="0" tIns="0" rIns="0" bIns="0" rtlCol="0" anchor="t">
            <a:spAutoFit/>
          </a:bodyPr>
          <a:lstStyle/>
          <a:p>
            <a:pPr algn="r">
              <a:lnSpc>
                <a:spcPts val="3359"/>
              </a:lnSpc>
            </a:pPr>
            <a:r>
              <a:rPr lang="ar-EG" sz="2799" b="1">
                <a:solidFill>
                  <a:srgbClr val="0F172A"/>
                </a:solidFill>
                <a:latin typeface="Cairo Bold"/>
                <a:ea typeface="Cairo Bold"/>
                <a:cs typeface="Cairo Bold"/>
                <a:sym typeface="Cairo Bold"/>
                <a:rtl/>
              </a:rPr>
              <a:t>كل فكرة خطرت لك في حياتك بدأت من هنا</a:t>
            </a:r>
          </a:p>
        </p:txBody>
      </p:sp>
      <p:grpSp>
        <p:nvGrpSpPr>
          <p:cNvPr id="7" name="Group 7"/>
          <p:cNvGrpSpPr/>
          <p:nvPr/>
        </p:nvGrpSpPr>
        <p:grpSpPr>
          <a:xfrm>
            <a:off x="16716375" y="3846909"/>
            <a:ext cx="285750" cy="285750"/>
            <a:chOff x="0" y="0"/>
            <a:chExt cx="381000" cy="381000"/>
          </a:xfrm>
        </p:grpSpPr>
        <p:sp>
          <p:nvSpPr>
            <p:cNvPr id="8" name="Freeform 8" descr="preencoded.png"/>
            <p:cNvSpPr/>
            <p:nvPr/>
          </p:nvSpPr>
          <p:spPr>
            <a:xfrm>
              <a:off x="0" y="0"/>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blipFill>
              <a:blip r:embed="rId4"/>
              <a:stretch>
                <a:fillRect t="-2500" b="-2500"/>
              </a:stretch>
            </a:blipFill>
          </p:spPr>
          <p:txBody>
            <a:bodyPr/>
            <a:lstStyle/>
            <a:p>
              <a:endParaRPr lang="en-SA"/>
            </a:p>
          </p:txBody>
        </p:sp>
      </p:grpSp>
      <p:sp>
        <p:nvSpPr>
          <p:cNvPr id="9" name="TextBox 9"/>
          <p:cNvSpPr txBox="1"/>
          <p:nvPr/>
        </p:nvSpPr>
        <p:spPr>
          <a:xfrm>
            <a:off x="9304734" y="3789759"/>
            <a:ext cx="7183041" cy="266700"/>
          </a:xfrm>
          <a:prstGeom prst="rect">
            <a:avLst/>
          </a:prstGeom>
        </p:spPr>
        <p:txBody>
          <a:bodyPr lIns="0" tIns="0" rIns="0" bIns="0" rtlCol="0" anchor="t">
            <a:spAutoFit/>
          </a:bodyPr>
          <a:lstStyle/>
          <a:p>
            <a:pPr algn="r">
              <a:lnSpc>
                <a:spcPts val="2160"/>
              </a:lnSpc>
            </a:pPr>
            <a:r>
              <a:rPr lang="en-US" sz="1800" b="1">
                <a:solidFill>
                  <a:srgbClr val="0F172A"/>
                </a:solidFill>
                <a:latin typeface="Cairo Bold"/>
                <a:ea typeface="Cairo Bold"/>
                <a:cs typeface="Cairo Bold"/>
                <a:sym typeface="Cairo Bold"/>
              </a:rPr>
              <a:t> (Dendrites) </a:t>
            </a:r>
            <a:r>
              <a:rPr lang="ar-EG" sz="1800" b="1">
                <a:solidFill>
                  <a:srgbClr val="0F172A"/>
                </a:solidFill>
                <a:latin typeface="Cairo Bold"/>
                <a:ea typeface="Cairo Bold"/>
                <a:cs typeface="Cairo Bold"/>
                <a:sym typeface="Cairo Bold"/>
                <a:rtl/>
              </a:rPr>
              <a:t>التشعبات</a:t>
            </a:r>
          </a:p>
        </p:txBody>
      </p:sp>
      <p:sp>
        <p:nvSpPr>
          <p:cNvPr id="10" name="TextBox 10"/>
          <p:cNvSpPr txBox="1"/>
          <p:nvPr/>
        </p:nvSpPr>
        <p:spPr>
          <a:xfrm>
            <a:off x="9304734" y="4291012"/>
            <a:ext cx="7183041" cy="307777"/>
          </a:xfrm>
          <a:prstGeom prst="rect">
            <a:avLst/>
          </a:prstGeom>
        </p:spPr>
        <p:txBody>
          <a:bodyPr lIns="0" tIns="0" rIns="0" bIns="0" rtlCol="0" anchor="t">
            <a:spAutoFit/>
          </a:bodyPr>
          <a:lstStyle/>
          <a:p>
            <a:pPr algn="r" rtl="1">
              <a:lnSpc>
                <a:spcPts val="2448"/>
              </a:lnSpc>
            </a:pPr>
            <a:r>
              <a:rPr lang="ar-EG" sz="1700" dirty="0">
                <a:solidFill>
                  <a:srgbClr val="475569"/>
                </a:solidFill>
                <a:latin typeface="Cairo Light"/>
                <a:ea typeface="Cairo Light"/>
                <a:cs typeface="Cairo Light"/>
                <a:sym typeface="Cairo Light"/>
                <a:rtl/>
              </a:rPr>
              <a:t>تعمل كالهوائيات الصغيرة، حيث تستقبل الإشارات القادمة من الخلايا العصبية الأخرى</a:t>
            </a:r>
            <a:r>
              <a:rPr lang="en-US" sz="1700" dirty="0">
                <a:solidFill>
                  <a:srgbClr val="475569"/>
                </a:solidFill>
                <a:latin typeface="Cairo Light"/>
                <a:ea typeface="Cairo Light"/>
                <a:cs typeface="Cairo Light"/>
                <a:sym typeface="Cairo Light"/>
              </a:rPr>
              <a:t>.</a:t>
            </a:r>
          </a:p>
        </p:txBody>
      </p:sp>
      <p:grpSp>
        <p:nvGrpSpPr>
          <p:cNvPr id="11" name="Group 11"/>
          <p:cNvGrpSpPr/>
          <p:nvPr/>
        </p:nvGrpSpPr>
        <p:grpSpPr>
          <a:xfrm>
            <a:off x="16716375" y="4957762"/>
            <a:ext cx="285750" cy="285750"/>
            <a:chOff x="0" y="0"/>
            <a:chExt cx="381000" cy="381000"/>
          </a:xfrm>
        </p:grpSpPr>
        <p:sp>
          <p:nvSpPr>
            <p:cNvPr id="12" name="Freeform 12" descr="preencoded.png"/>
            <p:cNvSpPr/>
            <p:nvPr/>
          </p:nvSpPr>
          <p:spPr>
            <a:xfrm>
              <a:off x="0" y="0"/>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blipFill>
              <a:blip r:embed="rId5"/>
              <a:stretch>
                <a:fillRect/>
              </a:stretch>
            </a:blipFill>
          </p:spPr>
          <p:txBody>
            <a:bodyPr/>
            <a:lstStyle/>
            <a:p>
              <a:endParaRPr lang="en-SA"/>
            </a:p>
          </p:txBody>
        </p:sp>
      </p:grpSp>
      <p:sp>
        <p:nvSpPr>
          <p:cNvPr id="13" name="TextBox 13"/>
          <p:cNvSpPr txBox="1"/>
          <p:nvPr/>
        </p:nvSpPr>
        <p:spPr>
          <a:xfrm>
            <a:off x="10737056" y="4900612"/>
            <a:ext cx="5750719" cy="266700"/>
          </a:xfrm>
          <a:prstGeom prst="rect">
            <a:avLst/>
          </a:prstGeom>
        </p:spPr>
        <p:txBody>
          <a:bodyPr lIns="0" tIns="0" rIns="0" bIns="0" rtlCol="0" anchor="t">
            <a:spAutoFit/>
          </a:bodyPr>
          <a:lstStyle/>
          <a:p>
            <a:pPr algn="r">
              <a:lnSpc>
                <a:spcPts val="2160"/>
              </a:lnSpc>
            </a:pPr>
            <a:r>
              <a:rPr lang="en-US" sz="1800" b="1">
                <a:solidFill>
                  <a:srgbClr val="0F172A"/>
                </a:solidFill>
                <a:latin typeface="Cairo Bold"/>
                <a:ea typeface="Cairo Bold"/>
                <a:cs typeface="Cairo Bold"/>
                <a:sym typeface="Cairo Bold"/>
              </a:rPr>
              <a:t> (Soma) </a:t>
            </a:r>
            <a:r>
              <a:rPr lang="ar-EG" sz="1800" b="1">
                <a:solidFill>
                  <a:srgbClr val="0F172A"/>
                </a:solidFill>
                <a:latin typeface="Cairo Bold"/>
                <a:ea typeface="Cairo Bold"/>
                <a:cs typeface="Cairo Bold"/>
                <a:sym typeface="Cairo Bold"/>
                <a:rtl/>
              </a:rPr>
              <a:t>جسم الخلية</a:t>
            </a:r>
            <a:r>
              <a:rPr lang="en-US" sz="1800" b="1">
                <a:solidFill>
                  <a:srgbClr val="0F172A"/>
                </a:solidFill>
                <a:latin typeface="Cairo Bold"/>
                <a:ea typeface="Cairo Bold"/>
                <a:cs typeface="Cairo Bold"/>
                <a:sym typeface="Cairo Bold"/>
              </a:rPr>
              <a:t> </a:t>
            </a:r>
          </a:p>
        </p:txBody>
      </p:sp>
      <p:sp>
        <p:nvSpPr>
          <p:cNvPr id="14" name="TextBox 14"/>
          <p:cNvSpPr txBox="1"/>
          <p:nvPr/>
        </p:nvSpPr>
        <p:spPr>
          <a:xfrm>
            <a:off x="10737056" y="5401866"/>
            <a:ext cx="5750719" cy="307777"/>
          </a:xfrm>
          <a:prstGeom prst="rect">
            <a:avLst/>
          </a:prstGeom>
        </p:spPr>
        <p:txBody>
          <a:bodyPr lIns="0" tIns="0" rIns="0" bIns="0" rtlCol="0" anchor="t">
            <a:spAutoFit/>
          </a:bodyPr>
          <a:lstStyle/>
          <a:p>
            <a:pPr algn="r" rtl="1">
              <a:lnSpc>
                <a:spcPts val="2448"/>
              </a:lnSpc>
            </a:pPr>
            <a:r>
              <a:rPr lang="ar-EG" sz="1700" dirty="0">
                <a:solidFill>
                  <a:srgbClr val="475569"/>
                </a:solidFill>
                <a:latin typeface="Cairo Light"/>
                <a:ea typeface="Cairo Light"/>
                <a:cs typeface="Cairo Light"/>
                <a:sym typeface="Cairo Light"/>
                <a:rtl/>
              </a:rPr>
              <a:t>هو مركز التحكم، يقوم بجمع وإضافة كل الإشارات الواردة إليه معاً</a:t>
            </a:r>
            <a:r>
              <a:rPr lang="en-US" sz="1700" dirty="0">
                <a:solidFill>
                  <a:srgbClr val="475569"/>
                </a:solidFill>
                <a:latin typeface="Cairo Light"/>
                <a:ea typeface="Cairo Light"/>
                <a:cs typeface="Cairo Light"/>
                <a:sym typeface="Cairo Light"/>
              </a:rPr>
              <a:t>.</a:t>
            </a:r>
          </a:p>
        </p:txBody>
      </p:sp>
      <p:grpSp>
        <p:nvGrpSpPr>
          <p:cNvPr id="15" name="Group 15"/>
          <p:cNvGrpSpPr/>
          <p:nvPr/>
        </p:nvGrpSpPr>
        <p:grpSpPr>
          <a:xfrm>
            <a:off x="16716375" y="6068616"/>
            <a:ext cx="285750" cy="285750"/>
            <a:chOff x="0" y="0"/>
            <a:chExt cx="381000" cy="381000"/>
          </a:xfrm>
        </p:grpSpPr>
        <p:sp>
          <p:nvSpPr>
            <p:cNvPr id="16" name="Freeform 16" descr="preencoded.png"/>
            <p:cNvSpPr/>
            <p:nvPr/>
          </p:nvSpPr>
          <p:spPr>
            <a:xfrm>
              <a:off x="0" y="0"/>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blipFill>
              <a:blip r:embed="rId6"/>
              <a:stretch>
                <a:fillRect t="-2500" b="-2500"/>
              </a:stretch>
            </a:blipFill>
          </p:spPr>
          <p:txBody>
            <a:bodyPr/>
            <a:lstStyle/>
            <a:p>
              <a:endParaRPr lang="en-SA"/>
            </a:p>
          </p:txBody>
        </p:sp>
      </p:grpSp>
      <p:sp>
        <p:nvSpPr>
          <p:cNvPr id="17" name="TextBox 17"/>
          <p:cNvSpPr txBox="1"/>
          <p:nvPr/>
        </p:nvSpPr>
        <p:spPr>
          <a:xfrm>
            <a:off x="10658475" y="6011466"/>
            <a:ext cx="5829300" cy="266700"/>
          </a:xfrm>
          <a:prstGeom prst="rect">
            <a:avLst/>
          </a:prstGeom>
        </p:spPr>
        <p:txBody>
          <a:bodyPr lIns="0" tIns="0" rIns="0" bIns="0" rtlCol="0" anchor="t">
            <a:spAutoFit/>
          </a:bodyPr>
          <a:lstStyle/>
          <a:p>
            <a:pPr algn="r">
              <a:lnSpc>
                <a:spcPts val="2160"/>
              </a:lnSpc>
            </a:pPr>
            <a:r>
              <a:rPr lang="en-US" sz="1800" b="1">
                <a:solidFill>
                  <a:srgbClr val="0F172A"/>
                </a:solidFill>
                <a:latin typeface="Cairo Bold"/>
                <a:ea typeface="Cairo Bold"/>
                <a:cs typeface="Cairo Bold"/>
                <a:sym typeface="Cairo Bold"/>
              </a:rPr>
              <a:t>(Axon) </a:t>
            </a:r>
            <a:r>
              <a:rPr lang="ar-EG" sz="1800" b="1">
                <a:solidFill>
                  <a:srgbClr val="0F172A"/>
                </a:solidFill>
                <a:latin typeface="Cairo Bold"/>
                <a:ea typeface="Cairo Bold"/>
                <a:cs typeface="Cairo Bold"/>
                <a:sym typeface="Cairo Bold"/>
                <a:rtl/>
              </a:rPr>
              <a:t>المحور العصبي</a:t>
            </a:r>
          </a:p>
        </p:txBody>
      </p:sp>
      <p:sp>
        <p:nvSpPr>
          <p:cNvPr id="18" name="TextBox 18"/>
          <p:cNvSpPr txBox="1"/>
          <p:nvPr/>
        </p:nvSpPr>
        <p:spPr>
          <a:xfrm>
            <a:off x="10658475" y="6512719"/>
            <a:ext cx="5829300" cy="615553"/>
          </a:xfrm>
          <a:prstGeom prst="rect">
            <a:avLst/>
          </a:prstGeom>
        </p:spPr>
        <p:txBody>
          <a:bodyPr lIns="0" tIns="0" rIns="0" bIns="0" rtlCol="0" anchor="t">
            <a:spAutoFit/>
          </a:bodyPr>
          <a:lstStyle/>
          <a:p>
            <a:pPr algn="r" rtl="1">
              <a:lnSpc>
                <a:spcPts val="2448"/>
              </a:lnSpc>
            </a:pPr>
            <a:r>
              <a:rPr lang="ar-EG" sz="1700" dirty="0">
                <a:solidFill>
                  <a:srgbClr val="475569"/>
                </a:solidFill>
                <a:latin typeface="Cairo Light"/>
                <a:ea typeface="Cairo Light"/>
                <a:cs typeface="Cairo Light"/>
                <a:sym typeface="Cairo Light"/>
                <a:rtl/>
              </a:rPr>
              <a:t>طريق سريع طويل، يُرسل الإشارة النهائية إلى الخلايا التالية في الطابور</a:t>
            </a:r>
            <a:r>
              <a:rPr lang="en-US" sz="1700" dirty="0">
                <a:solidFill>
                  <a:srgbClr val="475569"/>
                </a:solidFill>
                <a:latin typeface="Cairo Light"/>
                <a:ea typeface="Cairo Light"/>
                <a:cs typeface="Cairo Light"/>
                <a:sym typeface="Cairo Light"/>
              </a:rPr>
              <a:t>.</a:t>
            </a:r>
          </a:p>
        </p:txBody>
      </p:sp>
      <p:grpSp>
        <p:nvGrpSpPr>
          <p:cNvPr id="19" name="Group 19"/>
          <p:cNvGrpSpPr/>
          <p:nvPr/>
        </p:nvGrpSpPr>
        <p:grpSpPr>
          <a:xfrm>
            <a:off x="16787812" y="7179469"/>
            <a:ext cx="214312" cy="285750"/>
            <a:chOff x="0" y="0"/>
            <a:chExt cx="285750" cy="381000"/>
          </a:xfrm>
        </p:grpSpPr>
        <p:sp>
          <p:nvSpPr>
            <p:cNvPr id="20" name="Freeform 20" descr="preencoded.png"/>
            <p:cNvSpPr/>
            <p:nvPr/>
          </p:nvSpPr>
          <p:spPr>
            <a:xfrm>
              <a:off x="0" y="0"/>
              <a:ext cx="285750" cy="381000"/>
            </a:xfrm>
            <a:custGeom>
              <a:avLst/>
              <a:gdLst/>
              <a:ahLst/>
              <a:cxnLst/>
              <a:rect l="l" t="t" r="r" b="b"/>
              <a:pathLst>
                <a:path w="285750" h="381000">
                  <a:moveTo>
                    <a:pt x="0" y="0"/>
                  </a:moveTo>
                  <a:lnTo>
                    <a:pt x="285750" y="0"/>
                  </a:lnTo>
                  <a:lnTo>
                    <a:pt x="285750" y="381000"/>
                  </a:lnTo>
                  <a:lnTo>
                    <a:pt x="0" y="381000"/>
                  </a:lnTo>
                  <a:lnTo>
                    <a:pt x="0" y="0"/>
                  </a:lnTo>
                  <a:close/>
                </a:path>
              </a:pathLst>
            </a:custGeom>
            <a:blipFill>
              <a:blip r:embed="rId7"/>
              <a:stretch>
                <a:fillRect t="-2500" b="-2500"/>
              </a:stretch>
            </a:blipFill>
          </p:spPr>
          <p:txBody>
            <a:bodyPr/>
            <a:lstStyle/>
            <a:p>
              <a:endParaRPr lang="en-SA"/>
            </a:p>
          </p:txBody>
        </p:sp>
      </p:grpSp>
      <p:sp>
        <p:nvSpPr>
          <p:cNvPr id="21" name="TextBox 21"/>
          <p:cNvSpPr txBox="1"/>
          <p:nvPr/>
        </p:nvSpPr>
        <p:spPr>
          <a:xfrm>
            <a:off x="9986962" y="7122319"/>
            <a:ext cx="6572250" cy="266700"/>
          </a:xfrm>
          <a:prstGeom prst="rect">
            <a:avLst/>
          </a:prstGeom>
        </p:spPr>
        <p:txBody>
          <a:bodyPr lIns="0" tIns="0" rIns="0" bIns="0" rtlCol="0" anchor="t">
            <a:spAutoFit/>
          </a:bodyPr>
          <a:lstStyle/>
          <a:p>
            <a:pPr algn="r">
              <a:lnSpc>
                <a:spcPts val="2160"/>
              </a:lnSpc>
            </a:pPr>
            <a:r>
              <a:rPr lang="en-US" sz="1800" b="1">
                <a:solidFill>
                  <a:srgbClr val="0F172A"/>
                </a:solidFill>
                <a:latin typeface="Cairo Bold"/>
                <a:ea typeface="Cairo Bold"/>
                <a:cs typeface="Cairo Bold"/>
                <a:sym typeface="Cairo Bold"/>
              </a:rPr>
              <a:t>(Synapse) </a:t>
            </a:r>
            <a:r>
              <a:rPr lang="ar-EG" sz="1800" b="1">
                <a:solidFill>
                  <a:srgbClr val="0F172A"/>
                </a:solidFill>
                <a:latin typeface="Cairo Bold"/>
                <a:ea typeface="Cairo Bold"/>
                <a:cs typeface="Cairo Bold"/>
                <a:sym typeface="Cairo Bold"/>
                <a:rtl/>
              </a:rPr>
              <a:t>المشبك العصبي</a:t>
            </a:r>
            <a:r>
              <a:rPr lang="en-US" sz="1800" b="1">
                <a:solidFill>
                  <a:srgbClr val="0F172A"/>
                </a:solidFill>
                <a:latin typeface="Cairo Bold"/>
                <a:ea typeface="Cairo Bold"/>
                <a:cs typeface="Cairo Bold"/>
                <a:sym typeface="Cairo Bold"/>
              </a:rPr>
              <a:t> </a:t>
            </a:r>
          </a:p>
        </p:txBody>
      </p:sp>
      <p:sp>
        <p:nvSpPr>
          <p:cNvPr id="22" name="TextBox 22"/>
          <p:cNvSpPr txBox="1"/>
          <p:nvPr/>
        </p:nvSpPr>
        <p:spPr>
          <a:xfrm>
            <a:off x="9986962" y="7623572"/>
            <a:ext cx="6572250" cy="615553"/>
          </a:xfrm>
          <a:prstGeom prst="rect">
            <a:avLst/>
          </a:prstGeom>
        </p:spPr>
        <p:txBody>
          <a:bodyPr lIns="0" tIns="0" rIns="0" bIns="0" rtlCol="0" anchor="t">
            <a:spAutoFit/>
          </a:bodyPr>
          <a:lstStyle/>
          <a:p>
            <a:pPr algn="r" rtl="1">
              <a:lnSpc>
                <a:spcPts val="2448"/>
              </a:lnSpc>
            </a:pPr>
            <a:r>
              <a:rPr lang="ar-EG" sz="1700" dirty="0">
                <a:solidFill>
                  <a:srgbClr val="475569"/>
                </a:solidFill>
                <a:latin typeface="Cairo Light"/>
                <a:ea typeface="Cairo Light"/>
                <a:cs typeface="Cairo Light"/>
                <a:sym typeface="Cairo Light"/>
                <a:rtl/>
              </a:rPr>
              <a:t>الفجوة الصغيرة جداً بين الخلايا، حيث تقفز الإشارة الكهربائية لتعبر للخلية التالية</a:t>
            </a:r>
            <a:r>
              <a:rPr lang="en-US" sz="1700" dirty="0">
                <a:solidFill>
                  <a:srgbClr val="475569"/>
                </a:solidFill>
                <a:latin typeface="Cairo Light"/>
                <a:ea typeface="Cairo Light"/>
                <a:cs typeface="Cairo Light"/>
                <a:sym typeface="Cairo Light"/>
              </a:rPr>
              <a:t>.</a:t>
            </a:r>
          </a:p>
        </p:txBody>
      </p:sp>
      <p:grpSp>
        <p:nvGrpSpPr>
          <p:cNvPr id="23" name="Group 23"/>
          <p:cNvGrpSpPr/>
          <p:nvPr/>
        </p:nvGrpSpPr>
        <p:grpSpPr>
          <a:xfrm>
            <a:off x="1271587" y="3832622"/>
            <a:ext cx="6507347" cy="85725"/>
            <a:chOff x="0" y="0"/>
            <a:chExt cx="8676462" cy="114300"/>
          </a:xfrm>
        </p:grpSpPr>
        <p:sp>
          <p:nvSpPr>
            <p:cNvPr id="24" name="Freeform 24"/>
            <p:cNvSpPr/>
            <p:nvPr/>
          </p:nvSpPr>
          <p:spPr>
            <a:xfrm>
              <a:off x="0" y="0"/>
              <a:ext cx="8676513" cy="114300"/>
            </a:xfrm>
            <a:custGeom>
              <a:avLst/>
              <a:gdLst/>
              <a:ahLst/>
              <a:cxnLst/>
              <a:rect l="l" t="t" r="r" b="b"/>
              <a:pathLst>
                <a:path w="8676513" h="114300">
                  <a:moveTo>
                    <a:pt x="0" y="0"/>
                  </a:moveTo>
                  <a:lnTo>
                    <a:pt x="8676513" y="0"/>
                  </a:lnTo>
                  <a:lnTo>
                    <a:pt x="8676513" y="114300"/>
                  </a:lnTo>
                  <a:lnTo>
                    <a:pt x="0" y="114300"/>
                  </a:lnTo>
                  <a:close/>
                </a:path>
              </a:pathLst>
            </a:custGeom>
            <a:solidFill>
              <a:srgbClr val="EA580C"/>
            </a:solidFill>
          </p:spPr>
          <p:txBody>
            <a:bodyPr/>
            <a:lstStyle/>
            <a:p>
              <a:endParaRPr lang="en-SA"/>
            </a:p>
          </p:txBody>
        </p:sp>
      </p:grpSp>
      <p:grpSp>
        <p:nvGrpSpPr>
          <p:cNvPr id="25" name="Group 25"/>
          <p:cNvGrpSpPr/>
          <p:nvPr/>
        </p:nvGrpSpPr>
        <p:grpSpPr>
          <a:xfrm>
            <a:off x="7778934" y="3818334"/>
            <a:ext cx="28575" cy="4000500"/>
            <a:chOff x="0" y="0"/>
            <a:chExt cx="38100" cy="5334000"/>
          </a:xfrm>
        </p:grpSpPr>
        <p:sp>
          <p:nvSpPr>
            <p:cNvPr id="26" name="Freeform 26"/>
            <p:cNvSpPr/>
            <p:nvPr/>
          </p:nvSpPr>
          <p:spPr>
            <a:xfrm>
              <a:off x="0" y="0"/>
              <a:ext cx="38100" cy="5334000"/>
            </a:xfrm>
            <a:custGeom>
              <a:avLst/>
              <a:gdLst/>
              <a:ahLst/>
              <a:cxnLst/>
              <a:rect l="l" t="t" r="r" b="b"/>
              <a:pathLst>
                <a:path w="38100" h="5334000">
                  <a:moveTo>
                    <a:pt x="0" y="0"/>
                  </a:moveTo>
                  <a:lnTo>
                    <a:pt x="38100" y="0"/>
                  </a:lnTo>
                  <a:lnTo>
                    <a:pt x="38100" y="5334000"/>
                  </a:lnTo>
                  <a:lnTo>
                    <a:pt x="0" y="5334000"/>
                  </a:lnTo>
                  <a:close/>
                </a:path>
              </a:pathLst>
            </a:custGeom>
            <a:solidFill>
              <a:srgbClr val="EA580C"/>
            </a:solidFill>
          </p:spPr>
          <p:txBody>
            <a:bodyPr/>
            <a:lstStyle/>
            <a:p>
              <a:endParaRPr lang="en-SA"/>
            </a:p>
          </p:txBody>
        </p:sp>
      </p:grpSp>
      <p:grpSp>
        <p:nvGrpSpPr>
          <p:cNvPr id="27" name="Group 27"/>
          <p:cNvGrpSpPr/>
          <p:nvPr/>
        </p:nvGrpSpPr>
        <p:grpSpPr>
          <a:xfrm>
            <a:off x="1285875" y="7804547"/>
            <a:ext cx="6507347" cy="28575"/>
            <a:chOff x="0" y="0"/>
            <a:chExt cx="8676462" cy="38100"/>
          </a:xfrm>
        </p:grpSpPr>
        <p:sp>
          <p:nvSpPr>
            <p:cNvPr id="28" name="Freeform 28"/>
            <p:cNvSpPr/>
            <p:nvPr/>
          </p:nvSpPr>
          <p:spPr>
            <a:xfrm>
              <a:off x="0" y="0"/>
              <a:ext cx="8676513" cy="38100"/>
            </a:xfrm>
            <a:custGeom>
              <a:avLst/>
              <a:gdLst/>
              <a:ahLst/>
              <a:cxnLst/>
              <a:rect l="l" t="t" r="r" b="b"/>
              <a:pathLst>
                <a:path w="8676513" h="38100">
                  <a:moveTo>
                    <a:pt x="0" y="0"/>
                  </a:moveTo>
                  <a:lnTo>
                    <a:pt x="8676513" y="0"/>
                  </a:lnTo>
                  <a:lnTo>
                    <a:pt x="8676513" y="38100"/>
                  </a:lnTo>
                  <a:lnTo>
                    <a:pt x="0" y="38100"/>
                  </a:lnTo>
                  <a:close/>
                </a:path>
              </a:pathLst>
            </a:custGeom>
            <a:solidFill>
              <a:srgbClr val="EA580C"/>
            </a:solidFill>
          </p:spPr>
          <p:txBody>
            <a:bodyPr/>
            <a:lstStyle/>
            <a:p>
              <a:endParaRPr lang="en-SA"/>
            </a:p>
          </p:txBody>
        </p:sp>
      </p:grpSp>
      <p:grpSp>
        <p:nvGrpSpPr>
          <p:cNvPr id="29" name="Group 29"/>
          <p:cNvGrpSpPr/>
          <p:nvPr/>
        </p:nvGrpSpPr>
        <p:grpSpPr>
          <a:xfrm>
            <a:off x="1285875" y="3832622"/>
            <a:ext cx="28575" cy="4000500"/>
            <a:chOff x="0" y="0"/>
            <a:chExt cx="38100" cy="5334000"/>
          </a:xfrm>
        </p:grpSpPr>
        <p:sp>
          <p:nvSpPr>
            <p:cNvPr id="30" name="Freeform 30"/>
            <p:cNvSpPr/>
            <p:nvPr/>
          </p:nvSpPr>
          <p:spPr>
            <a:xfrm>
              <a:off x="0" y="0"/>
              <a:ext cx="38100" cy="5334000"/>
            </a:xfrm>
            <a:custGeom>
              <a:avLst/>
              <a:gdLst/>
              <a:ahLst/>
              <a:cxnLst/>
              <a:rect l="l" t="t" r="r" b="b"/>
              <a:pathLst>
                <a:path w="38100" h="5334000">
                  <a:moveTo>
                    <a:pt x="0" y="0"/>
                  </a:moveTo>
                  <a:lnTo>
                    <a:pt x="38100" y="0"/>
                  </a:lnTo>
                  <a:lnTo>
                    <a:pt x="38100" y="5334000"/>
                  </a:lnTo>
                  <a:lnTo>
                    <a:pt x="0" y="5334000"/>
                  </a:lnTo>
                  <a:close/>
                </a:path>
              </a:pathLst>
            </a:custGeom>
            <a:solidFill>
              <a:srgbClr val="EA580C"/>
            </a:solidFill>
          </p:spPr>
          <p:txBody>
            <a:bodyPr/>
            <a:lstStyle/>
            <a:p>
              <a:endParaRPr lang="en-SA"/>
            </a:p>
          </p:txBody>
        </p:sp>
      </p:grpSp>
      <p:grpSp>
        <p:nvGrpSpPr>
          <p:cNvPr id="31" name="Group 31"/>
          <p:cNvGrpSpPr/>
          <p:nvPr/>
        </p:nvGrpSpPr>
        <p:grpSpPr>
          <a:xfrm>
            <a:off x="7157428" y="4071938"/>
            <a:ext cx="392906" cy="314325"/>
            <a:chOff x="0" y="0"/>
            <a:chExt cx="523875" cy="419100"/>
          </a:xfrm>
        </p:grpSpPr>
        <p:sp>
          <p:nvSpPr>
            <p:cNvPr id="32" name="Freeform 32" descr="preencoded.png"/>
            <p:cNvSpPr/>
            <p:nvPr/>
          </p:nvSpPr>
          <p:spPr>
            <a:xfrm>
              <a:off x="0" y="0"/>
              <a:ext cx="523875" cy="419100"/>
            </a:xfrm>
            <a:custGeom>
              <a:avLst/>
              <a:gdLst/>
              <a:ahLst/>
              <a:cxnLst/>
              <a:rect l="l" t="t" r="r" b="b"/>
              <a:pathLst>
                <a:path w="523875" h="419100">
                  <a:moveTo>
                    <a:pt x="0" y="0"/>
                  </a:moveTo>
                  <a:lnTo>
                    <a:pt x="523875" y="0"/>
                  </a:lnTo>
                  <a:lnTo>
                    <a:pt x="523875" y="419100"/>
                  </a:lnTo>
                  <a:lnTo>
                    <a:pt x="0" y="419100"/>
                  </a:lnTo>
                  <a:lnTo>
                    <a:pt x="0" y="0"/>
                  </a:lnTo>
                  <a:close/>
                </a:path>
              </a:pathLst>
            </a:custGeom>
            <a:blipFill>
              <a:blip r:embed="rId8"/>
              <a:stretch>
                <a:fillRect/>
              </a:stretch>
            </a:blipFill>
          </p:spPr>
          <p:txBody>
            <a:bodyPr/>
            <a:lstStyle/>
            <a:p>
              <a:endParaRPr lang="en-SA"/>
            </a:p>
          </p:txBody>
        </p:sp>
      </p:grpSp>
      <p:sp>
        <p:nvSpPr>
          <p:cNvPr id="33" name="TextBox 33"/>
          <p:cNvSpPr txBox="1"/>
          <p:nvPr/>
        </p:nvSpPr>
        <p:spPr>
          <a:xfrm>
            <a:off x="3637955" y="4056459"/>
            <a:ext cx="3343275" cy="589359"/>
          </a:xfrm>
          <a:prstGeom prst="rect">
            <a:avLst/>
          </a:prstGeom>
        </p:spPr>
        <p:txBody>
          <a:bodyPr lIns="0" tIns="0" rIns="0" bIns="0" rtlCol="0" anchor="t">
            <a:spAutoFit/>
          </a:bodyPr>
          <a:lstStyle/>
          <a:p>
            <a:pPr algn="r">
              <a:lnSpc>
                <a:spcPts val="2640"/>
              </a:lnSpc>
            </a:pPr>
            <a:r>
              <a:rPr lang="ar-EG" sz="2200" b="1">
                <a:solidFill>
                  <a:srgbClr val="0F172A"/>
                </a:solidFill>
                <a:latin typeface="Cairo Bold"/>
                <a:ea typeface="Cairo Bold"/>
                <a:cs typeface="Cairo Bold"/>
                <a:sym typeface="Cairo Bold"/>
                <a:rtl/>
              </a:rPr>
              <a:t>كيف تتخذ الخلية قرارها؟</a:t>
            </a:r>
          </a:p>
        </p:txBody>
      </p:sp>
      <p:sp>
        <p:nvSpPr>
          <p:cNvPr id="34" name="TextBox 34"/>
          <p:cNvSpPr txBox="1"/>
          <p:nvPr/>
        </p:nvSpPr>
        <p:spPr>
          <a:xfrm>
            <a:off x="1728788" y="4843462"/>
            <a:ext cx="5821547" cy="648896"/>
          </a:xfrm>
          <a:prstGeom prst="rect">
            <a:avLst/>
          </a:prstGeom>
        </p:spPr>
        <p:txBody>
          <a:bodyPr lIns="0" tIns="0" rIns="0" bIns="0" rtlCol="0" anchor="t">
            <a:spAutoFit/>
          </a:bodyPr>
          <a:lstStyle/>
          <a:p>
            <a:pPr algn="r" rtl="1">
              <a:lnSpc>
                <a:spcPts val="2611"/>
              </a:lnSpc>
            </a:pPr>
            <a:r>
              <a:rPr lang="ar-EG" sz="1700" dirty="0">
                <a:solidFill>
                  <a:srgbClr val="475569"/>
                </a:solidFill>
                <a:latin typeface="Cairo"/>
                <a:ea typeface="Cairo"/>
                <a:cs typeface="Cairo"/>
                <a:sym typeface="Cairo"/>
                <a:rtl/>
              </a:rPr>
              <a:t>الخلية العصبية لا تمرر الإشارات بضعف. إنها تجمع الإشارات في جسم الخلية أولاً</a:t>
            </a:r>
            <a:r>
              <a:rPr lang="en-US" sz="1700" dirty="0">
                <a:solidFill>
                  <a:srgbClr val="475569"/>
                </a:solidFill>
                <a:latin typeface="Cairo"/>
                <a:ea typeface="Cairo"/>
                <a:cs typeface="Cairo"/>
                <a:sym typeface="Cairo"/>
              </a:rPr>
              <a:t>.</a:t>
            </a:r>
          </a:p>
        </p:txBody>
      </p:sp>
      <p:sp>
        <p:nvSpPr>
          <p:cNvPr id="35" name="TextBox 35"/>
          <p:cNvSpPr txBox="1"/>
          <p:nvPr/>
        </p:nvSpPr>
        <p:spPr>
          <a:xfrm>
            <a:off x="1600200" y="6078141"/>
            <a:ext cx="6050147" cy="1020792"/>
          </a:xfrm>
          <a:prstGeom prst="rect">
            <a:avLst/>
          </a:prstGeom>
        </p:spPr>
        <p:txBody>
          <a:bodyPr lIns="0" tIns="0" rIns="0" bIns="0" rtlCol="0" anchor="t">
            <a:spAutoFit/>
          </a:bodyPr>
          <a:lstStyle/>
          <a:p>
            <a:pPr algn="r">
              <a:lnSpc>
                <a:spcPts val="2918"/>
              </a:lnSpc>
            </a:pPr>
            <a:r>
              <a:rPr lang="en-US" sz="1899" b="1" dirty="0">
                <a:solidFill>
                  <a:srgbClr val="475569"/>
                </a:solidFill>
                <a:latin typeface="Cairo Bold"/>
                <a:ea typeface="Cairo Bold"/>
                <a:cs typeface="Cairo Bold"/>
                <a:sym typeface="Cairo Bold"/>
              </a:rPr>
              <a:t>: </a:t>
            </a:r>
            <a:r>
              <a:rPr lang="ar-EG" sz="1899" b="1" dirty="0">
                <a:solidFill>
                  <a:srgbClr val="475569"/>
                </a:solidFill>
                <a:latin typeface="Cairo Bold"/>
                <a:ea typeface="Cairo Bold"/>
                <a:cs typeface="Cairo Bold"/>
                <a:sym typeface="Cairo Bold"/>
                <a:rtl/>
              </a:rPr>
              <a:t>قانون الكل أو لا شيء</a:t>
            </a:r>
          </a:p>
          <a:p>
            <a:pPr algn="r">
              <a:lnSpc>
                <a:spcPts val="2611"/>
              </a:lnSpc>
            </a:pPr>
            <a:r>
              <a:rPr lang="ar-EG" sz="1700" dirty="0">
                <a:solidFill>
                  <a:srgbClr val="475569"/>
                </a:solidFill>
                <a:latin typeface="Cairo"/>
                <a:ea typeface="Cairo"/>
                <a:cs typeface="Cairo"/>
                <a:sym typeface="Cairo"/>
                <a:rtl/>
              </a:rPr>
              <a:t>إذا كان مجموع الإشارات قوياً بما يكفي ← تُطلق الخلية شرارة وتعمل</a:t>
            </a:r>
            <a:r>
              <a:rPr lang="en-US" sz="1700" dirty="0">
                <a:solidFill>
                  <a:srgbClr val="475569"/>
                </a:solidFill>
                <a:latin typeface="Cairo"/>
                <a:ea typeface="Cairo"/>
                <a:cs typeface="Cairo"/>
                <a:sym typeface="Cairo"/>
              </a:rPr>
              <a:t>.</a:t>
            </a:r>
          </a:p>
          <a:p>
            <a:pPr algn="r" rtl="1">
              <a:lnSpc>
                <a:spcPts val="2611"/>
              </a:lnSpc>
            </a:pPr>
            <a:r>
              <a:rPr lang="ar-EG" sz="1700" dirty="0">
                <a:solidFill>
                  <a:srgbClr val="475569"/>
                </a:solidFill>
                <a:latin typeface="Cairo"/>
                <a:ea typeface="Cairo"/>
                <a:cs typeface="Cairo"/>
                <a:sym typeface="Cairo"/>
                <a:rtl/>
              </a:rPr>
              <a:t>إذا كان ضعيفاً ← تظل صامتة تماماً</a:t>
            </a:r>
            <a:r>
              <a:rPr lang="en-US" sz="1700" dirty="0">
                <a:solidFill>
                  <a:srgbClr val="475569"/>
                </a:solidFill>
                <a:latin typeface="Cairo"/>
                <a:ea typeface="Cairo"/>
                <a:cs typeface="Cairo"/>
                <a:sym typeface="Cairo"/>
              </a:rPr>
              <a:t>.</a:t>
            </a:r>
          </a:p>
        </p:txBody>
      </p:sp>
      <p:sp>
        <p:nvSpPr>
          <p:cNvPr id="36" name="TextBox 36"/>
          <p:cNvSpPr txBox="1"/>
          <p:nvPr/>
        </p:nvSpPr>
        <p:spPr>
          <a:xfrm>
            <a:off x="13944600" y="9601200"/>
            <a:ext cx="3172144" cy="333425"/>
          </a:xfrm>
          <a:prstGeom prst="rect">
            <a:avLst/>
          </a:prstGeom>
        </p:spPr>
        <p:txBody>
          <a:bodyPr wrap="square" lIns="0" tIns="0" rIns="0" bIns="0" rtlCol="0" anchor="t">
            <a:spAutoFit/>
          </a:bodyPr>
          <a:lstStyle/>
          <a:p>
            <a:pPr algn="r">
              <a:lnSpc>
                <a:spcPts val="2595"/>
              </a:lnSpc>
            </a:pPr>
            <a:r>
              <a:rPr lang="ar-EG" sz="1800" dirty="0">
                <a:solidFill>
                  <a:srgbClr val="64748B"/>
                </a:solidFill>
                <a:latin typeface="Cairo Light"/>
                <a:ea typeface="Cairo Light"/>
                <a:cs typeface="Cairo Light"/>
                <a:sym typeface="Cairo Light"/>
                <a:rtl/>
              </a:rPr>
              <a:t>اليوم الثالث · مبني على صورتنا</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525"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SA"/>
            </a:p>
          </p:txBody>
        </p:sp>
      </p:grpSp>
      <p:grpSp>
        <p:nvGrpSpPr>
          <p:cNvPr id="4" name="Group 4"/>
          <p:cNvGrpSpPr/>
          <p:nvPr/>
        </p:nvGrpSpPr>
        <p:grpSpPr>
          <a:xfrm>
            <a:off x="1271587" y="3832622"/>
            <a:ext cx="6507347" cy="85725"/>
            <a:chOff x="0" y="0"/>
            <a:chExt cx="8676462" cy="114300"/>
          </a:xfrm>
        </p:grpSpPr>
        <p:sp>
          <p:nvSpPr>
            <p:cNvPr id="5" name="Freeform 5"/>
            <p:cNvSpPr/>
            <p:nvPr/>
          </p:nvSpPr>
          <p:spPr>
            <a:xfrm>
              <a:off x="0" y="0"/>
              <a:ext cx="8676513" cy="114300"/>
            </a:xfrm>
            <a:custGeom>
              <a:avLst/>
              <a:gdLst/>
              <a:ahLst/>
              <a:cxnLst/>
              <a:rect l="l" t="t" r="r" b="b"/>
              <a:pathLst>
                <a:path w="8676513" h="114300">
                  <a:moveTo>
                    <a:pt x="0" y="0"/>
                  </a:moveTo>
                  <a:lnTo>
                    <a:pt x="8676513" y="0"/>
                  </a:lnTo>
                  <a:lnTo>
                    <a:pt x="8676513" y="114300"/>
                  </a:lnTo>
                  <a:lnTo>
                    <a:pt x="0" y="114300"/>
                  </a:lnTo>
                  <a:close/>
                </a:path>
              </a:pathLst>
            </a:custGeom>
            <a:solidFill>
              <a:srgbClr val="EA580C"/>
            </a:solidFill>
          </p:spPr>
          <p:txBody>
            <a:bodyPr/>
            <a:lstStyle/>
            <a:p>
              <a:endParaRPr lang="en-SA"/>
            </a:p>
          </p:txBody>
        </p:sp>
      </p:grpSp>
      <p:grpSp>
        <p:nvGrpSpPr>
          <p:cNvPr id="6" name="Group 6"/>
          <p:cNvGrpSpPr/>
          <p:nvPr/>
        </p:nvGrpSpPr>
        <p:grpSpPr>
          <a:xfrm>
            <a:off x="7778934" y="3818334"/>
            <a:ext cx="28575" cy="4000500"/>
            <a:chOff x="0" y="0"/>
            <a:chExt cx="38100" cy="5334000"/>
          </a:xfrm>
        </p:grpSpPr>
        <p:sp>
          <p:nvSpPr>
            <p:cNvPr id="7" name="Freeform 7"/>
            <p:cNvSpPr/>
            <p:nvPr/>
          </p:nvSpPr>
          <p:spPr>
            <a:xfrm>
              <a:off x="0" y="0"/>
              <a:ext cx="38100" cy="5334000"/>
            </a:xfrm>
            <a:custGeom>
              <a:avLst/>
              <a:gdLst/>
              <a:ahLst/>
              <a:cxnLst/>
              <a:rect l="l" t="t" r="r" b="b"/>
              <a:pathLst>
                <a:path w="38100" h="5334000">
                  <a:moveTo>
                    <a:pt x="0" y="0"/>
                  </a:moveTo>
                  <a:lnTo>
                    <a:pt x="38100" y="0"/>
                  </a:lnTo>
                  <a:lnTo>
                    <a:pt x="38100" y="5334000"/>
                  </a:lnTo>
                  <a:lnTo>
                    <a:pt x="0" y="5334000"/>
                  </a:lnTo>
                  <a:close/>
                </a:path>
              </a:pathLst>
            </a:custGeom>
            <a:solidFill>
              <a:srgbClr val="EA580C"/>
            </a:solidFill>
          </p:spPr>
          <p:txBody>
            <a:bodyPr/>
            <a:lstStyle/>
            <a:p>
              <a:endParaRPr lang="en-SA"/>
            </a:p>
          </p:txBody>
        </p:sp>
      </p:grpSp>
      <p:grpSp>
        <p:nvGrpSpPr>
          <p:cNvPr id="8" name="Group 8"/>
          <p:cNvGrpSpPr/>
          <p:nvPr/>
        </p:nvGrpSpPr>
        <p:grpSpPr>
          <a:xfrm>
            <a:off x="1285875" y="7804547"/>
            <a:ext cx="6507347" cy="28575"/>
            <a:chOff x="0" y="0"/>
            <a:chExt cx="8676462" cy="38100"/>
          </a:xfrm>
        </p:grpSpPr>
        <p:sp>
          <p:nvSpPr>
            <p:cNvPr id="9" name="Freeform 9"/>
            <p:cNvSpPr/>
            <p:nvPr/>
          </p:nvSpPr>
          <p:spPr>
            <a:xfrm>
              <a:off x="0" y="0"/>
              <a:ext cx="8676513" cy="38100"/>
            </a:xfrm>
            <a:custGeom>
              <a:avLst/>
              <a:gdLst/>
              <a:ahLst/>
              <a:cxnLst/>
              <a:rect l="l" t="t" r="r" b="b"/>
              <a:pathLst>
                <a:path w="8676513" h="38100">
                  <a:moveTo>
                    <a:pt x="0" y="0"/>
                  </a:moveTo>
                  <a:lnTo>
                    <a:pt x="8676513" y="0"/>
                  </a:lnTo>
                  <a:lnTo>
                    <a:pt x="8676513" y="38100"/>
                  </a:lnTo>
                  <a:lnTo>
                    <a:pt x="0" y="38100"/>
                  </a:lnTo>
                  <a:close/>
                </a:path>
              </a:pathLst>
            </a:custGeom>
            <a:solidFill>
              <a:srgbClr val="EA580C"/>
            </a:solidFill>
          </p:spPr>
          <p:txBody>
            <a:bodyPr/>
            <a:lstStyle/>
            <a:p>
              <a:endParaRPr lang="en-SA"/>
            </a:p>
          </p:txBody>
        </p:sp>
      </p:grpSp>
      <p:grpSp>
        <p:nvGrpSpPr>
          <p:cNvPr id="10" name="Group 10"/>
          <p:cNvGrpSpPr/>
          <p:nvPr/>
        </p:nvGrpSpPr>
        <p:grpSpPr>
          <a:xfrm>
            <a:off x="1285875" y="3832622"/>
            <a:ext cx="28575" cy="4000500"/>
            <a:chOff x="0" y="0"/>
            <a:chExt cx="38100" cy="5334000"/>
          </a:xfrm>
        </p:grpSpPr>
        <p:sp>
          <p:nvSpPr>
            <p:cNvPr id="11" name="Freeform 11"/>
            <p:cNvSpPr/>
            <p:nvPr/>
          </p:nvSpPr>
          <p:spPr>
            <a:xfrm>
              <a:off x="0" y="0"/>
              <a:ext cx="38100" cy="5334000"/>
            </a:xfrm>
            <a:custGeom>
              <a:avLst/>
              <a:gdLst/>
              <a:ahLst/>
              <a:cxnLst/>
              <a:rect l="l" t="t" r="r" b="b"/>
              <a:pathLst>
                <a:path w="38100" h="5334000">
                  <a:moveTo>
                    <a:pt x="0" y="0"/>
                  </a:moveTo>
                  <a:lnTo>
                    <a:pt x="38100" y="0"/>
                  </a:lnTo>
                  <a:lnTo>
                    <a:pt x="38100" y="5334000"/>
                  </a:lnTo>
                  <a:lnTo>
                    <a:pt x="0" y="5334000"/>
                  </a:lnTo>
                  <a:close/>
                </a:path>
              </a:pathLst>
            </a:custGeom>
            <a:solidFill>
              <a:srgbClr val="EA580C"/>
            </a:solidFill>
          </p:spPr>
          <p:txBody>
            <a:bodyPr/>
            <a:lstStyle/>
            <a:p>
              <a:endParaRPr lang="en-SA"/>
            </a:p>
          </p:txBody>
        </p:sp>
      </p:grpSp>
      <p:grpSp>
        <p:nvGrpSpPr>
          <p:cNvPr id="12" name="Group 12"/>
          <p:cNvGrpSpPr/>
          <p:nvPr/>
        </p:nvGrpSpPr>
        <p:grpSpPr>
          <a:xfrm>
            <a:off x="7157428" y="4071938"/>
            <a:ext cx="392906" cy="314325"/>
            <a:chOff x="0" y="0"/>
            <a:chExt cx="523875" cy="419100"/>
          </a:xfrm>
        </p:grpSpPr>
        <p:sp>
          <p:nvSpPr>
            <p:cNvPr id="13" name="Freeform 13" descr="preencoded.png"/>
            <p:cNvSpPr/>
            <p:nvPr/>
          </p:nvSpPr>
          <p:spPr>
            <a:xfrm>
              <a:off x="0" y="0"/>
              <a:ext cx="523875" cy="419100"/>
            </a:xfrm>
            <a:custGeom>
              <a:avLst/>
              <a:gdLst/>
              <a:ahLst/>
              <a:cxnLst/>
              <a:rect l="l" t="t" r="r" b="b"/>
              <a:pathLst>
                <a:path w="523875" h="419100">
                  <a:moveTo>
                    <a:pt x="0" y="0"/>
                  </a:moveTo>
                  <a:lnTo>
                    <a:pt x="523875" y="0"/>
                  </a:lnTo>
                  <a:lnTo>
                    <a:pt x="523875" y="419100"/>
                  </a:lnTo>
                  <a:lnTo>
                    <a:pt x="0" y="419100"/>
                  </a:lnTo>
                  <a:lnTo>
                    <a:pt x="0" y="0"/>
                  </a:lnTo>
                  <a:close/>
                </a:path>
              </a:pathLst>
            </a:custGeom>
            <a:blipFill>
              <a:blip r:embed="rId4"/>
              <a:stretch>
                <a:fillRect/>
              </a:stretch>
            </a:blipFill>
          </p:spPr>
          <p:txBody>
            <a:bodyPr/>
            <a:lstStyle/>
            <a:p>
              <a:endParaRPr lang="en-SA"/>
            </a:p>
          </p:txBody>
        </p:sp>
      </p:grpSp>
      <p:sp>
        <p:nvSpPr>
          <p:cNvPr id="14" name="Freeform 14"/>
          <p:cNvSpPr/>
          <p:nvPr/>
        </p:nvSpPr>
        <p:spPr>
          <a:xfrm>
            <a:off x="8302809" y="3679935"/>
            <a:ext cx="9056123" cy="4777361"/>
          </a:xfrm>
          <a:custGeom>
            <a:avLst/>
            <a:gdLst/>
            <a:ahLst/>
            <a:cxnLst/>
            <a:rect l="l" t="t" r="r" b="b"/>
            <a:pathLst>
              <a:path w="9056123" h="4777361">
                <a:moveTo>
                  <a:pt x="0" y="0"/>
                </a:moveTo>
                <a:lnTo>
                  <a:pt x="9056124" y="0"/>
                </a:lnTo>
                <a:lnTo>
                  <a:pt x="9056124" y="4777361"/>
                </a:lnTo>
                <a:lnTo>
                  <a:pt x="0" y="4777361"/>
                </a:lnTo>
                <a:lnTo>
                  <a:pt x="0" y="0"/>
                </a:lnTo>
                <a:close/>
              </a:path>
            </a:pathLst>
          </a:custGeom>
          <a:blipFill>
            <a:blip r:embed="rId5"/>
            <a:stretch>
              <a:fillRect l="-1264" t="-5925" r="-1264"/>
            </a:stretch>
          </a:blipFill>
        </p:spPr>
        <p:txBody>
          <a:bodyPr/>
          <a:lstStyle/>
          <a:p>
            <a:endParaRPr lang="en-SA"/>
          </a:p>
        </p:txBody>
      </p:sp>
      <p:sp>
        <p:nvSpPr>
          <p:cNvPr id="15" name="TextBox 15"/>
          <p:cNvSpPr txBox="1"/>
          <p:nvPr/>
        </p:nvSpPr>
        <p:spPr>
          <a:xfrm>
            <a:off x="11597878" y="1000125"/>
            <a:ext cx="5404247" cy="642938"/>
          </a:xfrm>
          <a:prstGeom prst="rect">
            <a:avLst/>
          </a:prstGeom>
        </p:spPr>
        <p:txBody>
          <a:bodyPr lIns="0" tIns="0" rIns="0" bIns="0" rtlCol="0" anchor="t">
            <a:spAutoFit/>
          </a:bodyPr>
          <a:lstStyle/>
          <a:p>
            <a:pPr algn="r">
              <a:lnSpc>
                <a:spcPts val="2879"/>
              </a:lnSpc>
            </a:pPr>
            <a:r>
              <a:rPr lang="ar-EG" sz="2400" b="1">
                <a:solidFill>
                  <a:srgbClr val="0F172A"/>
                </a:solidFill>
                <a:latin typeface="Cairo Bold"/>
                <a:ea typeface="Cairo Bold"/>
                <a:cs typeface="Cairo Bold"/>
                <a:sym typeface="Cairo Bold"/>
                <a:rtl/>
              </a:rPr>
              <a:t>تعرّف على الخلية العصبية البيولوجية</a:t>
            </a:r>
          </a:p>
        </p:txBody>
      </p:sp>
      <p:sp>
        <p:nvSpPr>
          <p:cNvPr id="16" name="TextBox 16"/>
          <p:cNvSpPr txBox="1"/>
          <p:nvPr/>
        </p:nvSpPr>
        <p:spPr>
          <a:xfrm>
            <a:off x="1285875" y="1107281"/>
            <a:ext cx="3568303" cy="238125"/>
          </a:xfrm>
          <a:prstGeom prst="rect">
            <a:avLst/>
          </a:prstGeom>
        </p:spPr>
        <p:txBody>
          <a:bodyPr lIns="0" tIns="0" rIns="0" bIns="0" rtlCol="0" anchor="t">
            <a:spAutoFit/>
          </a:bodyPr>
          <a:lstStyle/>
          <a:p>
            <a:pPr algn="r">
              <a:lnSpc>
                <a:spcPts val="1920"/>
              </a:lnSpc>
            </a:pPr>
            <a:r>
              <a:rPr lang="ar-EG" sz="1600" b="1">
                <a:solidFill>
                  <a:srgbClr val="EA580C"/>
                </a:solidFill>
                <a:latin typeface="Cairo Bold"/>
                <a:ea typeface="Cairo Bold"/>
                <a:cs typeface="Cairo Bold"/>
                <a:sym typeface="Cairo Bold"/>
                <a:rtl/>
              </a:rPr>
              <a:t>القسم الثاني: خيال</a:t>
            </a:r>
          </a:p>
        </p:txBody>
      </p:sp>
      <p:sp>
        <p:nvSpPr>
          <p:cNvPr id="17" name="TextBox 17"/>
          <p:cNvSpPr txBox="1"/>
          <p:nvPr/>
        </p:nvSpPr>
        <p:spPr>
          <a:xfrm>
            <a:off x="1285875" y="2271712"/>
            <a:ext cx="15716250" cy="750094"/>
          </a:xfrm>
          <a:prstGeom prst="rect">
            <a:avLst/>
          </a:prstGeom>
        </p:spPr>
        <p:txBody>
          <a:bodyPr lIns="0" tIns="0" rIns="0" bIns="0" rtlCol="0" anchor="t">
            <a:spAutoFit/>
          </a:bodyPr>
          <a:lstStyle/>
          <a:p>
            <a:pPr algn="r">
              <a:lnSpc>
                <a:spcPts val="3359"/>
              </a:lnSpc>
            </a:pPr>
            <a:r>
              <a:rPr lang="ar-EG" sz="2799" b="1">
                <a:solidFill>
                  <a:srgbClr val="0F172A"/>
                </a:solidFill>
                <a:latin typeface="Cairo Bold"/>
                <a:ea typeface="Cairo Bold"/>
                <a:cs typeface="Cairo Bold"/>
                <a:sym typeface="Cairo Bold"/>
                <a:rtl/>
              </a:rPr>
              <a:t>كل فكرة خطرت لك في حياتك بدأت من هنا</a:t>
            </a:r>
          </a:p>
        </p:txBody>
      </p:sp>
      <p:sp>
        <p:nvSpPr>
          <p:cNvPr id="18" name="TextBox 18"/>
          <p:cNvSpPr txBox="1"/>
          <p:nvPr/>
        </p:nvSpPr>
        <p:spPr>
          <a:xfrm>
            <a:off x="3637955" y="4056459"/>
            <a:ext cx="3343275" cy="589359"/>
          </a:xfrm>
          <a:prstGeom prst="rect">
            <a:avLst/>
          </a:prstGeom>
        </p:spPr>
        <p:txBody>
          <a:bodyPr lIns="0" tIns="0" rIns="0" bIns="0" rtlCol="0" anchor="t">
            <a:spAutoFit/>
          </a:bodyPr>
          <a:lstStyle/>
          <a:p>
            <a:pPr algn="r">
              <a:lnSpc>
                <a:spcPts val="2640"/>
              </a:lnSpc>
            </a:pPr>
            <a:r>
              <a:rPr lang="ar-EG" sz="2200" b="1">
                <a:solidFill>
                  <a:srgbClr val="0F172A"/>
                </a:solidFill>
                <a:latin typeface="Cairo Bold"/>
                <a:ea typeface="Cairo Bold"/>
                <a:cs typeface="Cairo Bold"/>
                <a:sym typeface="Cairo Bold"/>
                <a:rtl/>
              </a:rPr>
              <a:t>كيف تتخذ الخلية قرارها؟</a:t>
            </a:r>
          </a:p>
        </p:txBody>
      </p:sp>
      <p:sp>
        <p:nvSpPr>
          <p:cNvPr id="19" name="TextBox 19"/>
          <p:cNvSpPr txBox="1"/>
          <p:nvPr/>
        </p:nvSpPr>
        <p:spPr>
          <a:xfrm>
            <a:off x="1728788" y="4843462"/>
            <a:ext cx="5821547" cy="648896"/>
          </a:xfrm>
          <a:prstGeom prst="rect">
            <a:avLst/>
          </a:prstGeom>
        </p:spPr>
        <p:txBody>
          <a:bodyPr lIns="0" tIns="0" rIns="0" bIns="0" rtlCol="0" anchor="t">
            <a:spAutoFit/>
          </a:bodyPr>
          <a:lstStyle/>
          <a:p>
            <a:pPr algn="r" rtl="1">
              <a:lnSpc>
                <a:spcPts val="2611"/>
              </a:lnSpc>
            </a:pPr>
            <a:r>
              <a:rPr lang="ar-EG" sz="1700" dirty="0">
                <a:solidFill>
                  <a:srgbClr val="475569"/>
                </a:solidFill>
                <a:latin typeface="Cairo"/>
                <a:ea typeface="Cairo"/>
                <a:cs typeface="Cairo"/>
                <a:sym typeface="Cairo"/>
                <a:rtl/>
              </a:rPr>
              <a:t>الخلية العصبية لا تمرر الإشارات بضعف. إنها تجمع الإشارات في جسم الخلية أولاً</a:t>
            </a:r>
            <a:r>
              <a:rPr lang="en-US" sz="1700" dirty="0">
                <a:solidFill>
                  <a:srgbClr val="475569"/>
                </a:solidFill>
                <a:latin typeface="Cairo"/>
                <a:ea typeface="Cairo"/>
                <a:cs typeface="Cairo"/>
                <a:sym typeface="Cairo"/>
              </a:rPr>
              <a:t>.</a:t>
            </a:r>
          </a:p>
        </p:txBody>
      </p:sp>
      <p:sp>
        <p:nvSpPr>
          <p:cNvPr id="20" name="TextBox 20"/>
          <p:cNvSpPr txBox="1"/>
          <p:nvPr/>
        </p:nvSpPr>
        <p:spPr>
          <a:xfrm>
            <a:off x="1600200" y="6078141"/>
            <a:ext cx="6050147" cy="1020792"/>
          </a:xfrm>
          <a:prstGeom prst="rect">
            <a:avLst/>
          </a:prstGeom>
        </p:spPr>
        <p:txBody>
          <a:bodyPr lIns="0" tIns="0" rIns="0" bIns="0" rtlCol="0" anchor="t">
            <a:spAutoFit/>
          </a:bodyPr>
          <a:lstStyle/>
          <a:p>
            <a:pPr algn="r">
              <a:lnSpc>
                <a:spcPts val="2918"/>
              </a:lnSpc>
            </a:pPr>
            <a:r>
              <a:rPr lang="en-US" sz="1899" b="1" dirty="0">
                <a:solidFill>
                  <a:srgbClr val="475569"/>
                </a:solidFill>
                <a:latin typeface="Cairo Bold"/>
                <a:ea typeface="Cairo Bold"/>
                <a:cs typeface="Cairo Bold"/>
                <a:sym typeface="Cairo Bold"/>
              </a:rPr>
              <a:t>: </a:t>
            </a:r>
            <a:r>
              <a:rPr lang="ar-EG" sz="1899" b="1" dirty="0">
                <a:solidFill>
                  <a:srgbClr val="475569"/>
                </a:solidFill>
                <a:latin typeface="Cairo Bold"/>
                <a:ea typeface="Cairo Bold"/>
                <a:cs typeface="Cairo Bold"/>
                <a:sym typeface="Cairo Bold"/>
                <a:rtl/>
              </a:rPr>
              <a:t>قانون الكل أو لا شيء</a:t>
            </a:r>
          </a:p>
          <a:p>
            <a:pPr algn="r">
              <a:lnSpc>
                <a:spcPts val="2611"/>
              </a:lnSpc>
            </a:pPr>
            <a:r>
              <a:rPr lang="ar-EG" sz="1700" dirty="0">
                <a:solidFill>
                  <a:srgbClr val="475569"/>
                </a:solidFill>
                <a:latin typeface="Cairo"/>
                <a:ea typeface="Cairo"/>
                <a:cs typeface="Cairo"/>
                <a:sym typeface="Cairo"/>
                <a:rtl/>
              </a:rPr>
              <a:t>إذا كان مجموع الإشارات قوياً بما يكفي ← تُطلق الخلية شرارة وتعمل</a:t>
            </a:r>
            <a:r>
              <a:rPr lang="en-US" sz="1700" dirty="0">
                <a:solidFill>
                  <a:srgbClr val="475569"/>
                </a:solidFill>
                <a:latin typeface="Cairo"/>
                <a:ea typeface="Cairo"/>
                <a:cs typeface="Cairo"/>
                <a:sym typeface="Cairo"/>
              </a:rPr>
              <a:t>.</a:t>
            </a:r>
          </a:p>
          <a:p>
            <a:pPr algn="r" rtl="1">
              <a:lnSpc>
                <a:spcPts val="2611"/>
              </a:lnSpc>
            </a:pPr>
            <a:r>
              <a:rPr lang="ar-EG" sz="1700" dirty="0">
                <a:solidFill>
                  <a:srgbClr val="475569"/>
                </a:solidFill>
                <a:latin typeface="Cairo"/>
                <a:ea typeface="Cairo"/>
                <a:cs typeface="Cairo"/>
                <a:sym typeface="Cairo"/>
                <a:rtl/>
              </a:rPr>
              <a:t>إذا كان ضعيفاً ← تظل صامتة تماماً</a:t>
            </a:r>
            <a:r>
              <a:rPr lang="en-US" sz="1700" dirty="0">
                <a:solidFill>
                  <a:srgbClr val="475569"/>
                </a:solidFill>
                <a:latin typeface="Cairo"/>
                <a:ea typeface="Cairo"/>
                <a:cs typeface="Cairo"/>
                <a:sym typeface="Cairo"/>
              </a:rPr>
              <a:t>.</a:t>
            </a:r>
          </a:p>
        </p:txBody>
      </p:sp>
      <p:sp>
        <p:nvSpPr>
          <p:cNvPr id="21" name="TextBox 21"/>
          <p:cNvSpPr txBox="1"/>
          <p:nvPr/>
        </p:nvSpPr>
        <p:spPr>
          <a:xfrm>
            <a:off x="13716000" y="9601200"/>
            <a:ext cx="3400744" cy="333425"/>
          </a:xfrm>
          <a:prstGeom prst="rect">
            <a:avLst/>
          </a:prstGeom>
        </p:spPr>
        <p:txBody>
          <a:bodyPr wrap="square" lIns="0" tIns="0" rIns="0" bIns="0" rtlCol="0" anchor="t">
            <a:spAutoFit/>
          </a:bodyPr>
          <a:lstStyle/>
          <a:p>
            <a:pPr algn="r">
              <a:lnSpc>
                <a:spcPts val="2595"/>
              </a:lnSpc>
            </a:pPr>
            <a:r>
              <a:rPr lang="ar-EG" sz="1800" dirty="0">
                <a:solidFill>
                  <a:srgbClr val="64748B"/>
                </a:solidFill>
                <a:latin typeface="Cairo Light"/>
                <a:ea typeface="Cairo Light"/>
                <a:cs typeface="Cairo Light"/>
                <a:sym typeface="Cairo Light"/>
                <a:rtl/>
              </a:rPr>
              <a:t>اليوم الثالث · مبني على صورتنا</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SA"/>
            </a:p>
          </p:txBody>
        </p:sp>
      </p:grpSp>
      <p:sp>
        <p:nvSpPr>
          <p:cNvPr id="4" name="TextBox 4"/>
          <p:cNvSpPr txBox="1"/>
          <p:nvPr/>
        </p:nvSpPr>
        <p:spPr>
          <a:xfrm>
            <a:off x="13876734" y="1000125"/>
            <a:ext cx="3125391" cy="642938"/>
          </a:xfrm>
          <a:prstGeom prst="rect">
            <a:avLst/>
          </a:prstGeom>
        </p:spPr>
        <p:txBody>
          <a:bodyPr lIns="0" tIns="0" rIns="0" bIns="0" rtlCol="0" anchor="t">
            <a:spAutoFit/>
          </a:bodyPr>
          <a:lstStyle/>
          <a:p>
            <a:pPr algn="r">
              <a:lnSpc>
                <a:spcPts val="2879"/>
              </a:lnSpc>
            </a:pPr>
            <a:r>
              <a:rPr lang="ar-EG" sz="2400" b="1">
                <a:solidFill>
                  <a:srgbClr val="0F172A"/>
                </a:solidFill>
                <a:latin typeface="Cairo Bold"/>
                <a:ea typeface="Cairo Bold"/>
                <a:cs typeface="Cairo Bold"/>
                <a:sym typeface="Cairo Bold"/>
                <a:rtl/>
              </a:rPr>
              <a:t>الدماغ مقابل الشبكة</a:t>
            </a:r>
          </a:p>
        </p:txBody>
      </p:sp>
      <p:sp>
        <p:nvSpPr>
          <p:cNvPr id="5" name="TextBox 5"/>
          <p:cNvSpPr txBox="1"/>
          <p:nvPr/>
        </p:nvSpPr>
        <p:spPr>
          <a:xfrm>
            <a:off x="1285875" y="1107281"/>
            <a:ext cx="3568303" cy="238125"/>
          </a:xfrm>
          <a:prstGeom prst="rect">
            <a:avLst/>
          </a:prstGeom>
        </p:spPr>
        <p:txBody>
          <a:bodyPr lIns="0" tIns="0" rIns="0" bIns="0" rtlCol="0" anchor="t">
            <a:spAutoFit/>
          </a:bodyPr>
          <a:lstStyle/>
          <a:p>
            <a:pPr algn="r">
              <a:lnSpc>
                <a:spcPts val="1920"/>
              </a:lnSpc>
            </a:pPr>
            <a:r>
              <a:rPr lang="ar-EG" sz="1600" b="1">
                <a:solidFill>
                  <a:srgbClr val="EA580C"/>
                </a:solidFill>
                <a:latin typeface="Cairo Bold"/>
                <a:ea typeface="Cairo Bold"/>
                <a:cs typeface="Cairo Bold"/>
                <a:sym typeface="Cairo Bold"/>
                <a:rtl/>
              </a:rPr>
              <a:t>القسم الثاني: تشبيه الخلية العصبية</a:t>
            </a:r>
          </a:p>
        </p:txBody>
      </p:sp>
      <p:sp>
        <p:nvSpPr>
          <p:cNvPr id="6" name="TextBox 6"/>
          <p:cNvSpPr txBox="1"/>
          <p:nvPr/>
        </p:nvSpPr>
        <p:spPr>
          <a:xfrm>
            <a:off x="1285875" y="2271712"/>
            <a:ext cx="15716250" cy="436017"/>
          </a:xfrm>
          <a:prstGeom prst="rect">
            <a:avLst/>
          </a:prstGeom>
        </p:spPr>
        <p:txBody>
          <a:bodyPr lIns="0" tIns="0" rIns="0" bIns="0" rtlCol="0" anchor="t">
            <a:spAutoFit/>
          </a:bodyPr>
          <a:lstStyle/>
          <a:p>
            <a:pPr algn="r" rtl="1">
              <a:lnSpc>
                <a:spcPts val="3359"/>
              </a:lnSpc>
            </a:pPr>
            <a:r>
              <a:rPr lang="ar-EG" sz="2799" b="1" dirty="0">
                <a:solidFill>
                  <a:srgbClr val="0F172A"/>
                </a:solidFill>
                <a:latin typeface="Cairo Bold"/>
                <a:ea typeface="Cairo Bold"/>
                <a:cs typeface="Cairo Bold"/>
                <a:sym typeface="Cairo Bold"/>
                <a:rtl/>
              </a:rPr>
              <a:t>نفس المنطق تماماً.. مادة الصنع فقط مختلفة</a:t>
            </a:r>
            <a:r>
              <a:rPr lang="en-US" sz="2799" b="1" dirty="0">
                <a:solidFill>
                  <a:srgbClr val="0F172A"/>
                </a:solidFill>
                <a:latin typeface="Cairo Bold"/>
                <a:ea typeface="Cairo Bold"/>
                <a:cs typeface="Cairo Bold"/>
                <a:sym typeface="Cairo Bold"/>
              </a:rPr>
              <a:t>!</a:t>
            </a:r>
          </a:p>
        </p:txBody>
      </p:sp>
      <p:grpSp>
        <p:nvGrpSpPr>
          <p:cNvPr id="7" name="Group 7"/>
          <p:cNvGrpSpPr/>
          <p:nvPr/>
        </p:nvGrpSpPr>
        <p:grpSpPr>
          <a:xfrm>
            <a:off x="16687800" y="3838103"/>
            <a:ext cx="300038" cy="342900"/>
            <a:chOff x="0" y="0"/>
            <a:chExt cx="400050" cy="457200"/>
          </a:xfrm>
        </p:grpSpPr>
        <p:sp>
          <p:nvSpPr>
            <p:cNvPr id="8" name="Freeform 8" descr="preencoded.png"/>
            <p:cNvSpPr/>
            <p:nvPr/>
          </p:nvSpPr>
          <p:spPr>
            <a:xfrm>
              <a:off x="0" y="0"/>
              <a:ext cx="400050" cy="457200"/>
            </a:xfrm>
            <a:custGeom>
              <a:avLst/>
              <a:gdLst/>
              <a:ahLst/>
              <a:cxnLst/>
              <a:rect l="l" t="t" r="r" b="b"/>
              <a:pathLst>
                <a:path w="400050" h="457200">
                  <a:moveTo>
                    <a:pt x="0" y="0"/>
                  </a:moveTo>
                  <a:lnTo>
                    <a:pt x="400050" y="0"/>
                  </a:lnTo>
                  <a:lnTo>
                    <a:pt x="400050" y="457200"/>
                  </a:lnTo>
                  <a:lnTo>
                    <a:pt x="0" y="457200"/>
                  </a:lnTo>
                  <a:lnTo>
                    <a:pt x="0" y="0"/>
                  </a:lnTo>
                  <a:close/>
                </a:path>
              </a:pathLst>
            </a:custGeom>
            <a:blipFill>
              <a:blip r:embed="rId4"/>
              <a:stretch>
                <a:fillRect t="-2083" b="-2083"/>
              </a:stretch>
            </a:blipFill>
          </p:spPr>
          <p:txBody>
            <a:bodyPr/>
            <a:lstStyle/>
            <a:p>
              <a:endParaRPr lang="en-SA"/>
            </a:p>
          </p:txBody>
        </p:sp>
      </p:grpSp>
      <p:sp>
        <p:nvSpPr>
          <p:cNvPr id="9" name="TextBox 9"/>
          <p:cNvSpPr txBox="1"/>
          <p:nvPr/>
        </p:nvSpPr>
        <p:spPr>
          <a:xfrm>
            <a:off x="12783741" y="3861197"/>
            <a:ext cx="3746897" cy="642938"/>
          </a:xfrm>
          <a:prstGeom prst="rect">
            <a:avLst/>
          </a:prstGeom>
        </p:spPr>
        <p:txBody>
          <a:bodyPr lIns="0" tIns="0" rIns="0" bIns="0" rtlCol="0" anchor="t">
            <a:spAutoFit/>
          </a:bodyPr>
          <a:lstStyle/>
          <a:p>
            <a:pPr algn="r">
              <a:lnSpc>
                <a:spcPts val="2879"/>
              </a:lnSpc>
            </a:pPr>
            <a:r>
              <a:rPr lang="ar-EG" sz="2400" b="1">
                <a:solidFill>
                  <a:srgbClr val="0284C7"/>
                </a:solidFill>
                <a:latin typeface="Cairo Bold"/>
                <a:ea typeface="Cairo Bold"/>
                <a:cs typeface="Cairo Bold"/>
                <a:sym typeface="Cairo Bold"/>
                <a:rtl/>
              </a:rPr>
              <a:t>الخلية البيولوجية (الدماغ)</a:t>
            </a:r>
          </a:p>
        </p:txBody>
      </p:sp>
      <p:sp>
        <p:nvSpPr>
          <p:cNvPr id="10" name="TextBox 10"/>
          <p:cNvSpPr txBox="1"/>
          <p:nvPr/>
        </p:nvSpPr>
        <p:spPr>
          <a:xfrm>
            <a:off x="10315575" y="5075634"/>
            <a:ext cx="6372225" cy="482203"/>
          </a:xfrm>
          <a:prstGeom prst="rect">
            <a:avLst/>
          </a:prstGeom>
        </p:spPr>
        <p:txBody>
          <a:bodyPr lIns="0" tIns="0" rIns="0" bIns="0" rtlCol="0" anchor="t">
            <a:spAutoFit/>
          </a:bodyPr>
          <a:lstStyle/>
          <a:p>
            <a:pPr algn="r">
              <a:lnSpc>
                <a:spcPts val="2160"/>
              </a:lnSpc>
            </a:pPr>
            <a:r>
              <a:rPr lang="ar-EG" sz="1800" b="1">
                <a:solidFill>
                  <a:srgbClr val="0F172A"/>
                </a:solidFill>
                <a:latin typeface="Cairo Bold"/>
                <a:ea typeface="Cairo Bold"/>
                <a:cs typeface="Cairo Bold"/>
                <a:sym typeface="Cairo Bold"/>
                <a:rtl/>
              </a:rPr>
              <a:t>استقبال الإشارات</a:t>
            </a:r>
            <a:r>
              <a:rPr lang="en-US" sz="1800" b="1">
                <a:solidFill>
                  <a:srgbClr val="0F172A"/>
                </a:solidFill>
                <a:latin typeface="Cairo Bold"/>
                <a:ea typeface="Cairo Bold"/>
                <a:cs typeface="Cairo Bold"/>
                <a:sym typeface="Cairo Bold"/>
              </a:rPr>
              <a:t> 🌿</a:t>
            </a:r>
          </a:p>
        </p:txBody>
      </p:sp>
      <p:sp>
        <p:nvSpPr>
          <p:cNvPr id="11" name="TextBox 11"/>
          <p:cNvSpPr txBox="1"/>
          <p:nvPr/>
        </p:nvSpPr>
        <p:spPr>
          <a:xfrm>
            <a:off x="10315575" y="5605462"/>
            <a:ext cx="6372225" cy="294953"/>
          </a:xfrm>
          <a:prstGeom prst="rect">
            <a:avLst/>
          </a:prstGeom>
        </p:spPr>
        <p:txBody>
          <a:bodyPr lIns="0" tIns="0" rIns="0" bIns="0" rtlCol="0" anchor="t">
            <a:spAutoFit/>
          </a:bodyPr>
          <a:lstStyle/>
          <a:p>
            <a:pPr algn="r" rtl="1">
              <a:lnSpc>
                <a:spcPts val="2304"/>
              </a:lnSpc>
            </a:pPr>
            <a:r>
              <a:rPr lang="ar-EG" sz="1600" dirty="0">
                <a:solidFill>
                  <a:srgbClr val="475569"/>
                </a:solidFill>
                <a:latin typeface="Cairo"/>
                <a:ea typeface="Cairo"/>
                <a:cs typeface="Cairo"/>
                <a:sym typeface="Cairo"/>
                <a:rtl/>
              </a:rPr>
              <a:t>تستقبل التشعبات الإشارات الكيميائية والكهربائية من الخلايا المجاورة لها</a:t>
            </a:r>
            <a:r>
              <a:rPr lang="en-US" sz="1600" dirty="0">
                <a:solidFill>
                  <a:srgbClr val="475569"/>
                </a:solidFill>
                <a:latin typeface="Cairo"/>
                <a:ea typeface="Cairo"/>
                <a:cs typeface="Cairo"/>
                <a:sym typeface="Cairo"/>
              </a:rPr>
              <a:t>.</a:t>
            </a:r>
          </a:p>
        </p:txBody>
      </p:sp>
      <p:sp>
        <p:nvSpPr>
          <p:cNvPr id="12" name="TextBox 12"/>
          <p:cNvSpPr txBox="1"/>
          <p:nvPr/>
        </p:nvSpPr>
        <p:spPr>
          <a:xfrm>
            <a:off x="10315575" y="6933009"/>
            <a:ext cx="6372225" cy="482203"/>
          </a:xfrm>
          <a:prstGeom prst="rect">
            <a:avLst/>
          </a:prstGeom>
        </p:spPr>
        <p:txBody>
          <a:bodyPr lIns="0" tIns="0" rIns="0" bIns="0" rtlCol="0" anchor="t">
            <a:spAutoFit/>
          </a:bodyPr>
          <a:lstStyle/>
          <a:p>
            <a:pPr algn="r">
              <a:lnSpc>
                <a:spcPts val="2160"/>
              </a:lnSpc>
            </a:pPr>
            <a:r>
              <a:rPr lang="ar-EG" sz="1800" b="1">
                <a:solidFill>
                  <a:srgbClr val="0F172A"/>
                </a:solidFill>
                <a:latin typeface="Cairo Bold"/>
                <a:ea typeface="Cairo Bold"/>
                <a:cs typeface="Cairo Bold"/>
                <a:sym typeface="Cairo Bold"/>
                <a:rtl/>
              </a:rPr>
              <a:t>اتخاذ القرار</a:t>
            </a:r>
            <a:r>
              <a:rPr lang="en-US" sz="1800" b="1">
                <a:solidFill>
                  <a:srgbClr val="0F172A"/>
                </a:solidFill>
                <a:latin typeface="Cairo Bold"/>
                <a:ea typeface="Cairo Bold"/>
                <a:cs typeface="Cairo Bold"/>
                <a:sym typeface="Cairo Bold"/>
              </a:rPr>
              <a:t> ⚡</a:t>
            </a:r>
          </a:p>
        </p:txBody>
      </p:sp>
      <p:sp>
        <p:nvSpPr>
          <p:cNvPr id="13" name="TextBox 13"/>
          <p:cNvSpPr txBox="1"/>
          <p:nvPr/>
        </p:nvSpPr>
        <p:spPr>
          <a:xfrm>
            <a:off x="10315575" y="7462838"/>
            <a:ext cx="6372225" cy="589905"/>
          </a:xfrm>
          <a:prstGeom prst="rect">
            <a:avLst/>
          </a:prstGeom>
        </p:spPr>
        <p:txBody>
          <a:bodyPr lIns="0" tIns="0" rIns="0" bIns="0" rtlCol="0" anchor="t">
            <a:spAutoFit/>
          </a:bodyPr>
          <a:lstStyle/>
          <a:p>
            <a:pPr algn="r" rtl="1">
              <a:lnSpc>
                <a:spcPts val="2304"/>
              </a:lnSpc>
            </a:pPr>
            <a:r>
              <a:rPr lang="ar-EG" sz="1600" dirty="0">
                <a:solidFill>
                  <a:srgbClr val="475569"/>
                </a:solidFill>
                <a:latin typeface="Cairo"/>
                <a:ea typeface="Cairo"/>
                <a:cs typeface="Cairo"/>
                <a:sym typeface="Cairo"/>
                <a:rtl/>
              </a:rPr>
              <a:t>يجمع جسم الخلية الإشارات، وإذا كانت قوية بما يكفي، يطلق شرارة كهربائية عبر المحور</a:t>
            </a:r>
            <a:r>
              <a:rPr lang="en-US" sz="1600" dirty="0">
                <a:solidFill>
                  <a:srgbClr val="475569"/>
                </a:solidFill>
                <a:latin typeface="Cairo"/>
                <a:ea typeface="Cairo"/>
                <a:cs typeface="Cairo"/>
                <a:sym typeface="Cairo"/>
              </a:rPr>
              <a:t>.</a:t>
            </a:r>
          </a:p>
        </p:txBody>
      </p:sp>
      <p:sp>
        <p:nvSpPr>
          <p:cNvPr id="14" name="TextBox 14"/>
          <p:cNvSpPr txBox="1"/>
          <p:nvPr/>
        </p:nvSpPr>
        <p:spPr>
          <a:xfrm>
            <a:off x="8890397" y="5654278"/>
            <a:ext cx="507206" cy="771525"/>
          </a:xfrm>
          <a:prstGeom prst="rect">
            <a:avLst/>
          </a:prstGeom>
        </p:spPr>
        <p:txBody>
          <a:bodyPr lIns="0" tIns="0" rIns="0" bIns="0" rtlCol="0" anchor="t">
            <a:spAutoFit/>
          </a:bodyPr>
          <a:lstStyle/>
          <a:p>
            <a:pPr algn="r">
              <a:lnSpc>
                <a:spcPts val="6336"/>
              </a:lnSpc>
            </a:pPr>
            <a:r>
              <a:rPr lang="en-US" sz="6600" b="1">
                <a:solidFill>
                  <a:srgbClr val="475569"/>
                </a:solidFill>
                <a:latin typeface="Cairo Bold"/>
                <a:ea typeface="Cairo Bold"/>
                <a:cs typeface="Cairo Bold"/>
                <a:sym typeface="Cairo Bold"/>
              </a:rPr>
              <a:t>=</a:t>
            </a:r>
          </a:p>
        </p:txBody>
      </p:sp>
      <p:grpSp>
        <p:nvGrpSpPr>
          <p:cNvPr id="15" name="Group 15"/>
          <p:cNvGrpSpPr/>
          <p:nvPr/>
        </p:nvGrpSpPr>
        <p:grpSpPr>
          <a:xfrm>
            <a:off x="7943850" y="3871590"/>
            <a:ext cx="342900" cy="342900"/>
            <a:chOff x="0" y="0"/>
            <a:chExt cx="457200" cy="457200"/>
          </a:xfrm>
        </p:grpSpPr>
        <p:sp>
          <p:nvSpPr>
            <p:cNvPr id="16" name="Freeform 16" descr="preencoded.png"/>
            <p:cNvSpPr/>
            <p:nvPr/>
          </p:nvSpPr>
          <p:spPr>
            <a:xfrm>
              <a:off x="0" y="0"/>
              <a:ext cx="457200" cy="457200"/>
            </a:xfrm>
            <a:custGeom>
              <a:avLst/>
              <a:gdLst/>
              <a:ahLst/>
              <a:cxnLst/>
              <a:rect l="l" t="t" r="r" b="b"/>
              <a:pathLst>
                <a:path w="457200" h="457200">
                  <a:moveTo>
                    <a:pt x="0" y="0"/>
                  </a:moveTo>
                  <a:lnTo>
                    <a:pt x="457200" y="0"/>
                  </a:lnTo>
                  <a:lnTo>
                    <a:pt x="457200" y="457200"/>
                  </a:lnTo>
                  <a:lnTo>
                    <a:pt x="0" y="457200"/>
                  </a:lnTo>
                  <a:lnTo>
                    <a:pt x="0" y="0"/>
                  </a:lnTo>
                  <a:close/>
                </a:path>
              </a:pathLst>
            </a:custGeom>
            <a:blipFill>
              <a:blip r:embed="rId5"/>
              <a:stretch>
                <a:fillRect t="-2083" b="-2083"/>
              </a:stretch>
            </a:blipFill>
          </p:spPr>
          <p:txBody>
            <a:bodyPr/>
            <a:lstStyle/>
            <a:p>
              <a:endParaRPr lang="en-SA"/>
            </a:p>
          </p:txBody>
        </p:sp>
      </p:grpSp>
      <p:sp>
        <p:nvSpPr>
          <p:cNvPr id="17" name="TextBox 17"/>
          <p:cNvSpPr txBox="1"/>
          <p:nvPr/>
        </p:nvSpPr>
        <p:spPr>
          <a:xfrm>
            <a:off x="3307556" y="3861197"/>
            <a:ext cx="4464844" cy="642938"/>
          </a:xfrm>
          <a:prstGeom prst="rect">
            <a:avLst/>
          </a:prstGeom>
        </p:spPr>
        <p:txBody>
          <a:bodyPr lIns="0" tIns="0" rIns="0" bIns="0" rtlCol="0" anchor="t">
            <a:spAutoFit/>
          </a:bodyPr>
          <a:lstStyle/>
          <a:p>
            <a:pPr algn="r">
              <a:lnSpc>
                <a:spcPts val="2879"/>
              </a:lnSpc>
            </a:pPr>
            <a:r>
              <a:rPr lang="ar-EG" sz="2400" b="1">
                <a:solidFill>
                  <a:srgbClr val="EA580C"/>
                </a:solidFill>
                <a:latin typeface="Cairo Bold"/>
                <a:ea typeface="Cairo Bold"/>
                <a:cs typeface="Cairo Bold"/>
                <a:sym typeface="Cairo Bold"/>
                <a:rtl/>
              </a:rPr>
              <a:t>العقدة الاصطناعية (الحاسوب)</a:t>
            </a:r>
          </a:p>
        </p:txBody>
      </p:sp>
      <p:sp>
        <p:nvSpPr>
          <p:cNvPr id="18" name="TextBox 18"/>
          <p:cNvSpPr txBox="1"/>
          <p:nvPr/>
        </p:nvSpPr>
        <p:spPr>
          <a:xfrm>
            <a:off x="1600200" y="5075634"/>
            <a:ext cx="6372225" cy="482203"/>
          </a:xfrm>
          <a:prstGeom prst="rect">
            <a:avLst/>
          </a:prstGeom>
        </p:spPr>
        <p:txBody>
          <a:bodyPr lIns="0" tIns="0" rIns="0" bIns="0" rtlCol="0" anchor="t">
            <a:spAutoFit/>
          </a:bodyPr>
          <a:lstStyle/>
          <a:p>
            <a:pPr algn="r">
              <a:lnSpc>
                <a:spcPts val="2160"/>
              </a:lnSpc>
            </a:pPr>
            <a:r>
              <a:rPr lang="ar-EG" sz="1800" b="1">
                <a:solidFill>
                  <a:srgbClr val="0F172A"/>
                </a:solidFill>
                <a:latin typeface="Cairo Bold"/>
                <a:ea typeface="Cairo Bold"/>
                <a:cs typeface="Cairo Bold"/>
                <a:sym typeface="Cairo Bold"/>
                <a:rtl/>
              </a:rPr>
              <a:t>استقبال المدخلات</a:t>
            </a:r>
            <a:r>
              <a:rPr lang="en-US" sz="1800" b="1">
                <a:solidFill>
                  <a:srgbClr val="0F172A"/>
                </a:solidFill>
                <a:latin typeface="Cairo Bold"/>
                <a:ea typeface="Cairo Bold"/>
                <a:cs typeface="Cairo Bold"/>
                <a:sym typeface="Cairo Bold"/>
              </a:rPr>
              <a:t> 📥</a:t>
            </a:r>
          </a:p>
        </p:txBody>
      </p:sp>
      <p:sp>
        <p:nvSpPr>
          <p:cNvPr id="19" name="TextBox 19"/>
          <p:cNvSpPr txBox="1"/>
          <p:nvPr/>
        </p:nvSpPr>
        <p:spPr>
          <a:xfrm>
            <a:off x="1600200" y="5605462"/>
            <a:ext cx="6372225" cy="294953"/>
          </a:xfrm>
          <a:prstGeom prst="rect">
            <a:avLst/>
          </a:prstGeom>
        </p:spPr>
        <p:txBody>
          <a:bodyPr lIns="0" tIns="0" rIns="0" bIns="0" rtlCol="0" anchor="t">
            <a:spAutoFit/>
          </a:bodyPr>
          <a:lstStyle/>
          <a:p>
            <a:pPr algn="r" rtl="1">
              <a:lnSpc>
                <a:spcPts val="2304"/>
              </a:lnSpc>
            </a:pPr>
            <a:r>
              <a:rPr lang="ar-EG" sz="1600" dirty="0">
                <a:solidFill>
                  <a:srgbClr val="475569"/>
                </a:solidFill>
                <a:latin typeface="Cairo"/>
                <a:ea typeface="Cairo"/>
                <a:cs typeface="Cairo"/>
                <a:sym typeface="Cairo"/>
                <a:rtl/>
              </a:rPr>
              <a:t>تستقبل العقدة أرقاماً رقمية تمثل البيانات القادمة من الطبقة السابقة</a:t>
            </a:r>
            <a:r>
              <a:rPr lang="en-US" sz="1600" dirty="0">
                <a:solidFill>
                  <a:srgbClr val="475569"/>
                </a:solidFill>
                <a:latin typeface="Cairo"/>
                <a:ea typeface="Cairo"/>
                <a:cs typeface="Cairo"/>
                <a:sym typeface="Cairo"/>
              </a:rPr>
              <a:t>.</a:t>
            </a:r>
          </a:p>
        </p:txBody>
      </p:sp>
      <p:sp>
        <p:nvSpPr>
          <p:cNvPr id="20" name="TextBox 20"/>
          <p:cNvSpPr txBox="1"/>
          <p:nvPr/>
        </p:nvSpPr>
        <p:spPr>
          <a:xfrm>
            <a:off x="1600200" y="6933009"/>
            <a:ext cx="6372225" cy="482203"/>
          </a:xfrm>
          <a:prstGeom prst="rect">
            <a:avLst/>
          </a:prstGeom>
        </p:spPr>
        <p:txBody>
          <a:bodyPr lIns="0" tIns="0" rIns="0" bIns="0" rtlCol="0" anchor="t">
            <a:spAutoFit/>
          </a:bodyPr>
          <a:lstStyle/>
          <a:p>
            <a:pPr algn="r">
              <a:lnSpc>
                <a:spcPts val="2160"/>
              </a:lnSpc>
            </a:pPr>
            <a:r>
              <a:rPr lang="ar-EG" sz="1800" b="1">
                <a:solidFill>
                  <a:srgbClr val="0F172A"/>
                </a:solidFill>
                <a:latin typeface="Cairo Bold"/>
                <a:ea typeface="Cairo Bold"/>
                <a:cs typeface="Cairo Bold"/>
                <a:sym typeface="Cairo Bold"/>
                <a:rtl/>
              </a:rPr>
              <a:t>الحساب والناتج</a:t>
            </a:r>
            <a:r>
              <a:rPr lang="en-US" sz="1800" b="1">
                <a:solidFill>
                  <a:srgbClr val="0F172A"/>
                </a:solidFill>
                <a:latin typeface="Cairo Bold"/>
                <a:ea typeface="Cairo Bold"/>
                <a:cs typeface="Cairo Bold"/>
                <a:sym typeface="Cairo Bold"/>
              </a:rPr>
              <a:t> ⚙️</a:t>
            </a:r>
          </a:p>
        </p:txBody>
      </p:sp>
      <p:sp>
        <p:nvSpPr>
          <p:cNvPr id="21" name="TextBox 21"/>
          <p:cNvSpPr txBox="1"/>
          <p:nvPr/>
        </p:nvSpPr>
        <p:spPr>
          <a:xfrm>
            <a:off x="1600200" y="7462838"/>
            <a:ext cx="6372225" cy="589905"/>
          </a:xfrm>
          <a:prstGeom prst="rect">
            <a:avLst/>
          </a:prstGeom>
        </p:spPr>
        <p:txBody>
          <a:bodyPr lIns="0" tIns="0" rIns="0" bIns="0" rtlCol="0" anchor="t">
            <a:spAutoFit/>
          </a:bodyPr>
          <a:lstStyle/>
          <a:p>
            <a:pPr algn="r" rtl="1">
              <a:lnSpc>
                <a:spcPts val="2304"/>
              </a:lnSpc>
            </a:pPr>
            <a:r>
              <a:rPr lang="ar-EG" sz="1600" dirty="0">
                <a:solidFill>
                  <a:srgbClr val="475569"/>
                </a:solidFill>
                <a:latin typeface="Cairo"/>
                <a:ea typeface="Cairo"/>
                <a:cs typeface="Cairo"/>
                <a:sym typeface="Cairo"/>
                <a:rtl/>
              </a:rPr>
              <a:t>تحسب العقدة المجموع الموزون، وتمرره عبر دالة التنشيط لتقرر إرسال الناتج أم لا</a:t>
            </a:r>
            <a:r>
              <a:rPr lang="en-US" sz="1600" dirty="0">
                <a:solidFill>
                  <a:srgbClr val="475569"/>
                </a:solidFill>
                <a:latin typeface="Cairo"/>
                <a:ea typeface="Cairo"/>
                <a:cs typeface="Cairo"/>
                <a:sym typeface="Cairo"/>
              </a:rPr>
              <a:t>.</a:t>
            </a:r>
          </a:p>
        </p:txBody>
      </p:sp>
      <p:sp>
        <p:nvSpPr>
          <p:cNvPr id="22" name="TextBox 22"/>
          <p:cNvSpPr txBox="1"/>
          <p:nvPr/>
        </p:nvSpPr>
        <p:spPr>
          <a:xfrm>
            <a:off x="14462522" y="9601200"/>
            <a:ext cx="2796778" cy="333425"/>
          </a:xfrm>
          <a:prstGeom prst="rect">
            <a:avLst/>
          </a:prstGeom>
        </p:spPr>
        <p:txBody>
          <a:bodyPr lIns="0" tIns="0" rIns="0" bIns="0" rtlCol="0" anchor="t">
            <a:spAutoFit/>
          </a:bodyPr>
          <a:lstStyle/>
          <a:p>
            <a:pPr algn="r">
              <a:lnSpc>
                <a:spcPts val="2595"/>
              </a:lnSpc>
            </a:pPr>
            <a:r>
              <a:rPr lang="ar-EG" sz="1800" dirty="0">
                <a:solidFill>
                  <a:srgbClr val="64748B"/>
                </a:solidFill>
                <a:latin typeface="Cairo Light"/>
                <a:ea typeface="Cairo Light"/>
                <a:cs typeface="Cairo Light"/>
                <a:sym typeface="Cairo Light"/>
                <a:rtl/>
              </a:rPr>
              <a:t>اليوم الثالث · مبني على صورتنا</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SA"/>
            </a:p>
          </p:txBody>
        </p:sp>
      </p:grpSp>
      <p:sp>
        <p:nvSpPr>
          <p:cNvPr id="4" name="TextBox 4"/>
          <p:cNvSpPr txBox="1"/>
          <p:nvPr/>
        </p:nvSpPr>
        <p:spPr>
          <a:xfrm>
            <a:off x="13808869" y="1000125"/>
            <a:ext cx="3193256" cy="642938"/>
          </a:xfrm>
          <a:prstGeom prst="rect">
            <a:avLst/>
          </a:prstGeom>
        </p:spPr>
        <p:txBody>
          <a:bodyPr lIns="0" tIns="0" rIns="0" bIns="0" rtlCol="0" anchor="t">
            <a:spAutoFit/>
          </a:bodyPr>
          <a:lstStyle/>
          <a:p>
            <a:pPr algn="r">
              <a:lnSpc>
                <a:spcPts val="2879"/>
              </a:lnSpc>
            </a:pPr>
            <a:r>
              <a:rPr lang="ar-EG" sz="2400" b="1">
                <a:solidFill>
                  <a:srgbClr val="0F172A"/>
                </a:solidFill>
                <a:latin typeface="Cairo Bold"/>
                <a:ea typeface="Cairo Bold"/>
                <a:cs typeface="Cairo Bold"/>
                <a:sym typeface="Cairo Bold"/>
                <a:rtl/>
              </a:rPr>
              <a:t>تشبيه الخلية العصبية</a:t>
            </a:r>
          </a:p>
        </p:txBody>
      </p:sp>
      <p:sp>
        <p:nvSpPr>
          <p:cNvPr id="5" name="TextBox 5"/>
          <p:cNvSpPr txBox="1"/>
          <p:nvPr/>
        </p:nvSpPr>
        <p:spPr>
          <a:xfrm>
            <a:off x="1285875" y="1107281"/>
            <a:ext cx="3334018" cy="238125"/>
          </a:xfrm>
          <a:prstGeom prst="rect">
            <a:avLst/>
          </a:prstGeom>
        </p:spPr>
        <p:txBody>
          <a:bodyPr lIns="0" tIns="0" rIns="0" bIns="0" rtlCol="0" anchor="t">
            <a:spAutoFit/>
          </a:bodyPr>
          <a:lstStyle/>
          <a:p>
            <a:pPr algn="r">
              <a:lnSpc>
                <a:spcPts val="1920"/>
              </a:lnSpc>
            </a:pPr>
            <a:r>
              <a:rPr lang="ar-EG" sz="1600" b="1">
                <a:solidFill>
                  <a:srgbClr val="EA580C"/>
                </a:solidFill>
                <a:latin typeface="Cairo Bold"/>
                <a:ea typeface="Cairo Bold"/>
                <a:cs typeface="Cairo Bold"/>
                <a:sym typeface="Cairo Bold"/>
                <a:rtl/>
              </a:rPr>
              <a:t>القسم الثاني: تشبيه الخلية العصبية</a:t>
            </a:r>
          </a:p>
        </p:txBody>
      </p:sp>
      <p:sp>
        <p:nvSpPr>
          <p:cNvPr id="6" name="TextBox 6"/>
          <p:cNvSpPr txBox="1"/>
          <p:nvPr/>
        </p:nvSpPr>
        <p:spPr>
          <a:xfrm>
            <a:off x="1285875" y="2157412"/>
            <a:ext cx="15716250" cy="750094"/>
          </a:xfrm>
          <a:prstGeom prst="rect">
            <a:avLst/>
          </a:prstGeom>
        </p:spPr>
        <p:txBody>
          <a:bodyPr lIns="0" tIns="0" rIns="0" bIns="0" rtlCol="0" anchor="t">
            <a:spAutoFit/>
          </a:bodyPr>
          <a:lstStyle/>
          <a:p>
            <a:pPr algn="r">
              <a:lnSpc>
                <a:spcPts val="3359"/>
              </a:lnSpc>
            </a:pPr>
            <a:r>
              <a:rPr lang="ar-EG" sz="2799" b="1">
                <a:solidFill>
                  <a:srgbClr val="0F172A"/>
                </a:solidFill>
                <a:latin typeface="Cairo Bold"/>
                <a:ea typeface="Cairo Bold"/>
                <a:cs typeface="Cairo Bold"/>
                <a:sym typeface="Cairo Bold"/>
                <a:rtl/>
              </a:rPr>
              <a:t>الأوزان</a:t>
            </a:r>
            <a:r>
              <a:rPr lang="en-US" sz="2799" b="1">
                <a:solidFill>
                  <a:srgbClr val="0F172A"/>
                </a:solidFill>
                <a:latin typeface="Cairo Bold"/>
                <a:ea typeface="Cairo Bold"/>
                <a:cs typeface="Cairo Bold"/>
                <a:sym typeface="Cairo Bold"/>
              </a:rPr>
              <a:t> (Weights) = </a:t>
            </a:r>
            <a:r>
              <a:rPr lang="ar-EG" sz="2799" b="1">
                <a:solidFill>
                  <a:srgbClr val="0F172A"/>
                </a:solidFill>
                <a:latin typeface="Cairo Bold"/>
                <a:ea typeface="Cairo Bold"/>
                <a:cs typeface="Cairo Bold"/>
                <a:sym typeface="Cairo Bold"/>
                <a:rtl/>
              </a:rPr>
              <a:t>قوة الاتصال</a:t>
            </a:r>
          </a:p>
        </p:txBody>
      </p:sp>
      <p:grpSp>
        <p:nvGrpSpPr>
          <p:cNvPr id="7" name="Group 7"/>
          <p:cNvGrpSpPr/>
          <p:nvPr/>
        </p:nvGrpSpPr>
        <p:grpSpPr>
          <a:xfrm>
            <a:off x="16672509" y="3156096"/>
            <a:ext cx="314325" cy="314325"/>
            <a:chOff x="0" y="0"/>
            <a:chExt cx="419100" cy="419100"/>
          </a:xfrm>
        </p:grpSpPr>
        <p:sp>
          <p:nvSpPr>
            <p:cNvPr id="8" name="Freeform 8" descr="preencoded.png"/>
            <p:cNvSpPr/>
            <p:nvPr/>
          </p:nvSpPr>
          <p:spPr>
            <a:xfrm>
              <a:off x="0" y="0"/>
              <a:ext cx="419100" cy="419100"/>
            </a:xfrm>
            <a:custGeom>
              <a:avLst/>
              <a:gdLst/>
              <a:ahLst/>
              <a:cxnLst/>
              <a:rect l="l" t="t" r="r" b="b"/>
              <a:pathLst>
                <a:path w="419100" h="419100">
                  <a:moveTo>
                    <a:pt x="0" y="0"/>
                  </a:moveTo>
                  <a:lnTo>
                    <a:pt x="419100" y="0"/>
                  </a:lnTo>
                  <a:lnTo>
                    <a:pt x="419100" y="419100"/>
                  </a:lnTo>
                  <a:lnTo>
                    <a:pt x="0" y="419100"/>
                  </a:lnTo>
                  <a:lnTo>
                    <a:pt x="0" y="0"/>
                  </a:lnTo>
                  <a:close/>
                </a:path>
              </a:pathLst>
            </a:custGeom>
            <a:blipFill>
              <a:blip r:embed="rId4"/>
              <a:stretch>
                <a:fillRect t="-2272" b="-2272"/>
              </a:stretch>
            </a:blipFill>
          </p:spPr>
          <p:txBody>
            <a:bodyPr/>
            <a:lstStyle/>
            <a:p>
              <a:endParaRPr lang="en-SA"/>
            </a:p>
          </p:txBody>
        </p:sp>
      </p:grpSp>
      <p:sp>
        <p:nvSpPr>
          <p:cNvPr id="9" name="TextBox 9"/>
          <p:cNvSpPr txBox="1"/>
          <p:nvPr/>
        </p:nvSpPr>
        <p:spPr>
          <a:xfrm>
            <a:off x="13973175" y="3164681"/>
            <a:ext cx="2571750" cy="334707"/>
          </a:xfrm>
          <a:prstGeom prst="rect">
            <a:avLst/>
          </a:prstGeom>
        </p:spPr>
        <p:txBody>
          <a:bodyPr lIns="0" tIns="0" rIns="0" bIns="0" rtlCol="0" anchor="t">
            <a:spAutoFit/>
          </a:bodyPr>
          <a:lstStyle/>
          <a:p>
            <a:pPr algn="r" rtl="1">
              <a:lnSpc>
                <a:spcPts val="2640"/>
              </a:lnSpc>
            </a:pPr>
            <a:r>
              <a:rPr lang="ar-EG" sz="2200" b="1" dirty="0">
                <a:solidFill>
                  <a:srgbClr val="0F172A"/>
                </a:solidFill>
                <a:latin typeface="Cairo Bold"/>
                <a:ea typeface="Cairo Bold"/>
                <a:cs typeface="Cairo Bold"/>
                <a:sym typeface="Cairo Bold"/>
                <a:rtl/>
              </a:rPr>
              <a:t>في دماغك البشري</a:t>
            </a:r>
            <a:r>
              <a:rPr lang="en-US" sz="2200" b="1" dirty="0">
                <a:solidFill>
                  <a:srgbClr val="0F172A"/>
                </a:solidFill>
                <a:latin typeface="Cairo Bold"/>
                <a:ea typeface="Cairo Bold"/>
                <a:cs typeface="Cairo Bold"/>
                <a:sym typeface="Cairo Bold"/>
              </a:rPr>
              <a:t>:</a:t>
            </a:r>
          </a:p>
        </p:txBody>
      </p:sp>
      <p:sp>
        <p:nvSpPr>
          <p:cNvPr id="10" name="TextBox 10"/>
          <p:cNvSpPr txBox="1"/>
          <p:nvPr/>
        </p:nvSpPr>
        <p:spPr>
          <a:xfrm>
            <a:off x="9786938" y="4125516"/>
            <a:ext cx="6929438" cy="482203"/>
          </a:xfrm>
          <a:prstGeom prst="rect">
            <a:avLst/>
          </a:prstGeom>
        </p:spPr>
        <p:txBody>
          <a:bodyPr lIns="0" tIns="0" rIns="0" bIns="0" rtlCol="0" anchor="t">
            <a:spAutoFit/>
          </a:bodyPr>
          <a:lstStyle/>
          <a:p>
            <a:pPr algn="r">
              <a:lnSpc>
                <a:spcPts val="2160"/>
              </a:lnSpc>
            </a:pPr>
            <a:r>
              <a:rPr lang="ar-EG" sz="1800" b="1">
                <a:solidFill>
                  <a:srgbClr val="0F172A"/>
                </a:solidFill>
                <a:latin typeface="Cairo Bold"/>
                <a:ea typeface="Cairo Bold"/>
                <a:cs typeface="Cairo Bold"/>
                <a:sym typeface="Cairo Bold"/>
                <a:rtl/>
              </a:rPr>
              <a:t>وصلات قوية</a:t>
            </a:r>
            <a:r>
              <a:rPr lang="en-US" sz="1800" b="1">
                <a:solidFill>
                  <a:srgbClr val="0F172A"/>
                </a:solidFill>
                <a:latin typeface="Cairo Bold"/>
                <a:ea typeface="Cairo Bold"/>
                <a:cs typeface="Cairo Bold"/>
                <a:sym typeface="Cairo Bold"/>
              </a:rPr>
              <a:t> 🔗</a:t>
            </a:r>
          </a:p>
        </p:txBody>
      </p:sp>
      <p:sp>
        <p:nvSpPr>
          <p:cNvPr id="11" name="TextBox 11"/>
          <p:cNvSpPr txBox="1"/>
          <p:nvPr/>
        </p:nvSpPr>
        <p:spPr>
          <a:xfrm>
            <a:off x="9786938" y="4645819"/>
            <a:ext cx="6929438" cy="282129"/>
          </a:xfrm>
          <a:prstGeom prst="rect">
            <a:avLst/>
          </a:prstGeom>
        </p:spPr>
        <p:txBody>
          <a:bodyPr lIns="0" tIns="0" rIns="0" bIns="0" rtlCol="0" anchor="t">
            <a:spAutoFit/>
          </a:bodyPr>
          <a:lstStyle/>
          <a:p>
            <a:pPr algn="r" rtl="1">
              <a:lnSpc>
                <a:spcPts val="2150"/>
              </a:lnSpc>
            </a:pPr>
            <a:r>
              <a:rPr lang="ar-EG" sz="1600" dirty="0">
                <a:solidFill>
                  <a:srgbClr val="475569"/>
                </a:solidFill>
                <a:latin typeface="Cairo"/>
                <a:ea typeface="Cairo"/>
                <a:cs typeface="Cairo"/>
                <a:sym typeface="Cairo"/>
                <a:rtl/>
              </a:rPr>
              <a:t>المشابك العصبية التي تستخدمها وتكررها كثيراً تنمو وتصبح أقوى وأسرع</a:t>
            </a:r>
            <a:r>
              <a:rPr lang="en-US" sz="1600" dirty="0">
                <a:solidFill>
                  <a:srgbClr val="475569"/>
                </a:solidFill>
                <a:latin typeface="Cairo"/>
                <a:ea typeface="Cairo"/>
                <a:cs typeface="Cairo"/>
                <a:sym typeface="Cairo"/>
              </a:rPr>
              <a:t>.</a:t>
            </a:r>
          </a:p>
        </p:txBody>
      </p:sp>
      <p:sp>
        <p:nvSpPr>
          <p:cNvPr id="12" name="TextBox 12"/>
          <p:cNvSpPr txBox="1"/>
          <p:nvPr/>
        </p:nvSpPr>
        <p:spPr>
          <a:xfrm>
            <a:off x="9786938" y="5497116"/>
            <a:ext cx="6929438" cy="482203"/>
          </a:xfrm>
          <a:prstGeom prst="rect">
            <a:avLst/>
          </a:prstGeom>
        </p:spPr>
        <p:txBody>
          <a:bodyPr lIns="0" tIns="0" rIns="0" bIns="0" rtlCol="0" anchor="t">
            <a:spAutoFit/>
          </a:bodyPr>
          <a:lstStyle/>
          <a:p>
            <a:pPr algn="r">
              <a:lnSpc>
                <a:spcPts val="2160"/>
              </a:lnSpc>
            </a:pPr>
            <a:r>
              <a:rPr lang="ar-EG" sz="1800" b="1">
                <a:solidFill>
                  <a:srgbClr val="0F172A"/>
                </a:solidFill>
                <a:latin typeface="Cairo Bold"/>
                <a:ea typeface="Cairo Bold"/>
                <a:cs typeface="Cairo Bold"/>
                <a:sym typeface="Cairo Bold"/>
                <a:rtl/>
              </a:rPr>
              <a:t>وصلات ضعيفة</a:t>
            </a:r>
            <a:r>
              <a:rPr lang="en-US" sz="1800" b="1">
                <a:solidFill>
                  <a:srgbClr val="0F172A"/>
                </a:solidFill>
                <a:latin typeface="Cairo Bold"/>
                <a:ea typeface="Cairo Bold"/>
                <a:cs typeface="Cairo Bold"/>
                <a:sym typeface="Cairo Bold"/>
              </a:rPr>
              <a:t> 💤</a:t>
            </a:r>
          </a:p>
        </p:txBody>
      </p:sp>
      <p:sp>
        <p:nvSpPr>
          <p:cNvPr id="13" name="TextBox 13"/>
          <p:cNvSpPr txBox="1"/>
          <p:nvPr/>
        </p:nvSpPr>
        <p:spPr>
          <a:xfrm>
            <a:off x="9786938" y="6017419"/>
            <a:ext cx="6929438" cy="282129"/>
          </a:xfrm>
          <a:prstGeom prst="rect">
            <a:avLst/>
          </a:prstGeom>
        </p:spPr>
        <p:txBody>
          <a:bodyPr lIns="0" tIns="0" rIns="0" bIns="0" rtlCol="0" anchor="t">
            <a:spAutoFit/>
          </a:bodyPr>
          <a:lstStyle/>
          <a:p>
            <a:pPr algn="r" rtl="1">
              <a:lnSpc>
                <a:spcPts val="2150"/>
              </a:lnSpc>
            </a:pPr>
            <a:r>
              <a:rPr lang="ar-EG" sz="1600" dirty="0">
                <a:solidFill>
                  <a:srgbClr val="475569"/>
                </a:solidFill>
                <a:latin typeface="Cairo"/>
                <a:ea typeface="Cairo"/>
                <a:cs typeface="Cairo"/>
                <a:sym typeface="Cairo"/>
                <a:rtl/>
              </a:rPr>
              <a:t>الروابط التي نادراً ما تستخدمها تضعف تدريجياً وقد تختفي مع الوقت</a:t>
            </a:r>
            <a:r>
              <a:rPr lang="en-US" sz="1600" dirty="0">
                <a:solidFill>
                  <a:srgbClr val="475569"/>
                </a:solidFill>
                <a:latin typeface="Cairo"/>
                <a:ea typeface="Cairo"/>
                <a:cs typeface="Cairo"/>
                <a:sym typeface="Cairo"/>
              </a:rPr>
              <a:t>.</a:t>
            </a:r>
          </a:p>
        </p:txBody>
      </p:sp>
      <p:grpSp>
        <p:nvGrpSpPr>
          <p:cNvPr id="14" name="Group 14"/>
          <p:cNvGrpSpPr/>
          <p:nvPr/>
        </p:nvGrpSpPr>
        <p:grpSpPr>
          <a:xfrm>
            <a:off x="8373853" y="3143590"/>
            <a:ext cx="392906" cy="314325"/>
            <a:chOff x="0" y="0"/>
            <a:chExt cx="523875" cy="419100"/>
          </a:xfrm>
        </p:grpSpPr>
        <p:sp>
          <p:nvSpPr>
            <p:cNvPr id="15" name="Freeform 15" descr="preencoded.png"/>
            <p:cNvSpPr/>
            <p:nvPr/>
          </p:nvSpPr>
          <p:spPr>
            <a:xfrm>
              <a:off x="0" y="0"/>
              <a:ext cx="523875" cy="419100"/>
            </a:xfrm>
            <a:custGeom>
              <a:avLst/>
              <a:gdLst/>
              <a:ahLst/>
              <a:cxnLst/>
              <a:rect l="l" t="t" r="r" b="b"/>
              <a:pathLst>
                <a:path w="523875" h="419100">
                  <a:moveTo>
                    <a:pt x="0" y="0"/>
                  </a:moveTo>
                  <a:lnTo>
                    <a:pt x="523875" y="0"/>
                  </a:lnTo>
                  <a:lnTo>
                    <a:pt x="523875" y="419100"/>
                  </a:lnTo>
                  <a:lnTo>
                    <a:pt x="0" y="419100"/>
                  </a:lnTo>
                  <a:lnTo>
                    <a:pt x="0" y="0"/>
                  </a:lnTo>
                  <a:close/>
                </a:path>
              </a:pathLst>
            </a:custGeom>
            <a:blipFill>
              <a:blip r:embed="rId5"/>
              <a:stretch>
                <a:fillRect t="-1136" b="-1136"/>
              </a:stretch>
            </a:blipFill>
          </p:spPr>
          <p:txBody>
            <a:bodyPr/>
            <a:lstStyle/>
            <a:p>
              <a:endParaRPr lang="en-SA"/>
            </a:p>
          </p:txBody>
        </p:sp>
      </p:grpSp>
      <p:sp>
        <p:nvSpPr>
          <p:cNvPr id="16" name="TextBox 16"/>
          <p:cNvSpPr txBox="1"/>
          <p:nvPr/>
        </p:nvSpPr>
        <p:spPr>
          <a:xfrm>
            <a:off x="3857625" y="3164681"/>
            <a:ext cx="4393406" cy="334707"/>
          </a:xfrm>
          <a:prstGeom prst="rect">
            <a:avLst/>
          </a:prstGeom>
        </p:spPr>
        <p:txBody>
          <a:bodyPr lIns="0" tIns="0" rIns="0" bIns="0" rtlCol="0" anchor="t">
            <a:spAutoFit/>
          </a:bodyPr>
          <a:lstStyle/>
          <a:p>
            <a:pPr algn="r" rtl="1">
              <a:lnSpc>
                <a:spcPts val="2640"/>
              </a:lnSpc>
            </a:pPr>
            <a:r>
              <a:rPr lang="ar-EG" sz="2200" b="1" dirty="0">
                <a:solidFill>
                  <a:srgbClr val="0F172A"/>
                </a:solidFill>
                <a:latin typeface="Cairo Bold"/>
                <a:ea typeface="Cairo Bold"/>
                <a:cs typeface="Cairo Bold"/>
                <a:sym typeface="Cairo Bold"/>
                <a:rtl/>
              </a:rPr>
              <a:t>في الشبكة العصبية الاصطناعية</a:t>
            </a:r>
            <a:r>
              <a:rPr lang="en-US" sz="2200" b="1" dirty="0">
                <a:solidFill>
                  <a:srgbClr val="0F172A"/>
                </a:solidFill>
                <a:latin typeface="Cairo Bold"/>
                <a:ea typeface="Cairo Bold"/>
                <a:cs typeface="Cairo Bold"/>
                <a:sym typeface="Cairo Bold"/>
              </a:rPr>
              <a:t>:</a:t>
            </a:r>
          </a:p>
        </p:txBody>
      </p:sp>
      <p:sp>
        <p:nvSpPr>
          <p:cNvPr id="17" name="TextBox 17"/>
          <p:cNvSpPr txBox="1"/>
          <p:nvPr/>
        </p:nvSpPr>
        <p:spPr>
          <a:xfrm>
            <a:off x="1571625" y="4125516"/>
            <a:ext cx="6929438" cy="482203"/>
          </a:xfrm>
          <a:prstGeom prst="rect">
            <a:avLst/>
          </a:prstGeom>
        </p:spPr>
        <p:txBody>
          <a:bodyPr lIns="0" tIns="0" rIns="0" bIns="0" rtlCol="0" anchor="t">
            <a:spAutoFit/>
          </a:bodyPr>
          <a:lstStyle/>
          <a:p>
            <a:pPr algn="r">
              <a:lnSpc>
                <a:spcPts val="2160"/>
              </a:lnSpc>
            </a:pPr>
            <a:r>
              <a:rPr lang="ar-EG" sz="1800" b="1">
                <a:solidFill>
                  <a:srgbClr val="0F172A"/>
                </a:solidFill>
                <a:latin typeface="Cairo Bold"/>
                <a:ea typeface="Cairo Bold"/>
                <a:cs typeface="Cairo Bold"/>
                <a:sym typeface="Cairo Bold"/>
                <a:rtl/>
              </a:rPr>
              <a:t>وزن كبير (اتصال قوي)</a:t>
            </a:r>
          </a:p>
        </p:txBody>
      </p:sp>
      <p:sp>
        <p:nvSpPr>
          <p:cNvPr id="18" name="TextBox 18"/>
          <p:cNvSpPr txBox="1"/>
          <p:nvPr/>
        </p:nvSpPr>
        <p:spPr>
          <a:xfrm>
            <a:off x="1571625" y="4645819"/>
            <a:ext cx="6929438" cy="282129"/>
          </a:xfrm>
          <a:prstGeom prst="rect">
            <a:avLst/>
          </a:prstGeom>
        </p:spPr>
        <p:txBody>
          <a:bodyPr lIns="0" tIns="0" rIns="0" bIns="0" rtlCol="0" anchor="t">
            <a:spAutoFit/>
          </a:bodyPr>
          <a:lstStyle/>
          <a:p>
            <a:pPr algn="r" rtl="1">
              <a:lnSpc>
                <a:spcPts val="2150"/>
              </a:lnSpc>
            </a:pPr>
            <a:r>
              <a:rPr lang="ar-EG" sz="1600" dirty="0">
                <a:solidFill>
                  <a:srgbClr val="475569"/>
                </a:solidFill>
                <a:latin typeface="Cairo"/>
                <a:ea typeface="Cairo"/>
                <a:cs typeface="Cairo"/>
                <a:sym typeface="Cairo"/>
                <a:rtl/>
              </a:rPr>
              <a:t>أثناء التدريب، يزداد وزن المدخلات المهمة لتؤثر بشكل كبير على القرار النهائي</a:t>
            </a:r>
            <a:r>
              <a:rPr lang="en-US" sz="1600" dirty="0">
                <a:solidFill>
                  <a:srgbClr val="475569"/>
                </a:solidFill>
                <a:latin typeface="Cairo"/>
                <a:ea typeface="Cairo"/>
                <a:cs typeface="Cairo"/>
                <a:sym typeface="Cairo"/>
              </a:rPr>
              <a:t>.</a:t>
            </a:r>
          </a:p>
        </p:txBody>
      </p:sp>
      <p:sp>
        <p:nvSpPr>
          <p:cNvPr id="19" name="TextBox 19"/>
          <p:cNvSpPr txBox="1"/>
          <p:nvPr/>
        </p:nvSpPr>
        <p:spPr>
          <a:xfrm>
            <a:off x="1571625" y="5497116"/>
            <a:ext cx="6929438" cy="482203"/>
          </a:xfrm>
          <a:prstGeom prst="rect">
            <a:avLst/>
          </a:prstGeom>
        </p:spPr>
        <p:txBody>
          <a:bodyPr lIns="0" tIns="0" rIns="0" bIns="0" rtlCol="0" anchor="t">
            <a:spAutoFit/>
          </a:bodyPr>
          <a:lstStyle/>
          <a:p>
            <a:pPr algn="r">
              <a:lnSpc>
                <a:spcPts val="2160"/>
              </a:lnSpc>
            </a:pPr>
            <a:r>
              <a:rPr lang="ar-EG" sz="1800" b="1">
                <a:solidFill>
                  <a:srgbClr val="0F172A"/>
                </a:solidFill>
                <a:latin typeface="Cairo Bold"/>
                <a:ea typeface="Cairo Bold"/>
                <a:cs typeface="Cairo Bold"/>
                <a:sym typeface="Cairo Bold"/>
                <a:rtl/>
              </a:rPr>
              <a:t>وزن صغير (اتصال ضعيف)</a:t>
            </a:r>
          </a:p>
        </p:txBody>
      </p:sp>
      <p:sp>
        <p:nvSpPr>
          <p:cNvPr id="20" name="TextBox 20"/>
          <p:cNvSpPr txBox="1"/>
          <p:nvPr/>
        </p:nvSpPr>
        <p:spPr>
          <a:xfrm>
            <a:off x="1571625" y="6017419"/>
            <a:ext cx="6929438" cy="282129"/>
          </a:xfrm>
          <a:prstGeom prst="rect">
            <a:avLst/>
          </a:prstGeom>
        </p:spPr>
        <p:txBody>
          <a:bodyPr lIns="0" tIns="0" rIns="0" bIns="0" rtlCol="0" anchor="t">
            <a:spAutoFit/>
          </a:bodyPr>
          <a:lstStyle/>
          <a:p>
            <a:pPr algn="r" rtl="1">
              <a:lnSpc>
                <a:spcPts val="2150"/>
              </a:lnSpc>
            </a:pPr>
            <a:r>
              <a:rPr lang="ar-EG" sz="1600" dirty="0">
                <a:solidFill>
                  <a:srgbClr val="475569"/>
                </a:solidFill>
                <a:latin typeface="Cairo"/>
                <a:ea typeface="Cairo"/>
                <a:cs typeface="Cairo"/>
                <a:sym typeface="Cairo"/>
                <a:rtl/>
              </a:rPr>
              <a:t>المدخلات غير المهمة تُعطى وزناً قريباً من الصفر، فيكاد يتجاهلها الحاسوب تماماً</a:t>
            </a:r>
            <a:r>
              <a:rPr lang="en-US" sz="1600" dirty="0">
                <a:solidFill>
                  <a:srgbClr val="475569"/>
                </a:solidFill>
                <a:latin typeface="Cairo"/>
                <a:ea typeface="Cairo"/>
                <a:cs typeface="Cairo"/>
                <a:sym typeface="Cairo"/>
              </a:rPr>
              <a:t>.</a:t>
            </a:r>
          </a:p>
        </p:txBody>
      </p:sp>
      <p:grpSp>
        <p:nvGrpSpPr>
          <p:cNvPr id="21" name="Group 21"/>
          <p:cNvGrpSpPr/>
          <p:nvPr/>
        </p:nvGrpSpPr>
        <p:grpSpPr>
          <a:xfrm>
            <a:off x="16351040" y="8013501"/>
            <a:ext cx="321469" cy="257175"/>
            <a:chOff x="0" y="0"/>
            <a:chExt cx="428625" cy="342900"/>
          </a:xfrm>
        </p:grpSpPr>
        <p:sp>
          <p:nvSpPr>
            <p:cNvPr id="22" name="Freeform 22" descr="preencoded.png"/>
            <p:cNvSpPr/>
            <p:nvPr/>
          </p:nvSpPr>
          <p:spPr>
            <a:xfrm>
              <a:off x="0" y="0"/>
              <a:ext cx="428625" cy="342900"/>
            </a:xfrm>
            <a:custGeom>
              <a:avLst/>
              <a:gdLst/>
              <a:ahLst/>
              <a:cxnLst/>
              <a:rect l="l" t="t" r="r" b="b"/>
              <a:pathLst>
                <a:path w="428625" h="342900">
                  <a:moveTo>
                    <a:pt x="0" y="0"/>
                  </a:moveTo>
                  <a:lnTo>
                    <a:pt x="428625" y="0"/>
                  </a:lnTo>
                  <a:lnTo>
                    <a:pt x="428625" y="342900"/>
                  </a:lnTo>
                  <a:lnTo>
                    <a:pt x="0" y="342900"/>
                  </a:lnTo>
                  <a:lnTo>
                    <a:pt x="0" y="0"/>
                  </a:lnTo>
                  <a:close/>
                </a:path>
              </a:pathLst>
            </a:custGeom>
            <a:blipFill>
              <a:blip r:embed="rId6"/>
              <a:stretch>
                <a:fillRect t="-1388" b="-1388"/>
              </a:stretch>
            </a:blipFill>
          </p:spPr>
          <p:txBody>
            <a:bodyPr/>
            <a:lstStyle/>
            <a:p>
              <a:endParaRPr lang="en-SA" dirty="0"/>
            </a:p>
          </p:txBody>
        </p:sp>
      </p:grpSp>
      <p:sp>
        <p:nvSpPr>
          <p:cNvPr id="23" name="TextBox 23"/>
          <p:cNvSpPr txBox="1"/>
          <p:nvPr/>
        </p:nvSpPr>
        <p:spPr>
          <a:xfrm>
            <a:off x="13658850" y="8029575"/>
            <a:ext cx="2593181" cy="482203"/>
          </a:xfrm>
          <a:prstGeom prst="rect">
            <a:avLst/>
          </a:prstGeom>
        </p:spPr>
        <p:txBody>
          <a:bodyPr lIns="0" tIns="0" rIns="0" bIns="0" rtlCol="0" anchor="t">
            <a:spAutoFit/>
          </a:bodyPr>
          <a:lstStyle/>
          <a:p>
            <a:pPr algn="r">
              <a:lnSpc>
                <a:spcPts val="2160"/>
              </a:lnSpc>
            </a:pPr>
            <a:r>
              <a:rPr lang="ar-EG" sz="1800" b="1">
                <a:solidFill>
                  <a:srgbClr val="EA580C"/>
                </a:solidFill>
                <a:latin typeface="Cairo Bold"/>
                <a:ea typeface="Cairo Bold"/>
                <a:cs typeface="Cairo Bold"/>
                <a:sym typeface="Cairo Bold"/>
                <a:rtl/>
              </a:rPr>
              <a:t>تشبيه مبسط للمذاكرة</a:t>
            </a:r>
            <a:r>
              <a:rPr lang="en-US" sz="1800" b="1">
                <a:solidFill>
                  <a:srgbClr val="EA580C"/>
                </a:solidFill>
                <a:latin typeface="Cairo Bold"/>
                <a:ea typeface="Cairo Bold"/>
                <a:cs typeface="Cairo Bold"/>
                <a:sym typeface="Cairo Bold"/>
              </a:rPr>
              <a:t>:</a:t>
            </a:r>
          </a:p>
        </p:txBody>
      </p:sp>
      <p:sp>
        <p:nvSpPr>
          <p:cNvPr id="24" name="TextBox 24"/>
          <p:cNvSpPr txBox="1"/>
          <p:nvPr/>
        </p:nvSpPr>
        <p:spPr>
          <a:xfrm>
            <a:off x="1170571" y="8385968"/>
            <a:ext cx="15659100" cy="564257"/>
          </a:xfrm>
          <a:prstGeom prst="rect">
            <a:avLst/>
          </a:prstGeom>
        </p:spPr>
        <p:txBody>
          <a:bodyPr lIns="0" tIns="0" rIns="0" bIns="0" rtlCol="0" anchor="t">
            <a:spAutoFit/>
          </a:bodyPr>
          <a:lstStyle/>
          <a:p>
            <a:pPr algn="r">
              <a:lnSpc>
                <a:spcPts val="2150"/>
              </a:lnSpc>
            </a:pPr>
            <a:r>
              <a:rPr lang="ar-EG" sz="1600" dirty="0">
                <a:solidFill>
                  <a:srgbClr val="475569"/>
                </a:solidFill>
                <a:latin typeface="Cairo"/>
                <a:ea typeface="Cairo"/>
                <a:cs typeface="Cairo"/>
                <a:sym typeface="Cairo"/>
                <a:rtl/>
              </a:rPr>
              <a:t>الأمر يشبه تماماً مذاكرتك للامتحان؛ كلما تدربت وحللت مسائل أكثر على موضوع معين، كلما أصبحت الروابط في دماغك أقوى وأسهل في الاستدعاء، وهذا بالضبط ما يفعله الذكاء الاصطناعي عند تعديل أوزانه</a:t>
            </a:r>
            <a:endParaRPr lang="en-US" sz="1600" dirty="0">
              <a:solidFill>
                <a:srgbClr val="475569"/>
              </a:solidFill>
              <a:latin typeface="Cairo"/>
              <a:ea typeface="Cairo"/>
              <a:cs typeface="Cairo"/>
              <a:sym typeface="Cairo"/>
            </a:endParaRPr>
          </a:p>
        </p:txBody>
      </p:sp>
      <p:sp>
        <p:nvSpPr>
          <p:cNvPr id="25" name="TextBox 25"/>
          <p:cNvSpPr txBox="1"/>
          <p:nvPr/>
        </p:nvSpPr>
        <p:spPr>
          <a:xfrm>
            <a:off x="14462522" y="9629775"/>
            <a:ext cx="2796778" cy="333425"/>
          </a:xfrm>
          <a:prstGeom prst="rect">
            <a:avLst/>
          </a:prstGeom>
        </p:spPr>
        <p:txBody>
          <a:bodyPr lIns="0" tIns="0" rIns="0" bIns="0" rtlCol="0" anchor="t">
            <a:spAutoFit/>
          </a:bodyPr>
          <a:lstStyle/>
          <a:p>
            <a:pPr algn="r">
              <a:lnSpc>
                <a:spcPts val="2595"/>
              </a:lnSpc>
            </a:pPr>
            <a:r>
              <a:rPr lang="ar-EG" sz="1800" dirty="0">
                <a:solidFill>
                  <a:srgbClr val="64748B"/>
                </a:solidFill>
                <a:latin typeface="Cairo Light"/>
                <a:ea typeface="Cairo Light"/>
                <a:cs typeface="Cairo Light"/>
                <a:sym typeface="Cairo Light"/>
                <a:rtl/>
              </a:rPr>
              <a:t>اليوم الثالث · مبني على صورتنا</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324062"/>
            <a:chOff x="0" y="0"/>
            <a:chExt cx="24384000" cy="13765416"/>
          </a:xfrm>
        </p:grpSpPr>
        <p:sp>
          <p:nvSpPr>
            <p:cNvPr id="3" name="Freeform 3" descr="preencoded.png"/>
            <p:cNvSpPr/>
            <p:nvPr/>
          </p:nvSpPr>
          <p:spPr>
            <a:xfrm>
              <a:off x="0" y="0"/>
              <a:ext cx="24384000" cy="13765403"/>
            </a:xfrm>
            <a:custGeom>
              <a:avLst/>
              <a:gdLst/>
              <a:ahLst/>
              <a:cxnLst/>
              <a:rect l="l" t="t" r="r" b="b"/>
              <a:pathLst>
                <a:path w="24384000" h="13765403">
                  <a:moveTo>
                    <a:pt x="0" y="0"/>
                  </a:moveTo>
                  <a:lnTo>
                    <a:pt x="24384000" y="0"/>
                  </a:lnTo>
                  <a:lnTo>
                    <a:pt x="24384000" y="13765403"/>
                  </a:lnTo>
                  <a:lnTo>
                    <a:pt x="0" y="13765403"/>
                  </a:lnTo>
                  <a:lnTo>
                    <a:pt x="0" y="0"/>
                  </a:lnTo>
                  <a:close/>
                </a:path>
              </a:pathLst>
            </a:custGeom>
            <a:blipFill>
              <a:blip r:embed="rId3"/>
              <a:stretch>
                <a:fillRect t="-28" b="-28"/>
              </a:stretch>
            </a:blipFill>
          </p:spPr>
          <p:txBody>
            <a:bodyPr/>
            <a:lstStyle/>
            <a:p>
              <a:pPr marL="0" algn="r" defTabSz="914400" rtl="1" eaLnBrk="1" latinLnBrk="0" hangingPunct="1"/>
              <a:endParaRPr lang="en-SA"/>
            </a:p>
          </p:txBody>
        </p:sp>
      </p:grpSp>
      <p:sp>
        <p:nvSpPr>
          <p:cNvPr id="4" name="TextBox 4"/>
          <p:cNvSpPr txBox="1"/>
          <p:nvPr/>
        </p:nvSpPr>
        <p:spPr>
          <a:xfrm>
            <a:off x="15101888" y="1000125"/>
            <a:ext cx="1900238" cy="642938"/>
          </a:xfrm>
          <a:prstGeom prst="rect">
            <a:avLst/>
          </a:prstGeom>
        </p:spPr>
        <p:txBody>
          <a:bodyPr lIns="0" tIns="0" rIns="0" bIns="0" rtlCol="0" anchor="t">
            <a:spAutoFit/>
          </a:bodyPr>
          <a:lstStyle/>
          <a:p>
            <a:pPr algn="r">
              <a:lnSpc>
                <a:spcPts val="2879"/>
              </a:lnSpc>
            </a:pPr>
            <a:r>
              <a:rPr lang="ar-EG" sz="2400" b="1">
                <a:solidFill>
                  <a:srgbClr val="0F172A"/>
                </a:solidFill>
                <a:latin typeface="Cairo Bold"/>
                <a:ea typeface="Cairo Bold"/>
                <a:cs typeface="Cairo Bold"/>
                <a:sym typeface="Cairo Bold"/>
                <a:rtl/>
              </a:rPr>
              <a:t>الحجم مذهل</a:t>
            </a:r>
          </a:p>
        </p:txBody>
      </p:sp>
      <p:sp>
        <p:nvSpPr>
          <p:cNvPr id="5" name="TextBox 5"/>
          <p:cNvSpPr txBox="1"/>
          <p:nvPr/>
        </p:nvSpPr>
        <p:spPr>
          <a:xfrm>
            <a:off x="1285875" y="1107281"/>
            <a:ext cx="3568303" cy="428625"/>
          </a:xfrm>
          <a:prstGeom prst="rect">
            <a:avLst/>
          </a:prstGeom>
        </p:spPr>
        <p:txBody>
          <a:bodyPr lIns="0" tIns="0" rIns="0" bIns="0" rtlCol="0" anchor="t">
            <a:spAutoFit/>
          </a:bodyPr>
          <a:lstStyle/>
          <a:p>
            <a:pPr algn="r">
              <a:lnSpc>
                <a:spcPts val="1920"/>
              </a:lnSpc>
            </a:pPr>
            <a:r>
              <a:rPr lang="ar-EG" sz="1600" b="1">
                <a:solidFill>
                  <a:srgbClr val="EA580C"/>
                </a:solidFill>
                <a:latin typeface="Cairo Bold"/>
                <a:ea typeface="Cairo Bold"/>
                <a:cs typeface="Cairo Bold"/>
                <a:sym typeface="Cairo Bold"/>
                <a:rtl/>
              </a:rPr>
              <a:t>القسم الثاني: تشبيه الخلية العصبية</a:t>
            </a:r>
          </a:p>
        </p:txBody>
      </p:sp>
      <p:sp>
        <p:nvSpPr>
          <p:cNvPr id="6" name="TextBox 6"/>
          <p:cNvSpPr txBox="1"/>
          <p:nvPr/>
        </p:nvSpPr>
        <p:spPr>
          <a:xfrm>
            <a:off x="1285875" y="2271712"/>
            <a:ext cx="15716250" cy="750094"/>
          </a:xfrm>
          <a:prstGeom prst="rect">
            <a:avLst/>
          </a:prstGeom>
        </p:spPr>
        <p:txBody>
          <a:bodyPr lIns="0" tIns="0" rIns="0" bIns="0" rtlCol="0" anchor="t">
            <a:spAutoFit/>
          </a:bodyPr>
          <a:lstStyle/>
          <a:p>
            <a:pPr algn="r">
              <a:lnSpc>
                <a:spcPts val="3359"/>
              </a:lnSpc>
            </a:pPr>
            <a:r>
              <a:rPr lang="ar-EG" sz="2799" b="1">
                <a:solidFill>
                  <a:srgbClr val="0F172A"/>
                </a:solidFill>
                <a:latin typeface="Cairo Bold"/>
                <a:ea typeface="Cairo Bold"/>
                <a:cs typeface="Cairo Bold"/>
                <a:sym typeface="Cairo Bold"/>
                <a:rtl/>
              </a:rPr>
              <a:t>عن ماذا نتحدث من حيث الحجم والعدد؟</a:t>
            </a:r>
          </a:p>
        </p:txBody>
      </p:sp>
      <p:grpSp>
        <p:nvGrpSpPr>
          <p:cNvPr id="7" name="Group 7"/>
          <p:cNvGrpSpPr/>
          <p:nvPr/>
        </p:nvGrpSpPr>
        <p:grpSpPr>
          <a:xfrm>
            <a:off x="13023051" y="3585020"/>
            <a:ext cx="685800" cy="685800"/>
            <a:chOff x="0" y="0"/>
            <a:chExt cx="914400" cy="914400"/>
          </a:xfrm>
        </p:grpSpPr>
        <p:sp>
          <p:nvSpPr>
            <p:cNvPr id="8" name="Freeform 8" descr="preencoded.png"/>
            <p:cNvSpPr/>
            <p:nvPr/>
          </p:nvSpPr>
          <p:spPr>
            <a:xfrm>
              <a:off x="0" y="0"/>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blipFill>
              <a:blip r:embed="rId4"/>
              <a:stretch>
                <a:fillRect l="-1063" r="-1063"/>
              </a:stretch>
            </a:blipFill>
          </p:spPr>
          <p:txBody>
            <a:bodyPr/>
            <a:lstStyle/>
            <a:p>
              <a:endParaRPr lang="en-SA"/>
            </a:p>
          </p:txBody>
        </p:sp>
      </p:grpSp>
      <p:sp>
        <p:nvSpPr>
          <p:cNvPr id="9" name="TextBox 9"/>
          <p:cNvSpPr txBox="1"/>
          <p:nvPr/>
        </p:nvSpPr>
        <p:spPr>
          <a:xfrm>
            <a:off x="11933406" y="4498800"/>
            <a:ext cx="2865090" cy="858393"/>
          </a:xfrm>
          <a:prstGeom prst="rect">
            <a:avLst/>
          </a:prstGeom>
        </p:spPr>
        <p:txBody>
          <a:bodyPr lIns="0" tIns="0" rIns="0" bIns="0" rtlCol="0" anchor="t">
            <a:spAutoFit/>
          </a:bodyPr>
          <a:lstStyle/>
          <a:p>
            <a:pPr algn="ctr">
              <a:lnSpc>
                <a:spcPts val="6336"/>
              </a:lnSpc>
            </a:pPr>
            <a:r>
              <a:rPr lang="en-US" sz="6600" b="1" dirty="0">
                <a:solidFill>
                  <a:srgbClr val="0284C7"/>
                </a:solidFill>
                <a:latin typeface="Cairo Bold"/>
                <a:ea typeface="Cairo Bold"/>
                <a:cs typeface="Cairo Bold"/>
                <a:sym typeface="Cairo Bold"/>
              </a:rPr>
              <a:t>٨٦</a:t>
            </a:r>
            <a:r>
              <a:rPr lang="ar-EG" sz="6600" b="1" dirty="0">
                <a:solidFill>
                  <a:srgbClr val="0284C7"/>
                </a:solidFill>
                <a:latin typeface="Cairo Bold"/>
                <a:ea typeface="Cairo Bold"/>
                <a:cs typeface="Cairo Bold"/>
                <a:sym typeface="Cairo Bold"/>
                <a:rtl/>
              </a:rPr>
              <a:t> مليار</a:t>
            </a:r>
          </a:p>
        </p:txBody>
      </p:sp>
      <p:sp>
        <p:nvSpPr>
          <p:cNvPr id="10" name="TextBox 10"/>
          <p:cNvSpPr txBox="1"/>
          <p:nvPr/>
        </p:nvSpPr>
        <p:spPr>
          <a:xfrm>
            <a:off x="12060441" y="6222206"/>
            <a:ext cx="2611041" cy="535781"/>
          </a:xfrm>
          <a:prstGeom prst="rect">
            <a:avLst/>
          </a:prstGeom>
        </p:spPr>
        <p:txBody>
          <a:bodyPr lIns="0" tIns="0" rIns="0" bIns="0" rtlCol="0" anchor="t">
            <a:spAutoFit/>
          </a:bodyPr>
          <a:lstStyle/>
          <a:p>
            <a:pPr algn="ctr">
              <a:lnSpc>
                <a:spcPts val="2400"/>
              </a:lnSpc>
            </a:pPr>
            <a:r>
              <a:rPr lang="ar-EG" sz="2000" b="1">
                <a:solidFill>
                  <a:srgbClr val="0F172A"/>
                </a:solidFill>
                <a:latin typeface="Cairo Bold"/>
                <a:ea typeface="Cairo Bold"/>
                <a:cs typeface="Cairo Bold"/>
                <a:sym typeface="Cairo Bold"/>
                <a:rtl/>
              </a:rPr>
              <a:t>خلية عصبية بيولوجية</a:t>
            </a:r>
          </a:p>
        </p:txBody>
      </p:sp>
      <p:sp>
        <p:nvSpPr>
          <p:cNvPr id="11" name="TextBox 11"/>
          <p:cNvSpPr txBox="1"/>
          <p:nvPr/>
        </p:nvSpPr>
        <p:spPr>
          <a:xfrm>
            <a:off x="10835278" y="6834188"/>
            <a:ext cx="5061347" cy="307777"/>
          </a:xfrm>
          <a:prstGeom prst="rect">
            <a:avLst/>
          </a:prstGeom>
        </p:spPr>
        <p:txBody>
          <a:bodyPr lIns="0" tIns="0" rIns="0" bIns="0" rtlCol="0" anchor="t">
            <a:spAutoFit/>
          </a:bodyPr>
          <a:lstStyle/>
          <a:p>
            <a:pPr algn="r" rtl="1">
              <a:lnSpc>
                <a:spcPts val="2448"/>
              </a:lnSpc>
            </a:pPr>
            <a:r>
              <a:rPr lang="ar-EG" sz="1700" dirty="0">
                <a:solidFill>
                  <a:srgbClr val="475569"/>
                </a:solidFill>
                <a:latin typeface="Cairo Light"/>
                <a:ea typeface="Cairo Light"/>
                <a:cs typeface="Cairo Light"/>
                <a:sym typeface="Cairo Light"/>
                <a:rtl/>
              </a:rPr>
              <a:t>تعمل معاً داخل الدماغ البشري لتجعلك تفكر، تشعر، وتتعلم</a:t>
            </a:r>
            <a:r>
              <a:rPr lang="en-US" sz="1700" dirty="0">
                <a:solidFill>
                  <a:srgbClr val="475569"/>
                </a:solidFill>
                <a:latin typeface="Cairo Light"/>
                <a:ea typeface="Cairo Light"/>
                <a:cs typeface="Cairo Light"/>
                <a:sym typeface="Cairo Light"/>
              </a:rPr>
              <a:t>.</a:t>
            </a:r>
          </a:p>
        </p:txBody>
      </p:sp>
      <p:grpSp>
        <p:nvGrpSpPr>
          <p:cNvPr id="12" name="Group 12"/>
          <p:cNvGrpSpPr/>
          <p:nvPr/>
        </p:nvGrpSpPr>
        <p:grpSpPr>
          <a:xfrm>
            <a:off x="4493419" y="3585020"/>
            <a:ext cx="857250" cy="685800"/>
            <a:chOff x="0" y="0"/>
            <a:chExt cx="1143000" cy="914400"/>
          </a:xfrm>
        </p:grpSpPr>
        <p:sp>
          <p:nvSpPr>
            <p:cNvPr id="13" name="Freeform 13" descr="preencoded.png"/>
            <p:cNvSpPr/>
            <p:nvPr/>
          </p:nvSpPr>
          <p:spPr>
            <a:xfrm>
              <a:off x="0" y="0"/>
              <a:ext cx="1143000" cy="914400"/>
            </a:xfrm>
            <a:custGeom>
              <a:avLst/>
              <a:gdLst/>
              <a:ahLst/>
              <a:cxnLst/>
              <a:rect l="l" t="t" r="r" b="b"/>
              <a:pathLst>
                <a:path w="1143000" h="914400">
                  <a:moveTo>
                    <a:pt x="0" y="0"/>
                  </a:moveTo>
                  <a:lnTo>
                    <a:pt x="1143000" y="0"/>
                  </a:lnTo>
                  <a:lnTo>
                    <a:pt x="1143000" y="914400"/>
                  </a:lnTo>
                  <a:lnTo>
                    <a:pt x="0" y="914400"/>
                  </a:lnTo>
                  <a:lnTo>
                    <a:pt x="0" y="0"/>
                  </a:lnTo>
                  <a:close/>
                </a:path>
              </a:pathLst>
            </a:custGeom>
            <a:blipFill>
              <a:blip r:embed="rId5"/>
              <a:stretch>
                <a:fillRect l="-1063" r="-1064"/>
              </a:stretch>
            </a:blipFill>
          </p:spPr>
          <p:txBody>
            <a:bodyPr/>
            <a:lstStyle/>
            <a:p>
              <a:endParaRPr lang="en-SA"/>
            </a:p>
          </p:txBody>
        </p:sp>
      </p:grpSp>
      <p:sp>
        <p:nvSpPr>
          <p:cNvPr id="14" name="TextBox 14"/>
          <p:cNvSpPr txBox="1"/>
          <p:nvPr/>
        </p:nvSpPr>
        <p:spPr>
          <a:xfrm>
            <a:off x="3314700" y="4453604"/>
            <a:ext cx="3295948" cy="858393"/>
          </a:xfrm>
          <a:prstGeom prst="rect">
            <a:avLst/>
          </a:prstGeom>
        </p:spPr>
        <p:txBody>
          <a:bodyPr lIns="0" tIns="0" rIns="0" bIns="0" rtlCol="0" anchor="t">
            <a:spAutoFit/>
          </a:bodyPr>
          <a:lstStyle/>
          <a:p>
            <a:pPr algn="ctr">
              <a:lnSpc>
                <a:spcPts val="6336"/>
              </a:lnSpc>
            </a:pPr>
            <a:r>
              <a:rPr lang="en-US" sz="6600" b="1" dirty="0">
                <a:solidFill>
                  <a:srgbClr val="EA580C"/>
                </a:solidFill>
                <a:latin typeface="Cairo Bold"/>
                <a:ea typeface="Cairo Bold"/>
                <a:cs typeface="Cairo Bold"/>
                <a:sym typeface="Cairo Bold"/>
              </a:rPr>
              <a:t>١٧٥</a:t>
            </a:r>
            <a:r>
              <a:rPr lang="ar-EG" sz="6600" b="1" dirty="0">
                <a:solidFill>
                  <a:srgbClr val="EA580C"/>
                </a:solidFill>
                <a:latin typeface="Cairo Bold"/>
                <a:ea typeface="Cairo Bold"/>
                <a:cs typeface="Cairo Bold"/>
                <a:sym typeface="Cairo Bold"/>
                <a:rtl/>
              </a:rPr>
              <a:t> مليار</a:t>
            </a:r>
          </a:p>
        </p:txBody>
      </p:sp>
      <p:sp>
        <p:nvSpPr>
          <p:cNvPr id="15" name="TextBox 15"/>
          <p:cNvSpPr txBox="1"/>
          <p:nvPr/>
        </p:nvSpPr>
        <p:spPr>
          <a:xfrm>
            <a:off x="3314700" y="6050756"/>
            <a:ext cx="3214688" cy="535781"/>
          </a:xfrm>
          <a:prstGeom prst="rect">
            <a:avLst/>
          </a:prstGeom>
        </p:spPr>
        <p:txBody>
          <a:bodyPr lIns="0" tIns="0" rIns="0" bIns="0" rtlCol="0" anchor="t">
            <a:spAutoFit/>
          </a:bodyPr>
          <a:lstStyle/>
          <a:p>
            <a:pPr algn="ctr">
              <a:lnSpc>
                <a:spcPts val="2400"/>
              </a:lnSpc>
            </a:pPr>
            <a:r>
              <a:rPr lang="ar-EG" sz="2000" b="1">
                <a:solidFill>
                  <a:srgbClr val="0F172A"/>
                </a:solidFill>
                <a:latin typeface="Cairo Bold"/>
                <a:ea typeface="Cairo Bold"/>
                <a:cs typeface="Cairo Bold"/>
                <a:sym typeface="Cairo Bold"/>
                <a:rtl/>
              </a:rPr>
              <a:t>معامل رقمي</a:t>
            </a:r>
            <a:r>
              <a:rPr lang="en-US" sz="2000" b="1">
                <a:solidFill>
                  <a:srgbClr val="0F172A"/>
                </a:solidFill>
                <a:latin typeface="Cairo Bold"/>
                <a:ea typeface="Cairo Bold"/>
                <a:cs typeface="Cairo Bold"/>
                <a:sym typeface="Cairo Bold"/>
              </a:rPr>
              <a:t> (Parameter)</a:t>
            </a:r>
          </a:p>
        </p:txBody>
      </p:sp>
      <p:sp>
        <p:nvSpPr>
          <p:cNvPr id="16" name="TextBox 16"/>
          <p:cNvSpPr txBox="1"/>
          <p:nvPr/>
        </p:nvSpPr>
        <p:spPr>
          <a:xfrm>
            <a:off x="1285875" y="6662738"/>
            <a:ext cx="7272338" cy="615553"/>
          </a:xfrm>
          <a:prstGeom prst="rect">
            <a:avLst/>
          </a:prstGeom>
        </p:spPr>
        <p:txBody>
          <a:bodyPr lIns="0" tIns="0" rIns="0" bIns="0" rtlCol="0" anchor="t">
            <a:spAutoFit/>
          </a:bodyPr>
          <a:lstStyle/>
          <a:p>
            <a:pPr algn="r" rtl="1">
              <a:lnSpc>
                <a:spcPts val="2448"/>
              </a:lnSpc>
            </a:pPr>
            <a:r>
              <a:rPr lang="ar-EG" sz="1700" dirty="0">
                <a:solidFill>
                  <a:srgbClr val="475569"/>
                </a:solidFill>
                <a:latin typeface="Cairo Light"/>
                <a:ea typeface="Cairo Light"/>
                <a:cs typeface="Cairo Light"/>
                <a:sym typeface="Cairo Light"/>
                <a:rtl/>
              </a:rPr>
              <a:t>في نموذج</a:t>
            </a:r>
            <a:r>
              <a:rPr lang="en-US" sz="1700" dirty="0">
                <a:solidFill>
                  <a:srgbClr val="475569"/>
                </a:solidFill>
                <a:latin typeface="Cairo Light"/>
                <a:ea typeface="Cairo Light"/>
                <a:cs typeface="Cairo Light"/>
                <a:sym typeface="Cairo Light"/>
              </a:rPr>
              <a:t> GPT-3 (</a:t>
            </a:r>
            <a:r>
              <a:rPr lang="ar-EG" sz="1700" dirty="0">
                <a:solidFill>
                  <a:srgbClr val="475569"/>
                </a:solidFill>
                <a:latin typeface="Cairo Light"/>
                <a:ea typeface="Cairo Light"/>
                <a:cs typeface="Cairo Light"/>
                <a:sym typeface="Cairo Light"/>
                <a:rtl/>
              </a:rPr>
              <a:t>أحد نماذج الذكاء الاصطناعي الشهيرة</a:t>
            </a:r>
            <a:r>
              <a:rPr lang="en-US" sz="1700" dirty="0">
                <a:solidFill>
                  <a:srgbClr val="475569"/>
                </a:solidFill>
                <a:latin typeface="Cairo Light"/>
                <a:ea typeface="Cairo Light"/>
                <a:cs typeface="Cairo Light"/>
                <a:sym typeface="Cairo Light"/>
              </a:rPr>
              <a:t>) </a:t>
            </a:r>
            <a:r>
              <a:rPr lang="ar-EG" sz="1700" dirty="0">
                <a:solidFill>
                  <a:srgbClr val="475569"/>
                </a:solidFill>
                <a:latin typeface="Cairo Light"/>
                <a:ea typeface="Cairo Light"/>
                <a:cs typeface="Cairo Light"/>
                <a:sym typeface="Cairo Light"/>
                <a:rtl/>
              </a:rPr>
              <a:t>ليفهم النصوص ويجيب عليها</a:t>
            </a:r>
            <a:r>
              <a:rPr lang="en-US" sz="1700" dirty="0">
                <a:solidFill>
                  <a:srgbClr val="475569"/>
                </a:solidFill>
                <a:latin typeface="Cairo Light"/>
                <a:ea typeface="Cairo Light"/>
                <a:cs typeface="Cairo Light"/>
                <a:sym typeface="Cairo Light"/>
              </a:rPr>
              <a:t>.</a:t>
            </a:r>
          </a:p>
        </p:txBody>
      </p:sp>
      <p:sp>
        <p:nvSpPr>
          <p:cNvPr id="17" name="TextBox 17"/>
          <p:cNvSpPr txBox="1"/>
          <p:nvPr/>
        </p:nvSpPr>
        <p:spPr>
          <a:xfrm>
            <a:off x="1285875" y="8005763"/>
            <a:ext cx="15716250" cy="723916"/>
          </a:xfrm>
          <a:prstGeom prst="rect">
            <a:avLst/>
          </a:prstGeom>
        </p:spPr>
        <p:txBody>
          <a:bodyPr lIns="0" tIns="0" rIns="0" bIns="0" rtlCol="0" anchor="t">
            <a:spAutoFit/>
          </a:bodyPr>
          <a:lstStyle/>
          <a:p>
            <a:pPr algn="r" rtl="1">
              <a:lnSpc>
                <a:spcPts val="2918"/>
              </a:lnSpc>
            </a:pPr>
            <a:r>
              <a:rPr lang="en-US" sz="1900" dirty="0">
                <a:solidFill>
                  <a:srgbClr val="475569"/>
                </a:solidFill>
                <a:latin typeface="Cairo"/>
                <a:ea typeface="Cairo"/>
                <a:cs typeface="Cairo"/>
                <a:sym typeface="Cairo"/>
              </a:rPr>
              <a:t>💡 </a:t>
            </a:r>
            <a:r>
              <a:rPr lang="ar-EG" sz="1900" b="1" dirty="0">
                <a:solidFill>
                  <a:srgbClr val="EA580C"/>
                </a:solidFill>
                <a:latin typeface="Cairo Bold"/>
                <a:ea typeface="Cairo Bold"/>
                <a:cs typeface="Cairo Bold"/>
                <a:sym typeface="Cairo Bold"/>
                <a:rtl/>
              </a:rPr>
              <a:t>مقارنة هامة:</a:t>
            </a:r>
            <a:r>
              <a:rPr lang="ar-EG" sz="1900" dirty="0">
                <a:solidFill>
                  <a:srgbClr val="475569"/>
                </a:solidFill>
                <a:latin typeface="Cairo"/>
                <a:ea typeface="Cairo"/>
                <a:cs typeface="Cairo"/>
                <a:sym typeface="Cairo"/>
                <a:rtl/>
              </a:rPr>
              <a:t> على الرغم من تقارب الأرقام، تذكر أن </a:t>
            </a:r>
            <a:r>
              <a:rPr lang="ar-EG" sz="1900" b="1" dirty="0">
                <a:solidFill>
                  <a:srgbClr val="EA580C"/>
                </a:solidFill>
                <a:latin typeface="Cairo Bold"/>
                <a:ea typeface="Cairo Bold"/>
                <a:cs typeface="Cairo Bold"/>
                <a:sym typeface="Cairo Bold"/>
                <a:rtl/>
              </a:rPr>
              <a:t>الدماغ البشري تطور عبر </a:t>
            </a:r>
            <a:r>
              <a:rPr lang="en-US" sz="1900" b="1" dirty="0">
                <a:solidFill>
                  <a:srgbClr val="EA580C"/>
                </a:solidFill>
                <a:latin typeface="Cairo Bold"/>
                <a:ea typeface="Cairo Bold"/>
                <a:cs typeface="Cairo Bold"/>
                <a:sym typeface="Cairo Bold"/>
              </a:rPr>
              <a:t>٥٠٠</a:t>
            </a:r>
            <a:r>
              <a:rPr lang="ar-EG" sz="1900" b="1" dirty="0">
                <a:solidFill>
                  <a:srgbClr val="EA580C"/>
                </a:solidFill>
                <a:latin typeface="Cairo Bold"/>
                <a:ea typeface="Cairo Bold"/>
                <a:cs typeface="Cairo Bold"/>
                <a:sym typeface="Cairo Bold"/>
                <a:rtl/>
              </a:rPr>
              <a:t> مليون سنة</a:t>
            </a:r>
            <a:r>
              <a:rPr lang="ar-EG" sz="1900" dirty="0">
                <a:solidFill>
                  <a:srgbClr val="475569"/>
                </a:solidFill>
                <a:latin typeface="Cairo"/>
                <a:ea typeface="Cairo"/>
                <a:cs typeface="Cairo"/>
                <a:sym typeface="Cairo"/>
                <a:rtl/>
              </a:rPr>
              <a:t> من التفاعل الحقيقي مع العالم، بينما </a:t>
            </a:r>
            <a:r>
              <a:rPr lang="ar-EG" sz="1900" b="1" dirty="0">
                <a:solidFill>
                  <a:srgbClr val="EA580C"/>
                </a:solidFill>
                <a:latin typeface="Cairo Bold"/>
                <a:ea typeface="Cairo Bold"/>
                <a:cs typeface="Cairo Bold"/>
                <a:sym typeface="Cairo Bold"/>
                <a:rtl/>
              </a:rPr>
              <a:t>الشبكات العصبية الاصطناعية</a:t>
            </a:r>
            <a:r>
              <a:rPr lang="ar-EG" sz="1900" dirty="0">
                <a:solidFill>
                  <a:srgbClr val="475569"/>
                </a:solidFill>
                <a:latin typeface="Cairo"/>
                <a:ea typeface="Cairo"/>
                <a:cs typeface="Cairo"/>
                <a:sym typeface="Cairo"/>
                <a:rtl/>
              </a:rPr>
              <a:t> تم اختراعها وتطويرها منذ عقود قليلة فقط</a:t>
            </a:r>
            <a:r>
              <a:rPr lang="en-US" sz="1900" dirty="0">
                <a:solidFill>
                  <a:srgbClr val="475569"/>
                </a:solidFill>
                <a:latin typeface="Cairo"/>
                <a:ea typeface="Cairo"/>
                <a:cs typeface="Cairo"/>
                <a:sym typeface="Cairo"/>
              </a:rPr>
              <a:t>!</a:t>
            </a:r>
          </a:p>
        </p:txBody>
      </p:sp>
      <p:sp>
        <p:nvSpPr>
          <p:cNvPr id="18" name="TextBox 18"/>
          <p:cNvSpPr txBox="1"/>
          <p:nvPr/>
        </p:nvSpPr>
        <p:spPr>
          <a:xfrm>
            <a:off x="14097000" y="9638262"/>
            <a:ext cx="3048000" cy="333425"/>
          </a:xfrm>
          <a:prstGeom prst="rect">
            <a:avLst/>
          </a:prstGeom>
        </p:spPr>
        <p:txBody>
          <a:bodyPr wrap="square" lIns="0" tIns="0" rIns="0" bIns="0" rtlCol="0" anchor="t">
            <a:spAutoFit/>
          </a:bodyPr>
          <a:lstStyle/>
          <a:p>
            <a:pPr algn="r">
              <a:lnSpc>
                <a:spcPts val="2595"/>
              </a:lnSpc>
            </a:pPr>
            <a:r>
              <a:rPr lang="ar-EG" sz="1800" dirty="0">
                <a:solidFill>
                  <a:srgbClr val="64748B"/>
                </a:solidFill>
                <a:latin typeface="Cairo Light"/>
                <a:ea typeface="Cairo Light"/>
                <a:cs typeface="Cairo Light"/>
                <a:sym typeface="Cairo Light"/>
                <a:rtl/>
              </a:rPr>
              <a:t>اليوم الثالث · مبني على صورتنا</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SA"/>
            </a:p>
          </p:txBody>
        </p:sp>
      </p:grpSp>
      <p:sp>
        <p:nvSpPr>
          <p:cNvPr id="4" name="Freeform 4"/>
          <p:cNvSpPr/>
          <p:nvPr/>
        </p:nvSpPr>
        <p:spPr>
          <a:xfrm>
            <a:off x="3493371" y="1880346"/>
            <a:ext cx="10354789" cy="5785738"/>
          </a:xfrm>
          <a:custGeom>
            <a:avLst/>
            <a:gdLst/>
            <a:ahLst/>
            <a:cxnLst/>
            <a:rect l="l" t="t" r="r" b="b"/>
            <a:pathLst>
              <a:path w="10354789" h="5785738">
                <a:moveTo>
                  <a:pt x="0" y="0"/>
                </a:moveTo>
                <a:lnTo>
                  <a:pt x="10354788" y="0"/>
                </a:lnTo>
                <a:lnTo>
                  <a:pt x="10354788" y="5785739"/>
                </a:lnTo>
                <a:lnTo>
                  <a:pt x="0" y="5785739"/>
                </a:lnTo>
                <a:lnTo>
                  <a:pt x="0" y="0"/>
                </a:lnTo>
                <a:close/>
              </a:path>
            </a:pathLst>
          </a:custGeom>
          <a:blipFill>
            <a:blip r:embed="rId4"/>
            <a:stretch>
              <a:fillRect/>
            </a:stretch>
          </a:blipFill>
        </p:spPr>
        <p:txBody>
          <a:bodyPr/>
          <a:lstStyle/>
          <a:p>
            <a:pPr marL="0" algn="r" defTabSz="914400" rtl="1" eaLnBrk="1" latinLnBrk="0" hangingPunct="1"/>
            <a:endParaRPr lang="en-SA"/>
          </a:p>
        </p:txBody>
      </p:sp>
      <p:sp>
        <p:nvSpPr>
          <p:cNvPr id="5" name="TextBox 5"/>
          <p:cNvSpPr txBox="1"/>
          <p:nvPr/>
        </p:nvSpPr>
        <p:spPr>
          <a:xfrm>
            <a:off x="13994606" y="1000125"/>
            <a:ext cx="3007519" cy="642938"/>
          </a:xfrm>
          <a:prstGeom prst="rect">
            <a:avLst/>
          </a:prstGeom>
        </p:spPr>
        <p:txBody>
          <a:bodyPr lIns="0" tIns="0" rIns="0" bIns="0" rtlCol="0" anchor="t">
            <a:spAutoFit/>
          </a:bodyPr>
          <a:lstStyle/>
          <a:p>
            <a:pPr algn="r">
              <a:lnSpc>
                <a:spcPts val="2879"/>
              </a:lnSpc>
            </a:pPr>
            <a:r>
              <a:rPr lang="ar-EG" sz="2400" b="1">
                <a:solidFill>
                  <a:srgbClr val="0F172A"/>
                </a:solidFill>
                <a:latin typeface="Cairo Bold"/>
                <a:ea typeface="Cairo Bold"/>
                <a:cs typeface="Cairo Bold"/>
                <a:sym typeface="Cairo Bold"/>
                <a:rtl/>
              </a:rPr>
              <a:t>كيف تتعلم الشبكة؟</a:t>
            </a:r>
          </a:p>
        </p:txBody>
      </p:sp>
      <p:sp>
        <p:nvSpPr>
          <p:cNvPr id="6" name="TextBox 6"/>
          <p:cNvSpPr txBox="1"/>
          <p:nvPr/>
        </p:nvSpPr>
        <p:spPr>
          <a:xfrm>
            <a:off x="1285875" y="1107281"/>
            <a:ext cx="3568303" cy="428625"/>
          </a:xfrm>
          <a:prstGeom prst="rect">
            <a:avLst/>
          </a:prstGeom>
        </p:spPr>
        <p:txBody>
          <a:bodyPr lIns="0" tIns="0" rIns="0" bIns="0" rtlCol="0" anchor="t">
            <a:spAutoFit/>
          </a:bodyPr>
          <a:lstStyle/>
          <a:p>
            <a:pPr algn="r">
              <a:lnSpc>
                <a:spcPts val="1920"/>
              </a:lnSpc>
            </a:pPr>
            <a:r>
              <a:rPr lang="ar-EG" sz="1600" b="1">
                <a:solidFill>
                  <a:srgbClr val="EA580C"/>
                </a:solidFill>
                <a:latin typeface="Cairo Bold"/>
                <a:ea typeface="Cairo Bold"/>
                <a:cs typeface="Cairo Bold"/>
                <a:sym typeface="Cairo Bold"/>
                <a:rtl/>
              </a:rPr>
              <a:t>القسم الثاني: تشبيه الخلية العصبية</a:t>
            </a:r>
          </a:p>
        </p:txBody>
      </p:sp>
      <p:sp>
        <p:nvSpPr>
          <p:cNvPr id="7" name="TextBox 7"/>
          <p:cNvSpPr txBox="1"/>
          <p:nvPr/>
        </p:nvSpPr>
        <p:spPr>
          <a:xfrm>
            <a:off x="6296064" y="790575"/>
            <a:ext cx="4749402" cy="419100"/>
          </a:xfrm>
          <a:prstGeom prst="rect">
            <a:avLst/>
          </a:prstGeom>
        </p:spPr>
        <p:txBody>
          <a:bodyPr lIns="0" tIns="0" rIns="0" bIns="0" rtlCol="0" anchor="t">
            <a:spAutoFit/>
          </a:bodyPr>
          <a:lstStyle/>
          <a:p>
            <a:pPr algn="r">
              <a:lnSpc>
                <a:spcPts val="3359"/>
              </a:lnSpc>
            </a:pPr>
            <a:r>
              <a:rPr lang="ar-EG" sz="2799" b="1">
                <a:solidFill>
                  <a:srgbClr val="0F172A"/>
                </a:solidFill>
                <a:latin typeface="Cairo Bold"/>
                <a:ea typeface="Cairo Bold"/>
                <a:cs typeface="Cairo Bold"/>
                <a:sym typeface="Cairo Bold"/>
                <a:rtl/>
              </a:rPr>
              <a:t>التعلم = تعديل الأوزان تدريجياً</a:t>
            </a:r>
          </a:p>
        </p:txBody>
      </p:sp>
      <p:sp>
        <p:nvSpPr>
          <p:cNvPr id="8" name="TextBox 8"/>
          <p:cNvSpPr txBox="1"/>
          <p:nvPr/>
        </p:nvSpPr>
        <p:spPr>
          <a:xfrm>
            <a:off x="11774108" y="1996544"/>
            <a:ext cx="575072" cy="535781"/>
          </a:xfrm>
          <a:prstGeom prst="rect">
            <a:avLst/>
          </a:prstGeom>
        </p:spPr>
        <p:txBody>
          <a:bodyPr lIns="0" tIns="0" rIns="0" bIns="0" rtlCol="0" anchor="t">
            <a:spAutoFit/>
          </a:bodyPr>
          <a:lstStyle/>
          <a:p>
            <a:pPr algn="r">
              <a:lnSpc>
                <a:spcPts val="2400"/>
              </a:lnSpc>
            </a:pPr>
            <a:r>
              <a:rPr lang="ar-EG" sz="2000" b="1">
                <a:solidFill>
                  <a:srgbClr val="0F172A"/>
                </a:solidFill>
                <a:latin typeface="Cairo Bold"/>
                <a:ea typeface="Cairo Bold"/>
                <a:cs typeface="Cairo Bold"/>
                <a:sym typeface="Cairo Bold"/>
                <a:rtl/>
              </a:rPr>
              <a:t>خمّن</a:t>
            </a:r>
          </a:p>
        </p:txBody>
      </p:sp>
      <p:sp>
        <p:nvSpPr>
          <p:cNvPr id="9" name="TextBox 9"/>
          <p:cNvSpPr txBox="1"/>
          <p:nvPr/>
        </p:nvSpPr>
        <p:spPr>
          <a:xfrm>
            <a:off x="10411437" y="2397204"/>
            <a:ext cx="3300412" cy="551433"/>
          </a:xfrm>
          <a:prstGeom prst="rect">
            <a:avLst/>
          </a:prstGeom>
        </p:spPr>
        <p:txBody>
          <a:bodyPr lIns="0" tIns="0" rIns="0" bIns="0" rtlCol="0" anchor="t">
            <a:spAutoFit/>
          </a:bodyPr>
          <a:lstStyle/>
          <a:p>
            <a:pPr algn="ctr" rtl="1">
              <a:lnSpc>
                <a:spcPts val="2160"/>
              </a:lnSpc>
            </a:pPr>
            <a:r>
              <a:rPr lang="ar-EG" sz="1500" dirty="0">
                <a:solidFill>
                  <a:srgbClr val="475569"/>
                </a:solidFill>
                <a:latin typeface="Cairo"/>
                <a:ea typeface="Cairo"/>
                <a:cs typeface="Cairo"/>
                <a:sym typeface="Cairo"/>
                <a:rtl/>
              </a:rPr>
              <a:t>الشبكة تقوم بالتنبؤ بالإجابة الصحيحة في البداية باستخدام أوزان عشوائية تماماً</a:t>
            </a:r>
            <a:r>
              <a:rPr lang="en-US" sz="1500" dirty="0">
                <a:solidFill>
                  <a:srgbClr val="475569"/>
                </a:solidFill>
                <a:latin typeface="Cairo"/>
                <a:ea typeface="Cairo"/>
                <a:cs typeface="Cairo"/>
                <a:sym typeface="Cairo"/>
              </a:rPr>
              <a:t>.</a:t>
            </a:r>
          </a:p>
        </p:txBody>
      </p:sp>
      <p:sp>
        <p:nvSpPr>
          <p:cNvPr id="10" name="TextBox 10"/>
          <p:cNvSpPr txBox="1"/>
          <p:nvPr/>
        </p:nvSpPr>
        <p:spPr>
          <a:xfrm>
            <a:off x="12730162" y="4108013"/>
            <a:ext cx="742950" cy="535781"/>
          </a:xfrm>
          <a:prstGeom prst="rect">
            <a:avLst/>
          </a:prstGeom>
        </p:spPr>
        <p:txBody>
          <a:bodyPr lIns="0" tIns="0" rIns="0" bIns="0" rtlCol="0" anchor="t">
            <a:spAutoFit/>
          </a:bodyPr>
          <a:lstStyle/>
          <a:p>
            <a:pPr algn="r">
              <a:lnSpc>
                <a:spcPts val="2400"/>
              </a:lnSpc>
            </a:pPr>
            <a:r>
              <a:rPr lang="ar-EG" sz="2000" b="1">
                <a:solidFill>
                  <a:srgbClr val="0F172A"/>
                </a:solidFill>
                <a:latin typeface="Cairo Bold"/>
                <a:ea typeface="Cairo Bold"/>
                <a:cs typeface="Cairo Bold"/>
                <a:sym typeface="Cairo Bold"/>
                <a:rtl/>
              </a:rPr>
              <a:t>تحقق</a:t>
            </a:r>
          </a:p>
        </p:txBody>
      </p:sp>
      <p:sp>
        <p:nvSpPr>
          <p:cNvPr id="11" name="TextBox 11"/>
          <p:cNvSpPr txBox="1"/>
          <p:nvPr/>
        </p:nvSpPr>
        <p:spPr>
          <a:xfrm>
            <a:off x="11258550" y="4605695"/>
            <a:ext cx="3300412" cy="551433"/>
          </a:xfrm>
          <a:prstGeom prst="rect">
            <a:avLst/>
          </a:prstGeom>
        </p:spPr>
        <p:txBody>
          <a:bodyPr lIns="0" tIns="0" rIns="0" bIns="0" rtlCol="0" anchor="t">
            <a:spAutoFit/>
          </a:bodyPr>
          <a:lstStyle/>
          <a:p>
            <a:pPr algn="ctr" rtl="1">
              <a:lnSpc>
                <a:spcPts val="2160"/>
              </a:lnSpc>
            </a:pPr>
            <a:r>
              <a:rPr lang="ar-EG" sz="1500" dirty="0">
                <a:solidFill>
                  <a:srgbClr val="475569"/>
                </a:solidFill>
                <a:latin typeface="Cairo"/>
                <a:ea typeface="Cairo"/>
                <a:cs typeface="Cairo"/>
                <a:sym typeface="Cairo"/>
                <a:rtl/>
              </a:rPr>
              <a:t>نقارن تخمين الشبكة بالإجابة الصحيحة لنعرف بدقة كم كانت نسبة الخطأ</a:t>
            </a:r>
            <a:r>
              <a:rPr lang="en-US" sz="1500" dirty="0">
                <a:solidFill>
                  <a:srgbClr val="475569"/>
                </a:solidFill>
                <a:latin typeface="Cairo"/>
                <a:ea typeface="Cairo"/>
                <a:cs typeface="Cairo"/>
                <a:sym typeface="Cairo"/>
              </a:rPr>
              <a:t>.</a:t>
            </a:r>
          </a:p>
        </p:txBody>
      </p:sp>
      <p:sp>
        <p:nvSpPr>
          <p:cNvPr id="12" name="TextBox 12"/>
          <p:cNvSpPr txBox="1"/>
          <p:nvPr/>
        </p:nvSpPr>
        <p:spPr>
          <a:xfrm>
            <a:off x="13103460" y="7035326"/>
            <a:ext cx="744700" cy="295275"/>
          </a:xfrm>
          <a:prstGeom prst="rect">
            <a:avLst/>
          </a:prstGeom>
        </p:spPr>
        <p:txBody>
          <a:bodyPr lIns="0" tIns="0" rIns="0" bIns="0" rtlCol="0" anchor="t">
            <a:spAutoFit/>
          </a:bodyPr>
          <a:lstStyle/>
          <a:p>
            <a:pPr algn="l" rtl="1">
              <a:lnSpc>
                <a:spcPts val="2400"/>
              </a:lnSpc>
            </a:pPr>
            <a:r>
              <a:rPr lang="ar-EG" sz="2000" b="1">
                <a:solidFill>
                  <a:srgbClr val="0F172A"/>
                </a:solidFill>
                <a:latin typeface="Cairo Bold"/>
                <a:ea typeface="Cairo Bold"/>
                <a:cs typeface="Cairo Bold"/>
                <a:sym typeface="Cairo Bold"/>
                <a:rtl/>
              </a:rPr>
              <a:t>توزيع</a:t>
            </a:r>
          </a:p>
        </p:txBody>
      </p:sp>
      <p:sp>
        <p:nvSpPr>
          <p:cNvPr id="13" name="TextBox 13"/>
          <p:cNvSpPr txBox="1"/>
          <p:nvPr/>
        </p:nvSpPr>
        <p:spPr>
          <a:xfrm>
            <a:off x="2466605" y="4300895"/>
            <a:ext cx="3300412" cy="833562"/>
          </a:xfrm>
          <a:prstGeom prst="rect">
            <a:avLst/>
          </a:prstGeom>
        </p:spPr>
        <p:txBody>
          <a:bodyPr lIns="0" tIns="0" rIns="0" bIns="0" rtlCol="0" anchor="t">
            <a:spAutoFit/>
          </a:bodyPr>
          <a:lstStyle/>
          <a:p>
            <a:pPr algn="ctr" rtl="1">
              <a:lnSpc>
                <a:spcPts val="2160"/>
              </a:lnSpc>
            </a:pPr>
            <a:r>
              <a:rPr lang="ar-EG" sz="1500" dirty="0">
                <a:solidFill>
                  <a:srgbClr val="475569"/>
                </a:solidFill>
                <a:latin typeface="Cairo"/>
                <a:ea typeface="Cairo"/>
                <a:cs typeface="Cairo"/>
                <a:sym typeface="Cairo"/>
                <a:rtl/>
              </a:rPr>
              <a:t>نقوم بتغيير الأوزان (قوة الاتصالات) قليلاً    جداً في الاتجاه الذي يقلل الخطأ حسب مقدار مستهمة كل وزن في حدوث الخطأ</a:t>
            </a:r>
          </a:p>
        </p:txBody>
      </p:sp>
      <p:sp>
        <p:nvSpPr>
          <p:cNvPr id="14" name="TextBox 14"/>
          <p:cNvSpPr txBox="1"/>
          <p:nvPr/>
        </p:nvSpPr>
        <p:spPr>
          <a:xfrm>
            <a:off x="4116811" y="3812738"/>
            <a:ext cx="504806" cy="295275"/>
          </a:xfrm>
          <a:prstGeom prst="rect">
            <a:avLst/>
          </a:prstGeom>
        </p:spPr>
        <p:txBody>
          <a:bodyPr lIns="0" tIns="0" rIns="0" bIns="0" rtlCol="0" anchor="t">
            <a:spAutoFit/>
          </a:bodyPr>
          <a:lstStyle/>
          <a:p>
            <a:pPr algn="l" rtl="1">
              <a:lnSpc>
                <a:spcPts val="2400"/>
              </a:lnSpc>
            </a:pPr>
            <a:r>
              <a:rPr lang="ar-EG" sz="2000" b="1">
                <a:solidFill>
                  <a:srgbClr val="0F172A"/>
                </a:solidFill>
                <a:latin typeface="Cairo Bold"/>
                <a:ea typeface="Cairo Bold"/>
                <a:cs typeface="Cairo Bold"/>
                <a:sym typeface="Cairo Bold"/>
                <a:rtl/>
              </a:rPr>
              <a:t>عدل</a:t>
            </a:r>
          </a:p>
        </p:txBody>
      </p:sp>
      <p:sp>
        <p:nvSpPr>
          <p:cNvPr id="15" name="TextBox 15"/>
          <p:cNvSpPr txBox="1"/>
          <p:nvPr/>
        </p:nvSpPr>
        <p:spPr>
          <a:xfrm>
            <a:off x="9608344" y="6997226"/>
            <a:ext cx="3300412" cy="551433"/>
          </a:xfrm>
          <a:prstGeom prst="rect">
            <a:avLst/>
          </a:prstGeom>
        </p:spPr>
        <p:txBody>
          <a:bodyPr lIns="0" tIns="0" rIns="0" bIns="0" rtlCol="0" anchor="t">
            <a:spAutoFit/>
          </a:bodyPr>
          <a:lstStyle/>
          <a:p>
            <a:pPr algn="ctr" rtl="1">
              <a:lnSpc>
                <a:spcPts val="2160"/>
              </a:lnSpc>
            </a:pPr>
            <a:r>
              <a:rPr lang="ar-EG" sz="1500" dirty="0">
                <a:solidFill>
                  <a:srgbClr val="475569"/>
                </a:solidFill>
                <a:latin typeface="Cairo"/>
                <a:ea typeface="Cairo"/>
                <a:cs typeface="Cairo"/>
                <a:sym typeface="Cairo"/>
                <a:rtl/>
              </a:rPr>
              <a:t>نحدد مقدار مساهمة كل وزن في حدوث الخطأ</a:t>
            </a:r>
            <a:r>
              <a:rPr lang="en-US" sz="1500" dirty="0">
                <a:solidFill>
                  <a:srgbClr val="475569"/>
                </a:solidFill>
                <a:latin typeface="Cairo"/>
                <a:ea typeface="Cairo"/>
                <a:cs typeface="Cairo"/>
                <a:sym typeface="Cairo"/>
              </a:rPr>
              <a:t> </a:t>
            </a:r>
          </a:p>
        </p:txBody>
      </p:sp>
      <p:sp>
        <p:nvSpPr>
          <p:cNvPr id="16" name="TextBox 16"/>
          <p:cNvSpPr txBox="1"/>
          <p:nvPr/>
        </p:nvSpPr>
        <p:spPr>
          <a:xfrm>
            <a:off x="13369528" y="8029575"/>
            <a:ext cx="3203972" cy="282129"/>
          </a:xfrm>
          <a:prstGeom prst="rect">
            <a:avLst/>
          </a:prstGeom>
        </p:spPr>
        <p:txBody>
          <a:bodyPr lIns="0" tIns="0" rIns="0" bIns="0" rtlCol="0" anchor="t">
            <a:spAutoFit/>
          </a:bodyPr>
          <a:lstStyle/>
          <a:p>
            <a:pPr algn="r">
              <a:lnSpc>
                <a:spcPts val="2160"/>
              </a:lnSpc>
            </a:pPr>
            <a:r>
              <a:rPr lang="ar-EG" sz="1800" b="1" dirty="0">
                <a:solidFill>
                  <a:srgbClr val="EA580C"/>
                </a:solidFill>
                <a:latin typeface="Cairo Bold"/>
                <a:ea typeface="Cairo Bold"/>
                <a:cs typeface="Cairo Bold"/>
                <a:sym typeface="Cairo Bold"/>
                <a:rtl/>
              </a:rPr>
              <a:t>هذه العملية الدائرية تسمى:</a:t>
            </a:r>
            <a:endParaRPr lang="en-US" sz="1800" b="1" dirty="0">
              <a:solidFill>
                <a:srgbClr val="EA580C"/>
              </a:solidFill>
              <a:latin typeface="Cairo Bold"/>
              <a:ea typeface="Cairo Bold"/>
              <a:cs typeface="Cairo Bold"/>
              <a:sym typeface="Cairo Bold"/>
            </a:endParaRPr>
          </a:p>
        </p:txBody>
      </p:sp>
      <p:sp>
        <p:nvSpPr>
          <p:cNvPr id="17" name="TextBox 17"/>
          <p:cNvSpPr txBox="1"/>
          <p:nvPr/>
        </p:nvSpPr>
        <p:spPr>
          <a:xfrm>
            <a:off x="9261872" y="8029575"/>
            <a:ext cx="3993356" cy="282129"/>
          </a:xfrm>
          <a:prstGeom prst="rect">
            <a:avLst/>
          </a:prstGeom>
        </p:spPr>
        <p:txBody>
          <a:bodyPr lIns="0" tIns="0" rIns="0" bIns="0" rtlCol="0" anchor="t">
            <a:spAutoFit/>
          </a:bodyPr>
          <a:lstStyle/>
          <a:p>
            <a:pPr algn="r" rtl="1">
              <a:lnSpc>
                <a:spcPts val="2160"/>
              </a:lnSpc>
            </a:pPr>
            <a:r>
              <a:rPr lang="ar-EG" sz="1800" b="1" dirty="0">
                <a:solidFill>
                  <a:srgbClr val="EA580C"/>
                </a:solidFill>
                <a:latin typeface="Cairo Bold"/>
                <a:ea typeface="Cairo Bold"/>
                <a:cs typeface="Cairo Bold"/>
                <a:sym typeface="Cairo Bold"/>
                <a:rtl/>
              </a:rPr>
              <a:t>الانتشار العكسي</a:t>
            </a:r>
            <a:r>
              <a:rPr lang="en-US" sz="1800" b="1" dirty="0">
                <a:solidFill>
                  <a:srgbClr val="EA580C"/>
                </a:solidFill>
                <a:latin typeface="Cairo Bold"/>
                <a:ea typeface="Cairo Bold"/>
                <a:cs typeface="Cairo Bold"/>
                <a:sym typeface="Cairo Bold"/>
              </a:rPr>
              <a:t> (Backpropagation)</a:t>
            </a:r>
          </a:p>
        </p:txBody>
      </p:sp>
      <p:sp>
        <p:nvSpPr>
          <p:cNvPr id="18" name="TextBox 18"/>
          <p:cNvSpPr txBox="1"/>
          <p:nvPr/>
        </p:nvSpPr>
        <p:spPr>
          <a:xfrm>
            <a:off x="1600200" y="8578453"/>
            <a:ext cx="15087600" cy="282129"/>
          </a:xfrm>
          <a:prstGeom prst="rect">
            <a:avLst/>
          </a:prstGeom>
        </p:spPr>
        <p:txBody>
          <a:bodyPr lIns="0" tIns="0" rIns="0" bIns="0" rtlCol="0" anchor="t">
            <a:spAutoFit/>
          </a:bodyPr>
          <a:lstStyle/>
          <a:p>
            <a:pPr algn="r" rtl="1">
              <a:lnSpc>
                <a:spcPts val="2150"/>
              </a:lnSpc>
            </a:pPr>
            <a:r>
              <a:rPr lang="ar-EG" sz="1600" dirty="0">
                <a:solidFill>
                  <a:srgbClr val="475569"/>
                </a:solidFill>
                <a:latin typeface="Cairo"/>
                <a:ea typeface="Cairo"/>
                <a:cs typeface="Cairo"/>
                <a:sym typeface="Cairo"/>
                <a:rtl/>
              </a:rPr>
              <a:t>بكلمات بسيطة: "كنت مخطئاً.. بهذا المقدار.. سأصحح اتصالي قليلاً.. وأحاول مجدداً</a:t>
            </a:r>
            <a:r>
              <a:rPr lang="en-US" sz="1600" dirty="0">
                <a:solidFill>
                  <a:srgbClr val="475569"/>
                </a:solidFill>
                <a:latin typeface="Cairo"/>
                <a:ea typeface="Cairo"/>
                <a:cs typeface="Cairo"/>
                <a:sym typeface="Cairo"/>
              </a:rPr>
              <a:t>!"</a:t>
            </a:r>
          </a:p>
        </p:txBody>
      </p:sp>
      <p:sp>
        <p:nvSpPr>
          <p:cNvPr id="19" name="TextBox 19"/>
          <p:cNvSpPr txBox="1"/>
          <p:nvPr/>
        </p:nvSpPr>
        <p:spPr>
          <a:xfrm>
            <a:off x="13848160" y="9629775"/>
            <a:ext cx="3302769" cy="333425"/>
          </a:xfrm>
          <a:prstGeom prst="rect">
            <a:avLst/>
          </a:prstGeom>
        </p:spPr>
        <p:txBody>
          <a:bodyPr wrap="square" lIns="0" tIns="0" rIns="0" bIns="0" rtlCol="0" anchor="t">
            <a:spAutoFit/>
          </a:bodyPr>
          <a:lstStyle/>
          <a:p>
            <a:pPr algn="r">
              <a:lnSpc>
                <a:spcPts val="2595"/>
              </a:lnSpc>
            </a:pPr>
            <a:r>
              <a:rPr lang="ar-EG" sz="1800" dirty="0">
                <a:solidFill>
                  <a:srgbClr val="64748B"/>
                </a:solidFill>
                <a:latin typeface="Cairo Light"/>
                <a:ea typeface="Cairo Light"/>
                <a:cs typeface="Cairo Light"/>
                <a:sym typeface="Cairo Light"/>
                <a:rtl/>
              </a:rPr>
              <a:t>اليوم الثالث · مبني على صورتنا</a:t>
            </a:r>
          </a:p>
        </p:txBody>
      </p:sp>
      <p:sp>
        <p:nvSpPr>
          <p:cNvPr id="20" name="TextBox 20"/>
          <p:cNvSpPr txBox="1"/>
          <p:nvPr/>
        </p:nvSpPr>
        <p:spPr>
          <a:xfrm>
            <a:off x="10442344" y="4527105"/>
            <a:ext cx="742950" cy="552450"/>
          </a:xfrm>
          <a:prstGeom prst="rect">
            <a:avLst/>
          </a:prstGeom>
        </p:spPr>
        <p:txBody>
          <a:bodyPr lIns="0" tIns="0" rIns="0" bIns="0" rtlCol="0" anchor="t">
            <a:spAutoFit/>
          </a:bodyPr>
          <a:lstStyle/>
          <a:p>
            <a:pPr algn="ctr" rtl="1">
              <a:lnSpc>
                <a:spcPts val="4319"/>
              </a:lnSpc>
            </a:pPr>
            <a:r>
              <a:rPr lang="en-US" sz="3599" b="1" dirty="0">
                <a:solidFill>
                  <a:srgbClr val="FFFFFF"/>
                </a:solidFill>
                <a:latin typeface="Cairo Bold"/>
                <a:ea typeface="Cairo Bold"/>
                <a:cs typeface="Cairo Bold"/>
                <a:sym typeface="Cairo Bold"/>
              </a:rPr>
              <a:t>٢</a:t>
            </a:r>
            <a:r>
              <a:rPr lang="ar-EG" sz="3599" b="1" dirty="0">
                <a:solidFill>
                  <a:srgbClr val="FFFFFF"/>
                </a:solidFill>
                <a:latin typeface="Cairo Bold"/>
                <a:ea typeface="Cairo Bold"/>
                <a:cs typeface="Cairo Bold"/>
                <a:sym typeface="Cairo Bold"/>
                <a:rtl/>
              </a:rPr>
              <a:t> </a:t>
            </a:r>
          </a:p>
        </p:txBody>
      </p:sp>
      <p:sp>
        <p:nvSpPr>
          <p:cNvPr id="21" name="TextBox 21"/>
          <p:cNvSpPr txBox="1"/>
          <p:nvPr/>
        </p:nvSpPr>
        <p:spPr>
          <a:xfrm>
            <a:off x="8281755" y="2400525"/>
            <a:ext cx="742950" cy="552450"/>
          </a:xfrm>
          <a:prstGeom prst="rect">
            <a:avLst/>
          </a:prstGeom>
        </p:spPr>
        <p:txBody>
          <a:bodyPr lIns="0" tIns="0" rIns="0" bIns="0" rtlCol="0" anchor="t">
            <a:spAutoFit/>
          </a:bodyPr>
          <a:lstStyle/>
          <a:p>
            <a:pPr algn="ctr" rtl="1">
              <a:lnSpc>
                <a:spcPts val="4319"/>
              </a:lnSpc>
            </a:pPr>
            <a:r>
              <a:rPr lang="en-US" sz="3599" b="1" dirty="0">
                <a:solidFill>
                  <a:srgbClr val="FFFFFF"/>
                </a:solidFill>
                <a:latin typeface="Cairo Bold"/>
                <a:ea typeface="Cairo Bold"/>
                <a:cs typeface="Cairo Bold"/>
                <a:sym typeface="Cairo Bold"/>
              </a:rPr>
              <a:t>١</a:t>
            </a:r>
            <a:r>
              <a:rPr lang="ar-EG" sz="3599" b="1" dirty="0">
                <a:solidFill>
                  <a:srgbClr val="FFFFFF"/>
                </a:solidFill>
                <a:latin typeface="Cairo Bold"/>
                <a:ea typeface="Cairo Bold"/>
                <a:cs typeface="Cairo Bold"/>
                <a:sym typeface="Cairo Bold"/>
                <a:rtl/>
              </a:rPr>
              <a:t>  </a:t>
            </a:r>
          </a:p>
        </p:txBody>
      </p:sp>
      <p:sp>
        <p:nvSpPr>
          <p:cNvPr id="22" name="TextBox 22"/>
          <p:cNvSpPr txBox="1"/>
          <p:nvPr/>
        </p:nvSpPr>
        <p:spPr>
          <a:xfrm>
            <a:off x="8281755" y="6630513"/>
            <a:ext cx="742950" cy="552450"/>
          </a:xfrm>
          <a:prstGeom prst="rect">
            <a:avLst/>
          </a:prstGeom>
        </p:spPr>
        <p:txBody>
          <a:bodyPr lIns="0" tIns="0" rIns="0" bIns="0" rtlCol="0" anchor="t">
            <a:spAutoFit/>
          </a:bodyPr>
          <a:lstStyle/>
          <a:p>
            <a:pPr algn="ctr" rtl="1">
              <a:lnSpc>
                <a:spcPts val="4319"/>
              </a:lnSpc>
            </a:pPr>
            <a:r>
              <a:rPr lang="en-US" sz="3599" b="1" dirty="0">
                <a:solidFill>
                  <a:srgbClr val="FFFFFF"/>
                </a:solidFill>
                <a:latin typeface="Cairo Bold"/>
                <a:ea typeface="Cairo Bold"/>
                <a:cs typeface="Cairo Bold"/>
                <a:sym typeface="Cairo Bold"/>
              </a:rPr>
              <a:t>٣</a:t>
            </a:r>
            <a:r>
              <a:rPr lang="ar-EG" sz="3599" b="1" dirty="0">
                <a:solidFill>
                  <a:srgbClr val="FFFFFF"/>
                </a:solidFill>
                <a:latin typeface="Cairo Bold"/>
                <a:ea typeface="Cairo Bold"/>
                <a:cs typeface="Cairo Bold"/>
                <a:sym typeface="Cairo Bold"/>
                <a:rtl/>
              </a:rPr>
              <a:t>  </a:t>
            </a:r>
          </a:p>
        </p:txBody>
      </p:sp>
      <p:sp>
        <p:nvSpPr>
          <p:cNvPr id="23" name="TextBox 23"/>
          <p:cNvSpPr txBox="1"/>
          <p:nvPr/>
        </p:nvSpPr>
        <p:spPr>
          <a:xfrm>
            <a:off x="6138323" y="4540925"/>
            <a:ext cx="742950" cy="552450"/>
          </a:xfrm>
          <a:prstGeom prst="rect">
            <a:avLst/>
          </a:prstGeom>
        </p:spPr>
        <p:txBody>
          <a:bodyPr lIns="0" tIns="0" rIns="0" bIns="0" rtlCol="0" anchor="t">
            <a:spAutoFit/>
          </a:bodyPr>
          <a:lstStyle/>
          <a:p>
            <a:pPr algn="ctr" rtl="1">
              <a:lnSpc>
                <a:spcPts val="4319"/>
              </a:lnSpc>
            </a:pPr>
            <a:r>
              <a:rPr lang="en-US" sz="3599" b="1" dirty="0">
                <a:solidFill>
                  <a:srgbClr val="FFFFFF"/>
                </a:solidFill>
                <a:latin typeface="Cairo Bold"/>
                <a:ea typeface="Cairo Bold"/>
                <a:cs typeface="Cairo Bold"/>
                <a:sym typeface="Cairo Bold"/>
              </a:rPr>
              <a:t>٤</a:t>
            </a:r>
            <a:r>
              <a:rPr lang="ar-EG" sz="3599" b="1" dirty="0">
                <a:solidFill>
                  <a:srgbClr val="FFFFFF"/>
                </a:solidFill>
                <a:latin typeface="Cairo Bold"/>
                <a:ea typeface="Cairo Bold"/>
                <a:cs typeface="Cairo Bold"/>
                <a:sym typeface="Cairo Bold"/>
                <a:rtl/>
              </a:rPr>
              <a:t>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SA"/>
            </a:p>
          </p:txBody>
        </p:sp>
      </p:grpSp>
      <p:sp>
        <p:nvSpPr>
          <p:cNvPr id="4" name="TextBox 4"/>
          <p:cNvSpPr txBox="1"/>
          <p:nvPr/>
        </p:nvSpPr>
        <p:spPr>
          <a:xfrm>
            <a:off x="15226903" y="1000125"/>
            <a:ext cx="1775222" cy="642938"/>
          </a:xfrm>
          <a:prstGeom prst="rect">
            <a:avLst/>
          </a:prstGeom>
        </p:spPr>
        <p:txBody>
          <a:bodyPr lIns="0" tIns="0" rIns="0" bIns="0" rtlCol="0" anchor="t">
            <a:spAutoFit/>
          </a:bodyPr>
          <a:lstStyle/>
          <a:p>
            <a:pPr algn="r">
              <a:lnSpc>
                <a:spcPts val="2879"/>
              </a:lnSpc>
            </a:pPr>
            <a:r>
              <a:rPr lang="ar-EG" sz="2400" b="1">
                <a:solidFill>
                  <a:srgbClr val="0F172A"/>
                </a:solidFill>
                <a:latin typeface="Cairo Bold"/>
                <a:ea typeface="Cairo Bold"/>
                <a:cs typeface="Cairo Bold"/>
                <a:sym typeface="Cairo Bold"/>
                <a:rtl/>
              </a:rPr>
              <a:t>تحقق سريع</a:t>
            </a:r>
          </a:p>
        </p:txBody>
      </p:sp>
      <p:sp>
        <p:nvSpPr>
          <p:cNvPr id="5" name="TextBox 5"/>
          <p:cNvSpPr txBox="1"/>
          <p:nvPr/>
        </p:nvSpPr>
        <p:spPr>
          <a:xfrm>
            <a:off x="1285875" y="1107281"/>
            <a:ext cx="3568303" cy="428625"/>
          </a:xfrm>
          <a:prstGeom prst="rect">
            <a:avLst/>
          </a:prstGeom>
        </p:spPr>
        <p:txBody>
          <a:bodyPr lIns="0" tIns="0" rIns="0" bIns="0" rtlCol="0" anchor="t">
            <a:spAutoFit/>
          </a:bodyPr>
          <a:lstStyle/>
          <a:p>
            <a:pPr algn="r">
              <a:lnSpc>
                <a:spcPts val="1920"/>
              </a:lnSpc>
            </a:pPr>
            <a:r>
              <a:rPr lang="ar-EG" sz="1600" b="1">
                <a:solidFill>
                  <a:srgbClr val="EA580C"/>
                </a:solidFill>
                <a:latin typeface="Cairo Bold"/>
                <a:ea typeface="Cairo Bold"/>
                <a:cs typeface="Cairo Bold"/>
                <a:sym typeface="Cairo Bold"/>
                <a:rtl/>
              </a:rPr>
              <a:t>القسم الثاني: تشبيه الخلية العصبية</a:t>
            </a:r>
          </a:p>
        </p:txBody>
      </p:sp>
      <p:sp>
        <p:nvSpPr>
          <p:cNvPr id="6" name="TextBox 6"/>
          <p:cNvSpPr txBox="1"/>
          <p:nvPr/>
        </p:nvSpPr>
        <p:spPr>
          <a:xfrm>
            <a:off x="1285875" y="2271712"/>
            <a:ext cx="15716250" cy="436017"/>
          </a:xfrm>
          <a:prstGeom prst="rect">
            <a:avLst/>
          </a:prstGeom>
        </p:spPr>
        <p:txBody>
          <a:bodyPr lIns="0" tIns="0" rIns="0" bIns="0" rtlCol="0" anchor="t">
            <a:spAutoFit/>
          </a:bodyPr>
          <a:lstStyle/>
          <a:p>
            <a:pPr algn="r" rtl="1">
              <a:lnSpc>
                <a:spcPts val="3359"/>
              </a:lnSpc>
            </a:pPr>
            <a:r>
              <a:rPr lang="ar-EG" sz="2799" b="1" dirty="0">
                <a:solidFill>
                  <a:srgbClr val="0F172A"/>
                </a:solidFill>
                <a:latin typeface="Cairo Bold"/>
                <a:ea typeface="Cairo Bold"/>
                <a:cs typeface="Cairo Bold"/>
                <a:sym typeface="Cairo Bold"/>
                <a:rtl/>
              </a:rPr>
              <a:t>قبل أن ننتقل للقسم التالي — دعنا نتأكد من الفهم</a:t>
            </a:r>
            <a:r>
              <a:rPr lang="en-US" sz="2799" b="1" dirty="0">
                <a:solidFill>
                  <a:srgbClr val="0F172A"/>
                </a:solidFill>
                <a:latin typeface="Cairo Bold"/>
                <a:ea typeface="Cairo Bold"/>
                <a:cs typeface="Cairo Bold"/>
                <a:sym typeface="Cairo Bold"/>
              </a:rPr>
              <a:t>!</a:t>
            </a:r>
          </a:p>
        </p:txBody>
      </p:sp>
      <p:grpSp>
        <p:nvGrpSpPr>
          <p:cNvPr id="7" name="Group 7"/>
          <p:cNvGrpSpPr/>
          <p:nvPr/>
        </p:nvGrpSpPr>
        <p:grpSpPr>
          <a:xfrm>
            <a:off x="9844088" y="3364706"/>
            <a:ext cx="7158038" cy="5064919"/>
            <a:chOff x="0" y="0"/>
            <a:chExt cx="9544050" cy="6753225"/>
          </a:xfrm>
        </p:grpSpPr>
        <p:sp>
          <p:nvSpPr>
            <p:cNvPr id="8" name="Freeform 8"/>
            <p:cNvSpPr/>
            <p:nvPr/>
          </p:nvSpPr>
          <p:spPr>
            <a:xfrm>
              <a:off x="0" y="0"/>
              <a:ext cx="9544050" cy="6753225"/>
            </a:xfrm>
            <a:custGeom>
              <a:avLst/>
              <a:gdLst/>
              <a:ahLst/>
              <a:cxnLst/>
              <a:rect l="l" t="t" r="r" b="b"/>
              <a:pathLst>
                <a:path w="9544050" h="6753225">
                  <a:moveTo>
                    <a:pt x="0" y="0"/>
                  </a:moveTo>
                  <a:lnTo>
                    <a:pt x="9544050" y="0"/>
                  </a:lnTo>
                  <a:lnTo>
                    <a:pt x="9544050" y="6753225"/>
                  </a:lnTo>
                  <a:lnTo>
                    <a:pt x="0" y="6753225"/>
                  </a:lnTo>
                  <a:close/>
                </a:path>
              </a:pathLst>
            </a:custGeom>
            <a:solidFill>
              <a:srgbClr val="FFFFFF"/>
            </a:solidFill>
          </p:spPr>
          <p:txBody>
            <a:bodyPr/>
            <a:lstStyle/>
            <a:p>
              <a:endParaRPr lang="en-SA"/>
            </a:p>
          </p:txBody>
        </p:sp>
      </p:grpSp>
      <p:grpSp>
        <p:nvGrpSpPr>
          <p:cNvPr id="9" name="Group 9"/>
          <p:cNvGrpSpPr/>
          <p:nvPr/>
        </p:nvGrpSpPr>
        <p:grpSpPr>
          <a:xfrm>
            <a:off x="9844088" y="3364706"/>
            <a:ext cx="7158038" cy="85725"/>
            <a:chOff x="0" y="0"/>
            <a:chExt cx="9544050" cy="114300"/>
          </a:xfrm>
        </p:grpSpPr>
        <p:sp>
          <p:nvSpPr>
            <p:cNvPr id="10" name="Freeform 10"/>
            <p:cNvSpPr/>
            <p:nvPr/>
          </p:nvSpPr>
          <p:spPr>
            <a:xfrm>
              <a:off x="0" y="0"/>
              <a:ext cx="9544050" cy="114300"/>
            </a:xfrm>
            <a:custGeom>
              <a:avLst/>
              <a:gdLst/>
              <a:ahLst/>
              <a:cxnLst/>
              <a:rect l="l" t="t" r="r" b="b"/>
              <a:pathLst>
                <a:path w="9544050" h="114300">
                  <a:moveTo>
                    <a:pt x="0" y="0"/>
                  </a:moveTo>
                  <a:lnTo>
                    <a:pt x="9544050" y="0"/>
                  </a:lnTo>
                  <a:lnTo>
                    <a:pt x="9544050" y="114300"/>
                  </a:lnTo>
                  <a:lnTo>
                    <a:pt x="0" y="114300"/>
                  </a:lnTo>
                  <a:close/>
                </a:path>
              </a:pathLst>
            </a:custGeom>
            <a:solidFill>
              <a:srgbClr val="EA580C"/>
            </a:solidFill>
          </p:spPr>
          <p:txBody>
            <a:bodyPr/>
            <a:lstStyle/>
            <a:p>
              <a:endParaRPr lang="en-SA"/>
            </a:p>
          </p:txBody>
        </p:sp>
      </p:grpSp>
      <p:grpSp>
        <p:nvGrpSpPr>
          <p:cNvPr id="11" name="Group 11"/>
          <p:cNvGrpSpPr/>
          <p:nvPr/>
        </p:nvGrpSpPr>
        <p:grpSpPr>
          <a:xfrm>
            <a:off x="16973550" y="3364706"/>
            <a:ext cx="28575" cy="5064919"/>
            <a:chOff x="0" y="0"/>
            <a:chExt cx="38100" cy="6753225"/>
          </a:xfrm>
        </p:grpSpPr>
        <p:sp>
          <p:nvSpPr>
            <p:cNvPr id="12" name="Freeform 12"/>
            <p:cNvSpPr/>
            <p:nvPr/>
          </p:nvSpPr>
          <p:spPr>
            <a:xfrm>
              <a:off x="0" y="0"/>
              <a:ext cx="38100" cy="6753225"/>
            </a:xfrm>
            <a:custGeom>
              <a:avLst/>
              <a:gdLst/>
              <a:ahLst/>
              <a:cxnLst/>
              <a:rect l="l" t="t" r="r" b="b"/>
              <a:pathLst>
                <a:path w="38100" h="6753225">
                  <a:moveTo>
                    <a:pt x="0" y="0"/>
                  </a:moveTo>
                  <a:lnTo>
                    <a:pt x="38100" y="0"/>
                  </a:lnTo>
                  <a:lnTo>
                    <a:pt x="38100" y="6753225"/>
                  </a:lnTo>
                  <a:lnTo>
                    <a:pt x="0" y="6753225"/>
                  </a:lnTo>
                  <a:close/>
                </a:path>
              </a:pathLst>
            </a:custGeom>
            <a:solidFill>
              <a:srgbClr val="EA580C"/>
            </a:solidFill>
          </p:spPr>
          <p:txBody>
            <a:bodyPr/>
            <a:lstStyle/>
            <a:p>
              <a:endParaRPr lang="en-SA"/>
            </a:p>
          </p:txBody>
        </p:sp>
      </p:grpSp>
      <p:grpSp>
        <p:nvGrpSpPr>
          <p:cNvPr id="13" name="Group 13"/>
          <p:cNvGrpSpPr/>
          <p:nvPr/>
        </p:nvGrpSpPr>
        <p:grpSpPr>
          <a:xfrm>
            <a:off x="9844088" y="8401050"/>
            <a:ext cx="7158038" cy="28575"/>
            <a:chOff x="0" y="0"/>
            <a:chExt cx="9544050" cy="38100"/>
          </a:xfrm>
        </p:grpSpPr>
        <p:sp>
          <p:nvSpPr>
            <p:cNvPr id="14" name="Freeform 14"/>
            <p:cNvSpPr/>
            <p:nvPr/>
          </p:nvSpPr>
          <p:spPr>
            <a:xfrm>
              <a:off x="0" y="0"/>
              <a:ext cx="9544050" cy="38100"/>
            </a:xfrm>
            <a:custGeom>
              <a:avLst/>
              <a:gdLst/>
              <a:ahLst/>
              <a:cxnLst/>
              <a:rect l="l" t="t" r="r" b="b"/>
              <a:pathLst>
                <a:path w="9544050" h="38100">
                  <a:moveTo>
                    <a:pt x="0" y="0"/>
                  </a:moveTo>
                  <a:lnTo>
                    <a:pt x="9544050" y="0"/>
                  </a:lnTo>
                  <a:lnTo>
                    <a:pt x="9544050" y="38100"/>
                  </a:lnTo>
                  <a:lnTo>
                    <a:pt x="0" y="38100"/>
                  </a:lnTo>
                  <a:close/>
                </a:path>
              </a:pathLst>
            </a:custGeom>
            <a:solidFill>
              <a:srgbClr val="EA580C"/>
            </a:solidFill>
          </p:spPr>
          <p:txBody>
            <a:bodyPr/>
            <a:lstStyle/>
            <a:p>
              <a:endParaRPr lang="en-SA"/>
            </a:p>
          </p:txBody>
        </p:sp>
      </p:grpSp>
      <p:grpSp>
        <p:nvGrpSpPr>
          <p:cNvPr id="15" name="Group 15"/>
          <p:cNvGrpSpPr/>
          <p:nvPr/>
        </p:nvGrpSpPr>
        <p:grpSpPr>
          <a:xfrm>
            <a:off x="9844088" y="3364706"/>
            <a:ext cx="28575" cy="5064919"/>
            <a:chOff x="0" y="0"/>
            <a:chExt cx="38100" cy="6753225"/>
          </a:xfrm>
        </p:grpSpPr>
        <p:sp>
          <p:nvSpPr>
            <p:cNvPr id="16" name="Freeform 16"/>
            <p:cNvSpPr/>
            <p:nvPr/>
          </p:nvSpPr>
          <p:spPr>
            <a:xfrm>
              <a:off x="0" y="0"/>
              <a:ext cx="38100" cy="6753225"/>
            </a:xfrm>
            <a:custGeom>
              <a:avLst/>
              <a:gdLst/>
              <a:ahLst/>
              <a:cxnLst/>
              <a:rect l="l" t="t" r="r" b="b"/>
              <a:pathLst>
                <a:path w="38100" h="6753225">
                  <a:moveTo>
                    <a:pt x="0" y="0"/>
                  </a:moveTo>
                  <a:lnTo>
                    <a:pt x="38100" y="0"/>
                  </a:lnTo>
                  <a:lnTo>
                    <a:pt x="38100" y="6753225"/>
                  </a:lnTo>
                  <a:lnTo>
                    <a:pt x="0" y="6753225"/>
                  </a:lnTo>
                  <a:close/>
                </a:path>
              </a:pathLst>
            </a:custGeom>
            <a:solidFill>
              <a:srgbClr val="EA580C"/>
            </a:solidFill>
          </p:spPr>
          <p:txBody>
            <a:bodyPr/>
            <a:lstStyle/>
            <a:p>
              <a:endParaRPr lang="en-SA"/>
            </a:p>
          </p:txBody>
        </p:sp>
      </p:grpSp>
      <p:grpSp>
        <p:nvGrpSpPr>
          <p:cNvPr id="17" name="Group 17"/>
          <p:cNvGrpSpPr/>
          <p:nvPr/>
        </p:nvGrpSpPr>
        <p:grpSpPr>
          <a:xfrm>
            <a:off x="16344900" y="3930844"/>
            <a:ext cx="314325" cy="314325"/>
            <a:chOff x="0" y="0"/>
            <a:chExt cx="419100" cy="419100"/>
          </a:xfrm>
        </p:grpSpPr>
        <p:sp>
          <p:nvSpPr>
            <p:cNvPr id="18" name="Freeform 18" descr="preencoded.png"/>
            <p:cNvSpPr/>
            <p:nvPr/>
          </p:nvSpPr>
          <p:spPr>
            <a:xfrm>
              <a:off x="0" y="0"/>
              <a:ext cx="419100" cy="419100"/>
            </a:xfrm>
            <a:custGeom>
              <a:avLst/>
              <a:gdLst/>
              <a:ahLst/>
              <a:cxnLst/>
              <a:rect l="l" t="t" r="r" b="b"/>
              <a:pathLst>
                <a:path w="419100" h="419100">
                  <a:moveTo>
                    <a:pt x="0" y="0"/>
                  </a:moveTo>
                  <a:lnTo>
                    <a:pt x="419100" y="0"/>
                  </a:lnTo>
                  <a:lnTo>
                    <a:pt x="419100" y="419100"/>
                  </a:lnTo>
                  <a:lnTo>
                    <a:pt x="0" y="419100"/>
                  </a:lnTo>
                  <a:lnTo>
                    <a:pt x="0" y="0"/>
                  </a:lnTo>
                  <a:close/>
                </a:path>
              </a:pathLst>
            </a:custGeom>
            <a:blipFill>
              <a:blip r:embed="rId4"/>
              <a:stretch>
                <a:fillRect t="-2272" b="-2272"/>
              </a:stretch>
            </a:blipFill>
          </p:spPr>
          <p:txBody>
            <a:bodyPr/>
            <a:lstStyle/>
            <a:p>
              <a:endParaRPr lang="en-SA"/>
            </a:p>
          </p:txBody>
        </p:sp>
      </p:grpSp>
      <p:sp>
        <p:nvSpPr>
          <p:cNvPr id="19" name="TextBox 19"/>
          <p:cNvSpPr txBox="1"/>
          <p:nvPr/>
        </p:nvSpPr>
        <p:spPr>
          <a:xfrm>
            <a:off x="14526816" y="3793331"/>
            <a:ext cx="1675209" cy="334707"/>
          </a:xfrm>
          <a:prstGeom prst="rect">
            <a:avLst/>
          </a:prstGeom>
        </p:spPr>
        <p:txBody>
          <a:bodyPr lIns="0" tIns="0" rIns="0" bIns="0" rtlCol="0" anchor="t">
            <a:spAutoFit/>
          </a:bodyPr>
          <a:lstStyle/>
          <a:p>
            <a:pPr algn="r" rtl="1">
              <a:lnSpc>
                <a:spcPts val="2640"/>
              </a:lnSpc>
            </a:pPr>
            <a:r>
              <a:rPr lang="ar-EG" sz="2200" b="1" dirty="0">
                <a:solidFill>
                  <a:srgbClr val="EA580C"/>
                </a:solidFill>
                <a:latin typeface="Cairo Bold"/>
                <a:ea typeface="Cairo Bold"/>
                <a:cs typeface="Cairo Bold"/>
                <a:sym typeface="Cairo Bold"/>
                <a:rtl/>
              </a:rPr>
              <a:t>فكّر وناقش</a:t>
            </a:r>
            <a:r>
              <a:rPr lang="en-US" sz="2200" b="1" dirty="0">
                <a:solidFill>
                  <a:srgbClr val="EA580C"/>
                </a:solidFill>
                <a:latin typeface="Cairo Bold"/>
                <a:ea typeface="Cairo Bold"/>
                <a:cs typeface="Cairo Bold"/>
                <a:sym typeface="Cairo Bold"/>
              </a:rPr>
              <a:t>:</a:t>
            </a:r>
          </a:p>
        </p:txBody>
      </p:sp>
      <p:sp>
        <p:nvSpPr>
          <p:cNvPr id="20" name="TextBox 20"/>
          <p:cNvSpPr txBox="1"/>
          <p:nvPr/>
        </p:nvSpPr>
        <p:spPr>
          <a:xfrm>
            <a:off x="10186988" y="4544616"/>
            <a:ext cx="6472238" cy="723916"/>
          </a:xfrm>
          <a:prstGeom prst="rect">
            <a:avLst/>
          </a:prstGeom>
        </p:spPr>
        <p:txBody>
          <a:bodyPr lIns="0" tIns="0" rIns="0" bIns="0" rtlCol="0" anchor="t">
            <a:spAutoFit/>
          </a:bodyPr>
          <a:lstStyle/>
          <a:p>
            <a:pPr algn="r" rtl="1">
              <a:lnSpc>
                <a:spcPts val="2918"/>
              </a:lnSpc>
            </a:pPr>
            <a:r>
              <a:rPr lang="ar-EG" sz="1900" dirty="0">
                <a:solidFill>
                  <a:srgbClr val="0F172A"/>
                </a:solidFill>
                <a:latin typeface="Cairo"/>
                <a:ea typeface="Cairo"/>
                <a:cs typeface="Cairo"/>
                <a:sym typeface="Cairo"/>
                <a:rtl/>
              </a:rPr>
              <a:t>المشبك العصبي</a:t>
            </a:r>
            <a:r>
              <a:rPr lang="en-US" sz="1900" dirty="0">
                <a:solidFill>
                  <a:srgbClr val="0F172A"/>
                </a:solidFill>
                <a:latin typeface="Cairo"/>
                <a:ea typeface="Cairo"/>
                <a:cs typeface="Cairo"/>
                <a:sym typeface="Cairo"/>
              </a:rPr>
              <a:t> (Synapse) </a:t>
            </a:r>
            <a:r>
              <a:rPr lang="ar-EG" sz="1900" dirty="0">
                <a:solidFill>
                  <a:srgbClr val="0F172A"/>
                </a:solidFill>
                <a:latin typeface="Cairo"/>
                <a:ea typeface="Cairo"/>
                <a:cs typeface="Cairo"/>
                <a:sym typeface="Cairo"/>
                <a:rtl/>
              </a:rPr>
              <a:t>في دماغك البشري يصبح أقوى وأكثر سمكاً كلما استخدمته وتدربت عليه أكثر</a:t>
            </a:r>
            <a:r>
              <a:rPr lang="en-US" sz="1900" dirty="0">
                <a:solidFill>
                  <a:srgbClr val="0F172A"/>
                </a:solidFill>
                <a:latin typeface="Cairo"/>
                <a:ea typeface="Cairo"/>
                <a:cs typeface="Cairo"/>
                <a:sym typeface="Cairo"/>
              </a:rPr>
              <a:t>.</a:t>
            </a:r>
          </a:p>
        </p:txBody>
      </p:sp>
      <p:sp>
        <p:nvSpPr>
          <p:cNvPr id="21" name="TextBox 21"/>
          <p:cNvSpPr txBox="1"/>
          <p:nvPr/>
        </p:nvSpPr>
        <p:spPr>
          <a:xfrm>
            <a:off x="10186988" y="5605615"/>
            <a:ext cx="6472238" cy="880024"/>
          </a:xfrm>
          <a:prstGeom prst="rect">
            <a:avLst/>
          </a:prstGeom>
        </p:spPr>
        <p:txBody>
          <a:bodyPr lIns="0" tIns="0" rIns="0" bIns="0" rtlCol="0" anchor="t">
            <a:spAutoFit/>
          </a:bodyPr>
          <a:lstStyle/>
          <a:p>
            <a:pPr algn="r">
              <a:lnSpc>
                <a:spcPts val="2764"/>
              </a:lnSpc>
            </a:pPr>
            <a:r>
              <a:rPr lang="ar-EG" sz="1800" b="1">
                <a:solidFill>
                  <a:srgbClr val="0F172A"/>
                </a:solidFill>
                <a:latin typeface="Cairo Bold"/>
                <a:ea typeface="Cairo Bold"/>
                <a:cs typeface="Cairo Bold"/>
                <a:sym typeface="Cairo Bold"/>
                <a:rtl/>
              </a:rPr>
              <a:t>ما هو المفهوم المقابل لهذا تماماً في الشبكة العصبية الاصطناعية داخل الحاسوب؟</a:t>
            </a:r>
          </a:p>
        </p:txBody>
      </p:sp>
      <p:grpSp>
        <p:nvGrpSpPr>
          <p:cNvPr id="22" name="Group 22"/>
          <p:cNvGrpSpPr/>
          <p:nvPr/>
        </p:nvGrpSpPr>
        <p:grpSpPr>
          <a:xfrm>
            <a:off x="16487775" y="7973013"/>
            <a:ext cx="171450" cy="228600"/>
            <a:chOff x="0" y="0"/>
            <a:chExt cx="228600" cy="304800"/>
          </a:xfrm>
        </p:grpSpPr>
        <p:sp>
          <p:nvSpPr>
            <p:cNvPr id="23" name="Freeform 23" descr="preencoded.png"/>
            <p:cNvSpPr/>
            <p:nvPr/>
          </p:nvSpPr>
          <p:spPr>
            <a:xfrm>
              <a:off x="0" y="0"/>
              <a:ext cx="228600" cy="304800"/>
            </a:xfrm>
            <a:custGeom>
              <a:avLst/>
              <a:gdLst/>
              <a:ahLst/>
              <a:cxnLst/>
              <a:rect l="l" t="t" r="r" b="b"/>
              <a:pathLst>
                <a:path w="228600" h="304800">
                  <a:moveTo>
                    <a:pt x="0" y="0"/>
                  </a:moveTo>
                  <a:lnTo>
                    <a:pt x="228600" y="0"/>
                  </a:lnTo>
                  <a:lnTo>
                    <a:pt x="228600" y="304800"/>
                  </a:lnTo>
                  <a:lnTo>
                    <a:pt x="0" y="304800"/>
                  </a:lnTo>
                  <a:lnTo>
                    <a:pt x="0" y="0"/>
                  </a:lnTo>
                  <a:close/>
                </a:path>
              </a:pathLst>
            </a:custGeom>
            <a:blipFill>
              <a:blip r:embed="rId5"/>
              <a:stretch>
                <a:fillRect/>
              </a:stretch>
            </a:blipFill>
          </p:spPr>
          <p:txBody>
            <a:bodyPr/>
            <a:lstStyle/>
            <a:p>
              <a:endParaRPr lang="en-SA"/>
            </a:p>
          </p:txBody>
        </p:sp>
      </p:grpSp>
      <p:sp>
        <p:nvSpPr>
          <p:cNvPr id="24" name="TextBox 24"/>
          <p:cNvSpPr txBox="1"/>
          <p:nvPr/>
        </p:nvSpPr>
        <p:spPr>
          <a:xfrm>
            <a:off x="13176647" y="8001000"/>
            <a:ext cx="3196828" cy="244298"/>
          </a:xfrm>
          <a:prstGeom prst="rect">
            <a:avLst/>
          </a:prstGeom>
        </p:spPr>
        <p:txBody>
          <a:bodyPr lIns="0" tIns="0" rIns="0" bIns="0" rtlCol="0" anchor="t">
            <a:spAutoFit/>
          </a:bodyPr>
          <a:lstStyle/>
          <a:p>
            <a:pPr algn="r" rtl="1">
              <a:lnSpc>
                <a:spcPts val="1920"/>
              </a:lnSpc>
            </a:pPr>
            <a:r>
              <a:rPr lang="ar-EG" sz="1600" b="1" dirty="0">
                <a:solidFill>
                  <a:srgbClr val="EA580C"/>
                </a:solidFill>
                <a:latin typeface="Cairo Bold"/>
                <a:ea typeface="Cairo Bold"/>
                <a:cs typeface="Cairo Bold"/>
                <a:sym typeface="Cairo Bold"/>
                <a:rtl/>
              </a:rPr>
              <a:t>ناقش مع زملائك لمدة </a:t>
            </a:r>
            <a:r>
              <a:rPr lang="en-US" sz="1600" b="1" dirty="0">
                <a:solidFill>
                  <a:srgbClr val="EA580C"/>
                </a:solidFill>
                <a:latin typeface="Cairo Bold"/>
                <a:ea typeface="Cairo Bold"/>
                <a:cs typeface="Cairo Bold"/>
                <a:sym typeface="Cairo Bold"/>
              </a:rPr>
              <a:t>30</a:t>
            </a:r>
            <a:r>
              <a:rPr lang="ar-EG" sz="1600" b="1" dirty="0">
                <a:solidFill>
                  <a:srgbClr val="EA580C"/>
                </a:solidFill>
                <a:latin typeface="Cairo Bold"/>
                <a:ea typeface="Cairo Bold"/>
                <a:cs typeface="Cairo Bold"/>
                <a:sym typeface="Cairo Bold"/>
                <a:rtl/>
              </a:rPr>
              <a:t> ثانية</a:t>
            </a:r>
            <a:r>
              <a:rPr lang="en-US" sz="1600" b="1" dirty="0">
                <a:solidFill>
                  <a:srgbClr val="EA580C"/>
                </a:solidFill>
                <a:latin typeface="Cairo Bold"/>
                <a:ea typeface="Cairo Bold"/>
                <a:cs typeface="Cairo Bold"/>
                <a:sym typeface="Cairo Bold"/>
              </a:rPr>
              <a:t>...</a:t>
            </a:r>
          </a:p>
        </p:txBody>
      </p:sp>
      <p:grpSp>
        <p:nvGrpSpPr>
          <p:cNvPr id="25" name="Group 25"/>
          <p:cNvGrpSpPr/>
          <p:nvPr/>
        </p:nvGrpSpPr>
        <p:grpSpPr>
          <a:xfrm>
            <a:off x="1285875" y="3364706"/>
            <a:ext cx="7158038" cy="5064919"/>
            <a:chOff x="0" y="0"/>
            <a:chExt cx="9544050" cy="6753225"/>
          </a:xfrm>
        </p:grpSpPr>
        <p:sp>
          <p:nvSpPr>
            <p:cNvPr id="26" name="Freeform 26"/>
            <p:cNvSpPr/>
            <p:nvPr/>
          </p:nvSpPr>
          <p:spPr>
            <a:xfrm>
              <a:off x="0" y="0"/>
              <a:ext cx="9544050" cy="6753225"/>
            </a:xfrm>
            <a:custGeom>
              <a:avLst/>
              <a:gdLst/>
              <a:ahLst/>
              <a:cxnLst/>
              <a:rect l="l" t="t" r="r" b="b"/>
              <a:pathLst>
                <a:path w="9544050" h="6753225">
                  <a:moveTo>
                    <a:pt x="0" y="0"/>
                  </a:moveTo>
                  <a:lnTo>
                    <a:pt x="9544050" y="0"/>
                  </a:lnTo>
                  <a:lnTo>
                    <a:pt x="9544050" y="6753225"/>
                  </a:lnTo>
                  <a:lnTo>
                    <a:pt x="0" y="6753225"/>
                  </a:lnTo>
                  <a:close/>
                </a:path>
              </a:pathLst>
            </a:custGeom>
            <a:solidFill>
              <a:srgbClr val="FFFFFF"/>
            </a:solidFill>
          </p:spPr>
          <p:txBody>
            <a:bodyPr/>
            <a:lstStyle/>
            <a:p>
              <a:endParaRPr lang="en-SA"/>
            </a:p>
          </p:txBody>
        </p:sp>
      </p:grpSp>
      <p:grpSp>
        <p:nvGrpSpPr>
          <p:cNvPr id="27" name="Group 27"/>
          <p:cNvGrpSpPr/>
          <p:nvPr/>
        </p:nvGrpSpPr>
        <p:grpSpPr>
          <a:xfrm>
            <a:off x="1285875" y="3364706"/>
            <a:ext cx="7158038" cy="85725"/>
            <a:chOff x="0" y="0"/>
            <a:chExt cx="9544050" cy="114300"/>
          </a:xfrm>
        </p:grpSpPr>
        <p:sp>
          <p:nvSpPr>
            <p:cNvPr id="28" name="Freeform 28"/>
            <p:cNvSpPr/>
            <p:nvPr/>
          </p:nvSpPr>
          <p:spPr>
            <a:xfrm>
              <a:off x="0" y="0"/>
              <a:ext cx="9544050" cy="114300"/>
            </a:xfrm>
            <a:custGeom>
              <a:avLst/>
              <a:gdLst/>
              <a:ahLst/>
              <a:cxnLst/>
              <a:rect l="l" t="t" r="r" b="b"/>
              <a:pathLst>
                <a:path w="9544050" h="114300">
                  <a:moveTo>
                    <a:pt x="0" y="0"/>
                  </a:moveTo>
                  <a:lnTo>
                    <a:pt x="9544050" y="0"/>
                  </a:lnTo>
                  <a:lnTo>
                    <a:pt x="9544050" y="114300"/>
                  </a:lnTo>
                  <a:lnTo>
                    <a:pt x="0" y="114300"/>
                  </a:lnTo>
                  <a:close/>
                </a:path>
              </a:pathLst>
            </a:custGeom>
            <a:solidFill>
              <a:srgbClr val="0284C7"/>
            </a:solidFill>
          </p:spPr>
          <p:txBody>
            <a:bodyPr/>
            <a:lstStyle/>
            <a:p>
              <a:endParaRPr lang="en-SA"/>
            </a:p>
          </p:txBody>
        </p:sp>
      </p:grpSp>
      <p:grpSp>
        <p:nvGrpSpPr>
          <p:cNvPr id="29" name="Group 29"/>
          <p:cNvGrpSpPr/>
          <p:nvPr/>
        </p:nvGrpSpPr>
        <p:grpSpPr>
          <a:xfrm>
            <a:off x="8415338" y="3364706"/>
            <a:ext cx="28575" cy="5064919"/>
            <a:chOff x="0" y="0"/>
            <a:chExt cx="38100" cy="6753225"/>
          </a:xfrm>
        </p:grpSpPr>
        <p:sp>
          <p:nvSpPr>
            <p:cNvPr id="30" name="Freeform 30"/>
            <p:cNvSpPr/>
            <p:nvPr/>
          </p:nvSpPr>
          <p:spPr>
            <a:xfrm>
              <a:off x="0" y="0"/>
              <a:ext cx="38100" cy="6753225"/>
            </a:xfrm>
            <a:custGeom>
              <a:avLst/>
              <a:gdLst/>
              <a:ahLst/>
              <a:cxnLst/>
              <a:rect l="l" t="t" r="r" b="b"/>
              <a:pathLst>
                <a:path w="38100" h="6753225">
                  <a:moveTo>
                    <a:pt x="0" y="0"/>
                  </a:moveTo>
                  <a:lnTo>
                    <a:pt x="38100" y="0"/>
                  </a:lnTo>
                  <a:lnTo>
                    <a:pt x="38100" y="6753225"/>
                  </a:lnTo>
                  <a:lnTo>
                    <a:pt x="0" y="6753225"/>
                  </a:lnTo>
                  <a:close/>
                </a:path>
              </a:pathLst>
            </a:custGeom>
            <a:solidFill>
              <a:srgbClr val="0284C7"/>
            </a:solidFill>
          </p:spPr>
          <p:txBody>
            <a:bodyPr/>
            <a:lstStyle/>
            <a:p>
              <a:endParaRPr lang="en-SA"/>
            </a:p>
          </p:txBody>
        </p:sp>
      </p:grpSp>
      <p:grpSp>
        <p:nvGrpSpPr>
          <p:cNvPr id="31" name="Group 31"/>
          <p:cNvGrpSpPr/>
          <p:nvPr/>
        </p:nvGrpSpPr>
        <p:grpSpPr>
          <a:xfrm>
            <a:off x="1285875" y="8401050"/>
            <a:ext cx="7158038" cy="28575"/>
            <a:chOff x="0" y="0"/>
            <a:chExt cx="9544050" cy="38100"/>
          </a:xfrm>
        </p:grpSpPr>
        <p:sp>
          <p:nvSpPr>
            <p:cNvPr id="32" name="Freeform 32"/>
            <p:cNvSpPr/>
            <p:nvPr/>
          </p:nvSpPr>
          <p:spPr>
            <a:xfrm>
              <a:off x="0" y="0"/>
              <a:ext cx="9544050" cy="38100"/>
            </a:xfrm>
            <a:custGeom>
              <a:avLst/>
              <a:gdLst/>
              <a:ahLst/>
              <a:cxnLst/>
              <a:rect l="l" t="t" r="r" b="b"/>
              <a:pathLst>
                <a:path w="9544050" h="38100">
                  <a:moveTo>
                    <a:pt x="0" y="0"/>
                  </a:moveTo>
                  <a:lnTo>
                    <a:pt x="9544050" y="0"/>
                  </a:lnTo>
                  <a:lnTo>
                    <a:pt x="9544050" y="38100"/>
                  </a:lnTo>
                  <a:lnTo>
                    <a:pt x="0" y="38100"/>
                  </a:lnTo>
                  <a:close/>
                </a:path>
              </a:pathLst>
            </a:custGeom>
            <a:solidFill>
              <a:srgbClr val="0284C7"/>
            </a:solidFill>
          </p:spPr>
          <p:txBody>
            <a:bodyPr/>
            <a:lstStyle/>
            <a:p>
              <a:endParaRPr lang="en-SA"/>
            </a:p>
          </p:txBody>
        </p:sp>
      </p:grpSp>
      <p:grpSp>
        <p:nvGrpSpPr>
          <p:cNvPr id="33" name="Group 33"/>
          <p:cNvGrpSpPr/>
          <p:nvPr/>
        </p:nvGrpSpPr>
        <p:grpSpPr>
          <a:xfrm>
            <a:off x="1285875" y="3364706"/>
            <a:ext cx="28575" cy="5064919"/>
            <a:chOff x="0" y="0"/>
            <a:chExt cx="38100" cy="6753225"/>
          </a:xfrm>
        </p:grpSpPr>
        <p:sp>
          <p:nvSpPr>
            <p:cNvPr id="34" name="Freeform 34"/>
            <p:cNvSpPr/>
            <p:nvPr/>
          </p:nvSpPr>
          <p:spPr>
            <a:xfrm>
              <a:off x="0" y="0"/>
              <a:ext cx="38100" cy="6753225"/>
            </a:xfrm>
            <a:custGeom>
              <a:avLst/>
              <a:gdLst/>
              <a:ahLst/>
              <a:cxnLst/>
              <a:rect l="l" t="t" r="r" b="b"/>
              <a:pathLst>
                <a:path w="38100" h="6753225">
                  <a:moveTo>
                    <a:pt x="0" y="0"/>
                  </a:moveTo>
                  <a:lnTo>
                    <a:pt x="38100" y="0"/>
                  </a:lnTo>
                  <a:lnTo>
                    <a:pt x="38100" y="6753225"/>
                  </a:lnTo>
                  <a:lnTo>
                    <a:pt x="0" y="6753225"/>
                  </a:lnTo>
                  <a:close/>
                </a:path>
              </a:pathLst>
            </a:custGeom>
            <a:solidFill>
              <a:srgbClr val="0284C7"/>
            </a:solidFill>
          </p:spPr>
          <p:txBody>
            <a:bodyPr/>
            <a:lstStyle/>
            <a:p>
              <a:endParaRPr lang="en-SA"/>
            </a:p>
          </p:txBody>
        </p:sp>
      </p:grpSp>
      <p:grpSp>
        <p:nvGrpSpPr>
          <p:cNvPr id="35" name="Group 35"/>
          <p:cNvGrpSpPr/>
          <p:nvPr/>
        </p:nvGrpSpPr>
        <p:grpSpPr>
          <a:xfrm>
            <a:off x="7786688" y="3930844"/>
            <a:ext cx="314325" cy="314325"/>
            <a:chOff x="0" y="0"/>
            <a:chExt cx="419100" cy="419100"/>
          </a:xfrm>
        </p:grpSpPr>
        <p:sp>
          <p:nvSpPr>
            <p:cNvPr id="36" name="Freeform 36" descr="preencoded.png"/>
            <p:cNvSpPr/>
            <p:nvPr/>
          </p:nvSpPr>
          <p:spPr>
            <a:xfrm>
              <a:off x="0" y="0"/>
              <a:ext cx="419100" cy="419100"/>
            </a:xfrm>
            <a:custGeom>
              <a:avLst/>
              <a:gdLst/>
              <a:ahLst/>
              <a:cxnLst/>
              <a:rect l="l" t="t" r="r" b="b"/>
              <a:pathLst>
                <a:path w="419100" h="419100">
                  <a:moveTo>
                    <a:pt x="0" y="0"/>
                  </a:moveTo>
                  <a:lnTo>
                    <a:pt x="419100" y="0"/>
                  </a:lnTo>
                  <a:lnTo>
                    <a:pt x="419100" y="419100"/>
                  </a:lnTo>
                  <a:lnTo>
                    <a:pt x="0" y="419100"/>
                  </a:lnTo>
                  <a:lnTo>
                    <a:pt x="0" y="0"/>
                  </a:lnTo>
                  <a:close/>
                </a:path>
              </a:pathLst>
            </a:custGeom>
            <a:blipFill>
              <a:blip r:embed="rId6"/>
              <a:stretch>
                <a:fillRect t="-2272" b="-2272"/>
              </a:stretch>
            </a:blipFill>
          </p:spPr>
          <p:txBody>
            <a:bodyPr/>
            <a:lstStyle/>
            <a:p>
              <a:endParaRPr lang="en-SA"/>
            </a:p>
          </p:txBody>
        </p:sp>
      </p:grpSp>
      <p:sp>
        <p:nvSpPr>
          <p:cNvPr id="37" name="TextBox 37"/>
          <p:cNvSpPr txBox="1"/>
          <p:nvPr/>
        </p:nvSpPr>
        <p:spPr>
          <a:xfrm>
            <a:off x="5404247" y="3793331"/>
            <a:ext cx="2239566" cy="334707"/>
          </a:xfrm>
          <a:prstGeom prst="rect">
            <a:avLst/>
          </a:prstGeom>
        </p:spPr>
        <p:txBody>
          <a:bodyPr lIns="0" tIns="0" rIns="0" bIns="0" rtlCol="0" anchor="t">
            <a:spAutoFit/>
          </a:bodyPr>
          <a:lstStyle/>
          <a:p>
            <a:pPr algn="r" rtl="1">
              <a:lnSpc>
                <a:spcPts val="2640"/>
              </a:lnSpc>
            </a:pPr>
            <a:r>
              <a:rPr lang="ar-EG" sz="2200" b="1" dirty="0">
                <a:solidFill>
                  <a:srgbClr val="0284C7"/>
                </a:solidFill>
                <a:latin typeface="Cairo Bold"/>
                <a:ea typeface="Cairo Bold"/>
                <a:cs typeface="Cairo Bold"/>
                <a:sym typeface="Cairo Bold"/>
                <a:rtl/>
              </a:rPr>
              <a:t>الإجابة الصحيحة</a:t>
            </a:r>
            <a:r>
              <a:rPr lang="en-US" sz="2200" b="1" dirty="0">
                <a:solidFill>
                  <a:srgbClr val="0284C7"/>
                </a:solidFill>
                <a:latin typeface="Cairo Bold"/>
                <a:ea typeface="Cairo Bold"/>
                <a:cs typeface="Cairo Bold"/>
                <a:sym typeface="Cairo Bold"/>
              </a:rPr>
              <a:t>:</a:t>
            </a:r>
          </a:p>
        </p:txBody>
      </p:sp>
      <p:sp>
        <p:nvSpPr>
          <p:cNvPr id="38" name="TextBox 38"/>
          <p:cNvSpPr txBox="1"/>
          <p:nvPr/>
        </p:nvSpPr>
        <p:spPr>
          <a:xfrm>
            <a:off x="1628775" y="4544616"/>
            <a:ext cx="6472238" cy="352019"/>
          </a:xfrm>
          <a:prstGeom prst="rect">
            <a:avLst/>
          </a:prstGeom>
        </p:spPr>
        <p:txBody>
          <a:bodyPr lIns="0" tIns="0" rIns="0" bIns="0" rtlCol="0" anchor="t">
            <a:spAutoFit/>
          </a:bodyPr>
          <a:lstStyle/>
          <a:p>
            <a:pPr algn="r" rtl="1">
              <a:lnSpc>
                <a:spcPts val="2918"/>
              </a:lnSpc>
            </a:pPr>
            <a:r>
              <a:rPr lang="ar-EG" sz="1900" dirty="0">
                <a:solidFill>
                  <a:srgbClr val="475569"/>
                </a:solidFill>
                <a:latin typeface="Cairo"/>
                <a:ea typeface="Cairo"/>
                <a:cs typeface="Cairo"/>
                <a:sym typeface="Cairo"/>
                <a:rtl/>
              </a:rPr>
              <a:t>المقابل له هو </a:t>
            </a:r>
            <a:r>
              <a:rPr lang="ar-EG" sz="1900" b="1" dirty="0">
                <a:solidFill>
                  <a:srgbClr val="0F172A"/>
                </a:solidFill>
                <a:latin typeface="Cairo Bold"/>
                <a:ea typeface="Cairo Bold"/>
                <a:cs typeface="Cairo Bold"/>
                <a:sym typeface="Cairo Bold"/>
                <a:rtl/>
              </a:rPr>
              <a:t>الوزن</a:t>
            </a:r>
            <a:r>
              <a:rPr lang="en-US" sz="1900" b="1" dirty="0">
                <a:solidFill>
                  <a:srgbClr val="0F172A"/>
                </a:solidFill>
                <a:latin typeface="Cairo Bold"/>
                <a:ea typeface="Cairo Bold"/>
                <a:cs typeface="Cairo Bold"/>
                <a:sym typeface="Cairo Bold"/>
              </a:rPr>
              <a:t> (Weight)</a:t>
            </a:r>
            <a:r>
              <a:rPr lang="en-US" sz="1900" dirty="0">
                <a:solidFill>
                  <a:srgbClr val="475569"/>
                </a:solidFill>
                <a:latin typeface="Cairo"/>
                <a:ea typeface="Cairo"/>
                <a:cs typeface="Cairo"/>
                <a:sym typeface="Cairo"/>
              </a:rPr>
              <a:t>.</a:t>
            </a:r>
          </a:p>
        </p:txBody>
      </p:sp>
      <p:sp>
        <p:nvSpPr>
          <p:cNvPr id="39" name="TextBox 39"/>
          <p:cNvSpPr txBox="1"/>
          <p:nvPr/>
        </p:nvSpPr>
        <p:spPr>
          <a:xfrm>
            <a:off x="1628775" y="5184648"/>
            <a:ext cx="6472238" cy="1095813"/>
          </a:xfrm>
          <a:prstGeom prst="rect">
            <a:avLst/>
          </a:prstGeom>
        </p:spPr>
        <p:txBody>
          <a:bodyPr lIns="0" tIns="0" rIns="0" bIns="0" rtlCol="0" anchor="t">
            <a:spAutoFit/>
          </a:bodyPr>
          <a:lstStyle/>
          <a:p>
            <a:pPr algn="r" rtl="1">
              <a:lnSpc>
                <a:spcPts val="2918"/>
              </a:lnSpc>
            </a:pPr>
            <a:r>
              <a:rPr lang="ar-EG" sz="1900" dirty="0">
                <a:solidFill>
                  <a:srgbClr val="475569"/>
                </a:solidFill>
                <a:latin typeface="Cairo"/>
                <a:ea typeface="Cairo"/>
                <a:cs typeface="Cairo"/>
                <a:sym typeface="Cairo"/>
                <a:rtl/>
              </a:rPr>
              <a:t>أثناء عملية التدريب، يقوم الحاسوب بزيادة قيمة </a:t>
            </a:r>
            <a:r>
              <a:rPr lang="ar-EG" sz="1900" b="1" dirty="0">
                <a:solidFill>
                  <a:srgbClr val="0F172A"/>
                </a:solidFill>
                <a:latin typeface="Cairo Bold"/>
                <a:ea typeface="Cairo Bold"/>
                <a:cs typeface="Cairo Bold"/>
                <a:sym typeface="Cairo Bold"/>
                <a:rtl/>
              </a:rPr>
              <a:t>الوزن</a:t>
            </a:r>
            <a:r>
              <a:rPr lang="ar-EG" sz="1900" dirty="0">
                <a:solidFill>
                  <a:srgbClr val="475569"/>
                </a:solidFill>
                <a:latin typeface="Cairo"/>
                <a:ea typeface="Cairo"/>
                <a:cs typeface="Cairo"/>
                <a:sym typeface="Cairo"/>
                <a:rtl/>
              </a:rPr>
              <a:t> للاتصالات المهمة التي تساعد في الوصول للحل الصحيح، ويقلل وزن الاتصالات غير المهمة</a:t>
            </a:r>
            <a:r>
              <a:rPr lang="en-US" sz="1900" dirty="0">
                <a:solidFill>
                  <a:srgbClr val="475569"/>
                </a:solidFill>
                <a:latin typeface="Cairo"/>
                <a:ea typeface="Cairo"/>
                <a:cs typeface="Cairo"/>
                <a:sym typeface="Cairo"/>
              </a:rPr>
              <a:t>.</a:t>
            </a:r>
          </a:p>
        </p:txBody>
      </p:sp>
      <p:sp>
        <p:nvSpPr>
          <p:cNvPr id="40" name="TextBox 40"/>
          <p:cNvSpPr txBox="1"/>
          <p:nvPr/>
        </p:nvSpPr>
        <p:spPr>
          <a:xfrm>
            <a:off x="1628775" y="6666605"/>
            <a:ext cx="6472238" cy="622606"/>
          </a:xfrm>
          <a:prstGeom prst="rect">
            <a:avLst/>
          </a:prstGeom>
        </p:spPr>
        <p:txBody>
          <a:bodyPr lIns="0" tIns="0" rIns="0" bIns="0" rtlCol="0" anchor="t">
            <a:spAutoFit/>
          </a:bodyPr>
          <a:lstStyle/>
          <a:p>
            <a:pPr algn="r" rtl="1">
              <a:lnSpc>
                <a:spcPts val="2457"/>
              </a:lnSpc>
            </a:pPr>
            <a:r>
              <a:rPr lang="ar-EG" sz="1600" dirty="0">
                <a:solidFill>
                  <a:srgbClr val="475569"/>
                </a:solidFill>
                <a:latin typeface="Cairo Light"/>
                <a:ea typeface="Cairo Light"/>
                <a:cs typeface="Cairo Light"/>
                <a:sym typeface="Cairo Light"/>
                <a:rtl/>
              </a:rPr>
              <a:t>تماماً مثل دماغك الذي يقوي الروابط التي تستخدمها للمذاكرة ويهمل الروابط التي لا تستخدمها</a:t>
            </a:r>
            <a:r>
              <a:rPr lang="en-US" sz="1600" dirty="0">
                <a:solidFill>
                  <a:srgbClr val="475569"/>
                </a:solidFill>
                <a:latin typeface="Cairo Light"/>
                <a:ea typeface="Cairo Light"/>
                <a:cs typeface="Cairo Light"/>
                <a:sym typeface="Cairo Light"/>
              </a:rPr>
              <a:t>!</a:t>
            </a:r>
          </a:p>
        </p:txBody>
      </p:sp>
      <p:sp>
        <p:nvSpPr>
          <p:cNvPr id="41" name="TextBox 41"/>
          <p:cNvSpPr txBox="1"/>
          <p:nvPr/>
        </p:nvSpPr>
        <p:spPr>
          <a:xfrm>
            <a:off x="14462522" y="9601200"/>
            <a:ext cx="2758678" cy="333425"/>
          </a:xfrm>
          <a:prstGeom prst="rect">
            <a:avLst/>
          </a:prstGeom>
        </p:spPr>
        <p:txBody>
          <a:bodyPr wrap="square" lIns="0" tIns="0" rIns="0" bIns="0" rtlCol="0" anchor="t">
            <a:spAutoFit/>
          </a:bodyPr>
          <a:lstStyle/>
          <a:p>
            <a:pPr algn="r">
              <a:lnSpc>
                <a:spcPts val="2595"/>
              </a:lnSpc>
            </a:pPr>
            <a:r>
              <a:rPr lang="ar-EG" sz="1800" dirty="0">
                <a:solidFill>
                  <a:srgbClr val="64748B"/>
                </a:solidFill>
                <a:latin typeface="Cairo Light"/>
                <a:ea typeface="Cairo Light"/>
                <a:cs typeface="Cairo Light"/>
                <a:sym typeface="Cairo Light"/>
                <a:rtl/>
              </a:rPr>
              <a:t>اليوم الثالث · مبني على صورتنا</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SA"/>
            </a:p>
          </p:txBody>
        </p:sp>
      </p:grpSp>
      <p:sp>
        <p:nvSpPr>
          <p:cNvPr id="4" name="TextBox 4"/>
          <p:cNvSpPr txBox="1"/>
          <p:nvPr/>
        </p:nvSpPr>
        <p:spPr>
          <a:xfrm>
            <a:off x="7711678" y="3095625"/>
            <a:ext cx="8318897" cy="590550"/>
          </a:xfrm>
          <a:prstGeom prst="rect">
            <a:avLst/>
          </a:prstGeom>
        </p:spPr>
        <p:txBody>
          <a:bodyPr lIns="0" tIns="0" rIns="0" bIns="0" rtlCol="0" anchor="t">
            <a:spAutoFit/>
          </a:bodyPr>
          <a:lstStyle/>
          <a:p>
            <a:pPr algn="r">
              <a:lnSpc>
                <a:spcPts val="4704"/>
              </a:lnSpc>
            </a:pPr>
            <a:r>
              <a:rPr lang="en-US" sz="4900" b="1">
                <a:solidFill>
                  <a:srgbClr val="0284C7"/>
                </a:solidFill>
                <a:latin typeface="Cairo Bold"/>
                <a:ea typeface="Cairo Bold"/>
                <a:cs typeface="Cairo Bold"/>
                <a:sym typeface="Cairo Bold"/>
              </a:rPr>
              <a:t>03</a:t>
            </a:r>
          </a:p>
        </p:txBody>
      </p:sp>
      <p:sp>
        <p:nvSpPr>
          <p:cNvPr id="5" name="TextBox 5"/>
          <p:cNvSpPr txBox="1"/>
          <p:nvPr/>
        </p:nvSpPr>
        <p:spPr>
          <a:xfrm>
            <a:off x="7711678" y="3886200"/>
            <a:ext cx="8318897" cy="931535"/>
          </a:xfrm>
          <a:prstGeom prst="rect">
            <a:avLst/>
          </a:prstGeom>
        </p:spPr>
        <p:txBody>
          <a:bodyPr lIns="0" tIns="0" rIns="0" bIns="0" rtlCol="0" anchor="t">
            <a:spAutoFit/>
          </a:bodyPr>
          <a:lstStyle/>
          <a:p>
            <a:pPr algn="r">
              <a:lnSpc>
                <a:spcPts val="6566"/>
              </a:lnSpc>
            </a:pPr>
            <a:r>
              <a:rPr lang="ar-EG" sz="5700" b="1">
                <a:solidFill>
                  <a:srgbClr val="0F172A"/>
                </a:solidFill>
                <a:latin typeface="Cairo Bold"/>
                <a:ea typeface="Cairo Bold"/>
                <a:cs typeface="Cairo Bold"/>
                <a:sym typeface="Cairo Bold"/>
                <a:rtl/>
              </a:rPr>
              <a:t>تشبيه الطبقات المخفية</a:t>
            </a:r>
          </a:p>
        </p:txBody>
      </p:sp>
      <p:sp>
        <p:nvSpPr>
          <p:cNvPr id="6" name="TextBox 6"/>
          <p:cNvSpPr txBox="1"/>
          <p:nvPr/>
        </p:nvSpPr>
        <p:spPr>
          <a:xfrm>
            <a:off x="7711678" y="5055860"/>
            <a:ext cx="8318897" cy="561975"/>
          </a:xfrm>
          <a:prstGeom prst="rect">
            <a:avLst/>
          </a:prstGeom>
        </p:spPr>
        <p:txBody>
          <a:bodyPr lIns="0" tIns="0" rIns="0" bIns="0" rtlCol="0" anchor="t">
            <a:spAutoFit/>
          </a:bodyPr>
          <a:lstStyle/>
          <a:p>
            <a:pPr algn="r">
              <a:lnSpc>
                <a:spcPts val="3599"/>
              </a:lnSpc>
            </a:pPr>
            <a:r>
              <a:rPr lang="ar-EG" sz="2499">
                <a:solidFill>
                  <a:srgbClr val="475569"/>
                </a:solidFill>
                <a:latin typeface="Cairo Light"/>
                <a:ea typeface="Cairo Light"/>
                <a:cs typeface="Cairo Light"/>
                <a:sym typeface="Cairo Light"/>
                <a:rtl/>
              </a:rPr>
              <a:t>كيف "ترى" الشبكة العصبية الصور فعلاً؟</a:t>
            </a:r>
          </a:p>
        </p:txBody>
      </p:sp>
      <p:sp>
        <p:nvSpPr>
          <p:cNvPr id="7" name="TextBox 7"/>
          <p:cNvSpPr txBox="1"/>
          <p:nvPr/>
        </p:nvSpPr>
        <p:spPr>
          <a:xfrm>
            <a:off x="13487400" y="7881023"/>
            <a:ext cx="3377779" cy="333425"/>
          </a:xfrm>
          <a:prstGeom prst="rect">
            <a:avLst/>
          </a:prstGeom>
        </p:spPr>
        <p:txBody>
          <a:bodyPr wrap="square" lIns="0" tIns="0" rIns="0" bIns="0" rtlCol="0" anchor="t">
            <a:spAutoFit/>
          </a:bodyPr>
          <a:lstStyle/>
          <a:p>
            <a:pPr algn="r">
              <a:lnSpc>
                <a:spcPts val="2595"/>
              </a:lnSpc>
            </a:pPr>
            <a:r>
              <a:rPr lang="ar-EG" sz="1800" dirty="0">
                <a:solidFill>
                  <a:srgbClr val="64748B"/>
                </a:solidFill>
                <a:latin typeface="Cairo Light"/>
                <a:ea typeface="Cairo Light"/>
                <a:cs typeface="Cairo Light"/>
                <a:sym typeface="Cairo Light"/>
                <a:rtl/>
              </a:rPr>
              <a:t>اليوم الثالث · مبني على صورتنا</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SA"/>
            </a:p>
          </p:txBody>
        </p:sp>
      </p:grpSp>
      <p:sp>
        <p:nvSpPr>
          <p:cNvPr id="4" name="TextBox 4"/>
          <p:cNvSpPr txBox="1"/>
          <p:nvPr/>
        </p:nvSpPr>
        <p:spPr>
          <a:xfrm>
            <a:off x="13444538" y="1000125"/>
            <a:ext cx="3557588" cy="642938"/>
          </a:xfrm>
          <a:prstGeom prst="rect">
            <a:avLst/>
          </a:prstGeom>
        </p:spPr>
        <p:txBody>
          <a:bodyPr lIns="0" tIns="0" rIns="0" bIns="0" rtlCol="0" anchor="t">
            <a:spAutoFit/>
          </a:bodyPr>
          <a:lstStyle/>
          <a:p>
            <a:pPr algn="r">
              <a:lnSpc>
                <a:spcPts val="2879"/>
              </a:lnSpc>
            </a:pPr>
            <a:r>
              <a:rPr lang="ar-EG" sz="2400" b="1">
                <a:solidFill>
                  <a:srgbClr val="0F172A"/>
                </a:solidFill>
                <a:latin typeface="Cairo Bold"/>
                <a:ea typeface="Cairo Bold"/>
                <a:cs typeface="Cairo Bold"/>
                <a:sym typeface="Cairo Bold"/>
                <a:rtl/>
              </a:rPr>
              <a:t>تشبيه الطبقات المخفية</a:t>
            </a:r>
          </a:p>
        </p:txBody>
      </p:sp>
      <p:sp>
        <p:nvSpPr>
          <p:cNvPr id="5" name="TextBox 5"/>
          <p:cNvSpPr txBox="1"/>
          <p:nvPr/>
        </p:nvSpPr>
        <p:spPr>
          <a:xfrm>
            <a:off x="1285875" y="1107281"/>
            <a:ext cx="1310878" cy="428625"/>
          </a:xfrm>
          <a:prstGeom prst="rect">
            <a:avLst/>
          </a:prstGeom>
        </p:spPr>
        <p:txBody>
          <a:bodyPr lIns="0" tIns="0" rIns="0" bIns="0" rtlCol="0" anchor="t">
            <a:spAutoFit/>
          </a:bodyPr>
          <a:lstStyle/>
          <a:p>
            <a:pPr algn="r">
              <a:lnSpc>
                <a:spcPts val="1920"/>
              </a:lnSpc>
            </a:pPr>
            <a:r>
              <a:rPr lang="ar-EG" sz="1600" b="1">
                <a:solidFill>
                  <a:srgbClr val="EA580C"/>
                </a:solidFill>
                <a:latin typeface="Cairo Bold"/>
                <a:ea typeface="Cairo Bold"/>
                <a:cs typeface="Cairo Bold"/>
                <a:sym typeface="Cairo Bold"/>
                <a:rtl/>
              </a:rPr>
              <a:t>القسم الثالث</a:t>
            </a:r>
          </a:p>
        </p:txBody>
      </p:sp>
      <p:sp>
        <p:nvSpPr>
          <p:cNvPr id="6" name="TextBox 6"/>
          <p:cNvSpPr txBox="1"/>
          <p:nvPr/>
        </p:nvSpPr>
        <p:spPr>
          <a:xfrm>
            <a:off x="1285875" y="2271712"/>
            <a:ext cx="15716250" cy="750094"/>
          </a:xfrm>
          <a:prstGeom prst="rect">
            <a:avLst/>
          </a:prstGeom>
        </p:spPr>
        <p:txBody>
          <a:bodyPr lIns="0" tIns="0" rIns="0" bIns="0" rtlCol="0" anchor="t">
            <a:spAutoFit/>
          </a:bodyPr>
          <a:lstStyle/>
          <a:p>
            <a:pPr algn="r">
              <a:lnSpc>
                <a:spcPts val="3359"/>
              </a:lnSpc>
            </a:pPr>
            <a:r>
              <a:rPr lang="ar-EG" sz="2799" b="1">
                <a:solidFill>
                  <a:srgbClr val="0F172A"/>
                </a:solidFill>
                <a:latin typeface="Cairo Bold"/>
                <a:ea typeface="Cairo Bold"/>
                <a:cs typeface="Cairo Bold"/>
                <a:sym typeface="Cairo Bold"/>
                <a:rtl/>
              </a:rPr>
              <a:t>الشبكة العصبية = طبقات متتالية من الأسئلة</a:t>
            </a:r>
          </a:p>
        </p:txBody>
      </p:sp>
      <p:grpSp>
        <p:nvGrpSpPr>
          <p:cNvPr id="7" name="Group 7"/>
          <p:cNvGrpSpPr/>
          <p:nvPr/>
        </p:nvGrpSpPr>
        <p:grpSpPr>
          <a:xfrm>
            <a:off x="16487775" y="3671888"/>
            <a:ext cx="514350" cy="514350"/>
            <a:chOff x="0" y="0"/>
            <a:chExt cx="685800" cy="685800"/>
          </a:xfrm>
        </p:grpSpPr>
        <p:sp>
          <p:nvSpPr>
            <p:cNvPr id="8" name="Freeform 8" descr="preencoded.png"/>
            <p:cNvSpPr/>
            <p:nvPr/>
          </p:nvSpPr>
          <p:spPr>
            <a:xfrm>
              <a:off x="0" y="0"/>
              <a:ext cx="685800" cy="685800"/>
            </a:xfrm>
            <a:custGeom>
              <a:avLst/>
              <a:gdLst/>
              <a:ahLst/>
              <a:cxnLst/>
              <a:rect l="l" t="t" r="r" b="b"/>
              <a:pathLst>
                <a:path w="685800" h="685800">
                  <a:moveTo>
                    <a:pt x="0" y="0"/>
                  </a:moveTo>
                  <a:lnTo>
                    <a:pt x="685800" y="0"/>
                  </a:lnTo>
                  <a:lnTo>
                    <a:pt x="685800" y="685800"/>
                  </a:lnTo>
                  <a:lnTo>
                    <a:pt x="0" y="685800"/>
                  </a:lnTo>
                  <a:lnTo>
                    <a:pt x="0" y="0"/>
                  </a:lnTo>
                  <a:close/>
                </a:path>
              </a:pathLst>
            </a:custGeom>
            <a:blipFill>
              <a:blip r:embed="rId4"/>
              <a:stretch>
                <a:fillRect/>
              </a:stretch>
            </a:blipFill>
          </p:spPr>
          <p:txBody>
            <a:bodyPr/>
            <a:lstStyle/>
            <a:p>
              <a:endParaRPr lang="en-SA"/>
            </a:p>
          </p:txBody>
        </p:sp>
      </p:grpSp>
      <p:sp>
        <p:nvSpPr>
          <p:cNvPr id="9" name="TextBox 9"/>
          <p:cNvSpPr txBox="1"/>
          <p:nvPr/>
        </p:nvSpPr>
        <p:spPr>
          <a:xfrm>
            <a:off x="12353944" y="4757738"/>
            <a:ext cx="4648181" cy="589359"/>
          </a:xfrm>
          <a:prstGeom prst="rect">
            <a:avLst/>
          </a:prstGeom>
        </p:spPr>
        <p:txBody>
          <a:bodyPr lIns="0" tIns="0" rIns="0" bIns="0" rtlCol="0" anchor="t">
            <a:spAutoFit/>
          </a:bodyPr>
          <a:lstStyle/>
          <a:p>
            <a:pPr algn="r">
              <a:lnSpc>
                <a:spcPts val="2640"/>
              </a:lnSpc>
            </a:pPr>
            <a:r>
              <a:rPr lang="en-US" sz="2200" b="1">
                <a:solidFill>
                  <a:srgbClr val="0F172A"/>
                </a:solidFill>
                <a:latin typeface="Cairo Bold"/>
                <a:ea typeface="Cairo Bold"/>
                <a:cs typeface="Cairo Bold"/>
                <a:sym typeface="Cairo Bold"/>
              </a:rPr>
              <a:t>📥 </a:t>
            </a:r>
            <a:r>
              <a:rPr lang="ar-EG" sz="2200" b="1">
                <a:solidFill>
                  <a:srgbClr val="0F172A"/>
                </a:solidFill>
                <a:latin typeface="Cairo Bold"/>
                <a:ea typeface="Cairo Bold"/>
                <a:cs typeface="Cairo Bold"/>
                <a:sym typeface="Cairo Bold"/>
                <a:rtl/>
              </a:rPr>
              <a:t>طبقة الإدخال</a:t>
            </a:r>
          </a:p>
        </p:txBody>
      </p:sp>
      <p:sp>
        <p:nvSpPr>
          <p:cNvPr id="10" name="TextBox 10"/>
          <p:cNvSpPr txBox="1"/>
          <p:nvPr/>
        </p:nvSpPr>
        <p:spPr>
          <a:xfrm>
            <a:off x="12353944" y="5518547"/>
            <a:ext cx="4648181" cy="982320"/>
          </a:xfrm>
          <a:prstGeom prst="rect">
            <a:avLst/>
          </a:prstGeom>
        </p:spPr>
        <p:txBody>
          <a:bodyPr lIns="0" tIns="0" rIns="0" bIns="0" rtlCol="0" anchor="t">
            <a:spAutoFit/>
          </a:bodyPr>
          <a:lstStyle/>
          <a:p>
            <a:pPr algn="r" rtl="1">
              <a:lnSpc>
                <a:spcPts val="2611"/>
              </a:lnSpc>
            </a:pPr>
            <a:r>
              <a:rPr lang="ar-EG" sz="1700" dirty="0">
                <a:solidFill>
                  <a:srgbClr val="475569"/>
                </a:solidFill>
                <a:latin typeface="Cairo"/>
                <a:ea typeface="Cairo"/>
                <a:cs typeface="Cairo"/>
                <a:sym typeface="Cairo"/>
                <a:rtl/>
              </a:rPr>
              <a:t>هي بوابة العبور الأولى؛ تستقبل البيانات الخام من العالم الخارجي وتمررها للداخل (مثل: ملايين النقاط الملونة المكونة لصورة قطة)</a:t>
            </a:r>
            <a:r>
              <a:rPr lang="en-US" sz="1700" dirty="0">
                <a:solidFill>
                  <a:srgbClr val="475569"/>
                </a:solidFill>
                <a:latin typeface="Cairo"/>
                <a:ea typeface="Cairo"/>
                <a:cs typeface="Cairo"/>
                <a:sym typeface="Cairo"/>
              </a:rPr>
              <a:t>.</a:t>
            </a:r>
          </a:p>
        </p:txBody>
      </p:sp>
      <p:grpSp>
        <p:nvGrpSpPr>
          <p:cNvPr id="11" name="Group 11"/>
          <p:cNvGrpSpPr/>
          <p:nvPr/>
        </p:nvGrpSpPr>
        <p:grpSpPr>
          <a:xfrm>
            <a:off x="10825182" y="3671888"/>
            <a:ext cx="642938" cy="514350"/>
            <a:chOff x="0" y="0"/>
            <a:chExt cx="857250" cy="685800"/>
          </a:xfrm>
        </p:grpSpPr>
        <p:sp>
          <p:nvSpPr>
            <p:cNvPr id="12" name="Freeform 12" descr="preencoded.png"/>
            <p:cNvSpPr/>
            <p:nvPr/>
          </p:nvSpPr>
          <p:spPr>
            <a:xfrm>
              <a:off x="0" y="0"/>
              <a:ext cx="857250" cy="685800"/>
            </a:xfrm>
            <a:custGeom>
              <a:avLst/>
              <a:gdLst/>
              <a:ahLst/>
              <a:cxnLst/>
              <a:rect l="l" t="t" r="r" b="b"/>
              <a:pathLst>
                <a:path w="857250" h="685800">
                  <a:moveTo>
                    <a:pt x="0" y="0"/>
                  </a:moveTo>
                  <a:lnTo>
                    <a:pt x="857250" y="0"/>
                  </a:lnTo>
                  <a:lnTo>
                    <a:pt x="857250" y="685800"/>
                  </a:lnTo>
                  <a:lnTo>
                    <a:pt x="0" y="685800"/>
                  </a:lnTo>
                  <a:lnTo>
                    <a:pt x="0" y="0"/>
                  </a:lnTo>
                  <a:close/>
                </a:path>
              </a:pathLst>
            </a:custGeom>
            <a:blipFill>
              <a:blip r:embed="rId5"/>
              <a:stretch>
                <a:fillRect l="-1428" r="-1429"/>
              </a:stretch>
            </a:blipFill>
          </p:spPr>
          <p:txBody>
            <a:bodyPr/>
            <a:lstStyle/>
            <a:p>
              <a:endParaRPr lang="en-SA"/>
            </a:p>
          </p:txBody>
        </p:sp>
      </p:grpSp>
      <p:sp>
        <p:nvSpPr>
          <p:cNvPr id="13" name="TextBox 13"/>
          <p:cNvSpPr txBox="1"/>
          <p:nvPr/>
        </p:nvSpPr>
        <p:spPr>
          <a:xfrm>
            <a:off x="6819938" y="4757738"/>
            <a:ext cx="4648181" cy="589359"/>
          </a:xfrm>
          <a:prstGeom prst="rect">
            <a:avLst/>
          </a:prstGeom>
        </p:spPr>
        <p:txBody>
          <a:bodyPr lIns="0" tIns="0" rIns="0" bIns="0" rtlCol="0" anchor="t">
            <a:spAutoFit/>
          </a:bodyPr>
          <a:lstStyle/>
          <a:p>
            <a:pPr algn="r">
              <a:lnSpc>
                <a:spcPts val="2640"/>
              </a:lnSpc>
            </a:pPr>
            <a:r>
              <a:rPr lang="en-US" sz="2200" b="1">
                <a:solidFill>
                  <a:srgbClr val="0F172A"/>
                </a:solidFill>
                <a:latin typeface="Cairo Bold"/>
                <a:ea typeface="Cairo Bold"/>
                <a:cs typeface="Cairo Bold"/>
                <a:sym typeface="Cairo Bold"/>
              </a:rPr>
              <a:t>🔲 </a:t>
            </a:r>
            <a:r>
              <a:rPr lang="ar-EG" sz="2200" b="1">
                <a:solidFill>
                  <a:srgbClr val="0F172A"/>
                </a:solidFill>
                <a:latin typeface="Cairo Bold"/>
                <a:ea typeface="Cairo Bold"/>
                <a:cs typeface="Cairo Bold"/>
                <a:sym typeface="Cairo Bold"/>
                <a:rtl/>
              </a:rPr>
              <a:t>الطبقات المخفية</a:t>
            </a:r>
          </a:p>
        </p:txBody>
      </p:sp>
      <p:sp>
        <p:nvSpPr>
          <p:cNvPr id="14" name="TextBox 14"/>
          <p:cNvSpPr txBox="1"/>
          <p:nvPr/>
        </p:nvSpPr>
        <p:spPr>
          <a:xfrm>
            <a:off x="6819938" y="5518547"/>
            <a:ext cx="4648181" cy="982320"/>
          </a:xfrm>
          <a:prstGeom prst="rect">
            <a:avLst/>
          </a:prstGeom>
        </p:spPr>
        <p:txBody>
          <a:bodyPr lIns="0" tIns="0" rIns="0" bIns="0" rtlCol="0" anchor="t">
            <a:spAutoFit/>
          </a:bodyPr>
          <a:lstStyle/>
          <a:p>
            <a:pPr algn="r" rtl="1">
              <a:lnSpc>
                <a:spcPts val="2611"/>
              </a:lnSpc>
            </a:pPr>
            <a:r>
              <a:rPr lang="ar-EG" sz="1700" dirty="0">
                <a:solidFill>
                  <a:srgbClr val="475569"/>
                </a:solidFill>
                <a:latin typeface="Cairo"/>
                <a:ea typeface="Cairo"/>
                <a:cs typeface="Cairo"/>
                <a:sym typeface="Cairo"/>
                <a:rtl/>
              </a:rPr>
              <a:t>تقع في المنتصف؛ تقوم بمعالجة وتفكيك البيانات خطوة بخطوة، وتطرح أسئلة متدرجة لاستخراج الأنماط والملامح الهامة</a:t>
            </a:r>
            <a:r>
              <a:rPr lang="en-US" sz="1700" dirty="0">
                <a:solidFill>
                  <a:srgbClr val="475569"/>
                </a:solidFill>
                <a:latin typeface="Cairo"/>
                <a:ea typeface="Cairo"/>
                <a:cs typeface="Cairo"/>
                <a:sym typeface="Cairo"/>
              </a:rPr>
              <a:t>.</a:t>
            </a:r>
          </a:p>
        </p:txBody>
      </p:sp>
      <p:grpSp>
        <p:nvGrpSpPr>
          <p:cNvPr id="15" name="Group 15"/>
          <p:cNvGrpSpPr/>
          <p:nvPr/>
        </p:nvGrpSpPr>
        <p:grpSpPr>
          <a:xfrm>
            <a:off x="5419763" y="3671888"/>
            <a:ext cx="514350" cy="514350"/>
            <a:chOff x="0" y="0"/>
            <a:chExt cx="685800" cy="685800"/>
          </a:xfrm>
        </p:grpSpPr>
        <p:sp>
          <p:nvSpPr>
            <p:cNvPr id="16" name="Freeform 16" descr="preencoded.png"/>
            <p:cNvSpPr/>
            <p:nvPr/>
          </p:nvSpPr>
          <p:spPr>
            <a:xfrm>
              <a:off x="0" y="0"/>
              <a:ext cx="685800" cy="685800"/>
            </a:xfrm>
            <a:custGeom>
              <a:avLst/>
              <a:gdLst/>
              <a:ahLst/>
              <a:cxnLst/>
              <a:rect l="l" t="t" r="r" b="b"/>
              <a:pathLst>
                <a:path w="685800" h="685800">
                  <a:moveTo>
                    <a:pt x="0" y="0"/>
                  </a:moveTo>
                  <a:lnTo>
                    <a:pt x="685800" y="0"/>
                  </a:lnTo>
                  <a:lnTo>
                    <a:pt x="685800" y="685800"/>
                  </a:lnTo>
                  <a:lnTo>
                    <a:pt x="0" y="685800"/>
                  </a:lnTo>
                  <a:lnTo>
                    <a:pt x="0" y="0"/>
                  </a:lnTo>
                  <a:close/>
                </a:path>
              </a:pathLst>
            </a:custGeom>
            <a:blipFill>
              <a:blip r:embed="rId6"/>
              <a:stretch>
                <a:fillRect l="-1427" r="-1429"/>
              </a:stretch>
            </a:blipFill>
          </p:spPr>
          <p:txBody>
            <a:bodyPr/>
            <a:lstStyle/>
            <a:p>
              <a:endParaRPr lang="en-SA"/>
            </a:p>
          </p:txBody>
        </p:sp>
      </p:grpSp>
      <p:sp>
        <p:nvSpPr>
          <p:cNvPr id="17" name="TextBox 17"/>
          <p:cNvSpPr txBox="1"/>
          <p:nvPr/>
        </p:nvSpPr>
        <p:spPr>
          <a:xfrm>
            <a:off x="1285875" y="4757738"/>
            <a:ext cx="4648238" cy="589359"/>
          </a:xfrm>
          <a:prstGeom prst="rect">
            <a:avLst/>
          </a:prstGeom>
        </p:spPr>
        <p:txBody>
          <a:bodyPr lIns="0" tIns="0" rIns="0" bIns="0" rtlCol="0" anchor="t">
            <a:spAutoFit/>
          </a:bodyPr>
          <a:lstStyle/>
          <a:p>
            <a:pPr algn="r">
              <a:lnSpc>
                <a:spcPts val="2640"/>
              </a:lnSpc>
            </a:pPr>
            <a:r>
              <a:rPr lang="en-US" sz="2200" b="1">
                <a:solidFill>
                  <a:srgbClr val="0F172A"/>
                </a:solidFill>
                <a:latin typeface="Cairo Bold"/>
                <a:ea typeface="Cairo Bold"/>
                <a:cs typeface="Cairo Bold"/>
                <a:sym typeface="Cairo Bold"/>
              </a:rPr>
              <a:t>📤 </a:t>
            </a:r>
            <a:r>
              <a:rPr lang="ar-EG" sz="2200" b="1">
                <a:solidFill>
                  <a:srgbClr val="0F172A"/>
                </a:solidFill>
                <a:latin typeface="Cairo Bold"/>
                <a:ea typeface="Cairo Bold"/>
                <a:cs typeface="Cairo Bold"/>
                <a:sym typeface="Cairo Bold"/>
                <a:rtl/>
              </a:rPr>
              <a:t>طبقة الإخراج</a:t>
            </a:r>
          </a:p>
        </p:txBody>
      </p:sp>
      <p:sp>
        <p:nvSpPr>
          <p:cNvPr id="18" name="TextBox 18"/>
          <p:cNvSpPr txBox="1"/>
          <p:nvPr/>
        </p:nvSpPr>
        <p:spPr>
          <a:xfrm>
            <a:off x="1285875" y="5518547"/>
            <a:ext cx="4648238" cy="982320"/>
          </a:xfrm>
          <a:prstGeom prst="rect">
            <a:avLst/>
          </a:prstGeom>
        </p:spPr>
        <p:txBody>
          <a:bodyPr lIns="0" tIns="0" rIns="0" bIns="0" rtlCol="0" anchor="t">
            <a:spAutoFit/>
          </a:bodyPr>
          <a:lstStyle/>
          <a:p>
            <a:pPr algn="r" rtl="1">
              <a:lnSpc>
                <a:spcPts val="2611"/>
              </a:lnSpc>
            </a:pPr>
            <a:r>
              <a:rPr lang="ar-EG" sz="1700" dirty="0">
                <a:solidFill>
                  <a:srgbClr val="475569"/>
                </a:solidFill>
                <a:latin typeface="Cairo"/>
                <a:ea typeface="Cairo"/>
                <a:cs typeface="Cairo"/>
                <a:sym typeface="Cairo"/>
                <a:rtl/>
              </a:rPr>
              <a:t>هي المحطة الأخيرة؛ تجمع نتائج التحليل من الطبقات السابقة لتعطي القرار النهائي الواضح (مثل: "هذه صورة قطة بنسبة </a:t>
            </a:r>
            <a:r>
              <a:rPr lang="en-US" sz="1700" dirty="0">
                <a:solidFill>
                  <a:srgbClr val="475569"/>
                </a:solidFill>
                <a:latin typeface="Cairo"/>
                <a:ea typeface="Cairo"/>
                <a:cs typeface="Cairo"/>
                <a:sym typeface="Cairo"/>
              </a:rPr>
              <a:t>98</a:t>
            </a:r>
            <a:r>
              <a:rPr lang="ar-EG" sz="1700" dirty="0">
                <a:solidFill>
                  <a:srgbClr val="475569"/>
                </a:solidFill>
                <a:latin typeface="Cairo"/>
                <a:ea typeface="Cairo"/>
                <a:cs typeface="Cairo"/>
                <a:sym typeface="Cairo"/>
                <a:rtl/>
              </a:rPr>
              <a:t>%")</a:t>
            </a:r>
            <a:r>
              <a:rPr lang="en-US" sz="1700" dirty="0">
                <a:solidFill>
                  <a:srgbClr val="475569"/>
                </a:solidFill>
                <a:latin typeface="Cairo"/>
                <a:ea typeface="Cairo"/>
                <a:cs typeface="Cairo"/>
                <a:sym typeface="Cairo"/>
              </a:rPr>
              <a:t>.</a:t>
            </a:r>
          </a:p>
        </p:txBody>
      </p:sp>
      <p:sp>
        <p:nvSpPr>
          <p:cNvPr id="19" name="TextBox 19"/>
          <p:cNvSpPr txBox="1"/>
          <p:nvPr/>
        </p:nvSpPr>
        <p:spPr>
          <a:xfrm>
            <a:off x="1285875" y="7968701"/>
            <a:ext cx="15716250" cy="723916"/>
          </a:xfrm>
          <a:prstGeom prst="rect">
            <a:avLst/>
          </a:prstGeom>
        </p:spPr>
        <p:txBody>
          <a:bodyPr lIns="0" tIns="0" rIns="0" bIns="0" rtlCol="0" anchor="t">
            <a:spAutoFit/>
          </a:bodyPr>
          <a:lstStyle/>
          <a:p>
            <a:pPr algn="r" rtl="1">
              <a:lnSpc>
                <a:spcPts val="2918"/>
              </a:lnSpc>
            </a:pPr>
            <a:r>
              <a:rPr lang="en-US" sz="1900" dirty="0">
                <a:solidFill>
                  <a:srgbClr val="475569"/>
                </a:solidFill>
                <a:latin typeface="Cairo"/>
                <a:ea typeface="Cairo"/>
                <a:cs typeface="Cairo"/>
                <a:sym typeface="Cairo"/>
              </a:rPr>
              <a:t>🔍 </a:t>
            </a:r>
            <a:r>
              <a:rPr lang="ar-EG" sz="1900" b="1" dirty="0">
                <a:solidFill>
                  <a:srgbClr val="EA580C"/>
                </a:solidFill>
                <a:latin typeface="Cairo Bold"/>
                <a:ea typeface="Cairo Bold"/>
                <a:cs typeface="Cairo Bold"/>
                <a:sym typeface="Cairo Bold"/>
                <a:rtl/>
              </a:rPr>
              <a:t>لماذا سميت "مخفية"؟</a:t>
            </a:r>
            <a:r>
              <a:rPr lang="ar-EG" sz="1900" dirty="0">
                <a:solidFill>
                  <a:srgbClr val="475569"/>
                </a:solidFill>
                <a:latin typeface="Cairo"/>
                <a:ea typeface="Cairo"/>
                <a:cs typeface="Cairo"/>
                <a:sym typeface="Cairo"/>
                <a:rtl/>
              </a:rPr>
              <a:t> كلمة "مخفية" لا تعني أنها سرية أو غامضة، بل تعني ببساطة أننا كمستخدمين لا نرى مدخلاتها ومخرجاتها المباشرة أثناء العمل، بل نرى فقط ما ندخله في البداية وما نحصل عليه في النهاية</a:t>
            </a:r>
            <a:r>
              <a:rPr lang="en-US" sz="1900" dirty="0">
                <a:solidFill>
                  <a:srgbClr val="475569"/>
                </a:solidFill>
                <a:latin typeface="Cairo"/>
                <a:ea typeface="Cairo"/>
                <a:cs typeface="Cairo"/>
                <a:sym typeface="Cairo"/>
              </a:rPr>
              <a:t>!</a:t>
            </a:r>
          </a:p>
        </p:txBody>
      </p:sp>
      <p:sp>
        <p:nvSpPr>
          <p:cNvPr id="20" name="TextBox 20"/>
          <p:cNvSpPr txBox="1"/>
          <p:nvPr/>
        </p:nvSpPr>
        <p:spPr>
          <a:xfrm>
            <a:off x="13792200" y="9601200"/>
            <a:ext cx="3343849" cy="333425"/>
          </a:xfrm>
          <a:prstGeom prst="rect">
            <a:avLst/>
          </a:prstGeom>
        </p:spPr>
        <p:txBody>
          <a:bodyPr wrap="square" lIns="0" tIns="0" rIns="0" bIns="0" rtlCol="0" anchor="t">
            <a:spAutoFit/>
          </a:bodyPr>
          <a:lstStyle/>
          <a:p>
            <a:pPr algn="r">
              <a:lnSpc>
                <a:spcPts val="2595"/>
              </a:lnSpc>
            </a:pPr>
            <a:r>
              <a:rPr lang="ar-EG" sz="1800" dirty="0">
                <a:solidFill>
                  <a:srgbClr val="64748B"/>
                </a:solidFill>
                <a:latin typeface="Cairo Light"/>
                <a:ea typeface="Cairo Light"/>
                <a:cs typeface="Cairo Light"/>
                <a:sym typeface="Cairo Light"/>
                <a:rtl/>
              </a:rPr>
              <a:t>اليوم الثالث · مبني على صورتنا</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SA"/>
            </a:p>
          </p:txBody>
        </p:sp>
      </p:grpSp>
      <p:grpSp>
        <p:nvGrpSpPr>
          <p:cNvPr id="4" name="Group 4"/>
          <p:cNvGrpSpPr/>
          <p:nvPr/>
        </p:nvGrpSpPr>
        <p:grpSpPr>
          <a:xfrm>
            <a:off x="16487775" y="1992688"/>
            <a:ext cx="514350" cy="514350"/>
            <a:chOff x="0" y="0"/>
            <a:chExt cx="685800" cy="685800"/>
          </a:xfrm>
        </p:grpSpPr>
        <p:sp>
          <p:nvSpPr>
            <p:cNvPr id="5" name="Freeform 5" descr="preencoded.png"/>
            <p:cNvSpPr/>
            <p:nvPr/>
          </p:nvSpPr>
          <p:spPr>
            <a:xfrm>
              <a:off x="0" y="0"/>
              <a:ext cx="685800" cy="685800"/>
            </a:xfrm>
            <a:custGeom>
              <a:avLst/>
              <a:gdLst/>
              <a:ahLst/>
              <a:cxnLst/>
              <a:rect l="l" t="t" r="r" b="b"/>
              <a:pathLst>
                <a:path w="685800" h="685800">
                  <a:moveTo>
                    <a:pt x="0" y="0"/>
                  </a:moveTo>
                  <a:lnTo>
                    <a:pt x="685800" y="0"/>
                  </a:lnTo>
                  <a:lnTo>
                    <a:pt x="685800" y="685800"/>
                  </a:lnTo>
                  <a:lnTo>
                    <a:pt x="0" y="685800"/>
                  </a:lnTo>
                  <a:lnTo>
                    <a:pt x="0" y="0"/>
                  </a:lnTo>
                  <a:close/>
                </a:path>
              </a:pathLst>
            </a:custGeom>
            <a:blipFill>
              <a:blip r:embed="rId4"/>
              <a:stretch>
                <a:fillRect/>
              </a:stretch>
            </a:blipFill>
          </p:spPr>
          <p:txBody>
            <a:bodyPr/>
            <a:lstStyle/>
            <a:p>
              <a:endParaRPr lang="en-SA"/>
            </a:p>
          </p:txBody>
        </p:sp>
      </p:grpSp>
      <p:grpSp>
        <p:nvGrpSpPr>
          <p:cNvPr id="6" name="Group 6"/>
          <p:cNvGrpSpPr/>
          <p:nvPr/>
        </p:nvGrpSpPr>
        <p:grpSpPr>
          <a:xfrm>
            <a:off x="10375992" y="2082579"/>
            <a:ext cx="642938" cy="514350"/>
            <a:chOff x="0" y="0"/>
            <a:chExt cx="857250" cy="685800"/>
          </a:xfrm>
        </p:grpSpPr>
        <p:sp>
          <p:nvSpPr>
            <p:cNvPr id="7" name="Freeform 7" descr="preencoded.png"/>
            <p:cNvSpPr/>
            <p:nvPr/>
          </p:nvSpPr>
          <p:spPr>
            <a:xfrm>
              <a:off x="0" y="0"/>
              <a:ext cx="857250" cy="685800"/>
            </a:xfrm>
            <a:custGeom>
              <a:avLst/>
              <a:gdLst/>
              <a:ahLst/>
              <a:cxnLst/>
              <a:rect l="l" t="t" r="r" b="b"/>
              <a:pathLst>
                <a:path w="857250" h="685800">
                  <a:moveTo>
                    <a:pt x="0" y="0"/>
                  </a:moveTo>
                  <a:lnTo>
                    <a:pt x="857250" y="0"/>
                  </a:lnTo>
                  <a:lnTo>
                    <a:pt x="857250" y="685800"/>
                  </a:lnTo>
                  <a:lnTo>
                    <a:pt x="0" y="685800"/>
                  </a:lnTo>
                  <a:lnTo>
                    <a:pt x="0" y="0"/>
                  </a:lnTo>
                  <a:close/>
                </a:path>
              </a:pathLst>
            </a:custGeom>
            <a:blipFill>
              <a:blip r:embed="rId5"/>
              <a:stretch>
                <a:fillRect l="-1428" r="-1429"/>
              </a:stretch>
            </a:blipFill>
          </p:spPr>
          <p:txBody>
            <a:bodyPr/>
            <a:lstStyle/>
            <a:p>
              <a:endParaRPr lang="en-SA"/>
            </a:p>
          </p:txBody>
        </p:sp>
      </p:grpSp>
      <p:grpSp>
        <p:nvGrpSpPr>
          <p:cNvPr id="8" name="Group 8"/>
          <p:cNvGrpSpPr/>
          <p:nvPr/>
        </p:nvGrpSpPr>
        <p:grpSpPr>
          <a:xfrm>
            <a:off x="4742209" y="2068888"/>
            <a:ext cx="514350" cy="514350"/>
            <a:chOff x="0" y="0"/>
            <a:chExt cx="685800" cy="685800"/>
          </a:xfrm>
        </p:grpSpPr>
        <p:sp>
          <p:nvSpPr>
            <p:cNvPr id="9" name="Freeform 9" descr="preencoded.png"/>
            <p:cNvSpPr/>
            <p:nvPr/>
          </p:nvSpPr>
          <p:spPr>
            <a:xfrm>
              <a:off x="0" y="0"/>
              <a:ext cx="685800" cy="685800"/>
            </a:xfrm>
            <a:custGeom>
              <a:avLst/>
              <a:gdLst/>
              <a:ahLst/>
              <a:cxnLst/>
              <a:rect l="l" t="t" r="r" b="b"/>
              <a:pathLst>
                <a:path w="685800" h="685800">
                  <a:moveTo>
                    <a:pt x="0" y="0"/>
                  </a:moveTo>
                  <a:lnTo>
                    <a:pt x="685800" y="0"/>
                  </a:lnTo>
                  <a:lnTo>
                    <a:pt x="685800" y="685800"/>
                  </a:lnTo>
                  <a:lnTo>
                    <a:pt x="0" y="685800"/>
                  </a:lnTo>
                  <a:lnTo>
                    <a:pt x="0" y="0"/>
                  </a:lnTo>
                  <a:close/>
                </a:path>
              </a:pathLst>
            </a:custGeom>
            <a:blipFill>
              <a:blip r:embed="rId6"/>
              <a:stretch>
                <a:fillRect l="-1427" r="-1429"/>
              </a:stretch>
            </a:blipFill>
          </p:spPr>
          <p:txBody>
            <a:bodyPr/>
            <a:lstStyle/>
            <a:p>
              <a:endParaRPr lang="en-SA"/>
            </a:p>
          </p:txBody>
        </p:sp>
      </p:grpSp>
      <p:sp>
        <p:nvSpPr>
          <p:cNvPr id="10" name="Freeform 10"/>
          <p:cNvSpPr/>
          <p:nvPr/>
        </p:nvSpPr>
        <p:spPr>
          <a:xfrm>
            <a:off x="1757736" y="3298427"/>
            <a:ext cx="13827034" cy="6282929"/>
          </a:xfrm>
          <a:custGeom>
            <a:avLst/>
            <a:gdLst/>
            <a:ahLst/>
            <a:cxnLst/>
            <a:rect l="l" t="t" r="r" b="b"/>
            <a:pathLst>
              <a:path w="13827034" h="6282929">
                <a:moveTo>
                  <a:pt x="0" y="0"/>
                </a:moveTo>
                <a:lnTo>
                  <a:pt x="13827035" y="0"/>
                </a:lnTo>
                <a:lnTo>
                  <a:pt x="13827035" y="6282929"/>
                </a:lnTo>
                <a:lnTo>
                  <a:pt x="0" y="6282929"/>
                </a:lnTo>
                <a:lnTo>
                  <a:pt x="0" y="0"/>
                </a:lnTo>
                <a:close/>
              </a:path>
            </a:pathLst>
          </a:custGeom>
          <a:blipFill>
            <a:blip r:embed="rId7"/>
            <a:stretch>
              <a:fillRect t="-11482" b="-11482"/>
            </a:stretch>
          </a:blipFill>
        </p:spPr>
        <p:txBody>
          <a:bodyPr/>
          <a:lstStyle/>
          <a:p>
            <a:endParaRPr lang="en-SA"/>
          </a:p>
        </p:txBody>
      </p:sp>
      <p:sp>
        <p:nvSpPr>
          <p:cNvPr id="11" name="TextBox 11"/>
          <p:cNvSpPr txBox="1"/>
          <p:nvPr/>
        </p:nvSpPr>
        <p:spPr>
          <a:xfrm>
            <a:off x="13214152" y="9493929"/>
            <a:ext cx="3847694" cy="333425"/>
          </a:xfrm>
          <a:prstGeom prst="rect">
            <a:avLst/>
          </a:prstGeom>
        </p:spPr>
        <p:txBody>
          <a:bodyPr lIns="0" tIns="0" rIns="0" bIns="0" rtlCol="0" anchor="t">
            <a:spAutoFit/>
          </a:bodyPr>
          <a:lstStyle/>
          <a:p>
            <a:pPr algn="r">
              <a:lnSpc>
                <a:spcPts val="2595"/>
              </a:lnSpc>
            </a:pPr>
            <a:r>
              <a:rPr lang="ar-EG" sz="2163" dirty="0">
                <a:solidFill>
                  <a:srgbClr val="64748B"/>
                </a:solidFill>
                <a:latin typeface="Cairo Light"/>
                <a:ea typeface="Cairo Light"/>
                <a:cs typeface="Cairo Light"/>
                <a:sym typeface="Cairo Light"/>
                <a:rtl/>
              </a:rPr>
              <a:t>اليوم الثالث · مبني على صورتنا</a:t>
            </a:r>
          </a:p>
        </p:txBody>
      </p:sp>
      <p:sp>
        <p:nvSpPr>
          <p:cNvPr id="12" name="TextBox 12"/>
          <p:cNvSpPr txBox="1"/>
          <p:nvPr/>
        </p:nvSpPr>
        <p:spPr>
          <a:xfrm>
            <a:off x="13444538" y="1000125"/>
            <a:ext cx="3557588" cy="642938"/>
          </a:xfrm>
          <a:prstGeom prst="rect">
            <a:avLst/>
          </a:prstGeom>
        </p:spPr>
        <p:txBody>
          <a:bodyPr lIns="0" tIns="0" rIns="0" bIns="0" rtlCol="0" anchor="t">
            <a:spAutoFit/>
          </a:bodyPr>
          <a:lstStyle/>
          <a:p>
            <a:pPr algn="r">
              <a:lnSpc>
                <a:spcPts val="2879"/>
              </a:lnSpc>
            </a:pPr>
            <a:r>
              <a:rPr lang="ar-EG" sz="2400" b="1">
                <a:solidFill>
                  <a:srgbClr val="0F172A"/>
                </a:solidFill>
                <a:latin typeface="Cairo Bold"/>
                <a:ea typeface="Cairo Bold"/>
                <a:cs typeface="Cairo Bold"/>
                <a:sym typeface="Cairo Bold"/>
                <a:rtl/>
              </a:rPr>
              <a:t>تشبيه الطبقات المخفية</a:t>
            </a:r>
          </a:p>
        </p:txBody>
      </p:sp>
      <p:sp>
        <p:nvSpPr>
          <p:cNvPr id="13" name="TextBox 13"/>
          <p:cNvSpPr txBox="1"/>
          <p:nvPr/>
        </p:nvSpPr>
        <p:spPr>
          <a:xfrm>
            <a:off x="1285875" y="1107281"/>
            <a:ext cx="1310878" cy="428625"/>
          </a:xfrm>
          <a:prstGeom prst="rect">
            <a:avLst/>
          </a:prstGeom>
        </p:spPr>
        <p:txBody>
          <a:bodyPr lIns="0" tIns="0" rIns="0" bIns="0" rtlCol="0" anchor="t">
            <a:spAutoFit/>
          </a:bodyPr>
          <a:lstStyle/>
          <a:p>
            <a:pPr algn="r">
              <a:lnSpc>
                <a:spcPts val="1920"/>
              </a:lnSpc>
            </a:pPr>
            <a:r>
              <a:rPr lang="ar-EG" sz="1600" b="1">
                <a:solidFill>
                  <a:srgbClr val="EA580C"/>
                </a:solidFill>
                <a:latin typeface="Cairo Bold"/>
                <a:ea typeface="Cairo Bold"/>
                <a:cs typeface="Cairo Bold"/>
                <a:sym typeface="Cairo Bold"/>
                <a:rtl/>
              </a:rPr>
              <a:t>القسم الثالث</a:t>
            </a:r>
          </a:p>
        </p:txBody>
      </p:sp>
      <p:sp>
        <p:nvSpPr>
          <p:cNvPr id="14" name="TextBox 14"/>
          <p:cNvSpPr txBox="1"/>
          <p:nvPr/>
        </p:nvSpPr>
        <p:spPr>
          <a:xfrm>
            <a:off x="-2858741" y="892969"/>
            <a:ext cx="15716250" cy="750094"/>
          </a:xfrm>
          <a:prstGeom prst="rect">
            <a:avLst/>
          </a:prstGeom>
        </p:spPr>
        <p:txBody>
          <a:bodyPr lIns="0" tIns="0" rIns="0" bIns="0" rtlCol="0" anchor="t">
            <a:spAutoFit/>
          </a:bodyPr>
          <a:lstStyle/>
          <a:p>
            <a:pPr algn="r">
              <a:lnSpc>
                <a:spcPts val="3359"/>
              </a:lnSpc>
            </a:pPr>
            <a:r>
              <a:rPr lang="ar-EG" sz="2799" b="1">
                <a:solidFill>
                  <a:srgbClr val="0F172A"/>
                </a:solidFill>
                <a:latin typeface="Cairo Bold"/>
                <a:ea typeface="Cairo Bold"/>
                <a:cs typeface="Cairo Bold"/>
                <a:sym typeface="Cairo Bold"/>
                <a:rtl/>
              </a:rPr>
              <a:t>الشبكة العصبية = طبقات متتالية من الأسئلة</a:t>
            </a:r>
          </a:p>
        </p:txBody>
      </p:sp>
      <p:sp>
        <p:nvSpPr>
          <p:cNvPr id="15" name="TextBox 15"/>
          <p:cNvSpPr txBox="1"/>
          <p:nvPr/>
        </p:nvSpPr>
        <p:spPr>
          <a:xfrm>
            <a:off x="11565283" y="2083175"/>
            <a:ext cx="4648181" cy="333375"/>
          </a:xfrm>
          <a:prstGeom prst="rect">
            <a:avLst/>
          </a:prstGeom>
        </p:spPr>
        <p:txBody>
          <a:bodyPr lIns="0" tIns="0" rIns="0" bIns="0" rtlCol="0" anchor="t">
            <a:spAutoFit/>
          </a:bodyPr>
          <a:lstStyle/>
          <a:p>
            <a:pPr algn="r">
              <a:lnSpc>
                <a:spcPts val="2640"/>
              </a:lnSpc>
            </a:pPr>
            <a:r>
              <a:rPr lang="ar-EG" sz="2200" b="1">
                <a:solidFill>
                  <a:srgbClr val="0F172A"/>
                </a:solidFill>
                <a:latin typeface="Cairo Bold"/>
                <a:ea typeface="Cairo Bold"/>
                <a:cs typeface="Cairo Bold"/>
                <a:sym typeface="Cairo Bold"/>
                <a:rtl/>
              </a:rPr>
              <a:t>طبقة الإدخال</a:t>
            </a:r>
          </a:p>
        </p:txBody>
      </p:sp>
      <p:sp>
        <p:nvSpPr>
          <p:cNvPr id="16" name="TextBox 16"/>
          <p:cNvSpPr txBox="1"/>
          <p:nvPr/>
        </p:nvSpPr>
        <p:spPr>
          <a:xfrm>
            <a:off x="12384872" y="2539779"/>
            <a:ext cx="4648181" cy="982320"/>
          </a:xfrm>
          <a:prstGeom prst="rect">
            <a:avLst/>
          </a:prstGeom>
        </p:spPr>
        <p:txBody>
          <a:bodyPr lIns="0" tIns="0" rIns="0" bIns="0" rtlCol="0" anchor="t">
            <a:spAutoFit/>
          </a:bodyPr>
          <a:lstStyle/>
          <a:p>
            <a:pPr algn="r" rtl="1">
              <a:lnSpc>
                <a:spcPts val="2611"/>
              </a:lnSpc>
            </a:pPr>
            <a:r>
              <a:rPr lang="ar-EG" sz="1700" dirty="0">
                <a:solidFill>
                  <a:srgbClr val="475569"/>
                </a:solidFill>
                <a:latin typeface="Cairo"/>
                <a:ea typeface="Cairo"/>
                <a:cs typeface="Cairo"/>
                <a:sym typeface="Cairo"/>
                <a:rtl/>
              </a:rPr>
              <a:t>هي بوابة العبور الأولى؛ تستقبل البيانات الخام من العالم الخارجي وتمررها للداخل (مثل: ملايين النقاط الملونة المكونة لصورة قطة)</a:t>
            </a:r>
            <a:r>
              <a:rPr lang="en-US" sz="1700" dirty="0">
                <a:solidFill>
                  <a:srgbClr val="475569"/>
                </a:solidFill>
                <a:latin typeface="Cairo"/>
                <a:ea typeface="Cairo"/>
                <a:cs typeface="Cairo"/>
                <a:sym typeface="Cairo"/>
              </a:rPr>
              <a:t>.</a:t>
            </a:r>
          </a:p>
        </p:txBody>
      </p:sp>
      <p:sp>
        <p:nvSpPr>
          <p:cNvPr id="17" name="TextBox 17"/>
          <p:cNvSpPr txBox="1"/>
          <p:nvPr/>
        </p:nvSpPr>
        <p:spPr>
          <a:xfrm>
            <a:off x="5451586" y="2173066"/>
            <a:ext cx="4648181" cy="333375"/>
          </a:xfrm>
          <a:prstGeom prst="rect">
            <a:avLst/>
          </a:prstGeom>
        </p:spPr>
        <p:txBody>
          <a:bodyPr lIns="0" tIns="0" rIns="0" bIns="0" rtlCol="0" anchor="t">
            <a:spAutoFit/>
          </a:bodyPr>
          <a:lstStyle/>
          <a:p>
            <a:pPr algn="r">
              <a:lnSpc>
                <a:spcPts val="2640"/>
              </a:lnSpc>
            </a:pPr>
            <a:r>
              <a:rPr lang="en-US" sz="2200" b="1">
                <a:solidFill>
                  <a:srgbClr val="0F172A"/>
                </a:solidFill>
                <a:latin typeface="Cairo Bold"/>
                <a:ea typeface="Cairo Bold"/>
                <a:cs typeface="Cairo Bold"/>
                <a:sym typeface="Cairo Bold"/>
              </a:rPr>
              <a:t> </a:t>
            </a:r>
            <a:r>
              <a:rPr lang="ar-EG" sz="2200" b="1">
                <a:solidFill>
                  <a:srgbClr val="0F172A"/>
                </a:solidFill>
                <a:latin typeface="Cairo Bold"/>
                <a:ea typeface="Cairo Bold"/>
                <a:cs typeface="Cairo Bold"/>
                <a:sym typeface="Cairo Bold"/>
                <a:rtl/>
              </a:rPr>
              <a:t>الطبقات المخفية</a:t>
            </a:r>
          </a:p>
        </p:txBody>
      </p:sp>
      <p:sp>
        <p:nvSpPr>
          <p:cNvPr id="18" name="TextBox 18"/>
          <p:cNvSpPr txBox="1"/>
          <p:nvPr/>
        </p:nvSpPr>
        <p:spPr>
          <a:xfrm>
            <a:off x="6512728" y="2539779"/>
            <a:ext cx="4648181" cy="982320"/>
          </a:xfrm>
          <a:prstGeom prst="rect">
            <a:avLst/>
          </a:prstGeom>
        </p:spPr>
        <p:txBody>
          <a:bodyPr lIns="0" tIns="0" rIns="0" bIns="0" rtlCol="0" anchor="t">
            <a:spAutoFit/>
          </a:bodyPr>
          <a:lstStyle/>
          <a:p>
            <a:pPr algn="r" rtl="1">
              <a:lnSpc>
                <a:spcPts val="2611"/>
              </a:lnSpc>
            </a:pPr>
            <a:r>
              <a:rPr lang="ar-EG" sz="1700" dirty="0">
                <a:solidFill>
                  <a:srgbClr val="475569"/>
                </a:solidFill>
                <a:latin typeface="Cairo"/>
                <a:ea typeface="Cairo"/>
                <a:cs typeface="Cairo"/>
                <a:sym typeface="Cairo"/>
                <a:rtl/>
              </a:rPr>
              <a:t>تقع في المنتصف؛ تقوم بمعالجة وتفكيك البيانات خطوة بخطوة، وتطرح أسئلة متدرجة لاستخراج الأنماط والملامح الهامة</a:t>
            </a:r>
            <a:r>
              <a:rPr lang="en-US" sz="1700" dirty="0">
                <a:solidFill>
                  <a:srgbClr val="475569"/>
                </a:solidFill>
                <a:latin typeface="Cairo"/>
                <a:ea typeface="Cairo"/>
                <a:cs typeface="Cairo"/>
                <a:sym typeface="Cairo"/>
              </a:rPr>
              <a:t>.</a:t>
            </a:r>
          </a:p>
        </p:txBody>
      </p:sp>
      <p:sp>
        <p:nvSpPr>
          <p:cNvPr id="19" name="TextBox 19"/>
          <p:cNvSpPr txBox="1"/>
          <p:nvPr/>
        </p:nvSpPr>
        <p:spPr>
          <a:xfrm>
            <a:off x="-96529" y="2159375"/>
            <a:ext cx="4648238" cy="333375"/>
          </a:xfrm>
          <a:prstGeom prst="rect">
            <a:avLst/>
          </a:prstGeom>
        </p:spPr>
        <p:txBody>
          <a:bodyPr lIns="0" tIns="0" rIns="0" bIns="0" rtlCol="0" anchor="t">
            <a:spAutoFit/>
          </a:bodyPr>
          <a:lstStyle/>
          <a:p>
            <a:pPr algn="r">
              <a:lnSpc>
                <a:spcPts val="2640"/>
              </a:lnSpc>
            </a:pPr>
            <a:r>
              <a:rPr lang="en-US" sz="2200" b="1">
                <a:solidFill>
                  <a:srgbClr val="0F172A"/>
                </a:solidFill>
                <a:latin typeface="Cairo Bold"/>
                <a:ea typeface="Cairo Bold"/>
                <a:cs typeface="Cairo Bold"/>
                <a:sym typeface="Cairo Bold"/>
              </a:rPr>
              <a:t> </a:t>
            </a:r>
            <a:r>
              <a:rPr lang="ar-EG" sz="2200" b="1">
                <a:solidFill>
                  <a:srgbClr val="0F172A"/>
                </a:solidFill>
                <a:latin typeface="Cairo Bold"/>
                <a:ea typeface="Cairo Bold"/>
                <a:cs typeface="Cairo Bold"/>
                <a:sym typeface="Cairo Bold"/>
                <a:rtl/>
              </a:rPr>
              <a:t>طبقة الإخراج</a:t>
            </a:r>
          </a:p>
        </p:txBody>
      </p:sp>
      <p:sp>
        <p:nvSpPr>
          <p:cNvPr id="20" name="TextBox 20"/>
          <p:cNvSpPr txBox="1"/>
          <p:nvPr/>
        </p:nvSpPr>
        <p:spPr>
          <a:xfrm>
            <a:off x="635765" y="2539779"/>
            <a:ext cx="4648238" cy="982320"/>
          </a:xfrm>
          <a:prstGeom prst="rect">
            <a:avLst/>
          </a:prstGeom>
        </p:spPr>
        <p:txBody>
          <a:bodyPr lIns="0" tIns="0" rIns="0" bIns="0" rtlCol="0" anchor="t">
            <a:spAutoFit/>
          </a:bodyPr>
          <a:lstStyle/>
          <a:p>
            <a:pPr algn="r" rtl="1">
              <a:lnSpc>
                <a:spcPts val="2611"/>
              </a:lnSpc>
            </a:pPr>
            <a:r>
              <a:rPr lang="ar-EG" sz="1700" dirty="0">
                <a:solidFill>
                  <a:srgbClr val="475569"/>
                </a:solidFill>
                <a:latin typeface="Cairo"/>
                <a:ea typeface="Cairo"/>
                <a:cs typeface="Cairo"/>
                <a:sym typeface="Cairo"/>
                <a:rtl/>
              </a:rPr>
              <a:t>هي المحطة الأخيرة؛ تجمع نتائج التحليل من الطبقات السابقة لتعطي القرار النهائي الواضح (مثل: "هذه صورة قطة بنسبة </a:t>
            </a:r>
            <a:r>
              <a:rPr lang="en-US" sz="1700" dirty="0">
                <a:solidFill>
                  <a:srgbClr val="475569"/>
                </a:solidFill>
                <a:latin typeface="Cairo"/>
                <a:ea typeface="Cairo"/>
                <a:cs typeface="Cairo"/>
                <a:sym typeface="Cairo"/>
              </a:rPr>
              <a:t>98</a:t>
            </a:r>
            <a:r>
              <a:rPr lang="ar-EG" sz="1700" dirty="0">
                <a:solidFill>
                  <a:srgbClr val="475569"/>
                </a:solidFill>
                <a:latin typeface="Cairo"/>
                <a:ea typeface="Cairo"/>
                <a:cs typeface="Cairo"/>
                <a:sym typeface="Cairo"/>
                <a:rtl/>
              </a:rPr>
              <a:t>%")</a:t>
            </a:r>
            <a:r>
              <a:rPr lang="en-US" sz="1700" dirty="0">
                <a:solidFill>
                  <a:srgbClr val="475569"/>
                </a:solidFill>
                <a:latin typeface="Cairo"/>
                <a:ea typeface="Cairo"/>
                <a:cs typeface="Cairo"/>
                <a:sym typeface="Cairo"/>
              </a:rPr>
              <a:t>.</a:t>
            </a:r>
          </a:p>
        </p:txBody>
      </p:sp>
      <p:sp>
        <p:nvSpPr>
          <p:cNvPr id="21" name="TextBox 21"/>
          <p:cNvSpPr txBox="1"/>
          <p:nvPr/>
        </p:nvSpPr>
        <p:spPr>
          <a:xfrm>
            <a:off x="1028700" y="9288519"/>
            <a:ext cx="12710411" cy="709498"/>
          </a:xfrm>
          <a:prstGeom prst="rect">
            <a:avLst/>
          </a:prstGeom>
        </p:spPr>
        <p:txBody>
          <a:bodyPr lIns="0" tIns="0" rIns="0" bIns="0" rtlCol="0" anchor="t">
            <a:spAutoFit/>
          </a:bodyPr>
          <a:lstStyle/>
          <a:p>
            <a:pPr algn="ctr">
              <a:lnSpc>
                <a:spcPts val="2918"/>
              </a:lnSpc>
            </a:pPr>
            <a:r>
              <a:rPr lang="en-US" sz="1900">
                <a:solidFill>
                  <a:srgbClr val="475569"/>
                </a:solidFill>
                <a:latin typeface="Cairo"/>
                <a:ea typeface="Cairo"/>
                <a:cs typeface="Cairo"/>
                <a:sym typeface="Cairo"/>
              </a:rPr>
              <a:t> </a:t>
            </a:r>
            <a:r>
              <a:rPr lang="ar-EG" sz="1900" b="1">
                <a:solidFill>
                  <a:srgbClr val="EA580C"/>
                </a:solidFill>
                <a:latin typeface="Cairo Bold"/>
                <a:ea typeface="Cairo Bold"/>
                <a:cs typeface="Cairo Bold"/>
                <a:sym typeface="Cairo Bold"/>
                <a:rtl/>
              </a:rPr>
              <a:t>لماذا سميت "مخفية"؟</a:t>
            </a:r>
            <a:r>
              <a:rPr lang="ar-EG" sz="1900">
                <a:solidFill>
                  <a:srgbClr val="475569"/>
                </a:solidFill>
                <a:latin typeface="Cairo"/>
                <a:ea typeface="Cairo"/>
                <a:cs typeface="Cairo"/>
                <a:sym typeface="Cairo"/>
                <a:rtl/>
              </a:rPr>
              <a:t> كلمة "مخفية" لا تعني أنها سرية أو غامضة، بل تعني ببساطة أننا كمستخدمين لا نرى مدخلاتها ومخرجاتها المباشرة أثناء العمل، بل نرى فقط ما ندخله في البداية وما نحصل عليه في النهاية</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SA"/>
            </a:p>
          </p:txBody>
        </p:sp>
      </p:grpSp>
      <p:sp>
        <p:nvSpPr>
          <p:cNvPr id="4" name="TextBox 4"/>
          <p:cNvSpPr txBox="1"/>
          <p:nvPr/>
        </p:nvSpPr>
        <p:spPr>
          <a:xfrm>
            <a:off x="13530262" y="1000125"/>
            <a:ext cx="3471862" cy="642938"/>
          </a:xfrm>
          <a:prstGeom prst="rect">
            <a:avLst/>
          </a:prstGeom>
        </p:spPr>
        <p:txBody>
          <a:bodyPr lIns="0" tIns="0" rIns="0" bIns="0" rtlCol="0" anchor="t">
            <a:spAutoFit/>
          </a:bodyPr>
          <a:lstStyle/>
          <a:p>
            <a:pPr algn="r">
              <a:lnSpc>
                <a:spcPts val="2879"/>
              </a:lnSpc>
            </a:pPr>
            <a:r>
              <a:rPr lang="ar-EG" sz="2400" b="1">
                <a:solidFill>
                  <a:srgbClr val="0F172A"/>
                </a:solidFill>
                <a:latin typeface="Cairo Bold"/>
                <a:ea typeface="Cairo Bold"/>
                <a:cs typeface="Cairo Bold"/>
                <a:sym typeface="Cairo Bold"/>
                <a:rtl/>
              </a:rPr>
              <a:t>رؤية الوجه طبقة بطبقة</a:t>
            </a:r>
          </a:p>
        </p:txBody>
      </p:sp>
      <p:sp>
        <p:nvSpPr>
          <p:cNvPr id="5" name="TextBox 5"/>
          <p:cNvSpPr txBox="1"/>
          <p:nvPr/>
        </p:nvSpPr>
        <p:spPr>
          <a:xfrm>
            <a:off x="1285875" y="1107281"/>
            <a:ext cx="3800475" cy="428625"/>
          </a:xfrm>
          <a:prstGeom prst="rect">
            <a:avLst/>
          </a:prstGeom>
        </p:spPr>
        <p:txBody>
          <a:bodyPr lIns="0" tIns="0" rIns="0" bIns="0" rtlCol="0" anchor="t">
            <a:spAutoFit/>
          </a:bodyPr>
          <a:lstStyle/>
          <a:p>
            <a:pPr algn="r">
              <a:lnSpc>
                <a:spcPts val="1920"/>
              </a:lnSpc>
            </a:pPr>
            <a:r>
              <a:rPr lang="ar-EG" sz="1600" b="1">
                <a:solidFill>
                  <a:srgbClr val="EA580C"/>
                </a:solidFill>
                <a:latin typeface="Cairo Bold"/>
                <a:ea typeface="Cairo Bold"/>
                <a:cs typeface="Cairo Bold"/>
                <a:sym typeface="Cairo Bold"/>
                <a:rtl/>
              </a:rPr>
              <a:t>القسم الثالث: تشبيه الطبقات المخفية</a:t>
            </a:r>
          </a:p>
        </p:txBody>
      </p:sp>
      <p:sp>
        <p:nvSpPr>
          <p:cNvPr id="6" name="TextBox 6"/>
          <p:cNvSpPr txBox="1"/>
          <p:nvPr/>
        </p:nvSpPr>
        <p:spPr>
          <a:xfrm>
            <a:off x="1285875" y="2414588"/>
            <a:ext cx="15716250" cy="750094"/>
          </a:xfrm>
          <a:prstGeom prst="rect">
            <a:avLst/>
          </a:prstGeom>
        </p:spPr>
        <p:txBody>
          <a:bodyPr lIns="0" tIns="0" rIns="0" bIns="0" rtlCol="0" anchor="t">
            <a:spAutoFit/>
          </a:bodyPr>
          <a:lstStyle/>
          <a:p>
            <a:pPr algn="r">
              <a:lnSpc>
                <a:spcPts val="3359"/>
              </a:lnSpc>
            </a:pPr>
            <a:r>
              <a:rPr lang="ar-EG" sz="2799" b="1" dirty="0">
                <a:solidFill>
                  <a:srgbClr val="0F172A"/>
                </a:solidFill>
                <a:latin typeface="Cairo Bold"/>
                <a:ea typeface="Cairo Bold"/>
                <a:cs typeface="Cairo Bold"/>
                <a:sym typeface="Cairo Bold"/>
                <a:rtl/>
              </a:rPr>
              <a:t>كيف يرى الحاسوب وجهك؟ خطوة بخطوة عبر الطبقات</a:t>
            </a:r>
          </a:p>
        </p:txBody>
      </p:sp>
      <p:grpSp>
        <p:nvGrpSpPr>
          <p:cNvPr id="7" name="Group 7"/>
          <p:cNvGrpSpPr/>
          <p:nvPr/>
        </p:nvGrpSpPr>
        <p:grpSpPr>
          <a:xfrm>
            <a:off x="16402050" y="4029075"/>
            <a:ext cx="600075" cy="685800"/>
            <a:chOff x="0" y="0"/>
            <a:chExt cx="800100" cy="914400"/>
          </a:xfrm>
        </p:grpSpPr>
        <p:sp>
          <p:nvSpPr>
            <p:cNvPr id="8" name="Freeform 8" descr="preencoded.png"/>
            <p:cNvSpPr/>
            <p:nvPr/>
          </p:nvSpPr>
          <p:spPr>
            <a:xfrm>
              <a:off x="0" y="0"/>
              <a:ext cx="800100" cy="914400"/>
            </a:xfrm>
            <a:custGeom>
              <a:avLst/>
              <a:gdLst/>
              <a:ahLst/>
              <a:cxnLst/>
              <a:rect l="l" t="t" r="r" b="b"/>
              <a:pathLst>
                <a:path w="800100" h="914400">
                  <a:moveTo>
                    <a:pt x="0" y="0"/>
                  </a:moveTo>
                  <a:lnTo>
                    <a:pt x="800100" y="0"/>
                  </a:lnTo>
                  <a:lnTo>
                    <a:pt x="800100" y="914400"/>
                  </a:lnTo>
                  <a:lnTo>
                    <a:pt x="0" y="914400"/>
                  </a:lnTo>
                  <a:lnTo>
                    <a:pt x="0" y="0"/>
                  </a:lnTo>
                  <a:close/>
                </a:path>
              </a:pathLst>
            </a:custGeom>
            <a:blipFill>
              <a:blip r:embed="rId4"/>
              <a:stretch>
                <a:fillRect/>
              </a:stretch>
            </a:blipFill>
          </p:spPr>
          <p:txBody>
            <a:bodyPr/>
            <a:lstStyle/>
            <a:p>
              <a:endParaRPr lang="en-SA"/>
            </a:p>
          </p:txBody>
        </p:sp>
      </p:grpSp>
      <p:sp>
        <p:nvSpPr>
          <p:cNvPr id="9" name="TextBox 9"/>
          <p:cNvSpPr txBox="1"/>
          <p:nvPr/>
        </p:nvSpPr>
        <p:spPr>
          <a:xfrm>
            <a:off x="13737431" y="5364956"/>
            <a:ext cx="3264694" cy="334707"/>
          </a:xfrm>
          <a:prstGeom prst="rect">
            <a:avLst/>
          </a:prstGeom>
        </p:spPr>
        <p:txBody>
          <a:bodyPr lIns="0" tIns="0" rIns="0" bIns="0" rtlCol="0" anchor="t">
            <a:spAutoFit/>
          </a:bodyPr>
          <a:lstStyle/>
          <a:p>
            <a:pPr algn="r" rtl="1">
              <a:lnSpc>
                <a:spcPts val="2640"/>
              </a:lnSpc>
            </a:pPr>
            <a:r>
              <a:rPr lang="en-US" sz="2200" b="1" dirty="0">
                <a:solidFill>
                  <a:srgbClr val="0F172A"/>
                </a:solidFill>
                <a:latin typeface="Cairo Bold"/>
                <a:ea typeface="Cairo Bold"/>
                <a:cs typeface="Cairo Bold"/>
                <a:sym typeface="Cairo Bold"/>
              </a:rPr>
              <a:t>1. </a:t>
            </a:r>
            <a:r>
              <a:rPr lang="ar-EG" sz="2200" b="1" dirty="0">
                <a:solidFill>
                  <a:srgbClr val="0F172A"/>
                </a:solidFill>
                <a:latin typeface="Cairo Bold"/>
                <a:ea typeface="Cairo Bold"/>
                <a:cs typeface="Cairo Bold"/>
                <a:sym typeface="Cairo Bold"/>
                <a:rtl/>
              </a:rPr>
              <a:t>النقاط</a:t>
            </a:r>
            <a:r>
              <a:rPr lang="en-US" sz="2200" b="1" dirty="0">
                <a:solidFill>
                  <a:srgbClr val="0F172A"/>
                </a:solidFill>
                <a:latin typeface="Cairo Bold"/>
                <a:ea typeface="Cairo Bold"/>
                <a:cs typeface="Cairo Bold"/>
                <a:sym typeface="Cairo Bold"/>
              </a:rPr>
              <a:t> (Pixels)</a:t>
            </a:r>
          </a:p>
        </p:txBody>
      </p:sp>
      <p:sp>
        <p:nvSpPr>
          <p:cNvPr id="10" name="TextBox 10"/>
          <p:cNvSpPr txBox="1"/>
          <p:nvPr/>
        </p:nvSpPr>
        <p:spPr>
          <a:xfrm>
            <a:off x="13737431" y="6125766"/>
            <a:ext cx="3264694" cy="982320"/>
          </a:xfrm>
          <a:prstGeom prst="rect">
            <a:avLst/>
          </a:prstGeom>
        </p:spPr>
        <p:txBody>
          <a:bodyPr lIns="0" tIns="0" rIns="0" bIns="0" rtlCol="0" anchor="t">
            <a:spAutoFit/>
          </a:bodyPr>
          <a:lstStyle/>
          <a:p>
            <a:pPr algn="r" rtl="1">
              <a:lnSpc>
                <a:spcPts val="2611"/>
              </a:lnSpc>
            </a:pPr>
            <a:r>
              <a:rPr lang="ar-EG" sz="1700" dirty="0">
                <a:solidFill>
                  <a:srgbClr val="475569"/>
                </a:solidFill>
                <a:latin typeface="Cairo"/>
                <a:ea typeface="Cairo"/>
                <a:cs typeface="Cairo"/>
                <a:sym typeface="Cairo"/>
                <a:rtl/>
              </a:rPr>
              <a:t>تستقبل الطبقة الأولى الصورة كأرقام تمثل ملايين النقاط الملونة الخام دون أي معنى</a:t>
            </a:r>
            <a:r>
              <a:rPr lang="en-US" sz="1700" dirty="0">
                <a:solidFill>
                  <a:srgbClr val="475569"/>
                </a:solidFill>
                <a:latin typeface="Cairo"/>
                <a:ea typeface="Cairo"/>
                <a:cs typeface="Cairo"/>
                <a:sym typeface="Cairo"/>
              </a:rPr>
              <a:t>.</a:t>
            </a:r>
          </a:p>
        </p:txBody>
      </p:sp>
      <p:grpSp>
        <p:nvGrpSpPr>
          <p:cNvPr id="11" name="Group 11"/>
          <p:cNvGrpSpPr/>
          <p:nvPr/>
        </p:nvGrpSpPr>
        <p:grpSpPr>
          <a:xfrm>
            <a:off x="13423106" y="4079081"/>
            <a:ext cx="160734" cy="257175"/>
            <a:chOff x="0" y="0"/>
            <a:chExt cx="214312" cy="342900"/>
          </a:xfrm>
        </p:grpSpPr>
        <p:sp>
          <p:nvSpPr>
            <p:cNvPr id="12" name="Freeform 12" descr="preencoded.png"/>
            <p:cNvSpPr/>
            <p:nvPr/>
          </p:nvSpPr>
          <p:spPr>
            <a:xfrm>
              <a:off x="0" y="0"/>
              <a:ext cx="214249" cy="342900"/>
            </a:xfrm>
            <a:custGeom>
              <a:avLst/>
              <a:gdLst/>
              <a:ahLst/>
              <a:cxnLst/>
              <a:rect l="l" t="t" r="r" b="b"/>
              <a:pathLst>
                <a:path w="214249" h="342900">
                  <a:moveTo>
                    <a:pt x="0" y="0"/>
                  </a:moveTo>
                  <a:lnTo>
                    <a:pt x="214249" y="0"/>
                  </a:lnTo>
                  <a:lnTo>
                    <a:pt x="214249" y="342900"/>
                  </a:lnTo>
                  <a:lnTo>
                    <a:pt x="0" y="342900"/>
                  </a:lnTo>
                  <a:lnTo>
                    <a:pt x="0" y="0"/>
                  </a:lnTo>
                  <a:close/>
                </a:path>
              </a:pathLst>
            </a:custGeom>
            <a:blipFill>
              <a:blip r:embed="rId5"/>
              <a:stretch>
                <a:fillRect l="-1114" r="-1138"/>
              </a:stretch>
            </a:blipFill>
          </p:spPr>
          <p:txBody>
            <a:bodyPr/>
            <a:lstStyle/>
            <a:p>
              <a:endParaRPr lang="en-SA"/>
            </a:p>
          </p:txBody>
        </p:sp>
      </p:grpSp>
      <p:grpSp>
        <p:nvGrpSpPr>
          <p:cNvPr id="13" name="Group 13"/>
          <p:cNvGrpSpPr/>
          <p:nvPr/>
        </p:nvGrpSpPr>
        <p:grpSpPr>
          <a:xfrm>
            <a:off x="12251531" y="4029075"/>
            <a:ext cx="600075" cy="685800"/>
            <a:chOff x="0" y="0"/>
            <a:chExt cx="800100" cy="914400"/>
          </a:xfrm>
        </p:grpSpPr>
        <p:sp>
          <p:nvSpPr>
            <p:cNvPr id="14" name="Freeform 14" descr="preencoded.png"/>
            <p:cNvSpPr/>
            <p:nvPr/>
          </p:nvSpPr>
          <p:spPr>
            <a:xfrm>
              <a:off x="0" y="0"/>
              <a:ext cx="800100" cy="914400"/>
            </a:xfrm>
            <a:custGeom>
              <a:avLst/>
              <a:gdLst/>
              <a:ahLst/>
              <a:cxnLst/>
              <a:rect l="l" t="t" r="r" b="b"/>
              <a:pathLst>
                <a:path w="800100" h="914400">
                  <a:moveTo>
                    <a:pt x="0" y="0"/>
                  </a:moveTo>
                  <a:lnTo>
                    <a:pt x="800100" y="0"/>
                  </a:lnTo>
                  <a:lnTo>
                    <a:pt x="800100" y="914400"/>
                  </a:lnTo>
                  <a:lnTo>
                    <a:pt x="0" y="914400"/>
                  </a:lnTo>
                  <a:lnTo>
                    <a:pt x="0" y="0"/>
                  </a:lnTo>
                  <a:close/>
                </a:path>
              </a:pathLst>
            </a:custGeom>
            <a:blipFill>
              <a:blip r:embed="rId6"/>
              <a:stretch>
                <a:fillRect l="-1063" r="-1063"/>
              </a:stretch>
            </a:blipFill>
          </p:spPr>
          <p:txBody>
            <a:bodyPr/>
            <a:lstStyle/>
            <a:p>
              <a:endParaRPr lang="en-SA"/>
            </a:p>
          </p:txBody>
        </p:sp>
      </p:grpSp>
      <p:sp>
        <p:nvSpPr>
          <p:cNvPr id="15" name="TextBox 15"/>
          <p:cNvSpPr txBox="1"/>
          <p:nvPr/>
        </p:nvSpPr>
        <p:spPr>
          <a:xfrm>
            <a:off x="9586912" y="5364956"/>
            <a:ext cx="3264694" cy="334707"/>
          </a:xfrm>
          <a:prstGeom prst="rect">
            <a:avLst/>
          </a:prstGeom>
        </p:spPr>
        <p:txBody>
          <a:bodyPr lIns="0" tIns="0" rIns="0" bIns="0" rtlCol="0" anchor="t">
            <a:spAutoFit/>
          </a:bodyPr>
          <a:lstStyle/>
          <a:p>
            <a:pPr algn="r" rtl="1">
              <a:lnSpc>
                <a:spcPts val="2640"/>
              </a:lnSpc>
            </a:pPr>
            <a:r>
              <a:rPr lang="en-US" sz="2200" b="1" dirty="0">
                <a:solidFill>
                  <a:srgbClr val="0F172A"/>
                </a:solidFill>
                <a:latin typeface="Cairo Bold"/>
                <a:ea typeface="Cairo Bold"/>
                <a:cs typeface="Cairo Bold"/>
                <a:sym typeface="Cairo Bold"/>
              </a:rPr>
              <a:t>2. </a:t>
            </a:r>
            <a:r>
              <a:rPr lang="ar-EG" sz="2200" b="1" dirty="0">
                <a:solidFill>
                  <a:srgbClr val="0F172A"/>
                </a:solidFill>
                <a:latin typeface="Cairo Bold"/>
                <a:ea typeface="Cairo Bold"/>
                <a:cs typeface="Cairo Bold"/>
                <a:sym typeface="Cairo Bold"/>
                <a:rtl/>
              </a:rPr>
              <a:t>الخطوط</a:t>
            </a:r>
            <a:r>
              <a:rPr lang="en-US" sz="2200" b="1" dirty="0">
                <a:solidFill>
                  <a:srgbClr val="0F172A"/>
                </a:solidFill>
                <a:latin typeface="Cairo Bold"/>
                <a:ea typeface="Cairo Bold"/>
                <a:cs typeface="Cairo Bold"/>
                <a:sym typeface="Cairo Bold"/>
              </a:rPr>
              <a:t> (Edges)</a:t>
            </a:r>
          </a:p>
        </p:txBody>
      </p:sp>
      <p:sp>
        <p:nvSpPr>
          <p:cNvPr id="16" name="TextBox 16"/>
          <p:cNvSpPr txBox="1"/>
          <p:nvPr/>
        </p:nvSpPr>
        <p:spPr>
          <a:xfrm>
            <a:off x="9586912" y="6125766"/>
            <a:ext cx="3264694" cy="982320"/>
          </a:xfrm>
          <a:prstGeom prst="rect">
            <a:avLst/>
          </a:prstGeom>
        </p:spPr>
        <p:txBody>
          <a:bodyPr lIns="0" tIns="0" rIns="0" bIns="0" rtlCol="0" anchor="t">
            <a:spAutoFit/>
          </a:bodyPr>
          <a:lstStyle/>
          <a:p>
            <a:pPr algn="r" rtl="1">
              <a:lnSpc>
                <a:spcPts val="2611"/>
              </a:lnSpc>
            </a:pPr>
            <a:r>
              <a:rPr lang="ar-EG" sz="1700" dirty="0">
                <a:solidFill>
                  <a:srgbClr val="475569"/>
                </a:solidFill>
                <a:latin typeface="Cairo"/>
                <a:ea typeface="Cairo"/>
                <a:cs typeface="Cairo"/>
                <a:sym typeface="Cairo"/>
                <a:rtl/>
              </a:rPr>
              <a:t>تقوم الطبقة التالية بتجميع النقاط المتجاورة لتكتشف الحواف والخطوط الطولية والعرضية</a:t>
            </a:r>
            <a:r>
              <a:rPr lang="en-US" sz="1700" dirty="0">
                <a:solidFill>
                  <a:srgbClr val="475569"/>
                </a:solidFill>
                <a:latin typeface="Cairo"/>
                <a:ea typeface="Cairo"/>
                <a:cs typeface="Cairo"/>
                <a:sym typeface="Cairo"/>
              </a:rPr>
              <a:t>.</a:t>
            </a:r>
          </a:p>
        </p:txBody>
      </p:sp>
      <p:grpSp>
        <p:nvGrpSpPr>
          <p:cNvPr id="17" name="Group 17"/>
          <p:cNvGrpSpPr/>
          <p:nvPr/>
        </p:nvGrpSpPr>
        <p:grpSpPr>
          <a:xfrm>
            <a:off x="9272588" y="4079081"/>
            <a:ext cx="160734" cy="257175"/>
            <a:chOff x="0" y="0"/>
            <a:chExt cx="214312" cy="342900"/>
          </a:xfrm>
        </p:grpSpPr>
        <p:sp>
          <p:nvSpPr>
            <p:cNvPr id="18" name="Freeform 18" descr="preencoded.png"/>
            <p:cNvSpPr/>
            <p:nvPr/>
          </p:nvSpPr>
          <p:spPr>
            <a:xfrm>
              <a:off x="0" y="0"/>
              <a:ext cx="214249" cy="342900"/>
            </a:xfrm>
            <a:custGeom>
              <a:avLst/>
              <a:gdLst/>
              <a:ahLst/>
              <a:cxnLst/>
              <a:rect l="l" t="t" r="r" b="b"/>
              <a:pathLst>
                <a:path w="214249" h="342900">
                  <a:moveTo>
                    <a:pt x="0" y="0"/>
                  </a:moveTo>
                  <a:lnTo>
                    <a:pt x="214249" y="0"/>
                  </a:lnTo>
                  <a:lnTo>
                    <a:pt x="214249" y="342900"/>
                  </a:lnTo>
                  <a:lnTo>
                    <a:pt x="0" y="342900"/>
                  </a:lnTo>
                  <a:lnTo>
                    <a:pt x="0" y="0"/>
                  </a:lnTo>
                  <a:close/>
                </a:path>
              </a:pathLst>
            </a:custGeom>
            <a:blipFill>
              <a:blip r:embed="rId7"/>
              <a:stretch>
                <a:fillRect l="-1114" r="-1138"/>
              </a:stretch>
            </a:blipFill>
          </p:spPr>
          <p:txBody>
            <a:bodyPr/>
            <a:lstStyle/>
            <a:p>
              <a:endParaRPr lang="en-SA"/>
            </a:p>
          </p:txBody>
        </p:sp>
      </p:grpSp>
      <p:grpSp>
        <p:nvGrpSpPr>
          <p:cNvPr id="19" name="Group 19"/>
          <p:cNvGrpSpPr/>
          <p:nvPr/>
        </p:nvGrpSpPr>
        <p:grpSpPr>
          <a:xfrm>
            <a:off x="8015288" y="4029075"/>
            <a:ext cx="685800" cy="685800"/>
            <a:chOff x="0" y="0"/>
            <a:chExt cx="914400" cy="914400"/>
          </a:xfrm>
        </p:grpSpPr>
        <p:sp>
          <p:nvSpPr>
            <p:cNvPr id="20" name="Freeform 20" descr="preencoded.png"/>
            <p:cNvSpPr/>
            <p:nvPr/>
          </p:nvSpPr>
          <p:spPr>
            <a:xfrm>
              <a:off x="0" y="0"/>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blipFill>
              <a:blip r:embed="rId8"/>
              <a:stretch>
                <a:fillRect/>
              </a:stretch>
            </a:blipFill>
          </p:spPr>
          <p:txBody>
            <a:bodyPr/>
            <a:lstStyle/>
            <a:p>
              <a:endParaRPr lang="en-SA"/>
            </a:p>
          </p:txBody>
        </p:sp>
      </p:grpSp>
      <p:sp>
        <p:nvSpPr>
          <p:cNvPr id="21" name="TextBox 21"/>
          <p:cNvSpPr txBox="1"/>
          <p:nvPr/>
        </p:nvSpPr>
        <p:spPr>
          <a:xfrm>
            <a:off x="5436394" y="5364956"/>
            <a:ext cx="3264694" cy="334707"/>
          </a:xfrm>
          <a:prstGeom prst="rect">
            <a:avLst/>
          </a:prstGeom>
        </p:spPr>
        <p:txBody>
          <a:bodyPr lIns="0" tIns="0" rIns="0" bIns="0" rtlCol="0" anchor="t">
            <a:spAutoFit/>
          </a:bodyPr>
          <a:lstStyle/>
          <a:p>
            <a:pPr algn="r" rtl="1">
              <a:lnSpc>
                <a:spcPts val="2640"/>
              </a:lnSpc>
            </a:pPr>
            <a:r>
              <a:rPr lang="en-US" sz="2200" b="1" dirty="0">
                <a:solidFill>
                  <a:srgbClr val="0F172A"/>
                </a:solidFill>
                <a:latin typeface="Cairo Bold"/>
                <a:ea typeface="Cairo Bold"/>
                <a:cs typeface="Cairo Bold"/>
                <a:sym typeface="Cairo Bold"/>
              </a:rPr>
              <a:t>3. </a:t>
            </a:r>
            <a:r>
              <a:rPr lang="ar-EG" sz="2200" b="1" dirty="0">
                <a:solidFill>
                  <a:srgbClr val="0F172A"/>
                </a:solidFill>
                <a:latin typeface="Cairo Bold"/>
                <a:ea typeface="Cairo Bold"/>
                <a:cs typeface="Cairo Bold"/>
                <a:sym typeface="Cairo Bold"/>
                <a:rtl/>
              </a:rPr>
              <a:t>الملامح</a:t>
            </a:r>
            <a:r>
              <a:rPr lang="en-US" sz="2200" b="1" dirty="0">
                <a:solidFill>
                  <a:srgbClr val="0F172A"/>
                </a:solidFill>
                <a:latin typeface="Cairo Bold"/>
                <a:ea typeface="Cairo Bold"/>
                <a:cs typeface="Cairo Bold"/>
                <a:sym typeface="Cairo Bold"/>
              </a:rPr>
              <a:t> (Features)</a:t>
            </a:r>
          </a:p>
        </p:txBody>
      </p:sp>
      <p:sp>
        <p:nvSpPr>
          <p:cNvPr id="22" name="TextBox 22"/>
          <p:cNvSpPr txBox="1"/>
          <p:nvPr/>
        </p:nvSpPr>
        <p:spPr>
          <a:xfrm>
            <a:off x="5436394" y="6125766"/>
            <a:ext cx="3264694" cy="982320"/>
          </a:xfrm>
          <a:prstGeom prst="rect">
            <a:avLst/>
          </a:prstGeom>
        </p:spPr>
        <p:txBody>
          <a:bodyPr lIns="0" tIns="0" rIns="0" bIns="0" rtlCol="0" anchor="t">
            <a:spAutoFit/>
          </a:bodyPr>
          <a:lstStyle/>
          <a:p>
            <a:pPr algn="r" rtl="1">
              <a:lnSpc>
                <a:spcPts val="2611"/>
              </a:lnSpc>
            </a:pPr>
            <a:r>
              <a:rPr lang="ar-EG" sz="1700" dirty="0">
                <a:solidFill>
                  <a:srgbClr val="475569"/>
                </a:solidFill>
                <a:latin typeface="Cairo"/>
                <a:ea typeface="Cairo"/>
                <a:cs typeface="Cairo"/>
                <a:sym typeface="Cairo"/>
                <a:rtl/>
              </a:rPr>
              <a:t>تدمج الطبقات الأعمق الخطوط لتشكل ملامح الوجه الأساسية مثل العينين والأنف والفم</a:t>
            </a:r>
            <a:r>
              <a:rPr lang="en-US" sz="1700" dirty="0">
                <a:solidFill>
                  <a:srgbClr val="475569"/>
                </a:solidFill>
                <a:latin typeface="Cairo"/>
                <a:ea typeface="Cairo"/>
                <a:cs typeface="Cairo"/>
                <a:sym typeface="Cairo"/>
              </a:rPr>
              <a:t>.</a:t>
            </a:r>
          </a:p>
        </p:txBody>
      </p:sp>
      <p:grpSp>
        <p:nvGrpSpPr>
          <p:cNvPr id="23" name="Group 23"/>
          <p:cNvGrpSpPr/>
          <p:nvPr/>
        </p:nvGrpSpPr>
        <p:grpSpPr>
          <a:xfrm>
            <a:off x="5122069" y="4079081"/>
            <a:ext cx="160734" cy="257175"/>
            <a:chOff x="0" y="0"/>
            <a:chExt cx="214312" cy="342900"/>
          </a:xfrm>
        </p:grpSpPr>
        <p:sp>
          <p:nvSpPr>
            <p:cNvPr id="24" name="Freeform 24" descr="preencoded.png"/>
            <p:cNvSpPr/>
            <p:nvPr/>
          </p:nvSpPr>
          <p:spPr>
            <a:xfrm>
              <a:off x="0" y="0"/>
              <a:ext cx="214249" cy="342900"/>
            </a:xfrm>
            <a:custGeom>
              <a:avLst/>
              <a:gdLst/>
              <a:ahLst/>
              <a:cxnLst/>
              <a:rect l="l" t="t" r="r" b="b"/>
              <a:pathLst>
                <a:path w="214249" h="342900">
                  <a:moveTo>
                    <a:pt x="0" y="0"/>
                  </a:moveTo>
                  <a:lnTo>
                    <a:pt x="214249" y="0"/>
                  </a:lnTo>
                  <a:lnTo>
                    <a:pt x="214249" y="342900"/>
                  </a:lnTo>
                  <a:lnTo>
                    <a:pt x="0" y="342900"/>
                  </a:lnTo>
                  <a:lnTo>
                    <a:pt x="0" y="0"/>
                  </a:lnTo>
                  <a:close/>
                </a:path>
              </a:pathLst>
            </a:custGeom>
            <a:blipFill>
              <a:blip r:embed="rId5"/>
              <a:stretch>
                <a:fillRect l="-1114" r="-1138"/>
              </a:stretch>
            </a:blipFill>
          </p:spPr>
          <p:txBody>
            <a:bodyPr/>
            <a:lstStyle/>
            <a:p>
              <a:endParaRPr lang="en-SA"/>
            </a:p>
          </p:txBody>
        </p:sp>
      </p:grpSp>
      <p:grpSp>
        <p:nvGrpSpPr>
          <p:cNvPr id="25" name="Group 25"/>
          <p:cNvGrpSpPr/>
          <p:nvPr/>
        </p:nvGrpSpPr>
        <p:grpSpPr>
          <a:xfrm>
            <a:off x="3779044" y="4029075"/>
            <a:ext cx="771525" cy="685800"/>
            <a:chOff x="0" y="0"/>
            <a:chExt cx="1028700" cy="914400"/>
          </a:xfrm>
        </p:grpSpPr>
        <p:sp>
          <p:nvSpPr>
            <p:cNvPr id="26" name="Freeform 26" descr="preencoded.png"/>
            <p:cNvSpPr/>
            <p:nvPr/>
          </p:nvSpPr>
          <p:spPr>
            <a:xfrm>
              <a:off x="0" y="0"/>
              <a:ext cx="1028700" cy="914400"/>
            </a:xfrm>
            <a:custGeom>
              <a:avLst/>
              <a:gdLst/>
              <a:ahLst/>
              <a:cxnLst/>
              <a:rect l="l" t="t" r="r" b="b"/>
              <a:pathLst>
                <a:path w="1028700" h="914400">
                  <a:moveTo>
                    <a:pt x="0" y="0"/>
                  </a:moveTo>
                  <a:lnTo>
                    <a:pt x="1028700" y="0"/>
                  </a:lnTo>
                  <a:lnTo>
                    <a:pt x="1028700" y="914400"/>
                  </a:lnTo>
                  <a:lnTo>
                    <a:pt x="0" y="914400"/>
                  </a:lnTo>
                  <a:lnTo>
                    <a:pt x="0" y="0"/>
                  </a:lnTo>
                  <a:close/>
                </a:path>
              </a:pathLst>
            </a:custGeom>
            <a:blipFill>
              <a:blip r:embed="rId9"/>
              <a:stretch>
                <a:fillRect l="-1064" r="-1062"/>
              </a:stretch>
            </a:blipFill>
          </p:spPr>
          <p:txBody>
            <a:bodyPr/>
            <a:lstStyle/>
            <a:p>
              <a:endParaRPr lang="en-SA"/>
            </a:p>
          </p:txBody>
        </p:sp>
      </p:grpSp>
      <p:sp>
        <p:nvSpPr>
          <p:cNvPr id="27" name="TextBox 27"/>
          <p:cNvSpPr txBox="1"/>
          <p:nvPr/>
        </p:nvSpPr>
        <p:spPr>
          <a:xfrm>
            <a:off x="1285875" y="5364956"/>
            <a:ext cx="3264694" cy="334707"/>
          </a:xfrm>
          <a:prstGeom prst="rect">
            <a:avLst/>
          </a:prstGeom>
        </p:spPr>
        <p:txBody>
          <a:bodyPr lIns="0" tIns="0" rIns="0" bIns="0" rtlCol="0" anchor="t">
            <a:spAutoFit/>
          </a:bodyPr>
          <a:lstStyle/>
          <a:p>
            <a:pPr algn="r" rtl="1">
              <a:lnSpc>
                <a:spcPts val="2640"/>
              </a:lnSpc>
            </a:pPr>
            <a:r>
              <a:rPr lang="en-US" sz="2200" b="1" dirty="0">
                <a:solidFill>
                  <a:srgbClr val="0F172A"/>
                </a:solidFill>
                <a:latin typeface="Cairo Bold"/>
                <a:ea typeface="Cairo Bold"/>
                <a:cs typeface="Cairo Bold"/>
                <a:sym typeface="Cairo Bold"/>
              </a:rPr>
              <a:t>4. </a:t>
            </a:r>
            <a:r>
              <a:rPr lang="ar-EG" sz="2200" b="1" dirty="0">
                <a:solidFill>
                  <a:srgbClr val="0F172A"/>
                </a:solidFill>
                <a:latin typeface="Cairo Bold"/>
                <a:ea typeface="Cairo Bold"/>
                <a:cs typeface="Cairo Bold"/>
                <a:sym typeface="Cairo Bold"/>
                <a:rtl/>
              </a:rPr>
              <a:t>الهوية</a:t>
            </a:r>
            <a:r>
              <a:rPr lang="en-US" sz="2200" b="1" dirty="0">
                <a:solidFill>
                  <a:srgbClr val="0F172A"/>
                </a:solidFill>
                <a:latin typeface="Cairo Bold"/>
                <a:ea typeface="Cairo Bold"/>
                <a:cs typeface="Cairo Bold"/>
                <a:sym typeface="Cairo Bold"/>
              </a:rPr>
              <a:t> (Identity)</a:t>
            </a:r>
          </a:p>
        </p:txBody>
      </p:sp>
      <p:sp>
        <p:nvSpPr>
          <p:cNvPr id="28" name="TextBox 28"/>
          <p:cNvSpPr txBox="1"/>
          <p:nvPr/>
        </p:nvSpPr>
        <p:spPr>
          <a:xfrm>
            <a:off x="1285875" y="6125766"/>
            <a:ext cx="3264694" cy="982320"/>
          </a:xfrm>
          <a:prstGeom prst="rect">
            <a:avLst/>
          </a:prstGeom>
        </p:spPr>
        <p:txBody>
          <a:bodyPr lIns="0" tIns="0" rIns="0" bIns="0" rtlCol="0" anchor="t">
            <a:spAutoFit/>
          </a:bodyPr>
          <a:lstStyle/>
          <a:p>
            <a:pPr algn="r" rtl="1">
              <a:lnSpc>
                <a:spcPts val="2611"/>
              </a:lnSpc>
            </a:pPr>
            <a:r>
              <a:rPr lang="ar-EG" sz="1700" dirty="0">
                <a:solidFill>
                  <a:srgbClr val="475569"/>
                </a:solidFill>
                <a:latin typeface="Cairo"/>
                <a:ea typeface="Cairo"/>
                <a:cs typeface="Cairo"/>
                <a:sym typeface="Cairo"/>
                <a:rtl/>
              </a:rPr>
              <a:t>تجمع طبقة الإخراج كل الملامح لتقارنها بالبيانات وتتعرف على صاحب الوجه بدقة</a:t>
            </a:r>
            <a:r>
              <a:rPr lang="en-US" sz="1700" dirty="0">
                <a:solidFill>
                  <a:srgbClr val="475569"/>
                </a:solidFill>
                <a:latin typeface="Cairo"/>
                <a:ea typeface="Cairo"/>
                <a:cs typeface="Cairo"/>
                <a:sym typeface="Cairo"/>
              </a:rPr>
              <a:t>.</a:t>
            </a:r>
          </a:p>
        </p:txBody>
      </p:sp>
      <p:sp>
        <p:nvSpPr>
          <p:cNvPr id="29" name="TextBox 29"/>
          <p:cNvSpPr txBox="1"/>
          <p:nvPr/>
        </p:nvSpPr>
        <p:spPr>
          <a:xfrm>
            <a:off x="13583793" y="9601200"/>
            <a:ext cx="3522495" cy="333425"/>
          </a:xfrm>
          <a:prstGeom prst="rect">
            <a:avLst/>
          </a:prstGeom>
        </p:spPr>
        <p:txBody>
          <a:bodyPr wrap="square" lIns="0" tIns="0" rIns="0" bIns="0" rtlCol="0" anchor="t">
            <a:spAutoFit/>
          </a:bodyPr>
          <a:lstStyle/>
          <a:p>
            <a:pPr algn="r">
              <a:lnSpc>
                <a:spcPts val="2595"/>
              </a:lnSpc>
            </a:pPr>
            <a:r>
              <a:rPr lang="ar-EG" sz="1800" dirty="0">
                <a:solidFill>
                  <a:srgbClr val="64748B"/>
                </a:solidFill>
                <a:latin typeface="Cairo Light"/>
                <a:ea typeface="Cairo Light"/>
                <a:cs typeface="Cairo Light"/>
                <a:sym typeface="Cairo Light"/>
                <a:rtl/>
              </a:rPr>
              <a:t>اليوم الثالث · مبني على صورتنا</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SA"/>
            </a:p>
          </p:txBody>
        </p:sp>
      </p:grpSp>
      <p:grpSp>
        <p:nvGrpSpPr>
          <p:cNvPr id="4" name="Group 4"/>
          <p:cNvGrpSpPr/>
          <p:nvPr/>
        </p:nvGrpSpPr>
        <p:grpSpPr>
          <a:xfrm>
            <a:off x="16487775" y="1992688"/>
            <a:ext cx="514350" cy="514350"/>
            <a:chOff x="0" y="0"/>
            <a:chExt cx="685800" cy="685800"/>
          </a:xfrm>
        </p:grpSpPr>
        <p:sp>
          <p:nvSpPr>
            <p:cNvPr id="5" name="Freeform 5" descr="preencoded.png"/>
            <p:cNvSpPr/>
            <p:nvPr/>
          </p:nvSpPr>
          <p:spPr>
            <a:xfrm>
              <a:off x="0" y="0"/>
              <a:ext cx="685800" cy="685800"/>
            </a:xfrm>
            <a:custGeom>
              <a:avLst/>
              <a:gdLst/>
              <a:ahLst/>
              <a:cxnLst/>
              <a:rect l="l" t="t" r="r" b="b"/>
              <a:pathLst>
                <a:path w="685800" h="685800">
                  <a:moveTo>
                    <a:pt x="0" y="0"/>
                  </a:moveTo>
                  <a:lnTo>
                    <a:pt x="685800" y="0"/>
                  </a:lnTo>
                  <a:lnTo>
                    <a:pt x="685800" y="685800"/>
                  </a:lnTo>
                  <a:lnTo>
                    <a:pt x="0" y="685800"/>
                  </a:lnTo>
                  <a:lnTo>
                    <a:pt x="0" y="0"/>
                  </a:lnTo>
                  <a:close/>
                </a:path>
              </a:pathLst>
            </a:custGeom>
            <a:blipFill>
              <a:blip r:embed="rId4"/>
              <a:stretch>
                <a:fillRect/>
              </a:stretch>
            </a:blipFill>
          </p:spPr>
          <p:txBody>
            <a:bodyPr/>
            <a:lstStyle/>
            <a:p>
              <a:endParaRPr lang="en-SA"/>
            </a:p>
          </p:txBody>
        </p:sp>
      </p:grpSp>
      <p:grpSp>
        <p:nvGrpSpPr>
          <p:cNvPr id="6" name="Group 6"/>
          <p:cNvGrpSpPr/>
          <p:nvPr/>
        </p:nvGrpSpPr>
        <p:grpSpPr>
          <a:xfrm>
            <a:off x="10375992" y="2082579"/>
            <a:ext cx="642938" cy="514350"/>
            <a:chOff x="0" y="0"/>
            <a:chExt cx="857250" cy="685800"/>
          </a:xfrm>
        </p:grpSpPr>
        <p:sp>
          <p:nvSpPr>
            <p:cNvPr id="7" name="Freeform 7" descr="preencoded.png"/>
            <p:cNvSpPr/>
            <p:nvPr/>
          </p:nvSpPr>
          <p:spPr>
            <a:xfrm>
              <a:off x="0" y="0"/>
              <a:ext cx="857250" cy="685800"/>
            </a:xfrm>
            <a:custGeom>
              <a:avLst/>
              <a:gdLst/>
              <a:ahLst/>
              <a:cxnLst/>
              <a:rect l="l" t="t" r="r" b="b"/>
              <a:pathLst>
                <a:path w="857250" h="685800">
                  <a:moveTo>
                    <a:pt x="0" y="0"/>
                  </a:moveTo>
                  <a:lnTo>
                    <a:pt x="857250" y="0"/>
                  </a:lnTo>
                  <a:lnTo>
                    <a:pt x="857250" y="685800"/>
                  </a:lnTo>
                  <a:lnTo>
                    <a:pt x="0" y="685800"/>
                  </a:lnTo>
                  <a:lnTo>
                    <a:pt x="0" y="0"/>
                  </a:lnTo>
                  <a:close/>
                </a:path>
              </a:pathLst>
            </a:custGeom>
            <a:blipFill>
              <a:blip r:embed="rId5"/>
              <a:stretch>
                <a:fillRect l="-1428" r="-1429"/>
              </a:stretch>
            </a:blipFill>
          </p:spPr>
          <p:txBody>
            <a:bodyPr/>
            <a:lstStyle/>
            <a:p>
              <a:endParaRPr lang="en-SA"/>
            </a:p>
          </p:txBody>
        </p:sp>
      </p:grpSp>
      <p:grpSp>
        <p:nvGrpSpPr>
          <p:cNvPr id="8" name="Group 8"/>
          <p:cNvGrpSpPr/>
          <p:nvPr/>
        </p:nvGrpSpPr>
        <p:grpSpPr>
          <a:xfrm>
            <a:off x="4742209" y="2068888"/>
            <a:ext cx="514350" cy="514350"/>
            <a:chOff x="0" y="0"/>
            <a:chExt cx="685800" cy="685800"/>
          </a:xfrm>
        </p:grpSpPr>
        <p:sp>
          <p:nvSpPr>
            <p:cNvPr id="9" name="Freeform 9" descr="preencoded.png"/>
            <p:cNvSpPr/>
            <p:nvPr/>
          </p:nvSpPr>
          <p:spPr>
            <a:xfrm>
              <a:off x="0" y="0"/>
              <a:ext cx="685800" cy="685800"/>
            </a:xfrm>
            <a:custGeom>
              <a:avLst/>
              <a:gdLst/>
              <a:ahLst/>
              <a:cxnLst/>
              <a:rect l="l" t="t" r="r" b="b"/>
              <a:pathLst>
                <a:path w="685800" h="685800">
                  <a:moveTo>
                    <a:pt x="0" y="0"/>
                  </a:moveTo>
                  <a:lnTo>
                    <a:pt x="685800" y="0"/>
                  </a:lnTo>
                  <a:lnTo>
                    <a:pt x="685800" y="685800"/>
                  </a:lnTo>
                  <a:lnTo>
                    <a:pt x="0" y="685800"/>
                  </a:lnTo>
                  <a:lnTo>
                    <a:pt x="0" y="0"/>
                  </a:lnTo>
                  <a:close/>
                </a:path>
              </a:pathLst>
            </a:custGeom>
            <a:blipFill>
              <a:blip r:embed="rId6"/>
              <a:stretch>
                <a:fillRect l="-1427" r="-1429"/>
              </a:stretch>
            </a:blipFill>
          </p:spPr>
          <p:txBody>
            <a:bodyPr/>
            <a:lstStyle/>
            <a:p>
              <a:endParaRPr lang="en-SA"/>
            </a:p>
          </p:txBody>
        </p:sp>
      </p:grpSp>
      <p:sp>
        <p:nvSpPr>
          <p:cNvPr id="10" name="Freeform 10"/>
          <p:cNvSpPr/>
          <p:nvPr/>
        </p:nvSpPr>
        <p:spPr>
          <a:xfrm>
            <a:off x="981075" y="3713164"/>
            <a:ext cx="11456415" cy="5205732"/>
          </a:xfrm>
          <a:custGeom>
            <a:avLst/>
            <a:gdLst/>
            <a:ahLst/>
            <a:cxnLst/>
            <a:rect l="l" t="t" r="r" b="b"/>
            <a:pathLst>
              <a:path w="11456415" h="5205732">
                <a:moveTo>
                  <a:pt x="0" y="0"/>
                </a:moveTo>
                <a:lnTo>
                  <a:pt x="11456415" y="0"/>
                </a:lnTo>
                <a:lnTo>
                  <a:pt x="11456415" y="5205732"/>
                </a:lnTo>
                <a:lnTo>
                  <a:pt x="0" y="5205732"/>
                </a:lnTo>
                <a:lnTo>
                  <a:pt x="0" y="0"/>
                </a:lnTo>
                <a:close/>
              </a:path>
            </a:pathLst>
          </a:custGeom>
          <a:blipFill>
            <a:blip r:embed="rId7"/>
            <a:stretch>
              <a:fillRect t="-11482" b="-11482"/>
            </a:stretch>
          </a:blipFill>
        </p:spPr>
        <p:txBody>
          <a:bodyPr/>
          <a:lstStyle/>
          <a:p>
            <a:endParaRPr lang="en-SA"/>
          </a:p>
        </p:txBody>
      </p:sp>
      <p:sp>
        <p:nvSpPr>
          <p:cNvPr id="11" name="Freeform 11"/>
          <p:cNvSpPr/>
          <p:nvPr/>
        </p:nvSpPr>
        <p:spPr>
          <a:xfrm>
            <a:off x="11986671" y="4103689"/>
            <a:ext cx="5330282" cy="2158752"/>
          </a:xfrm>
          <a:custGeom>
            <a:avLst/>
            <a:gdLst/>
            <a:ahLst/>
            <a:cxnLst/>
            <a:rect l="l" t="t" r="r" b="b"/>
            <a:pathLst>
              <a:path w="5330282" h="2158752">
                <a:moveTo>
                  <a:pt x="0" y="0"/>
                </a:moveTo>
                <a:lnTo>
                  <a:pt x="5330282" y="0"/>
                </a:lnTo>
                <a:lnTo>
                  <a:pt x="5330282" y="2158752"/>
                </a:lnTo>
                <a:lnTo>
                  <a:pt x="0" y="2158752"/>
                </a:lnTo>
                <a:lnTo>
                  <a:pt x="0" y="0"/>
                </a:lnTo>
                <a:close/>
              </a:path>
            </a:pathLst>
          </a:custGeom>
          <a:blipFill>
            <a:blip r:embed="rId8"/>
            <a:stretch>
              <a:fillRect l="-37041" t="-47260" b="-41807"/>
            </a:stretch>
          </a:blipFill>
        </p:spPr>
        <p:txBody>
          <a:bodyPr/>
          <a:lstStyle/>
          <a:p>
            <a:endParaRPr lang="en-SA"/>
          </a:p>
        </p:txBody>
      </p:sp>
      <p:sp>
        <p:nvSpPr>
          <p:cNvPr id="12" name="TextBox 12"/>
          <p:cNvSpPr txBox="1"/>
          <p:nvPr/>
        </p:nvSpPr>
        <p:spPr>
          <a:xfrm>
            <a:off x="13214152" y="9493929"/>
            <a:ext cx="3847694" cy="333425"/>
          </a:xfrm>
          <a:prstGeom prst="rect">
            <a:avLst/>
          </a:prstGeom>
        </p:spPr>
        <p:txBody>
          <a:bodyPr lIns="0" tIns="0" rIns="0" bIns="0" rtlCol="0" anchor="t">
            <a:spAutoFit/>
          </a:bodyPr>
          <a:lstStyle/>
          <a:p>
            <a:pPr algn="r">
              <a:lnSpc>
                <a:spcPts val="2595"/>
              </a:lnSpc>
            </a:pPr>
            <a:r>
              <a:rPr lang="ar-EG" sz="2163" dirty="0">
                <a:solidFill>
                  <a:srgbClr val="64748B"/>
                </a:solidFill>
                <a:latin typeface="Cairo Light"/>
                <a:ea typeface="Cairo Light"/>
                <a:cs typeface="Cairo Light"/>
                <a:sym typeface="Cairo Light"/>
                <a:rtl/>
              </a:rPr>
              <a:t>اليوم الثالث · مبني على صورتنا</a:t>
            </a:r>
          </a:p>
        </p:txBody>
      </p:sp>
      <p:sp>
        <p:nvSpPr>
          <p:cNvPr id="13" name="TextBox 13"/>
          <p:cNvSpPr txBox="1"/>
          <p:nvPr/>
        </p:nvSpPr>
        <p:spPr>
          <a:xfrm>
            <a:off x="11565283" y="2083175"/>
            <a:ext cx="4648181" cy="333375"/>
          </a:xfrm>
          <a:prstGeom prst="rect">
            <a:avLst/>
          </a:prstGeom>
        </p:spPr>
        <p:txBody>
          <a:bodyPr lIns="0" tIns="0" rIns="0" bIns="0" rtlCol="0" anchor="t">
            <a:spAutoFit/>
          </a:bodyPr>
          <a:lstStyle/>
          <a:p>
            <a:pPr algn="r">
              <a:lnSpc>
                <a:spcPts val="2640"/>
              </a:lnSpc>
            </a:pPr>
            <a:r>
              <a:rPr lang="ar-EG" sz="2200" b="1">
                <a:solidFill>
                  <a:srgbClr val="0F172A"/>
                </a:solidFill>
                <a:latin typeface="Cairo Bold"/>
                <a:ea typeface="Cairo Bold"/>
                <a:cs typeface="Cairo Bold"/>
                <a:sym typeface="Cairo Bold"/>
                <a:rtl/>
              </a:rPr>
              <a:t>طبقة الإدخال</a:t>
            </a:r>
          </a:p>
        </p:txBody>
      </p:sp>
      <p:sp>
        <p:nvSpPr>
          <p:cNvPr id="14" name="TextBox 14"/>
          <p:cNvSpPr txBox="1"/>
          <p:nvPr/>
        </p:nvSpPr>
        <p:spPr>
          <a:xfrm>
            <a:off x="12384872" y="2539779"/>
            <a:ext cx="4648181" cy="982320"/>
          </a:xfrm>
          <a:prstGeom prst="rect">
            <a:avLst/>
          </a:prstGeom>
        </p:spPr>
        <p:txBody>
          <a:bodyPr lIns="0" tIns="0" rIns="0" bIns="0" rtlCol="0" anchor="t">
            <a:spAutoFit/>
          </a:bodyPr>
          <a:lstStyle/>
          <a:p>
            <a:pPr algn="r" rtl="1">
              <a:lnSpc>
                <a:spcPts val="2611"/>
              </a:lnSpc>
            </a:pPr>
            <a:r>
              <a:rPr lang="ar-EG" sz="1700" dirty="0">
                <a:solidFill>
                  <a:srgbClr val="475569"/>
                </a:solidFill>
                <a:latin typeface="Cairo"/>
                <a:ea typeface="Cairo"/>
                <a:cs typeface="Cairo"/>
                <a:sym typeface="Cairo"/>
                <a:rtl/>
              </a:rPr>
              <a:t>هي بوابة العبور الأولى؛ تستقبل البيانات الخام من العالم الخارجي وتمررها للداخل (مثل: ملايين النقاط الملونة المكونة لصورة قطة)</a:t>
            </a:r>
            <a:r>
              <a:rPr lang="en-US" sz="1700" dirty="0">
                <a:solidFill>
                  <a:srgbClr val="475569"/>
                </a:solidFill>
                <a:latin typeface="Cairo"/>
                <a:ea typeface="Cairo"/>
                <a:cs typeface="Cairo"/>
                <a:sym typeface="Cairo"/>
              </a:rPr>
              <a:t>.</a:t>
            </a:r>
          </a:p>
        </p:txBody>
      </p:sp>
      <p:sp>
        <p:nvSpPr>
          <p:cNvPr id="15" name="TextBox 15"/>
          <p:cNvSpPr txBox="1"/>
          <p:nvPr/>
        </p:nvSpPr>
        <p:spPr>
          <a:xfrm>
            <a:off x="5451586" y="2173066"/>
            <a:ext cx="4648181" cy="333375"/>
          </a:xfrm>
          <a:prstGeom prst="rect">
            <a:avLst/>
          </a:prstGeom>
        </p:spPr>
        <p:txBody>
          <a:bodyPr lIns="0" tIns="0" rIns="0" bIns="0" rtlCol="0" anchor="t">
            <a:spAutoFit/>
          </a:bodyPr>
          <a:lstStyle/>
          <a:p>
            <a:pPr algn="r">
              <a:lnSpc>
                <a:spcPts val="2640"/>
              </a:lnSpc>
            </a:pPr>
            <a:r>
              <a:rPr lang="en-US" sz="2200" b="1">
                <a:solidFill>
                  <a:srgbClr val="0F172A"/>
                </a:solidFill>
                <a:latin typeface="Cairo Bold"/>
                <a:ea typeface="Cairo Bold"/>
                <a:cs typeface="Cairo Bold"/>
                <a:sym typeface="Cairo Bold"/>
              </a:rPr>
              <a:t> </a:t>
            </a:r>
            <a:r>
              <a:rPr lang="ar-EG" sz="2200" b="1">
                <a:solidFill>
                  <a:srgbClr val="0F172A"/>
                </a:solidFill>
                <a:latin typeface="Cairo Bold"/>
                <a:ea typeface="Cairo Bold"/>
                <a:cs typeface="Cairo Bold"/>
                <a:sym typeface="Cairo Bold"/>
                <a:rtl/>
              </a:rPr>
              <a:t>الطبقات المخفية</a:t>
            </a:r>
          </a:p>
        </p:txBody>
      </p:sp>
      <p:sp>
        <p:nvSpPr>
          <p:cNvPr id="16" name="TextBox 16"/>
          <p:cNvSpPr txBox="1"/>
          <p:nvPr/>
        </p:nvSpPr>
        <p:spPr>
          <a:xfrm>
            <a:off x="6512728" y="2539779"/>
            <a:ext cx="4648181" cy="982320"/>
          </a:xfrm>
          <a:prstGeom prst="rect">
            <a:avLst/>
          </a:prstGeom>
        </p:spPr>
        <p:txBody>
          <a:bodyPr lIns="0" tIns="0" rIns="0" bIns="0" rtlCol="0" anchor="t">
            <a:spAutoFit/>
          </a:bodyPr>
          <a:lstStyle/>
          <a:p>
            <a:pPr algn="r" rtl="1">
              <a:lnSpc>
                <a:spcPts val="2611"/>
              </a:lnSpc>
            </a:pPr>
            <a:r>
              <a:rPr lang="ar-EG" sz="1700" dirty="0">
                <a:solidFill>
                  <a:srgbClr val="475569"/>
                </a:solidFill>
                <a:latin typeface="Cairo"/>
                <a:ea typeface="Cairo"/>
                <a:cs typeface="Cairo"/>
                <a:sym typeface="Cairo"/>
                <a:rtl/>
              </a:rPr>
              <a:t>تقع في المنتصف؛ تقوم بمعالجة وتفكيك البيانات خطوة بخطوة، وتطرح أسئلة متدرجة لاستخراج الأنماط والملامح الهامة</a:t>
            </a:r>
            <a:r>
              <a:rPr lang="en-US" sz="1700" dirty="0">
                <a:solidFill>
                  <a:srgbClr val="475569"/>
                </a:solidFill>
                <a:latin typeface="Cairo"/>
                <a:ea typeface="Cairo"/>
                <a:cs typeface="Cairo"/>
                <a:sym typeface="Cairo"/>
              </a:rPr>
              <a:t>.</a:t>
            </a:r>
          </a:p>
        </p:txBody>
      </p:sp>
      <p:sp>
        <p:nvSpPr>
          <p:cNvPr id="17" name="TextBox 17"/>
          <p:cNvSpPr txBox="1"/>
          <p:nvPr/>
        </p:nvSpPr>
        <p:spPr>
          <a:xfrm>
            <a:off x="-96529" y="2159375"/>
            <a:ext cx="4648238" cy="333375"/>
          </a:xfrm>
          <a:prstGeom prst="rect">
            <a:avLst/>
          </a:prstGeom>
        </p:spPr>
        <p:txBody>
          <a:bodyPr lIns="0" tIns="0" rIns="0" bIns="0" rtlCol="0" anchor="t">
            <a:spAutoFit/>
          </a:bodyPr>
          <a:lstStyle/>
          <a:p>
            <a:pPr algn="r">
              <a:lnSpc>
                <a:spcPts val="2640"/>
              </a:lnSpc>
            </a:pPr>
            <a:r>
              <a:rPr lang="en-US" sz="2200" b="1">
                <a:solidFill>
                  <a:srgbClr val="0F172A"/>
                </a:solidFill>
                <a:latin typeface="Cairo Bold"/>
                <a:ea typeface="Cairo Bold"/>
                <a:cs typeface="Cairo Bold"/>
                <a:sym typeface="Cairo Bold"/>
              </a:rPr>
              <a:t> </a:t>
            </a:r>
            <a:r>
              <a:rPr lang="ar-EG" sz="2200" b="1">
                <a:solidFill>
                  <a:srgbClr val="0F172A"/>
                </a:solidFill>
                <a:latin typeface="Cairo Bold"/>
                <a:ea typeface="Cairo Bold"/>
                <a:cs typeface="Cairo Bold"/>
                <a:sym typeface="Cairo Bold"/>
                <a:rtl/>
              </a:rPr>
              <a:t>طبقة الإخراج</a:t>
            </a:r>
          </a:p>
        </p:txBody>
      </p:sp>
      <p:sp>
        <p:nvSpPr>
          <p:cNvPr id="18" name="TextBox 18"/>
          <p:cNvSpPr txBox="1"/>
          <p:nvPr/>
        </p:nvSpPr>
        <p:spPr>
          <a:xfrm>
            <a:off x="635765" y="2539779"/>
            <a:ext cx="4648238" cy="982320"/>
          </a:xfrm>
          <a:prstGeom prst="rect">
            <a:avLst/>
          </a:prstGeom>
        </p:spPr>
        <p:txBody>
          <a:bodyPr lIns="0" tIns="0" rIns="0" bIns="0" rtlCol="0" anchor="t">
            <a:spAutoFit/>
          </a:bodyPr>
          <a:lstStyle/>
          <a:p>
            <a:pPr algn="r" rtl="1">
              <a:lnSpc>
                <a:spcPts val="2611"/>
              </a:lnSpc>
            </a:pPr>
            <a:r>
              <a:rPr lang="ar-EG" sz="1700" dirty="0">
                <a:solidFill>
                  <a:srgbClr val="475569"/>
                </a:solidFill>
                <a:latin typeface="Cairo"/>
                <a:ea typeface="Cairo"/>
                <a:cs typeface="Cairo"/>
                <a:sym typeface="Cairo"/>
                <a:rtl/>
              </a:rPr>
              <a:t>هي المحطة الأخيرة؛ تجمع نتائج التحليل من الطبقات السابقة لتعطي القرار النهائي الواضح (مثل: "هذه صورة قطة بنسبة </a:t>
            </a:r>
            <a:r>
              <a:rPr lang="en-US" sz="1700" dirty="0">
                <a:solidFill>
                  <a:srgbClr val="475569"/>
                </a:solidFill>
                <a:latin typeface="Cairo"/>
                <a:ea typeface="Cairo"/>
                <a:cs typeface="Cairo"/>
                <a:sym typeface="Cairo"/>
              </a:rPr>
              <a:t>98</a:t>
            </a:r>
            <a:r>
              <a:rPr lang="ar-EG" sz="1700" dirty="0">
                <a:solidFill>
                  <a:srgbClr val="475569"/>
                </a:solidFill>
                <a:latin typeface="Cairo"/>
                <a:ea typeface="Cairo"/>
                <a:cs typeface="Cairo"/>
                <a:sym typeface="Cairo"/>
                <a:rtl/>
              </a:rPr>
              <a:t>%")</a:t>
            </a:r>
            <a:r>
              <a:rPr lang="en-US" sz="1700" dirty="0">
                <a:solidFill>
                  <a:srgbClr val="475569"/>
                </a:solidFill>
                <a:latin typeface="Cairo"/>
                <a:ea typeface="Cairo"/>
                <a:cs typeface="Cairo"/>
                <a:sym typeface="Cairo"/>
              </a:rPr>
              <a:t>.</a:t>
            </a:r>
          </a:p>
        </p:txBody>
      </p:sp>
      <p:sp>
        <p:nvSpPr>
          <p:cNvPr id="19" name="TextBox 19"/>
          <p:cNvSpPr txBox="1"/>
          <p:nvPr/>
        </p:nvSpPr>
        <p:spPr>
          <a:xfrm>
            <a:off x="1028700" y="9288519"/>
            <a:ext cx="12710411" cy="709498"/>
          </a:xfrm>
          <a:prstGeom prst="rect">
            <a:avLst/>
          </a:prstGeom>
        </p:spPr>
        <p:txBody>
          <a:bodyPr lIns="0" tIns="0" rIns="0" bIns="0" rtlCol="0" anchor="t">
            <a:spAutoFit/>
          </a:bodyPr>
          <a:lstStyle/>
          <a:p>
            <a:pPr algn="ctr">
              <a:lnSpc>
                <a:spcPts val="2918"/>
              </a:lnSpc>
            </a:pPr>
            <a:r>
              <a:rPr lang="en-US" sz="1900">
                <a:solidFill>
                  <a:srgbClr val="475569"/>
                </a:solidFill>
                <a:latin typeface="Cairo"/>
                <a:ea typeface="Cairo"/>
                <a:cs typeface="Cairo"/>
                <a:sym typeface="Cairo"/>
              </a:rPr>
              <a:t> </a:t>
            </a:r>
            <a:r>
              <a:rPr lang="ar-EG" sz="1900" b="1">
                <a:solidFill>
                  <a:srgbClr val="EA580C"/>
                </a:solidFill>
                <a:latin typeface="Cairo Bold"/>
                <a:ea typeface="Cairo Bold"/>
                <a:cs typeface="Cairo Bold"/>
                <a:sym typeface="Cairo Bold"/>
                <a:rtl/>
              </a:rPr>
              <a:t>لماذا سميت "مخفية"؟</a:t>
            </a:r>
            <a:r>
              <a:rPr lang="ar-EG" sz="1900">
                <a:solidFill>
                  <a:srgbClr val="475569"/>
                </a:solidFill>
                <a:latin typeface="Cairo"/>
                <a:ea typeface="Cairo"/>
                <a:cs typeface="Cairo"/>
                <a:sym typeface="Cairo"/>
                <a:rtl/>
              </a:rPr>
              <a:t> كلمة "مخفية" لا تعني أنها سرية أو غامضة، بل تعني ببساطة أننا كمستخدمين لا نرى مدخلاتها ومخرجاتها المباشرة أثناء العمل، بل نرى فقط ما ندخله في البداية وما نحصل عليه في النهاية</a:t>
            </a:r>
          </a:p>
        </p:txBody>
      </p:sp>
      <p:sp>
        <p:nvSpPr>
          <p:cNvPr id="20" name="TextBox 20"/>
          <p:cNvSpPr txBox="1"/>
          <p:nvPr/>
        </p:nvSpPr>
        <p:spPr>
          <a:xfrm>
            <a:off x="13530262" y="1000125"/>
            <a:ext cx="3471862" cy="642938"/>
          </a:xfrm>
          <a:prstGeom prst="rect">
            <a:avLst/>
          </a:prstGeom>
        </p:spPr>
        <p:txBody>
          <a:bodyPr lIns="0" tIns="0" rIns="0" bIns="0" rtlCol="0" anchor="t">
            <a:spAutoFit/>
          </a:bodyPr>
          <a:lstStyle/>
          <a:p>
            <a:pPr algn="r">
              <a:lnSpc>
                <a:spcPts val="2879"/>
              </a:lnSpc>
            </a:pPr>
            <a:r>
              <a:rPr lang="ar-EG" sz="2400" b="1">
                <a:solidFill>
                  <a:srgbClr val="0F172A"/>
                </a:solidFill>
                <a:latin typeface="Cairo Bold"/>
                <a:ea typeface="Cairo Bold"/>
                <a:cs typeface="Cairo Bold"/>
                <a:sym typeface="Cairo Bold"/>
                <a:rtl/>
              </a:rPr>
              <a:t>رؤية الوجه طبقة بطبقة</a:t>
            </a:r>
          </a:p>
        </p:txBody>
      </p:sp>
      <p:sp>
        <p:nvSpPr>
          <p:cNvPr id="21" name="TextBox 21"/>
          <p:cNvSpPr txBox="1"/>
          <p:nvPr/>
        </p:nvSpPr>
        <p:spPr>
          <a:xfrm>
            <a:off x="4289581" y="902494"/>
            <a:ext cx="9094476" cy="419100"/>
          </a:xfrm>
          <a:prstGeom prst="rect">
            <a:avLst/>
          </a:prstGeom>
        </p:spPr>
        <p:txBody>
          <a:bodyPr lIns="0" tIns="0" rIns="0" bIns="0" rtlCol="0" anchor="t">
            <a:spAutoFit/>
          </a:bodyPr>
          <a:lstStyle/>
          <a:p>
            <a:pPr algn="r">
              <a:lnSpc>
                <a:spcPts val="3359"/>
              </a:lnSpc>
            </a:pPr>
            <a:r>
              <a:rPr lang="ar-EG" sz="2799" b="1">
                <a:solidFill>
                  <a:srgbClr val="0F172A"/>
                </a:solidFill>
                <a:latin typeface="Cairo Bold"/>
                <a:ea typeface="Cairo Bold"/>
                <a:cs typeface="Cairo Bold"/>
                <a:sym typeface="Cairo Bold"/>
                <a:rtl/>
              </a:rPr>
              <a:t>كيف يرى الحاسوب وجهك؟ خطوة بخطوة عبر الطبقات</a:t>
            </a:r>
          </a:p>
        </p:txBody>
      </p:sp>
      <p:sp>
        <p:nvSpPr>
          <p:cNvPr id="22" name="TextBox 22"/>
          <p:cNvSpPr txBox="1"/>
          <p:nvPr/>
        </p:nvSpPr>
        <p:spPr>
          <a:xfrm>
            <a:off x="489106" y="1000125"/>
            <a:ext cx="3800475" cy="428625"/>
          </a:xfrm>
          <a:prstGeom prst="rect">
            <a:avLst/>
          </a:prstGeom>
        </p:spPr>
        <p:txBody>
          <a:bodyPr lIns="0" tIns="0" rIns="0" bIns="0" rtlCol="0" anchor="t">
            <a:spAutoFit/>
          </a:bodyPr>
          <a:lstStyle/>
          <a:p>
            <a:pPr algn="r">
              <a:lnSpc>
                <a:spcPts val="1920"/>
              </a:lnSpc>
            </a:pPr>
            <a:r>
              <a:rPr lang="ar-EG" sz="1600" b="1">
                <a:solidFill>
                  <a:srgbClr val="EA580C"/>
                </a:solidFill>
                <a:latin typeface="Cairo Bold"/>
                <a:ea typeface="Cairo Bold"/>
                <a:cs typeface="Cairo Bold"/>
                <a:sym typeface="Cairo Bold"/>
                <a:rtl/>
              </a:rPr>
              <a:t>القسم الثالث: تشبيه الطبقات المخفية</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SA"/>
            </a:p>
          </p:txBody>
        </p:sp>
      </p:grpSp>
      <p:sp>
        <p:nvSpPr>
          <p:cNvPr id="4" name="TextBox 4"/>
          <p:cNvSpPr txBox="1"/>
          <p:nvPr/>
        </p:nvSpPr>
        <p:spPr>
          <a:xfrm>
            <a:off x="13687425" y="1000125"/>
            <a:ext cx="3886200" cy="642938"/>
          </a:xfrm>
          <a:prstGeom prst="rect">
            <a:avLst/>
          </a:prstGeom>
        </p:spPr>
        <p:txBody>
          <a:bodyPr lIns="0" tIns="0" rIns="0" bIns="0" rtlCol="0" anchor="t">
            <a:spAutoFit/>
          </a:bodyPr>
          <a:lstStyle/>
          <a:p>
            <a:pPr algn="r">
              <a:lnSpc>
                <a:spcPts val="2879"/>
              </a:lnSpc>
            </a:pPr>
            <a:r>
              <a:rPr lang="ar-EG" sz="2400" b="1">
                <a:solidFill>
                  <a:srgbClr val="0F172A"/>
                </a:solidFill>
                <a:latin typeface="Cairo Bold"/>
                <a:ea typeface="Cairo Bold"/>
                <a:cs typeface="Cairo Bold"/>
                <a:sym typeface="Cairo Bold"/>
                <a:rtl/>
              </a:rPr>
              <a:t>دماغك يفعل نفس الشيء</a:t>
            </a:r>
          </a:p>
        </p:txBody>
      </p:sp>
      <p:sp>
        <p:nvSpPr>
          <p:cNvPr id="5" name="TextBox 5"/>
          <p:cNvSpPr txBox="1"/>
          <p:nvPr/>
        </p:nvSpPr>
        <p:spPr>
          <a:xfrm>
            <a:off x="714375" y="1107281"/>
            <a:ext cx="3800475" cy="428625"/>
          </a:xfrm>
          <a:prstGeom prst="rect">
            <a:avLst/>
          </a:prstGeom>
        </p:spPr>
        <p:txBody>
          <a:bodyPr lIns="0" tIns="0" rIns="0" bIns="0" rtlCol="0" anchor="t">
            <a:spAutoFit/>
          </a:bodyPr>
          <a:lstStyle/>
          <a:p>
            <a:pPr algn="r">
              <a:lnSpc>
                <a:spcPts val="1920"/>
              </a:lnSpc>
            </a:pPr>
            <a:r>
              <a:rPr lang="ar-EG" sz="1600" b="1">
                <a:solidFill>
                  <a:srgbClr val="EA580C"/>
                </a:solidFill>
                <a:latin typeface="Cairo Bold"/>
                <a:ea typeface="Cairo Bold"/>
                <a:cs typeface="Cairo Bold"/>
                <a:sym typeface="Cairo Bold"/>
                <a:rtl/>
              </a:rPr>
              <a:t>القسم الثالث: تشبيه الطبقات المخفية</a:t>
            </a:r>
          </a:p>
        </p:txBody>
      </p:sp>
      <p:sp>
        <p:nvSpPr>
          <p:cNvPr id="6" name="TextBox 6"/>
          <p:cNvSpPr txBox="1"/>
          <p:nvPr/>
        </p:nvSpPr>
        <p:spPr>
          <a:xfrm>
            <a:off x="714375" y="2100262"/>
            <a:ext cx="16859250" cy="750094"/>
          </a:xfrm>
          <a:prstGeom prst="rect">
            <a:avLst/>
          </a:prstGeom>
        </p:spPr>
        <p:txBody>
          <a:bodyPr lIns="0" tIns="0" rIns="0" bIns="0" rtlCol="0" anchor="t">
            <a:spAutoFit/>
          </a:bodyPr>
          <a:lstStyle/>
          <a:p>
            <a:pPr algn="r">
              <a:lnSpc>
                <a:spcPts val="3359"/>
              </a:lnSpc>
            </a:pPr>
            <a:r>
              <a:rPr lang="ar-EG" sz="2799" b="1">
                <a:solidFill>
                  <a:srgbClr val="0F172A"/>
                </a:solidFill>
                <a:latin typeface="Cairo Bold"/>
                <a:ea typeface="Cairo Bold"/>
                <a:cs typeface="Cairo Bold"/>
                <a:sym typeface="Cairo Bold"/>
                <a:rtl/>
              </a:rPr>
              <a:t>الدماغ البشري ألهم تصميم الشبكات العصبية</a:t>
            </a:r>
          </a:p>
        </p:txBody>
      </p:sp>
      <p:grpSp>
        <p:nvGrpSpPr>
          <p:cNvPr id="7" name="Group 7"/>
          <p:cNvGrpSpPr/>
          <p:nvPr/>
        </p:nvGrpSpPr>
        <p:grpSpPr>
          <a:xfrm>
            <a:off x="12005243" y="3036094"/>
            <a:ext cx="5554094" cy="635794"/>
            <a:chOff x="0" y="0"/>
            <a:chExt cx="7405459" cy="847725"/>
          </a:xfrm>
        </p:grpSpPr>
        <p:sp>
          <p:nvSpPr>
            <p:cNvPr id="8" name="Freeform 8"/>
            <p:cNvSpPr/>
            <p:nvPr/>
          </p:nvSpPr>
          <p:spPr>
            <a:xfrm>
              <a:off x="0" y="0"/>
              <a:ext cx="7405497" cy="847725"/>
            </a:xfrm>
            <a:custGeom>
              <a:avLst/>
              <a:gdLst/>
              <a:ahLst/>
              <a:cxnLst/>
              <a:rect l="l" t="t" r="r" b="b"/>
              <a:pathLst>
                <a:path w="7405497" h="847725">
                  <a:moveTo>
                    <a:pt x="0" y="0"/>
                  </a:moveTo>
                  <a:lnTo>
                    <a:pt x="7405497" y="0"/>
                  </a:lnTo>
                  <a:lnTo>
                    <a:pt x="7405497" y="847725"/>
                  </a:lnTo>
                  <a:lnTo>
                    <a:pt x="0" y="847725"/>
                  </a:lnTo>
                  <a:close/>
                </a:path>
              </a:pathLst>
            </a:custGeom>
            <a:solidFill>
              <a:srgbClr val="0284C7"/>
            </a:solidFill>
          </p:spPr>
          <p:txBody>
            <a:bodyPr/>
            <a:lstStyle/>
            <a:p>
              <a:endParaRPr lang="en-SA"/>
            </a:p>
          </p:txBody>
        </p:sp>
      </p:grpSp>
      <p:grpSp>
        <p:nvGrpSpPr>
          <p:cNvPr id="9" name="Group 9"/>
          <p:cNvGrpSpPr/>
          <p:nvPr/>
        </p:nvGrpSpPr>
        <p:grpSpPr>
          <a:xfrm>
            <a:off x="12005243" y="3036094"/>
            <a:ext cx="5554094" cy="635794"/>
            <a:chOff x="0" y="0"/>
            <a:chExt cx="7405459" cy="847725"/>
          </a:xfrm>
        </p:grpSpPr>
        <p:sp>
          <p:nvSpPr>
            <p:cNvPr id="10" name="Freeform 10"/>
            <p:cNvSpPr/>
            <p:nvPr/>
          </p:nvSpPr>
          <p:spPr>
            <a:xfrm>
              <a:off x="0" y="0"/>
              <a:ext cx="7405464" cy="847725"/>
            </a:xfrm>
            <a:custGeom>
              <a:avLst/>
              <a:gdLst/>
              <a:ahLst/>
              <a:cxnLst/>
              <a:rect l="l" t="t" r="r" b="b"/>
              <a:pathLst>
                <a:path w="7405464" h="847725">
                  <a:moveTo>
                    <a:pt x="0" y="0"/>
                  </a:moveTo>
                  <a:lnTo>
                    <a:pt x="7405464" y="0"/>
                  </a:lnTo>
                  <a:lnTo>
                    <a:pt x="7405464" y="847725"/>
                  </a:lnTo>
                  <a:lnTo>
                    <a:pt x="0" y="847725"/>
                  </a:lnTo>
                  <a:close/>
                </a:path>
              </a:pathLst>
            </a:custGeom>
            <a:blipFill>
              <a:blip r:embed="rId4">
                <a:alphaModFix amt="0"/>
              </a:blip>
              <a:stretch>
                <a:fillRect t="-120215" b="-120215"/>
              </a:stretch>
            </a:blipFill>
          </p:spPr>
          <p:txBody>
            <a:bodyPr/>
            <a:lstStyle/>
            <a:p>
              <a:endParaRPr lang="en-SA"/>
            </a:p>
          </p:txBody>
        </p:sp>
        <p:sp>
          <p:nvSpPr>
            <p:cNvPr id="11" name="TextBox 11"/>
            <p:cNvSpPr txBox="1"/>
            <p:nvPr/>
          </p:nvSpPr>
          <p:spPr>
            <a:xfrm>
              <a:off x="0" y="0"/>
              <a:ext cx="7405459" cy="847725"/>
            </a:xfrm>
            <a:prstGeom prst="rect">
              <a:avLst/>
            </a:prstGeom>
          </p:spPr>
          <p:txBody>
            <a:bodyPr lIns="0" tIns="0" rIns="0" bIns="0" rtlCol="0" anchor="ctr"/>
            <a:lstStyle/>
            <a:p>
              <a:pPr algn="r">
                <a:lnSpc>
                  <a:spcPts val="2400"/>
                </a:lnSpc>
              </a:pPr>
              <a:r>
                <a:rPr lang="ar-EG" sz="2000" b="1">
                  <a:solidFill>
                    <a:srgbClr val="FFFFFF"/>
                  </a:solidFill>
                  <a:latin typeface="Cairo Bold"/>
                  <a:ea typeface="Cairo Bold"/>
                  <a:cs typeface="Cairo Bold"/>
                  <a:sym typeface="Cairo Bold"/>
                  <a:rtl/>
                </a:rPr>
                <a:t>منطقة الدماغ البشري</a:t>
              </a:r>
            </a:p>
          </p:txBody>
        </p:sp>
      </p:grpSp>
      <p:grpSp>
        <p:nvGrpSpPr>
          <p:cNvPr id="12" name="Group 12"/>
          <p:cNvGrpSpPr/>
          <p:nvPr/>
        </p:nvGrpSpPr>
        <p:grpSpPr>
          <a:xfrm>
            <a:off x="6282814" y="3036094"/>
            <a:ext cx="5722420" cy="635794"/>
            <a:chOff x="0" y="0"/>
            <a:chExt cx="7629893" cy="847725"/>
          </a:xfrm>
        </p:grpSpPr>
        <p:sp>
          <p:nvSpPr>
            <p:cNvPr id="13" name="Freeform 13"/>
            <p:cNvSpPr/>
            <p:nvPr/>
          </p:nvSpPr>
          <p:spPr>
            <a:xfrm>
              <a:off x="0" y="0"/>
              <a:ext cx="7629906" cy="847725"/>
            </a:xfrm>
            <a:custGeom>
              <a:avLst/>
              <a:gdLst/>
              <a:ahLst/>
              <a:cxnLst/>
              <a:rect l="l" t="t" r="r" b="b"/>
              <a:pathLst>
                <a:path w="7629906" h="847725">
                  <a:moveTo>
                    <a:pt x="0" y="0"/>
                  </a:moveTo>
                  <a:lnTo>
                    <a:pt x="7629906" y="0"/>
                  </a:lnTo>
                  <a:lnTo>
                    <a:pt x="7629906" y="847725"/>
                  </a:lnTo>
                  <a:lnTo>
                    <a:pt x="0" y="847725"/>
                  </a:lnTo>
                  <a:close/>
                </a:path>
              </a:pathLst>
            </a:custGeom>
            <a:solidFill>
              <a:srgbClr val="0284C7"/>
            </a:solidFill>
          </p:spPr>
          <p:txBody>
            <a:bodyPr/>
            <a:lstStyle/>
            <a:p>
              <a:endParaRPr lang="en-SA"/>
            </a:p>
          </p:txBody>
        </p:sp>
      </p:grpSp>
      <p:grpSp>
        <p:nvGrpSpPr>
          <p:cNvPr id="14" name="Group 14"/>
          <p:cNvGrpSpPr/>
          <p:nvPr/>
        </p:nvGrpSpPr>
        <p:grpSpPr>
          <a:xfrm>
            <a:off x="6282814" y="3036094"/>
            <a:ext cx="5722420" cy="635794"/>
            <a:chOff x="0" y="0"/>
            <a:chExt cx="7629893" cy="847725"/>
          </a:xfrm>
        </p:grpSpPr>
        <p:sp>
          <p:nvSpPr>
            <p:cNvPr id="15" name="Freeform 15"/>
            <p:cNvSpPr/>
            <p:nvPr/>
          </p:nvSpPr>
          <p:spPr>
            <a:xfrm>
              <a:off x="0" y="0"/>
              <a:ext cx="7629896" cy="847725"/>
            </a:xfrm>
            <a:custGeom>
              <a:avLst/>
              <a:gdLst/>
              <a:ahLst/>
              <a:cxnLst/>
              <a:rect l="l" t="t" r="r" b="b"/>
              <a:pathLst>
                <a:path w="7629896" h="847725">
                  <a:moveTo>
                    <a:pt x="0" y="0"/>
                  </a:moveTo>
                  <a:lnTo>
                    <a:pt x="7629896" y="0"/>
                  </a:lnTo>
                  <a:lnTo>
                    <a:pt x="7629896" y="847725"/>
                  </a:lnTo>
                  <a:lnTo>
                    <a:pt x="0" y="847725"/>
                  </a:lnTo>
                  <a:close/>
                </a:path>
              </a:pathLst>
            </a:custGeom>
            <a:blipFill>
              <a:blip r:embed="rId4">
                <a:alphaModFix amt="0"/>
              </a:blip>
              <a:stretch>
                <a:fillRect t="-125373" b="-125373"/>
              </a:stretch>
            </a:blipFill>
          </p:spPr>
          <p:txBody>
            <a:bodyPr/>
            <a:lstStyle/>
            <a:p>
              <a:endParaRPr lang="en-SA"/>
            </a:p>
          </p:txBody>
        </p:sp>
        <p:sp>
          <p:nvSpPr>
            <p:cNvPr id="16" name="TextBox 16"/>
            <p:cNvSpPr txBox="1"/>
            <p:nvPr/>
          </p:nvSpPr>
          <p:spPr>
            <a:xfrm>
              <a:off x="0" y="0"/>
              <a:ext cx="7629893" cy="847725"/>
            </a:xfrm>
            <a:prstGeom prst="rect">
              <a:avLst/>
            </a:prstGeom>
          </p:spPr>
          <p:txBody>
            <a:bodyPr lIns="0" tIns="0" rIns="0" bIns="0" rtlCol="0" anchor="ctr"/>
            <a:lstStyle/>
            <a:p>
              <a:pPr algn="r">
                <a:lnSpc>
                  <a:spcPts val="2400"/>
                </a:lnSpc>
              </a:pPr>
              <a:r>
                <a:rPr lang="ar-EG" sz="2000" b="1">
                  <a:solidFill>
                    <a:srgbClr val="FFFFFF"/>
                  </a:solidFill>
                  <a:latin typeface="Cairo Bold"/>
                  <a:ea typeface="Cairo Bold"/>
                  <a:cs typeface="Cairo Bold"/>
                  <a:sym typeface="Cairo Bold"/>
                  <a:rtl/>
                </a:rPr>
                <a:t>ماذا تكتشف وتفعل؟</a:t>
              </a:r>
            </a:p>
          </p:txBody>
        </p:sp>
      </p:grpSp>
      <p:grpSp>
        <p:nvGrpSpPr>
          <p:cNvPr id="17" name="Group 17"/>
          <p:cNvGrpSpPr/>
          <p:nvPr/>
        </p:nvGrpSpPr>
        <p:grpSpPr>
          <a:xfrm>
            <a:off x="728662" y="3036094"/>
            <a:ext cx="5554151" cy="635794"/>
            <a:chOff x="0" y="0"/>
            <a:chExt cx="7405535" cy="847725"/>
          </a:xfrm>
        </p:grpSpPr>
        <p:sp>
          <p:nvSpPr>
            <p:cNvPr id="18" name="Freeform 18"/>
            <p:cNvSpPr/>
            <p:nvPr/>
          </p:nvSpPr>
          <p:spPr>
            <a:xfrm>
              <a:off x="0" y="0"/>
              <a:ext cx="7405497" cy="847725"/>
            </a:xfrm>
            <a:custGeom>
              <a:avLst/>
              <a:gdLst/>
              <a:ahLst/>
              <a:cxnLst/>
              <a:rect l="l" t="t" r="r" b="b"/>
              <a:pathLst>
                <a:path w="7405497" h="847725">
                  <a:moveTo>
                    <a:pt x="0" y="0"/>
                  </a:moveTo>
                  <a:lnTo>
                    <a:pt x="7405497" y="0"/>
                  </a:lnTo>
                  <a:lnTo>
                    <a:pt x="7405497" y="847725"/>
                  </a:lnTo>
                  <a:lnTo>
                    <a:pt x="0" y="847725"/>
                  </a:lnTo>
                  <a:close/>
                </a:path>
              </a:pathLst>
            </a:custGeom>
            <a:solidFill>
              <a:srgbClr val="0284C7"/>
            </a:solidFill>
          </p:spPr>
          <p:txBody>
            <a:bodyPr/>
            <a:lstStyle/>
            <a:p>
              <a:endParaRPr lang="en-SA"/>
            </a:p>
          </p:txBody>
        </p:sp>
      </p:grpSp>
      <p:grpSp>
        <p:nvGrpSpPr>
          <p:cNvPr id="19" name="Group 19"/>
          <p:cNvGrpSpPr/>
          <p:nvPr/>
        </p:nvGrpSpPr>
        <p:grpSpPr>
          <a:xfrm>
            <a:off x="728662" y="3036094"/>
            <a:ext cx="5554151" cy="635794"/>
            <a:chOff x="0" y="0"/>
            <a:chExt cx="7405535" cy="847725"/>
          </a:xfrm>
        </p:grpSpPr>
        <p:sp>
          <p:nvSpPr>
            <p:cNvPr id="20" name="Freeform 20"/>
            <p:cNvSpPr/>
            <p:nvPr/>
          </p:nvSpPr>
          <p:spPr>
            <a:xfrm>
              <a:off x="0" y="0"/>
              <a:ext cx="7405539" cy="847725"/>
            </a:xfrm>
            <a:custGeom>
              <a:avLst/>
              <a:gdLst/>
              <a:ahLst/>
              <a:cxnLst/>
              <a:rect l="l" t="t" r="r" b="b"/>
              <a:pathLst>
                <a:path w="7405539" h="847725">
                  <a:moveTo>
                    <a:pt x="0" y="0"/>
                  </a:moveTo>
                  <a:lnTo>
                    <a:pt x="7405539" y="0"/>
                  </a:lnTo>
                  <a:lnTo>
                    <a:pt x="7405539" y="847725"/>
                  </a:lnTo>
                  <a:lnTo>
                    <a:pt x="0" y="847725"/>
                  </a:lnTo>
                  <a:close/>
                </a:path>
              </a:pathLst>
            </a:custGeom>
            <a:blipFill>
              <a:blip r:embed="rId4">
                <a:alphaModFix amt="0"/>
              </a:blip>
              <a:stretch>
                <a:fillRect t="-120216" b="-120216"/>
              </a:stretch>
            </a:blipFill>
          </p:spPr>
          <p:txBody>
            <a:bodyPr/>
            <a:lstStyle/>
            <a:p>
              <a:endParaRPr lang="en-SA"/>
            </a:p>
          </p:txBody>
        </p:sp>
        <p:sp>
          <p:nvSpPr>
            <p:cNvPr id="21" name="TextBox 21"/>
            <p:cNvSpPr txBox="1"/>
            <p:nvPr/>
          </p:nvSpPr>
          <p:spPr>
            <a:xfrm>
              <a:off x="0" y="0"/>
              <a:ext cx="7405535" cy="847725"/>
            </a:xfrm>
            <a:prstGeom prst="rect">
              <a:avLst/>
            </a:prstGeom>
          </p:spPr>
          <p:txBody>
            <a:bodyPr lIns="0" tIns="0" rIns="0" bIns="0" rtlCol="0" anchor="ctr"/>
            <a:lstStyle/>
            <a:p>
              <a:pPr algn="r">
                <a:lnSpc>
                  <a:spcPts val="2400"/>
                </a:lnSpc>
              </a:pPr>
              <a:r>
                <a:rPr lang="ar-EG" sz="2000" b="1">
                  <a:solidFill>
                    <a:srgbClr val="FFFFFF"/>
                  </a:solidFill>
                  <a:latin typeface="Cairo Bold"/>
                  <a:ea typeface="Cairo Bold"/>
                  <a:cs typeface="Cairo Bold"/>
                  <a:sym typeface="Cairo Bold"/>
                  <a:rtl/>
                </a:rPr>
                <a:t>طبقة الشبكة العصبية المقابلة</a:t>
              </a:r>
            </a:p>
          </p:txBody>
        </p:sp>
      </p:grpSp>
      <p:sp>
        <p:nvSpPr>
          <p:cNvPr id="22" name="TextBox 22"/>
          <p:cNvSpPr txBox="1"/>
          <p:nvPr/>
        </p:nvSpPr>
        <p:spPr>
          <a:xfrm>
            <a:off x="16052006" y="3998709"/>
            <a:ext cx="1321594" cy="266700"/>
          </a:xfrm>
          <a:prstGeom prst="rect">
            <a:avLst/>
          </a:prstGeom>
        </p:spPr>
        <p:txBody>
          <a:bodyPr lIns="0" tIns="0" rIns="0" bIns="0" rtlCol="0" anchor="t">
            <a:spAutoFit/>
          </a:bodyPr>
          <a:lstStyle/>
          <a:p>
            <a:pPr algn="r">
              <a:lnSpc>
                <a:spcPts val="2160"/>
              </a:lnSpc>
            </a:pPr>
            <a:r>
              <a:rPr lang="ar-EG" sz="1800" b="1">
                <a:solidFill>
                  <a:srgbClr val="475569"/>
                </a:solidFill>
                <a:latin typeface="Cairo Bold"/>
                <a:ea typeface="Cairo Bold"/>
                <a:cs typeface="Cairo Bold"/>
                <a:sym typeface="Cairo Bold"/>
                <a:rtl/>
              </a:rPr>
              <a:t>المنطقة</a:t>
            </a:r>
            <a:r>
              <a:rPr lang="en-US" sz="1800" b="1">
                <a:solidFill>
                  <a:srgbClr val="475569"/>
                </a:solidFill>
                <a:latin typeface="Cairo Bold"/>
                <a:ea typeface="Cairo Bold"/>
                <a:cs typeface="Cairo Bold"/>
                <a:sym typeface="Cairo Bold"/>
              </a:rPr>
              <a:t> V1</a:t>
            </a:r>
          </a:p>
        </p:txBody>
      </p:sp>
      <p:grpSp>
        <p:nvGrpSpPr>
          <p:cNvPr id="23" name="Group 23"/>
          <p:cNvGrpSpPr/>
          <p:nvPr/>
        </p:nvGrpSpPr>
        <p:grpSpPr>
          <a:xfrm>
            <a:off x="6282814" y="3671888"/>
            <a:ext cx="5722420" cy="1057275"/>
            <a:chOff x="0" y="0"/>
            <a:chExt cx="7629893" cy="1409700"/>
          </a:xfrm>
        </p:grpSpPr>
        <p:sp>
          <p:nvSpPr>
            <p:cNvPr id="24" name="Freeform 24"/>
            <p:cNvSpPr/>
            <p:nvPr/>
          </p:nvSpPr>
          <p:spPr>
            <a:xfrm>
              <a:off x="0" y="0"/>
              <a:ext cx="7629896" cy="1409701"/>
            </a:xfrm>
            <a:custGeom>
              <a:avLst/>
              <a:gdLst/>
              <a:ahLst/>
              <a:cxnLst/>
              <a:rect l="l" t="t" r="r" b="b"/>
              <a:pathLst>
                <a:path w="7629896" h="1409701">
                  <a:moveTo>
                    <a:pt x="0" y="0"/>
                  </a:moveTo>
                  <a:lnTo>
                    <a:pt x="7629896" y="0"/>
                  </a:lnTo>
                  <a:lnTo>
                    <a:pt x="7629896" y="1409701"/>
                  </a:lnTo>
                  <a:lnTo>
                    <a:pt x="0" y="1409701"/>
                  </a:lnTo>
                  <a:close/>
                </a:path>
              </a:pathLst>
            </a:custGeom>
            <a:blipFill>
              <a:blip r:embed="rId4">
                <a:alphaModFix amt="0"/>
              </a:blip>
              <a:stretch>
                <a:fillRect t="-55461" b="-55461"/>
              </a:stretch>
            </a:blipFill>
          </p:spPr>
          <p:txBody>
            <a:bodyPr/>
            <a:lstStyle/>
            <a:p>
              <a:endParaRPr lang="en-SA"/>
            </a:p>
          </p:txBody>
        </p:sp>
        <p:sp>
          <p:nvSpPr>
            <p:cNvPr id="25" name="TextBox 25"/>
            <p:cNvSpPr txBox="1"/>
            <p:nvPr/>
          </p:nvSpPr>
          <p:spPr>
            <a:xfrm>
              <a:off x="0" y="0"/>
              <a:ext cx="7629893" cy="1409700"/>
            </a:xfrm>
            <a:prstGeom prst="rect">
              <a:avLst/>
            </a:prstGeom>
          </p:spPr>
          <p:txBody>
            <a:bodyPr lIns="0" tIns="0" rIns="0" bIns="0" rtlCol="0" anchor="ctr"/>
            <a:lstStyle/>
            <a:p>
              <a:pPr algn="r">
                <a:lnSpc>
                  <a:spcPts val="2280"/>
                </a:lnSpc>
              </a:pPr>
              <a:r>
                <a:rPr lang="ar-EG" sz="1900">
                  <a:solidFill>
                    <a:srgbClr val="475569"/>
                  </a:solidFill>
                  <a:latin typeface="Cairo"/>
                  <a:ea typeface="Cairo"/>
                  <a:cs typeface="Cairo"/>
                  <a:sym typeface="Cairo"/>
                  <a:rtl/>
                </a:rPr>
                <a:t>تكتشف الخطوط البسيطة والاتجاهات المختلفة (أفقي، رأسي)</a:t>
              </a:r>
            </a:p>
          </p:txBody>
        </p:sp>
      </p:grpSp>
      <p:sp>
        <p:nvSpPr>
          <p:cNvPr id="26" name="TextBox 26"/>
          <p:cNvSpPr txBox="1"/>
          <p:nvPr/>
        </p:nvSpPr>
        <p:spPr>
          <a:xfrm>
            <a:off x="3543186" y="3998709"/>
            <a:ext cx="2568178" cy="482203"/>
          </a:xfrm>
          <a:prstGeom prst="rect">
            <a:avLst/>
          </a:prstGeom>
        </p:spPr>
        <p:txBody>
          <a:bodyPr lIns="0" tIns="0" rIns="0" bIns="0" rtlCol="0" anchor="t">
            <a:spAutoFit/>
          </a:bodyPr>
          <a:lstStyle/>
          <a:p>
            <a:pPr algn="r">
              <a:lnSpc>
                <a:spcPts val="2160"/>
              </a:lnSpc>
            </a:pPr>
            <a:r>
              <a:rPr lang="ar-EG" sz="1800" b="1">
                <a:solidFill>
                  <a:srgbClr val="475569"/>
                </a:solidFill>
                <a:latin typeface="Cairo Bold"/>
                <a:ea typeface="Cairo Bold"/>
                <a:cs typeface="Cairo Bold"/>
                <a:sym typeface="Cairo Bold"/>
                <a:rtl/>
              </a:rPr>
              <a:t>الطبقة الأولى</a:t>
            </a:r>
            <a:r>
              <a:rPr lang="en-US" sz="1800" b="1">
                <a:solidFill>
                  <a:srgbClr val="475569"/>
                </a:solidFill>
                <a:latin typeface="Cairo Bold"/>
                <a:ea typeface="Cairo Bold"/>
                <a:cs typeface="Cairo Bold"/>
                <a:sym typeface="Cairo Bold"/>
              </a:rPr>
              <a:t> (Layer 1)</a:t>
            </a:r>
          </a:p>
        </p:txBody>
      </p:sp>
      <p:grpSp>
        <p:nvGrpSpPr>
          <p:cNvPr id="27" name="Group 27"/>
          <p:cNvGrpSpPr/>
          <p:nvPr/>
        </p:nvGrpSpPr>
        <p:grpSpPr>
          <a:xfrm>
            <a:off x="728662" y="4729162"/>
            <a:ext cx="16830675" cy="600075"/>
            <a:chOff x="0" y="0"/>
            <a:chExt cx="22440900" cy="800100"/>
          </a:xfrm>
        </p:grpSpPr>
        <p:sp>
          <p:nvSpPr>
            <p:cNvPr id="28" name="Freeform 28"/>
            <p:cNvSpPr/>
            <p:nvPr/>
          </p:nvSpPr>
          <p:spPr>
            <a:xfrm>
              <a:off x="0" y="0"/>
              <a:ext cx="22440900" cy="800100"/>
            </a:xfrm>
            <a:custGeom>
              <a:avLst/>
              <a:gdLst/>
              <a:ahLst/>
              <a:cxnLst/>
              <a:rect l="l" t="t" r="r" b="b"/>
              <a:pathLst>
                <a:path w="22440900" h="800100">
                  <a:moveTo>
                    <a:pt x="0" y="0"/>
                  </a:moveTo>
                  <a:lnTo>
                    <a:pt x="22440900" y="0"/>
                  </a:lnTo>
                  <a:lnTo>
                    <a:pt x="22440900" y="800100"/>
                  </a:lnTo>
                  <a:lnTo>
                    <a:pt x="0" y="800100"/>
                  </a:lnTo>
                  <a:close/>
                </a:path>
              </a:pathLst>
            </a:custGeom>
            <a:solidFill>
              <a:srgbClr val="F1F5F9"/>
            </a:solidFill>
          </p:spPr>
          <p:txBody>
            <a:bodyPr/>
            <a:lstStyle/>
            <a:p>
              <a:endParaRPr lang="en-SA"/>
            </a:p>
          </p:txBody>
        </p:sp>
      </p:grpSp>
      <p:sp>
        <p:nvSpPr>
          <p:cNvPr id="29" name="TextBox 29"/>
          <p:cNvSpPr txBox="1"/>
          <p:nvPr/>
        </p:nvSpPr>
        <p:spPr>
          <a:xfrm>
            <a:off x="16052006" y="4830956"/>
            <a:ext cx="1321594" cy="482203"/>
          </a:xfrm>
          <a:prstGeom prst="rect">
            <a:avLst/>
          </a:prstGeom>
        </p:spPr>
        <p:txBody>
          <a:bodyPr lIns="0" tIns="0" rIns="0" bIns="0" rtlCol="0" anchor="t">
            <a:spAutoFit/>
          </a:bodyPr>
          <a:lstStyle/>
          <a:p>
            <a:pPr algn="r">
              <a:lnSpc>
                <a:spcPts val="2160"/>
              </a:lnSpc>
            </a:pPr>
            <a:r>
              <a:rPr lang="ar-EG" sz="1800" b="1">
                <a:solidFill>
                  <a:srgbClr val="475569"/>
                </a:solidFill>
                <a:latin typeface="Cairo Bold"/>
                <a:ea typeface="Cairo Bold"/>
                <a:cs typeface="Cairo Bold"/>
                <a:sym typeface="Cairo Bold"/>
                <a:rtl/>
              </a:rPr>
              <a:t>المنطقة</a:t>
            </a:r>
            <a:r>
              <a:rPr lang="en-US" sz="1800" b="1">
                <a:solidFill>
                  <a:srgbClr val="475569"/>
                </a:solidFill>
                <a:latin typeface="Cairo Bold"/>
                <a:ea typeface="Cairo Bold"/>
                <a:cs typeface="Cairo Bold"/>
                <a:sym typeface="Cairo Bold"/>
              </a:rPr>
              <a:t> V2</a:t>
            </a:r>
          </a:p>
        </p:txBody>
      </p:sp>
      <p:grpSp>
        <p:nvGrpSpPr>
          <p:cNvPr id="30" name="Group 30"/>
          <p:cNvGrpSpPr/>
          <p:nvPr/>
        </p:nvGrpSpPr>
        <p:grpSpPr>
          <a:xfrm>
            <a:off x="6282814" y="4729162"/>
            <a:ext cx="5722420" cy="600075"/>
            <a:chOff x="0" y="0"/>
            <a:chExt cx="7629893" cy="800100"/>
          </a:xfrm>
        </p:grpSpPr>
        <p:sp>
          <p:nvSpPr>
            <p:cNvPr id="31" name="Freeform 31"/>
            <p:cNvSpPr/>
            <p:nvPr/>
          </p:nvSpPr>
          <p:spPr>
            <a:xfrm>
              <a:off x="0" y="0"/>
              <a:ext cx="7629896" cy="800101"/>
            </a:xfrm>
            <a:custGeom>
              <a:avLst/>
              <a:gdLst/>
              <a:ahLst/>
              <a:cxnLst/>
              <a:rect l="l" t="t" r="r" b="b"/>
              <a:pathLst>
                <a:path w="7629896" h="800101">
                  <a:moveTo>
                    <a:pt x="0" y="0"/>
                  </a:moveTo>
                  <a:lnTo>
                    <a:pt x="7629896" y="0"/>
                  </a:lnTo>
                  <a:lnTo>
                    <a:pt x="7629896" y="800101"/>
                  </a:lnTo>
                  <a:lnTo>
                    <a:pt x="0" y="800101"/>
                  </a:lnTo>
                  <a:close/>
                </a:path>
              </a:pathLst>
            </a:custGeom>
            <a:blipFill>
              <a:blip r:embed="rId4">
                <a:alphaModFix amt="0"/>
              </a:blip>
              <a:stretch>
                <a:fillRect t="-135812" b="-135812"/>
              </a:stretch>
            </a:blipFill>
          </p:spPr>
          <p:txBody>
            <a:bodyPr/>
            <a:lstStyle/>
            <a:p>
              <a:endParaRPr lang="en-SA"/>
            </a:p>
          </p:txBody>
        </p:sp>
        <p:sp>
          <p:nvSpPr>
            <p:cNvPr id="32" name="TextBox 32"/>
            <p:cNvSpPr txBox="1"/>
            <p:nvPr/>
          </p:nvSpPr>
          <p:spPr>
            <a:xfrm>
              <a:off x="0" y="0"/>
              <a:ext cx="7629893" cy="800100"/>
            </a:xfrm>
            <a:prstGeom prst="rect">
              <a:avLst/>
            </a:prstGeom>
          </p:spPr>
          <p:txBody>
            <a:bodyPr lIns="0" tIns="0" rIns="0" bIns="0" rtlCol="0" anchor="ctr"/>
            <a:lstStyle/>
            <a:p>
              <a:pPr algn="r">
                <a:lnSpc>
                  <a:spcPts val="2280"/>
                </a:lnSpc>
              </a:pPr>
              <a:r>
                <a:rPr lang="ar-EG" sz="1900">
                  <a:solidFill>
                    <a:srgbClr val="475569"/>
                  </a:solidFill>
                  <a:latin typeface="Cairo"/>
                  <a:ea typeface="Cairo"/>
                  <a:cs typeface="Cairo"/>
                  <a:sym typeface="Cairo"/>
                  <a:rtl/>
                </a:rPr>
                <a:t>تكتشف الأنسجة، التباين، والأشكال الهندسية البسيطة</a:t>
              </a:r>
            </a:p>
          </p:txBody>
        </p:sp>
      </p:grpSp>
      <p:sp>
        <p:nvSpPr>
          <p:cNvPr id="33" name="TextBox 33"/>
          <p:cNvSpPr txBox="1"/>
          <p:nvPr/>
        </p:nvSpPr>
        <p:spPr>
          <a:xfrm>
            <a:off x="3536042" y="4830956"/>
            <a:ext cx="2575322" cy="482203"/>
          </a:xfrm>
          <a:prstGeom prst="rect">
            <a:avLst/>
          </a:prstGeom>
        </p:spPr>
        <p:txBody>
          <a:bodyPr lIns="0" tIns="0" rIns="0" bIns="0" rtlCol="0" anchor="t">
            <a:spAutoFit/>
          </a:bodyPr>
          <a:lstStyle/>
          <a:p>
            <a:pPr algn="r">
              <a:lnSpc>
                <a:spcPts val="2160"/>
              </a:lnSpc>
            </a:pPr>
            <a:r>
              <a:rPr lang="ar-EG" sz="1800" b="1">
                <a:solidFill>
                  <a:srgbClr val="475569"/>
                </a:solidFill>
                <a:latin typeface="Cairo Bold"/>
                <a:ea typeface="Cairo Bold"/>
                <a:cs typeface="Cairo Bold"/>
                <a:sym typeface="Cairo Bold"/>
                <a:rtl/>
              </a:rPr>
              <a:t>الطبقة الثانية</a:t>
            </a:r>
            <a:r>
              <a:rPr lang="en-US" sz="1800" b="1">
                <a:solidFill>
                  <a:srgbClr val="475569"/>
                </a:solidFill>
                <a:latin typeface="Cairo Bold"/>
                <a:ea typeface="Cairo Bold"/>
                <a:cs typeface="Cairo Bold"/>
                <a:sym typeface="Cairo Bold"/>
              </a:rPr>
              <a:t> (Layer 2)</a:t>
            </a:r>
          </a:p>
        </p:txBody>
      </p:sp>
      <p:sp>
        <p:nvSpPr>
          <p:cNvPr id="34" name="TextBox 34"/>
          <p:cNvSpPr txBox="1"/>
          <p:nvPr/>
        </p:nvSpPr>
        <p:spPr>
          <a:xfrm>
            <a:off x="16052006" y="5431041"/>
            <a:ext cx="1321594" cy="482203"/>
          </a:xfrm>
          <a:prstGeom prst="rect">
            <a:avLst/>
          </a:prstGeom>
        </p:spPr>
        <p:txBody>
          <a:bodyPr lIns="0" tIns="0" rIns="0" bIns="0" rtlCol="0" anchor="t">
            <a:spAutoFit/>
          </a:bodyPr>
          <a:lstStyle/>
          <a:p>
            <a:pPr algn="r">
              <a:lnSpc>
                <a:spcPts val="2160"/>
              </a:lnSpc>
            </a:pPr>
            <a:r>
              <a:rPr lang="ar-EG" sz="1800" b="1">
                <a:solidFill>
                  <a:srgbClr val="475569"/>
                </a:solidFill>
                <a:latin typeface="Cairo Bold"/>
                <a:ea typeface="Cairo Bold"/>
                <a:cs typeface="Cairo Bold"/>
                <a:sym typeface="Cairo Bold"/>
                <a:rtl/>
              </a:rPr>
              <a:t>المنطقة</a:t>
            </a:r>
            <a:r>
              <a:rPr lang="en-US" sz="1800" b="1">
                <a:solidFill>
                  <a:srgbClr val="475569"/>
                </a:solidFill>
                <a:latin typeface="Cairo Bold"/>
                <a:ea typeface="Cairo Bold"/>
                <a:cs typeface="Cairo Bold"/>
                <a:sym typeface="Cairo Bold"/>
              </a:rPr>
              <a:t> V4</a:t>
            </a:r>
          </a:p>
        </p:txBody>
      </p:sp>
      <p:grpSp>
        <p:nvGrpSpPr>
          <p:cNvPr id="35" name="Group 35"/>
          <p:cNvGrpSpPr/>
          <p:nvPr/>
        </p:nvGrpSpPr>
        <p:grpSpPr>
          <a:xfrm>
            <a:off x="6282814" y="5329238"/>
            <a:ext cx="5722420" cy="600075"/>
            <a:chOff x="0" y="0"/>
            <a:chExt cx="7629893" cy="800100"/>
          </a:xfrm>
        </p:grpSpPr>
        <p:sp>
          <p:nvSpPr>
            <p:cNvPr id="36" name="Freeform 36"/>
            <p:cNvSpPr/>
            <p:nvPr/>
          </p:nvSpPr>
          <p:spPr>
            <a:xfrm>
              <a:off x="0" y="0"/>
              <a:ext cx="7629896" cy="800101"/>
            </a:xfrm>
            <a:custGeom>
              <a:avLst/>
              <a:gdLst/>
              <a:ahLst/>
              <a:cxnLst/>
              <a:rect l="l" t="t" r="r" b="b"/>
              <a:pathLst>
                <a:path w="7629896" h="800101">
                  <a:moveTo>
                    <a:pt x="0" y="0"/>
                  </a:moveTo>
                  <a:lnTo>
                    <a:pt x="7629896" y="0"/>
                  </a:lnTo>
                  <a:lnTo>
                    <a:pt x="7629896" y="800101"/>
                  </a:lnTo>
                  <a:lnTo>
                    <a:pt x="0" y="800101"/>
                  </a:lnTo>
                  <a:close/>
                </a:path>
              </a:pathLst>
            </a:custGeom>
            <a:blipFill>
              <a:blip r:embed="rId4">
                <a:alphaModFix amt="0"/>
              </a:blip>
              <a:stretch>
                <a:fillRect t="-135812" b="-135812"/>
              </a:stretch>
            </a:blipFill>
          </p:spPr>
          <p:txBody>
            <a:bodyPr/>
            <a:lstStyle/>
            <a:p>
              <a:endParaRPr lang="en-SA"/>
            </a:p>
          </p:txBody>
        </p:sp>
        <p:sp>
          <p:nvSpPr>
            <p:cNvPr id="37" name="TextBox 37"/>
            <p:cNvSpPr txBox="1"/>
            <p:nvPr/>
          </p:nvSpPr>
          <p:spPr>
            <a:xfrm>
              <a:off x="0" y="0"/>
              <a:ext cx="7629893" cy="800100"/>
            </a:xfrm>
            <a:prstGeom prst="rect">
              <a:avLst/>
            </a:prstGeom>
          </p:spPr>
          <p:txBody>
            <a:bodyPr lIns="0" tIns="0" rIns="0" bIns="0" rtlCol="0" anchor="ctr"/>
            <a:lstStyle/>
            <a:p>
              <a:pPr algn="r">
                <a:lnSpc>
                  <a:spcPts val="2280"/>
                </a:lnSpc>
              </a:pPr>
              <a:r>
                <a:rPr lang="ar-EG" sz="1900">
                  <a:solidFill>
                    <a:srgbClr val="475569"/>
                  </a:solidFill>
                  <a:latin typeface="Cairo"/>
                  <a:ea typeface="Cairo"/>
                  <a:cs typeface="Cairo"/>
                  <a:sym typeface="Cairo"/>
                  <a:rtl/>
                </a:rPr>
                <a:t>تكتشف الألوان والأشكال الأكثر تعقيداً وتركيباً</a:t>
              </a:r>
            </a:p>
          </p:txBody>
        </p:sp>
      </p:grpSp>
      <p:sp>
        <p:nvSpPr>
          <p:cNvPr id="38" name="TextBox 38"/>
          <p:cNvSpPr txBox="1"/>
          <p:nvPr/>
        </p:nvSpPr>
        <p:spPr>
          <a:xfrm>
            <a:off x="3532470" y="5431041"/>
            <a:ext cx="2578894" cy="482203"/>
          </a:xfrm>
          <a:prstGeom prst="rect">
            <a:avLst/>
          </a:prstGeom>
        </p:spPr>
        <p:txBody>
          <a:bodyPr lIns="0" tIns="0" rIns="0" bIns="0" rtlCol="0" anchor="t">
            <a:spAutoFit/>
          </a:bodyPr>
          <a:lstStyle/>
          <a:p>
            <a:pPr algn="r">
              <a:lnSpc>
                <a:spcPts val="2160"/>
              </a:lnSpc>
            </a:pPr>
            <a:r>
              <a:rPr lang="ar-EG" sz="1800" b="1">
                <a:solidFill>
                  <a:srgbClr val="475569"/>
                </a:solidFill>
                <a:latin typeface="Cairo Bold"/>
                <a:ea typeface="Cairo Bold"/>
                <a:cs typeface="Cairo Bold"/>
                <a:sym typeface="Cairo Bold"/>
                <a:rtl/>
              </a:rPr>
              <a:t>الطبقة الثالثة</a:t>
            </a:r>
            <a:r>
              <a:rPr lang="en-US" sz="1800" b="1">
                <a:solidFill>
                  <a:srgbClr val="475569"/>
                </a:solidFill>
                <a:latin typeface="Cairo Bold"/>
                <a:ea typeface="Cairo Bold"/>
                <a:cs typeface="Cairo Bold"/>
                <a:sym typeface="Cairo Bold"/>
              </a:rPr>
              <a:t> (Layer 3)</a:t>
            </a:r>
          </a:p>
        </p:txBody>
      </p:sp>
      <p:grpSp>
        <p:nvGrpSpPr>
          <p:cNvPr id="39" name="Group 39"/>
          <p:cNvGrpSpPr/>
          <p:nvPr/>
        </p:nvGrpSpPr>
        <p:grpSpPr>
          <a:xfrm>
            <a:off x="728662" y="5929312"/>
            <a:ext cx="16830675" cy="600075"/>
            <a:chOff x="0" y="0"/>
            <a:chExt cx="22440900" cy="800100"/>
          </a:xfrm>
        </p:grpSpPr>
        <p:sp>
          <p:nvSpPr>
            <p:cNvPr id="40" name="Freeform 40"/>
            <p:cNvSpPr/>
            <p:nvPr/>
          </p:nvSpPr>
          <p:spPr>
            <a:xfrm>
              <a:off x="0" y="0"/>
              <a:ext cx="22440900" cy="800100"/>
            </a:xfrm>
            <a:custGeom>
              <a:avLst/>
              <a:gdLst/>
              <a:ahLst/>
              <a:cxnLst/>
              <a:rect l="l" t="t" r="r" b="b"/>
              <a:pathLst>
                <a:path w="22440900" h="800100">
                  <a:moveTo>
                    <a:pt x="0" y="0"/>
                  </a:moveTo>
                  <a:lnTo>
                    <a:pt x="22440900" y="0"/>
                  </a:lnTo>
                  <a:lnTo>
                    <a:pt x="22440900" y="800100"/>
                  </a:lnTo>
                  <a:lnTo>
                    <a:pt x="0" y="800100"/>
                  </a:lnTo>
                  <a:close/>
                </a:path>
              </a:pathLst>
            </a:custGeom>
            <a:solidFill>
              <a:srgbClr val="F1F5F9"/>
            </a:solidFill>
          </p:spPr>
          <p:txBody>
            <a:bodyPr/>
            <a:lstStyle/>
            <a:p>
              <a:endParaRPr lang="en-SA"/>
            </a:p>
          </p:txBody>
        </p:sp>
      </p:grpSp>
      <p:sp>
        <p:nvSpPr>
          <p:cNvPr id="41" name="TextBox 41"/>
          <p:cNvSpPr txBox="1"/>
          <p:nvPr/>
        </p:nvSpPr>
        <p:spPr>
          <a:xfrm>
            <a:off x="13987462" y="6027544"/>
            <a:ext cx="3386138" cy="482203"/>
          </a:xfrm>
          <a:prstGeom prst="rect">
            <a:avLst/>
          </a:prstGeom>
        </p:spPr>
        <p:txBody>
          <a:bodyPr lIns="0" tIns="0" rIns="0" bIns="0" rtlCol="0" anchor="t">
            <a:spAutoFit/>
          </a:bodyPr>
          <a:lstStyle/>
          <a:p>
            <a:pPr algn="r">
              <a:lnSpc>
                <a:spcPts val="2160"/>
              </a:lnSpc>
            </a:pPr>
            <a:r>
              <a:rPr lang="ar-EG" sz="1800" b="1">
                <a:solidFill>
                  <a:srgbClr val="475569"/>
                </a:solidFill>
                <a:latin typeface="Cairo Bold"/>
                <a:ea typeface="Cairo Bold"/>
                <a:cs typeface="Cairo Bold"/>
                <a:sym typeface="Cairo Bold"/>
                <a:rtl/>
              </a:rPr>
              <a:t>المنطقة</a:t>
            </a:r>
            <a:r>
              <a:rPr lang="en-US" sz="1800" b="1">
                <a:solidFill>
                  <a:srgbClr val="475569"/>
                </a:solidFill>
                <a:latin typeface="Cairo Bold"/>
                <a:ea typeface="Cairo Bold"/>
                <a:cs typeface="Cairo Bold"/>
                <a:sym typeface="Cairo Bold"/>
              </a:rPr>
              <a:t> IT (</a:t>
            </a:r>
            <a:r>
              <a:rPr lang="ar-EG" sz="1800" b="1">
                <a:solidFill>
                  <a:srgbClr val="475569"/>
                </a:solidFill>
                <a:latin typeface="Cairo Bold"/>
                <a:ea typeface="Cairo Bold"/>
                <a:cs typeface="Cairo Bold"/>
                <a:sym typeface="Cairo Bold"/>
                <a:rtl/>
              </a:rPr>
              <a:t>الصدغية السفلية</a:t>
            </a:r>
            <a:r>
              <a:rPr lang="en-US" sz="1800" b="1">
                <a:solidFill>
                  <a:srgbClr val="475569"/>
                </a:solidFill>
                <a:latin typeface="Cairo Bold"/>
                <a:ea typeface="Cairo Bold"/>
                <a:cs typeface="Cairo Bold"/>
                <a:sym typeface="Cairo Bold"/>
              </a:rPr>
              <a:t>)</a:t>
            </a:r>
          </a:p>
        </p:txBody>
      </p:sp>
      <p:grpSp>
        <p:nvGrpSpPr>
          <p:cNvPr id="42" name="Group 42"/>
          <p:cNvGrpSpPr/>
          <p:nvPr/>
        </p:nvGrpSpPr>
        <p:grpSpPr>
          <a:xfrm>
            <a:off x="6282814" y="5929312"/>
            <a:ext cx="5722420" cy="600075"/>
            <a:chOff x="0" y="0"/>
            <a:chExt cx="7629893" cy="800100"/>
          </a:xfrm>
        </p:grpSpPr>
        <p:sp>
          <p:nvSpPr>
            <p:cNvPr id="43" name="Freeform 43"/>
            <p:cNvSpPr/>
            <p:nvPr/>
          </p:nvSpPr>
          <p:spPr>
            <a:xfrm>
              <a:off x="0" y="0"/>
              <a:ext cx="7629896" cy="800101"/>
            </a:xfrm>
            <a:custGeom>
              <a:avLst/>
              <a:gdLst/>
              <a:ahLst/>
              <a:cxnLst/>
              <a:rect l="l" t="t" r="r" b="b"/>
              <a:pathLst>
                <a:path w="7629896" h="800101">
                  <a:moveTo>
                    <a:pt x="0" y="0"/>
                  </a:moveTo>
                  <a:lnTo>
                    <a:pt x="7629896" y="0"/>
                  </a:lnTo>
                  <a:lnTo>
                    <a:pt x="7629896" y="800101"/>
                  </a:lnTo>
                  <a:lnTo>
                    <a:pt x="0" y="800101"/>
                  </a:lnTo>
                  <a:close/>
                </a:path>
              </a:pathLst>
            </a:custGeom>
            <a:blipFill>
              <a:blip r:embed="rId4">
                <a:alphaModFix amt="0"/>
              </a:blip>
              <a:stretch>
                <a:fillRect t="-135812" b="-135812"/>
              </a:stretch>
            </a:blipFill>
          </p:spPr>
          <p:txBody>
            <a:bodyPr/>
            <a:lstStyle/>
            <a:p>
              <a:endParaRPr lang="en-SA"/>
            </a:p>
          </p:txBody>
        </p:sp>
        <p:sp>
          <p:nvSpPr>
            <p:cNvPr id="44" name="TextBox 44"/>
            <p:cNvSpPr txBox="1"/>
            <p:nvPr/>
          </p:nvSpPr>
          <p:spPr>
            <a:xfrm>
              <a:off x="0" y="0"/>
              <a:ext cx="7629893" cy="800100"/>
            </a:xfrm>
            <a:prstGeom prst="rect">
              <a:avLst/>
            </a:prstGeom>
          </p:spPr>
          <p:txBody>
            <a:bodyPr lIns="0" tIns="0" rIns="0" bIns="0" rtlCol="0" anchor="ctr"/>
            <a:lstStyle/>
            <a:p>
              <a:pPr algn="r">
                <a:lnSpc>
                  <a:spcPts val="2280"/>
                </a:lnSpc>
              </a:pPr>
              <a:r>
                <a:rPr lang="ar-EG" sz="1900">
                  <a:solidFill>
                    <a:srgbClr val="475569"/>
                  </a:solidFill>
                  <a:latin typeface="Cairo"/>
                  <a:ea typeface="Cairo"/>
                  <a:cs typeface="Cairo"/>
                  <a:sym typeface="Cairo"/>
                  <a:rtl/>
                </a:rPr>
                <a:t>تتعرف على الأشياء الكاملة والوجوه والهويات بدقة</a:t>
              </a:r>
            </a:p>
          </p:txBody>
        </p:sp>
      </p:grpSp>
      <p:sp>
        <p:nvSpPr>
          <p:cNvPr id="45" name="TextBox 45"/>
          <p:cNvSpPr txBox="1"/>
          <p:nvPr/>
        </p:nvSpPr>
        <p:spPr>
          <a:xfrm>
            <a:off x="2764517" y="6027544"/>
            <a:ext cx="3346847" cy="482203"/>
          </a:xfrm>
          <a:prstGeom prst="rect">
            <a:avLst/>
          </a:prstGeom>
        </p:spPr>
        <p:txBody>
          <a:bodyPr lIns="0" tIns="0" rIns="0" bIns="0" rtlCol="0" anchor="t">
            <a:spAutoFit/>
          </a:bodyPr>
          <a:lstStyle/>
          <a:p>
            <a:pPr algn="r">
              <a:lnSpc>
                <a:spcPts val="2160"/>
              </a:lnSpc>
            </a:pPr>
            <a:r>
              <a:rPr lang="ar-EG" sz="1800" b="1">
                <a:solidFill>
                  <a:srgbClr val="475569"/>
                </a:solidFill>
                <a:latin typeface="Cairo Bold"/>
                <a:ea typeface="Cairo Bold"/>
                <a:cs typeface="Cairo Bold"/>
                <a:sym typeface="Cairo Bold"/>
                <a:rtl/>
              </a:rPr>
              <a:t>طبقات الإخراج</a:t>
            </a:r>
            <a:r>
              <a:rPr lang="en-US" sz="1800" b="1">
                <a:solidFill>
                  <a:srgbClr val="475569"/>
                </a:solidFill>
                <a:latin typeface="Cairo Bold"/>
                <a:ea typeface="Cairo Bold"/>
                <a:cs typeface="Cairo Bold"/>
                <a:sym typeface="Cairo Bold"/>
              </a:rPr>
              <a:t> (Output Layers)</a:t>
            </a:r>
          </a:p>
        </p:txBody>
      </p:sp>
      <p:grpSp>
        <p:nvGrpSpPr>
          <p:cNvPr id="46" name="Group 46"/>
          <p:cNvGrpSpPr/>
          <p:nvPr/>
        </p:nvGrpSpPr>
        <p:grpSpPr>
          <a:xfrm>
            <a:off x="17287875" y="8704659"/>
            <a:ext cx="285750" cy="285750"/>
            <a:chOff x="0" y="0"/>
            <a:chExt cx="381000" cy="381000"/>
          </a:xfrm>
        </p:grpSpPr>
        <p:sp>
          <p:nvSpPr>
            <p:cNvPr id="47" name="Freeform 47" descr="preencoded.png"/>
            <p:cNvSpPr/>
            <p:nvPr/>
          </p:nvSpPr>
          <p:spPr>
            <a:xfrm>
              <a:off x="0" y="0"/>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blipFill>
              <a:blip r:embed="rId5"/>
              <a:stretch>
                <a:fillRect t="-2500" b="-2500"/>
              </a:stretch>
            </a:blipFill>
          </p:spPr>
          <p:txBody>
            <a:bodyPr/>
            <a:lstStyle/>
            <a:p>
              <a:endParaRPr lang="en-SA"/>
            </a:p>
          </p:txBody>
        </p:sp>
      </p:grpSp>
      <p:sp>
        <p:nvSpPr>
          <p:cNvPr id="48" name="TextBox 48"/>
          <p:cNvSpPr txBox="1"/>
          <p:nvPr/>
        </p:nvSpPr>
        <p:spPr>
          <a:xfrm>
            <a:off x="3378994" y="8579644"/>
            <a:ext cx="13766006" cy="307777"/>
          </a:xfrm>
          <a:prstGeom prst="rect">
            <a:avLst/>
          </a:prstGeom>
        </p:spPr>
        <p:txBody>
          <a:bodyPr lIns="0" tIns="0" rIns="0" bIns="0" rtlCol="0" anchor="t">
            <a:spAutoFit/>
          </a:bodyPr>
          <a:lstStyle/>
          <a:p>
            <a:pPr algn="r" rtl="1">
              <a:lnSpc>
                <a:spcPts val="2400"/>
              </a:lnSpc>
            </a:pPr>
            <a:r>
              <a:rPr lang="ar-EG" sz="2000" b="1" dirty="0">
                <a:solidFill>
                  <a:srgbClr val="EA580C"/>
                </a:solidFill>
                <a:latin typeface="Cairo Bold"/>
                <a:ea typeface="Cairo Bold"/>
                <a:cs typeface="Cairo Bold"/>
                <a:sym typeface="Cairo Bold"/>
                <a:rtl/>
              </a:rPr>
              <a:t>هذا التطابق المذهل لم يكن صدفة! لقد صمم العلماء الشبكات العصبية عمداً لتعكس المسار البصري في دماغك</a:t>
            </a:r>
            <a:r>
              <a:rPr lang="en-US" sz="2000" b="1" dirty="0">
                <a:solidFill>
                  <a:srgbClr val="EA580C"/>
                </a:solidFill>
                <a:latin typeface="Cairo Bold"/>
                <a:ea typeface="Cairo Bold"/>
                <a:cs typeface="Cairo Bold"/>
                <a:sym typeface="Cairo Bold"/>
              </a:rPr>
              <a:t>.</a:t>
            </a:r>
          </a:p>
        </p:txBody>
      </p:sp>
      <p:sp>
        <p:nvSpPr>
          <p:cNvPr id="49" name="TextBox 49"/>
          <p:cNvSpPr txBox="1"/>
          <p:nvPr/>
        </p:nvSpPr>
        <p:spPr>
          <a:xfrm>
            <a:off x="15034022" y="9601200"/>
            <a:ext cx="2762809" cy="333425"/>
          </a:xfrm>
          <a:prstGeom prst="rect">
            <a:avLst/>
          </a:prstGeom>
        </p:spPr>
        <p:txBody>
          <a:bodyPr lIns="0" tIns="0" rIns="0" bIns="0" rtlCol="0" anchor="t">
            <a:spAutoFit/>
          </a:bodyPr>
          <a:lstStyle/>
          <a:p>
            <a:pPr algn="r">
              <a:lnSpc>
                <a:spcPts val="2595"/>
              </a:lnSpc>
            </a:pPr>
            <a:r>
              <a:rPr lang="ar-EG" sz="1800" dirty="0">
                <a:solidFill>
                  <a:srgbClr val="64748B"/>
                </a:solidFill>
                <a:latin typeface="Cairo Light"/>
                <a:ea typeface="Cairo Light"/>
                <a:cs typeface="Cairo Light"/>
                <a:sym typeface="Cairo Light"/>
                <a:rtl/>
              </a:rPr>
              <a:t>اليوم الثالث · مبني على صورتنا</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SA"/>
            </a:p>
          </p:txBody>
        </p:sp>
      </p:grpSp>
      <p:sp>
        <p:nvSpPr>
          <p:cNvPr id="4" name="TextBox 4"/>
          <p:cNvSpPr txBox="1"/>
          <p:nvPr/>
        </p:nvSpPr>
        <p:spPr>
          <a:xfrm>
            <a:off x="14262497" y="1000125"/>
            <a:ext cx="2739628" cy="642938"/>
          </a:xfrm>
          <a:prstGeom prst="rect">
            <a:avLst/>
          </a:prstGeom>
        </p:spPr>
        <p:txBody>
          <a:bodyPr lIns="0" tIns="0" rIns="0" bIns="0" rtlCol="0" anchor="t">
            <a:spAutoFit/>
          </a:bodyPr>
          <a:lstStyle/>
          <a:p>
            <a:pPr algn="r">
              <a:lnSpc>
                <a:spcPts val="2879"/>
              </a:lnSpc>
            </a:pPr>
            <a:r>
              <a:rPr lang="ar-EG" sz="2400" b="1">
                <a:solidFill>
                  <a:srgbClr val="0F172A"/>
                </a:solidFill>
                <a:latin typeface="Cairo Bold"/>
                <a:ea typeface="Cairo Bold"/>
                <a:cs typeface="Cairo Bold"/>
                <a:sym typeface="Cairo Bold"/>
                <a:rtl/>
              </a:rPr>
              <a:t>عميق مقابل ضحل</a:t>
            </a:r>
          </a:p>
        </p:txBody>
      </p:sp>
      <p:sp>
        <p:nvSpPr>
          <p:cNvPr id="5" name="TextBox 5"/>
          <p:cNvSpPr txBox="1"/>
          <p:nvPr/>
        </p:nvSpPr>
        <p:spPr>
          <a:xfrm>
            <a:off x="1285875" y="1107281"/>
            <a:ext cx="3800475" cy="428625"/>
          </a:xfrm>
          <a:prstGeom prst="rect">
            <a:avLst/>
          </a:prstGeom>
        </p:spPr>
        <p:txBody>
          <a:bodyPr lIns="0" tIns="0" rIns="0" bIns="0" rtlCol="0" anchor="t">
            <a:spAutoFit/>
          </a:bodyPr>
          <a:lstStyle/>
          <a:p>
            <a:pPr algn="r">
              <a:lnSpc>
                <a:spcPts val="1920"/>
              </a:lnSpc>
            </a:pPr>
            <a:r>
              <a:rPr lang="ar-EG" sz="1600" b="1">
                <a:solidFill>
                  <a:srgbClr val="EA580C"/>
                </a:solidFill>
                <a:latin typeface="Cairo Bold"/>
                <a:ea typeface="Cairo Bold"/>
                <a:cs typeface="Cairo Bold"/>
                <a:sym typeface="Cairo Bold"/>
                <a:rtl/>
              </a:rPr>
              <a:t>القسم الثالث: تشبيه الطبقات المخفية</a:t>
            </a:r>
          </a:p>
        </p:txBody>
      </p:sp>
      <p:sp>
        <p:nvSpPr>
          <p:cNvPr id="6" name="TextBox 6"/>
          <p:cNvSpPr txBox="1"/>
          <p:nvPr/>
        </p:nvSpPr>
        <p:spPr>
          <a:xfrm>
            <a:off x="1285875" y="2271712"/>
            <a:ext cx="15716250" cy="750094"/>
          </a:xfrm>
          <a:prstGeom prst="rect">
            <a:avLst/>
          </a:prstGeom>
        </p:spPr>
        <p:txBody>
          <a:bodyPr lIns="0" tIns="0" rIns="0" bIns="0" rtlCol="0" anchor="t">
            <a:spAutoFit/>
          </a:bodyPr>
          <a:lstStyle/>
          <a:p>
            <a:pPr algn="r">
              <a:lnSpc>
                <a:spcPts val="3359"/>
              </a:lnSpc>
            </a:pPr>
            <a:r>
              <a:rPr lang="ar-EG" sz="2799" b="1">
                <a:solidFill>
                  <a:srgbClr val="0F172A"/>
                </a:solidFill>
                <a:latin typeface="Cairo Bold"/>
                <a:ea typeface="Cairo Bold"/>
                <a:cs typeface="Cairo Bold"/>
                <a:sym typeface="Cairo Bold"/>
                <a:rtl/>
              </a:rPr>
              <a:t>العمق يصنع الفارق في قدرة الذكاء الاصطناعي</a:t>
            </a:r>
          </a:p>
        </p:txBody>
      </p:sp>
      <p:grpSp>
        <p:nvGrpSpPr>
          <p:cNvPr id="7" name="Group 7"/>
          <p:cNvGrpSpPr/>
          <p:nvPr/>
        </p:nvGrpSpPr>
        <p:grpSpPr>
          <a:xfrm>
            <a:off x="16687800" y="3502228"/>
            <a:ext cx="314325" cy="314325"/>
            <a:chOff x="0" y="0"/>
            <a:chExt cx="419100" cy="419100"/>
          </a:xfrm>
        </p:grpSpPr>
        <p:sp>
          <p:nvSpPr>
            <p:cNvPr id="8" name="Freeform 8" descr="preencoded.png"/>
            <p:cNvSpPr/>
            <p:nvPr/>
          </p:nvSpPr>
          <p:spPr>
            <a:xfrm>
              <a:off x="0" y="0"/>
              <a:ext cx="419100" cy="419100"/>
            </a:xfrm>
            <a:custGeom>
              <a:avLst/>
              <a:gdLst/>
              <a:ahLst/>
              <a:cxnLst/>
              <a:rect l="l" t="t" r="r" b="b"/>
              <a:pathLst>
                <a:path w="419100" h="419100">
                  <a:moveTo>
                    <a:pt x="0" y="0"/>
                  </a:moveTo>
                  <a:lnTo>
                    <a:pt x="419100" y="0"/>
                  </a:lnTo>
                  <a:lnTo>
                    <a:pt x="419100" y="419100"/>
                  </a:lnTo>
                  <a:lnTo>
                    <a:pt x="0" y="419100"/>
                  </a:lnTo>
                  <a:lnTo>
                    <a:pt x="0" y="0"/>
                  </a:lnTo>
                  <a:close/>
                </a:path>
              </a:pathLst>
            </a:custGeom>
            <a:blipFill>
              <a:blip r:embed="rId4"/>
              <a:stretch>
                <a:fillRect t="-2272" b="-2272"/>
              </a:stretch>
            </a:blipFill>
          </p:spPr>
          <p:txBody>
            <a:bodyPr/>
            <a:lstStyle/>
            <a:p>
              <a:endParaRPr lang="en-SA"/>
            </a:p>
          </p:txBody>
        </p:sp>
      </p:grpSp>
      <p:sp>
        <p:nvSpPr>
          <p:cNvPr id="9" name="TextBox 9"/>
          <p:cNvSpPr txBox="1"/>
          <p:nvPr/>
        </p:nvSpPr>
        <p:spPr>
          <a:xfrm>
            <a:off x="13155216" y="3364706"/>
            <a:ext cx="3389709" cy="589359"/>
          </a:xfrm>
          <a:prstGeom prst="rect">
            <a:avLst/>
          </a:prstGeom>
        </p:spPr>
        <p:txBody>
          <a:bodyPr lIns="0" tIns="0" rIns="0" bIns="0" rtlCol="0" anchor="t">
            <a:spAutoFit/>
          </a:bodyPr>
          <a:lstStyle/>
          <a:p>
            <a:pPr algn="r">
              <a:lnSpc>
                <a:spcPts val="2640"/>
              </a:lnSpc>
            </a:pPr>
            <a:r>
              <a:rPr lang="ar-EG" sz="2200" b="1">
                <a:solidFill>
                  <a:srgbClr val="0284C7"/>
                </a:solidFill>
                <a:latin typeface="Cairo Bold"/>
                <a:ea typeface="Cairo Bold"/>
                <a:cs typeface="Cairo Bold"/>
                <a:sym typeface="Cairo Bold"/>
                <a:rtl/>
              </a:rPr>
              <a:t>الشبكة الضحلة</a:t>
            </a:r>
            <a:r>
              <a:rPr lang="en-US" sz="2200" b="1">
                <a:solidFill>
                  <a:srgbClr val="0284C7"/>
                </a:solidFill>
                <a:latin typeface="Cairo Bold"/>
                <a:ea typeface="Cairo Bold"/>
                <a:cs typeface="Cairo Bold"/>
                <a:sym typeface="Cairo Bold"/>
              </a:rPr>
              <a:t> (Shallow)</a:t>
            </a:r>
          </a:p>
        </p:txBody>
      </p:sp>
      <p:sp>
        <p:nvSpPr>
          <p:cNvPr id="10" name="TextBox 10"/>
          <p:cNvSpPr txBox="1"/>
          <p:nvPr/>
        </p:nvSpPr>
        <p:spPr>
          <a:xfrm>
            <a:off x="10158412" y="4525566"/>
            <a:ext cx="6529388" cy="482203"/>
          </a:xfrm>
          <a:prstGeom prst="rect">
            <a:avLst/>
          </a:prstGeom>
        </p:spPr>
        <p:txBody>
          <a:bodyPr lIns="0" tIns="0" rIns="0" bIns="0" rtlCol="0" anchor="t">
            <a:spAutoFit/>
          </a:bodyPr>
          <a:lstStyle/>
          <a:p>
            <a:pPr algn="r">
              <a:lnSpc>
                <a:spcPts val="2160"/>
              </a:lnSpc>
            </a:pPr>
            <a:r>
              <a:rPr lang="ar-EG" sz="1800" b="1">
                <a:solidFill>
                  <a:srgbClr val="0F172A"/>
                </a:solidFill>
                <a:latin typeface="Cairo Bold"/>
                <a:ea typeface="Cairo Bold"/>
                <a:cs typeface="Cairo Bold"/>
                <a:sym typeface="Cairo Bold"/>
                <a:rtl/>
              </a:rPr>
              <a:t>طبقات قليلة جداً</a:t>
            </a:r>
            <a:r>
              <a:rPr lang="en-US" sz="1800" b="1">
                <a:solidFill>
                  <a:srgbClr val="0F172A"/>
                </a:solidFill>
                <a:latin typeface="Cairo Bold"/>
                <a:ea typeface="Cairo Bold"/>
                <a:cs typeface="Cairo Bold"/>
                <a:sym typeface="Cairo Bold"/>
              </a:rPr>
              <a:t> 🔲</a:t>
            </a:r>
          </a:p>
        </p:txBody>
      </p:sp>
      <p:sp>
        <p:nvSpPr>
          <p:cNvPr id="11" name="TextBox 11"/>
          <p:cNvSpPr txBox="1"/>
          <p:nvPr/>
        </p:nvSpPr>
        <p:spPr>
          <a:xfrm>
            <a:off x="10158412" y="5055394"/>
            <a:ext cx="6529388" cy="294953"/>
          </a:xfrm>
          <a:prstGeom prst="rect">
            <a:avLst/>
          </a:prstGeom>
        </p:spPr>
        <p:txBody>
          <a:bodyPr lIns="0" tIns="0" rIns="0" bIns="0" rtlCol="0" anchor="t">
            <a:spAutoFit/>
          </a:bodyPr>
          <a:lstStyle/>
          <a:p>
            <a:pPr algn="r" rtl="1">
              <a:lnSpc>
                <a:spcPts val="2304"/>
              </a:lnSpc>
            </a:pPr>
            <a:r>
              <a:rPr lang="ar-EG" sz="1600" dirty="0">
                <a:solidFill>
                  <a:srgbClr val="475569"/>
                </a:solidFill>
                <a:latin typeface="Cairo"/>
                <a:ea typeface="Cairo"/>
                <a:cs typeface="Cairo"/>
                <a:sym typeface="Cairo"/>
                <a:rtl/>
              </a:rPr>
              <a:t>تحتوي على طبقة مخفية واحدة أو اثنتين فقط لمعالجة البيانات وتمريرها</a:t>
            </a:r>
            <a:r>
              <a:rPr lang="en-US" sz="1600" dirty="0">
                <a:solidFill>
                  <a:srgbClr val="475569"/>
                </a:solidFill>
                <a:latin typeface="Cairo"/>
                <a:ea typeface="Cairo"/>
                <a:cs typeface="Cairo"/>
                <a:sym typeface="Cairo"/>
              </a:rPr>
              <a:t>.</a:t>
            </a:r>
          </a:p>
        </p:txBody>
      </p:sp>
      <p:sp>
        <p:nvSpPr>
          <p:cNvPr id="12" name="TextBox 12"/>
          <p:cNvSpPr txBox="1"/>
          <p:nvPr/>
        </p:nvSpPr>
        <p:spPr>
          <a:xfrm>
            <a:off x="9844088" y="6068616"/>
            <a:ext cx="7158038" cy="982320"/>
          </a:xfrm>
          <a:prstGeom prst="rect">
            <a:avLst/>
          </a:prstGeom>
        </p:spPr>
        <p:txBody>
          <a:bodyPr lIns="0" tIns="0" rIns="0" bIns="0" rtlCol="0" anchor="t">
            <a:spAutoFit/>
          </a:bodyPr>
          <a:lstStyle/>
          <a:p>
            <a:pPr algn="r" rtl="1">
              <a:lnSpc>
                <a:spcPts val="2611"/>
              </a:lnSpc>
            </a:pPr>
            <a:r>
              <a:rPr lang="ar-EG" sz="1700" dirty="0">
                <a:solidFill>
                  <a:srgbClr val="475569"/>
                </a:solidFill>
                <a:latin typeface="Cairo Light"/>
                <a:ea typeface="Cairo Light"/>
                <a:cs typeface="Cairo Light"/>
                <a:sym typeface="Cairo Light"/>
                <a:rtl/>
              </a:rPr>
              <a:t>تُستخدم هذه الشبكات لحل </a:t>
            </a:r>
            <a:r>
              <a:rPr lang="ar-EG" sz="1700" b="1" dirty="0">
                <a:solidFill>
                  <a:srgbClr val="0F172A"/>
                </a:solidFill>
                <a:latin typeface="Cairo Bold"/>
                <a:ea typeface="Cairo Bold"/>
                <a:cs typeface="Cairo Bold"/>
                <a:sym typeface="Cairo Bold"/>
                <a:rtl/>
              </a:rPr>
              <a:t>المشكلات البسيطة والواضحة</a:t>
            </a:r>
            <a:r>
              <a:rPr lang="ar-EG" sz="1700" dirty="0">
                <a:solidFill>
                  <a:srgbClr val="475569"/>
                </a:solidFill>
                <a:latin typeface="Cairo Light"/>
                <a:ea typeface="Cairo Light"/>
                <a:cs typeface="Cairo Light"/>
                <a:sym typeface="Cairo Light"/>
                <a:rtl/>
              </a:rPr>
              <a:t>، مثل تصنيف الأرقام المكتوبة بخط اليد أو التنبؤ بأسعار المنازل بناءً على مساحتها، حيث لا تحتاج لعمق كبير لاستخراج الأنماط</a:t>
            </a:r>
            <a:r>
              <a:rPr lang="en-US" sz="1700" dirty="0">
                <a:solidFill>
                  <a:srgbClr val="475569"/>
                </a:solidFill>
                <a:latin typeface="Cairo Light"/>
                <a:ea typeface="Cairo Light"/>
                <a:cs typeface="Cairo Light"/>
                <a:sym typeface="Cairo Light"/>
              </a:rPr>
              <a:t>.</a:t>
            </a:r>
          </a:p>
        </p:txBody>
      </p:sp>
      <p:grpSp>
        <p:nvGrpSpPr>
          <p:cNvPr id="13" name="Group 13"/>
          <p:cNvGrpSpPr/>
          <p:nvPr/>
        </p:nvGrpSpPr>
        <p:grpSpPr>
          <a:xfrm>
            <a:off x="8090297" y="3502228"/>
            <a:ext cx="353616" cy="314325"/>
            <a:chOff x="0" y="0"/>
            <a:chExt cx="471488" cy="419100"/>
          </a:xfrm>
        </p:grpSpPr>
        <p:sp>
          <p:nvSpPr>
            <p:cNvPr id="14" name="Freeform 14" descr="preencoded.png"/>
            <p:cNvSpPr/>
            <p:nvPr/>
          </p:nvSpPr>
          <p:spPr>
            <a:xfrm>
              <a:off x="0" y="0"/>
              <a:ext cx="471551" cy="419100"/>
            </a:xfrm>
            <a:custGeom>
              <a:avLst/>
              <a:gdLst/>
              <a:ahLst/>
              <a:cxnLst/>
              <a:rect l="l" t="t" r="r" b="b"/>
              <a:pathLst>
                <a:path w="471551" h="419100">
                  <a:moveTo>
                    <a:pt x="0" y="0"/>
                  </a:moveTo>
                  <a:lnTo>
                    <a:pt x="471551" y="0"/>
                  </a:lnTo>
                  <a:lnTo>
                    <a:pt x="471551" y="419100"/>
                  </a:lnTo>
                  <a:lnTo>
                    <a:pt x="0" y="419100"/>
                  </a:lnTo>
                  <a:lnTo>
                    <a:pt x="0" y="0"/>
                  </a:lnTo>
                  <a:close/>
                </a:path>
              </a:pathLst>
            </a:custGeom>
            <a:blipFill>
              <a:blip r:embed="rId5"/>
              <a:stretch>
                <a:fillRect t="-1748" r="13" b="-1751"/>
              </a:stretch>
            </a:blipFill>
          </p:spPr>
          <p:txBody>
            <a:bodyPr/>
            <a:lstStyle/>
            <a:p>
              <a:endParaRPr lang="en-SA"/>
            </a:p>
          </p:txBody>
        </p:sp>
      </p:grpSp>
      <p:sp>
        <p:nvSpPr>
          <p:cNvPr id="15" name="TextBox 15"/>
          <p:cNvSpPr txBox="1"/>
          <p:nvPr/>
        </p:nvSpPr>
        <p:spPr>
          <a:xfrm>
            <a:off x="4750594" y="3364706"/>
            <a:ext cx="3196828" cy="589359"/>
          </a:xfrm>
          <a:prstGeom prst="rect">
            <a:avLst/>
          </a:prstGeom>
        </p:spPr>
        <p:txBody>
          <a:bodyPr lIns="0" tIns="0" rIns="0" bIns="0" rtlCol="0" anchor="t">
            <a:spAutoFit/>
          </a:bodyPr>
          <a:lstStyle/>
          <a:p>
            <a:pPr algn="r">
              <a:lnSpc>
                <a:spcPts val="2640"/>
              </a:lnSpc>
            </a:pPr>
            <a:r>
              <a:rPr lang="ar-EG" sz="2200" b="1">
                <a:solidFill>
                  <a:srgbClr val="EA580C"/>
                </a:solidFill>
                <a:latin typeface="Cairo Bold"/>
                <a:ea typeface="Cairo Bold"/>
                <a:cs typeface="Cairo Bold"/>
                <a:sym typeface="Cairo Bold"/>
                <a:rtl/>
              </a:rPr>
              <a:t>الشبكة العميقة</a:t>
            </a:r>
            <a:r>
              <a:rPr lang="en-US" sz="2200" b="1">
                <a:solidFill>
                  <a:srgbClr val="EA580C"/>
                </a:solidFill>
                <a:latin typeface="Cairo Bold"/>
                <a:ea typeface="Cairo Bold"/>
                <a:cs typeface="Cairo Bold"/>
                <a:sym typeface="Cairo Bold"/>
              </a:rPr>
              <a:t> (Deep)</a:t>
            </a:r>
          </a:p>
        </p:txBody>
      </p:sp>
      <p:sp>
        <p:nvSpPr>
          <p:cNvPr id="16" name="TextBox 16"/>
          <p:cNvSpPr txBox="1"/>
          <p:nvPr/>
        </p:nvSpPr>
        <p:spPr>
          <a:xfrm>
            <a:off x="1600200" y="4525566"/>
            <a:ext cx="6529388" cy="482203"/>
          </a:xfrm>
          <a:prstGeom prst="rect">
            <a:avLst/>
          </a:prstGeom>
        </p:spPr>
        <p:txBody>
          <a:bodyPr lIns="0" tIns="0" rIns="0" bIns="0" rtlCol="0" anchor="t">
            <a:spAutoFit/>
          </a:bodyPr>
          <a:lstStyle/>
          <a:p>
            <a:pPr algn="r">
              <a:lnSpc>
                <a:spcPts val="2160"/>
              </a:lnSpc>
            </a:pPr>
            <a:r>
              <a:rPr lang="ar-EG" sz="1800" b="1">
                <a:solidFill>
                  <a:srgbClr val="0F172A"/>
                </a:solidFill>
                <a:latin typeface="Cairo Bold"/>
                <a:ea typeface="Cairo Bold"/>
                <a:cs typeface="Cairo Bold"/>
                <a:sym typeface="Cairo Bold"/>
                <a:rtl/>
              </a:rPr>
              <a:t>عشرات أو مئات الطبقات</a:t>
            </a:r>
            <a:r>
              <a:rPr lang="en-US" sz="1800" b="1">
                <a:solidFill>
                  <a:srgbClr val="0F172A"/>
                </a:solidFill>
                <a:latin typeface="Cairo Bold"/>
                <a:ea typeface="Cairo Bold"/>
                <a:cs typeface="Cairo Bold"/>
                <a:sym typeface="Cairo Bold"/>
              </a:rPr>
              <a:t> 🏗️</a:t>
            </a:r>
          </a:p>
        </p:txBody>
      </p:sp>
      <p:sp>
        <p:nvSpPr>
          <p:cNvPr id="17" name="TextBox 17"/>
          <p:cNvSpPr txBox="1"/>
          <p:nvPr/>
        </p:nvSpPr>
        <p:spPr>
          <a:xfrm>
            <a:off x="1600200" y="5055394"/>
            <a:ext cx="6529388" cy="589905"/>
          </a:xfrm>
          <a:prstGeom prst="rect">
            <a:avLst/>
          </a:prstGeom>
        </p:spPr>
        <p:txBody>
          <a:bodyPr lIns="0" tIns="0" rIns="0" bIns="0" rtlCol="0" anchor="t">
            <a:spAutoFit/>
          </a:bodyPr>
          <a:lstStyle/>
          <a:p>
            <a:pPr algn="r" rtl="1">
              <a:lnSpc>
                <a:spcPts val="2304"/>
              </a:lnSpc>
            </a:pPr>
            <a:r>
              <a:rPr lang="ar-EG" sz="1600" dirty="0">
                <a:solidFill>
                  <a:srgbClr val="475569"/>
                </a:solidFill>
                <a:latin typeface="Cairo"/>
                <a:ea typeface="Cairo"/>
                <a:cs typeface="Cairo"/>
                <a:sym typeface="Cairo"/>
                <a:rtl/>
              </a:rPr>
              <a:t>تحتوي على عدد ضخم من الطبقات المخفية المتتالية التي تفكك البيانات تدريجياً</a:t>
            </a:r>
            <a:r>
              <a:rPr lang="en-US" sz="1600" dirty="0">
                <a:solidFill>
                  <a:srgbClr val="475569"/>
                </a:solidFill>
                <a:latin typeface="Cairo"/>
                <a:ea typeface="Cairo"/>
                <a:cs typeface="Cairo"/>
                <a:sym typeface="Cairo"/>
              </a:rPr>
              <a:t>.</a:t>
            </a:r>
          </a:p>
        </p:txBody>
      </p:sp>
      <p:sp>
        <p:nvSpPr>
          <p:cNvPr id="18" name="TextBox 18"/>
          <p:cNvSpPr txBox="1"/>
          <p:nvPr/>
        </p:nvSpPr>
        <p:spPr>
          <a:xfrm>
            <a:off x="1285875" y="6068616"/>
            <a:ext cx="7158038" cy="982320"/>
          </a:xfrm>
          <a:prstGeom prst="rect">
            <a:avLst/>
          </a:prstGeom>
        </p:spPr>
        <p:txBody>
          <a:bodyPr lIns="0" tIns="0" rIns="0" bIns="0" rtlCol="0" anchor="t">
            <a:spAutoFit/>
          </a:bodyPr>
          <a:lstStyle/>
          <a:p>
            <a:pPr algn="r" rtl="1">
              <a:lnSpc>
                <a:spcPts val="2611"/>
              </a:lnSpc>
            </a:pPr>
            <a:r>
              <a:rPr lang="ar-EG" sz="1700" dirty="0">
                <a:solidFill>
                  <a:srgbClr val="475569"/>
                </a:solidFill>
                <a:latin typeface="Cairo Light"/>
                <a:ea typeface="Cairo Light"/>
                <a:cs typeface="Cairo Light"/>
                <a:sym typeface="Cairo Light"/>
                <a:rtl/>
              </a:rPr>
              <a:t>هذا هو أساس ما نسميه اليوم </a:t>
            </a:r>
            <a:r>
              <a:rPr lang="ar-EG" sz="1700" b="1" dirty="0">
                <a:solidFill>
                  <a:srgbClr val="0F172A"/>
                </a:solidFill>
                <a:latin typeface="Cairo Bold"/>
                <a:ea typeface="Cairo Bold"/>
                <a:cs typeface="Cairo Bold"/>
                <a:sym typeface="Cairo Bold"/>
                <a:rtl/>
              </a:rPr>
              <a:t>"التعلم العميق</a:t>
            </a:r>
            <a:r>
              <a:rPr lang="en-US" sz="1700" b="1" dirty="0">
                <a:solidFill>
                  <a:srgbClr val="0F172A"/>
                </a:solidFill>
                <a:latin typeface="Cairo Bold"/>
                <a:ea typeface="Cairo Bold"/>
                <a:cs typeface="Cairo Bold"/>
                <a:sym typeface="Cairo Bold"/>
              </a:rPr>
              <a:t>" (Deep Learning)</a:t>
            </a:r>
            <a:r>
              <a:rPr lang="ar-EG" sz="1700" dirty="0">
                <a:solidFill>
                  <a:srgbClr val="475569"/>
                </a:solidFill>
                <a:latin typeface="Cairo Light"/>
                <a:ea typeface="Cairo Light"/>
                <a:cs typeface="Cairo Light"/>
                <a:sym typeface="Cairo Light"/>
                <a:rtl/>
              </a:rPr>
              <a:t>؛ حيث تُستخدم لحل المشكلات بالغة التعقيد مثل التعرف على الوجوه، قيادة السيارات الذاتية، وفهم اللغات البشرية وترجمتها</a:t>
            </a:r>
            <a:r>
              <a:rPr lang="en-US" sz="1700" dirty="0">
                <a:solidFill>
                  <a:srgbClr val="475569"/>
                </a:solidFill>
                <a:latin typeface="Cairo Light"/>
                <a:ea typeface="Cairo Light"/>
                <a:cs typeface="Cairo Light"/>
                <a:sym typeface="Cairo Light"/>
              </a:rPr>
              <a:t>.</a:t>
            </a:r>
          </a:p>
        </p:txBody>
      </p:sp>
      <p:sp>
        <p:nvSpPr>
          <p:cNvPr id="19" name="TextBox 19"/>
          <p:cNvSpPr txBox="1"/>
          <p:nvPr/>
        </p:nvSpPr>
        <p:spPr>
          <a:xfrm>
            <a:off x="13868400" y="9601200"/>
            <a:ext cx="3297409" cy="333425"/>
          </a:xfrm>
          <a:prstGeom prst="rect">
            <a:avLst/>
          </a:prstGeom>
        </p:spPr>
        <p:txBody>
          <a:bodyPr wrap="square" lIns="0" tIns="0" rIns="0" bIns="0" rtlCol="0" anchor="t">
            <a:spAutoFit/>
          </a:bodyPr>
          <a:lstStyle/>
          <a:p>
            <a:pPr algn="r">
              <a:lnSpc>
                <a:spcPts val="2595"/>
              </a:lnSpc>
            </a:pPr>
            <a:r>
              <a:rPr lang="ar-EG" sz="1800" dirty="0">
                <a:solidFill>
                  <a:srgbClr val="64748B"/>
                </a:solidFill>
                <a:latin typeface="Cairo Light"/>
                <a:ea typeface="Cairo Light"/>
                <a:cs typeface="Cairo Light"/>
                <a:sym typeface="Cairo Light"/>
                <a:rtl/>
              </a:rPr>
              <a:t>اليوم الثالث · مبني على صورتنا</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SA"/>
            </a:p>
          </p:txBody>
        </p:sp>
      </p:grpSp>
      <p:sp>
        <p:nvSpPr>
          <p:cNvPr id="4" name="TextBox 4"/>
          <p:cNvSpPr txBox="1"/>
          <p:nvPr/>
        </p:nvSpPr>
        <p:spPr>
          <a:xfrm>
            <a:off x="15226903" y="1000125"/>
            <a:ext cx="1775222" cy="642938"/>
          </a:xfrm>
          <a:prstGeom prst="rect">
            <a:avLst/>
          </a:prstGeom>
        </p:spPr>
        <p:txBody>
          <a:bodyPr lIns="0" tIns="0" rIns="0" bIns="0" rtlCol="0" anchor="t">
            <a:spAutoFit/>
          </a:bodyPr>
          <a:lstStyle/>
          <a:p>
            <a:pPr algn="r">
              <a:lnSpc>
                <a:spcPts val="2879"/>
              </a:lnSpc>
            </a:pPr>
            <a:r>
              <a:rPr lang="ar-EG" sz="2400" b="1">
                <a:solidFill>
                  <a:srgbClr val="0F172A"/>
                </a:solidFill>
                <a:latin typeface="Cairo Bold"/>
                <a:ea typeface="Cairo Bold"/>
                <a:cs typeface="Cairo Bold"/>
                <a:sym typeface="Cairo Bold"/>
                <a:rtl/>
              </a:rPr>
              <a:t>تحقق سريع</a:t>
            </a:r>
          </a:p>
        </p:txBody>
      </p:sp>
      <p:sp>
        <p:nvSpPr>
          <p:cNvPr id="5" name="TextBox 5"/>
          <p:cNvSpPr txBox="1"/>
          <p:nvPr/>
        </p:nvSpPr>
        <p:spPr>
          <a:xfrm>
            <a:off x="1285875" y="1107281"/>
            <a:ext cx="3800475" cy="428625"/>
          </a:xfrm>
          <a:prstGeom prst="rect">
            <a:avLst/>
          </a:prstGeom>
        </p:spPr>
        <p:txBody>
          <a:bodyPr lIns="0" tIns="0" rIns="0" bIns="0" rtlCol="0" anchor="t">
            <a:spAutoFit/>
          </a:bodyPr>
          <a:lstStyle/>
          <a:p>
            <a:pPr algn="r">
              <a:lnSpc>
                <a:spcPts val="1920"/>
              </a:lnSpc>
            </a:pPr>
            <a:r>
              <a:rPr lang="ar-EG" sz="1600" b="1">
                <a:solidFill>
                  <a:srgbClr val="EA580C"/>
                </a:solidFill>
                <a:latin typeface="Cairo Bold"/>
                <a:ea typeface="Cairo Bold"/>
                <a:cs typeface="Cairo Bold"/>
                <a:sym typeface="Cairo Bold"/>
                <a:rtl/>
              </a:rPr>
              <a:t>القسم الثالث: تشبيه الطبقات المخفية</a:t>
            </a:r>
          </a:p>
        </p:txBody>
      </p:sp>
      <p:sp>
        <p:nvSpPr>
          <p:cNvPr id="6" name="TextBox 6"/>
          <p:cNvSpPr txBox="1"/>
          <p:nvPr/>
        </p:nvSpPr>
        <p:spPr>
          <a:xfrm>
            <a:off x="1285875" y="2271712"/>
            <a:ext cx="15716250" cy="419100"/>
          </a:xfrm>
          <a:prstGeom prst="rect">
            <a:avLst/>
          </a:prstGeom>
        </p:spPr>
        <p:txBody>
          <a:bodyPr lIns="0" tIns="0" rIns="0" bIns="0" rtlCol="0" anchor="t">
            <a:spAutoFit/>
          </a:bodyPr>
          <a:lstStyle/>
          <a:p>
            <a:pPr algn="r">
              <a:lnSpc>
                <a:spcPts val="3359"/>
              </a:lnSpc>
            </a:pPr>
            <a:r>
              <a:rPr lang="ar-EG" sz="2799" b="1">
                <a:solidFill>
                  <a:srgbClr val="0F172A"/>
                </a:solidFill>
                <a:latin typeface="Cairo Bold"/>
                <a:ea typeface="Cairo Bold"/>
                <a:cs typeface="Cairo Bold"/>
                <a:sym typeface="Cairo Bold"/>
                <a:rtl/>
              </a:rPr>
              <a:t>دورك الآن — فكّر كأنك شبكة عصبية ذكية</a:t>
            </a:r>
          </a:p>
        </p:txBody>
      </p:sp>
      <p:grpSp>
        <p:nvGrpSpPr>
          <p:cNvPr id="7" name="Group 7"/>
          <p:cNvGrpSpPr/>
          <p:nvPr/>
        </p:nvGrpSpPr>
        <p:grpSpPr>
          <a:xfrm>
            <a:off x="9844088" y="3364706"/>
            <a:ext cx="7158038" cy="5064919"/>
            <a:chOff x="0" y="0"/>
            <a:chExt cx="9544050" cy="6753225"/>
          </a:xfrm>
        </p:grpSpPr>
        <p:sp>
          <p:nvSpPr>
            <p:cNvPr id="8" name="Freeform 8"/>
            <p:cNvSpPr/>
            <p:nvPr/>
          </p:nvSpPr>
          <p:spPr>
            <a:xfrm>
              <a:off x="0" y="0"/>
              <a:ext cx="9544050" cy="6753225"/>
            </a:xfrm>
            <a:custGeom>
              <a:avLst/>
              <a:gdLst/>
              <a:ahLst/>
              <a:cxnLst/>
              <a:rect l="l" t="t" r="r" b="b"/>
              <a:pathLst>
                <a:path w="9544050" h="6753225">
                  <a:moveTo>
                    <a:pt x="0" y="0"/>
                  </a:moveTo>
                  <a:lnTo>
                    <a:pt x="9544050" y="0"/>
                  </a:lnTo>
                  <a:lnTo>
                    <a:pt x="9544050" y="6753225"/>
                  </a:lnTo>
                  <a:lnTo>
                    <a:pt x="0" y="6753225"/>
                  </a:lnTo>
                  <a:close/>
                </a:path>
              </a:pathLst>
            </a:custGeom>
            <a:solidFill>
              <a:srgbClr val="FFFFFF"/>
            </a:solidFill>
          </p:spPr>
          <p:txBody>
            <a:bodyPr/>
            <a:lstStyle/>
            <a:p>
              <a:endParaRPr lang="en-SA"/>
            </a:p>
          </p:txBody>
        </p:sp>
      </p:grpSp>
      <p:grpSp>
        <p:nvGrpSpPr>
          <p:cNvPr id="9" name="Group 9"/>
          <p:cNvGrpSpPr/>
          <p:nvPr/>
        </p:nvGrpSpPr>
        <p:grpSpPr>
          <a:xfrm>
            <a:off x="9844088" y="3364706"/>
            <a:ext cx="7158038" cy="85725"/>
            <a:chOff x="0" y="0"/>
            <a:chExt cx="9544050" cy="114300"/>
          </a:xfrm>
        </p:grpSpPr>
        <p:sp>
          <p:nvSpPr>
            <p:cNvPr id="10" name="Freeform 10"/>
            <p:cNvSpPr/>
            <p:nvPr/>
          </p:nvSpPr>
          <p:spPr>
            <a:xfrm>
              <a:off x="0" y="0"/>
              <a:ext cx="9544050" cy="114300"/>
            </a:xfrm>
            <a:custGeom>
              <a:avLst/>
              <a:gdLst/>
              <a:ahLst/>
              <a:cxnLst/>
              <a:rect l="l" t="t" r="r" b="b"/>
              <a:pathLst>
                <a:path w="9544050" h="114300">
                  <a:moveTo>
                    <a:pt x="0" y="0"/>
                  </a:moveTo>
                  <a:lnTo>
                    <a:pt x="9544050" y="0"/>
                  </a:lnTo>
                  <a:lnTo>
                    <a:pt x="9544050" y="114300"/>
                  </a:lnTo>
                  <a:lnTo>
                    <a:pt x="0" y="114300"/>
                  </a:lnTo>
                  <a:close/>
                </a:path>
              </a:pathLst>
            </a:custGeom>
            <a:solidFill>
              <a:srgbClr val="EA580C"/>
            </a:solidFill>
          </p:spPr>
          <p:txBody>
            <a:bodyPr/>
            <a:lstStyle/>
            <a:p>
              <a:endParaRPr lang="en-SA"/>
            </a:p>
          </p:txBody>
        </p:sp>
      </p:grpSp>
      <p:grpSp>
        <p:nvGrpSpPr>
          <p:cNvPr id="11" name="Group 11"/>
          <p:cNvGrpSpPr/>
          <p:nvPr/>
        </p:nvGrpSpPr>
        <p:grpSpPr>
          <a:xfrm>
            <a:off x="16973550" y="3364706"/>
            <a:ext cx="28575" cy="5064919"/>
            <a:chOff x="0" y="0"/>
            <a:chExt cx="38100" cy="6753225"/>
          </a:xfrm>
        </p:grpSpPr>
        <p:sp>
          <p:nvSpPr>
            <p:cNvPr id="12" name="Freeform 12"/>
            <p:cNvSpPr/>
            <p:nvPr/>
          </p:nvSpPr>
          <p:spPr>
            <a:xfrm>
              <a:off x="0" y="0"/>
              <a:ext cx="38100" cy="6753225"/>
            </a:xfrm>
            <a:custGeom>
              <a:avLst/>
              <a:gdLst/>
              <a:ahLst/>
              <a:cxnLst/>
              <a:rect l="l" t="t" r="r" b="b"/>
              <a:pathLst>
                <a:path w="38100" h="6753225">
                  <a:moveTo>
                    <a:pt x="0" y="0"/>
                  </a:moveTo>
                  <a:lnTo>
                    <a:pt x="38100" y="0"/>
                  </a:lnTo>
                  <a:lnTo>
                    <a:pt x="38100" y="6753225"/>
                  </a:lnTo>
                  <a:lnTo>
                    <a:pt x="0" y="6753225"/>
                  </a:lnTo>
                  <a:close/>
                </a:path>
              </a:pathLst>
            </a:custGeom>
            <a:solidFill>
              <a:srgbClr val="EA580C"/>
            </a:solidFill>
          </p:spPr>
          <p:txBody>
            <a:bodyPr/>
            <a:lstStyle/>
            <a:p>
              <a:endParaRPr lang="en-SA"/>
            </a:p>
          </p:txBody>
        </p:sp>
      </p:grpSp>
      <p:grpSp>
        <p:nvGrpSpPr>
          <p:cNvPr id="13" name="Group 13"/>
          <p:cNvGrpSpPr/>
          <p:nvPr/>
        </p:nvGrpSpPr>
        <p:grpSpPr>
          <a:xfrm>
            <a:off x="9844088" y="8401050"/>
            <a:ext cx="7158038" cy="28575"/>
            <a:chOff x="0" y="0"/>
            <a:chExt cx="9544050" cy="38100"/>
          </a:xfrm>
        </p:grpSpPr>
        <p:sp>
          <p:nvSpPr>
            <p:cNvPr id="14" name="Freeform 14"/>
            <p:cNvSpPr/>
            <p:nvPr/>
          </p:nvSpPr>
          <p:spPr>
            <a:xfrm>
              <a:off x="0" y="0"/>
              <a:ext cx="9544050" cy="38100"/>
            </a:xfrm>
            <a:custGeom>
              <a:avLst/>
              <a:gdLst/>
              <a:ahLst/>
              <a:cxnLst/>
              <a:rect l="l" t="t" r="r" b="b"/>
              <a:pathLst>
                <a:path w="9544050" h="38100">
                  <a:moveTo>
                    <a:pt x="0" y="0"/>
                  </a:moveTo>
                  <a:lnTo>
                    <a:pt x="9544050" y="0"/>
                  </a:lnTo>
                  <a:lnTo>
                    <a:pt x="9544050" y="38100"/>
                  </a:lnTo>
                  <a:lnTo>
                    <a:pt x="0" y="38100"/>
                  </a:lnTo>
                  <a:close/>
                </a:path>
              </a:pathLst>
            </a:custGeom>
            <a:solidFill>
              <a:srgbClr val="EA580C"/>
            </a:solidFill>
          </p:spPr>
          <p:txBody>
            <a:bodyPr/>
            <a:lstStyle/>
            <a:p>
              <a:endParaRPr lang="en-SA"/>
            </a:p>
          </p:txBody>
        </p:sp>
      </p:grpSp>
      <p:grpSp>
        <p:nvGrpSpPr>
          <p:cNvPr id="15" name="Group 15"/>
          <p:cNvGrpSpPr/>
          <p:nvPr/>
        </p:nvGrpSpPr>
        <p:grpSpPr>
          <a:xfrm>
            <a:off x="9844088" y="3364706"/>
            <a:ext cx="28575" cy="5064919"/>
            <a:chOff x="0" y="0"/>
            <a:chExt cx="38100" cy="6753225"/>
          </a:xfrm>
        </p:grpSpPr>
        <p:sp>
          <p:nvSpPr>
            <p:cNvPr id="16" name="Freeform 16"/>
            <p:cNvSpPr/>
            <p:nvPr/>
          </p:nvSpPr>
          <p:spPr>
            <a:xfrm>
              <a:off x="0" y="0"/>
              <a:ext cx="38100" cy="6753225"/>
            </a:xfrm>
            <a:custGeom>
              <a:avLst/>
              <a:gdLst/>
              <a:ahLst/>
              <a:cxnLst/>
              <a:rect l="l" t="t" r="r" b="b"/>
              <a:pathLst>
                <a:path w="38100" h="6753225">
                  <a:moveTo>
                    <a:pt x="0" y="0"/>
                  </a:moveTo>
                  <a:lnTo>
                    <a:pt x="38100" y="0"/>
                  </a:lnTo>
                  <a:lnTo>
                    <a:pt x="38100" y="6753225"/>
                  </a:lnTo>
                  <a:lnTo>
                    <a:pt x="0" y="6753225"/>
                  </a:lnTo>
                  <a:close/>
                </a:path>
              </a:pathLst>
            </a:custGeom>
            <a:solidFill>
              <a:srgbClr val="EA580C"/>
            </a:solidFill>
          </p:spPr>
          <p:txBody>
            <a:bodyPr/>
            <a:lstStyle/>
            <a:p>
              <a:endParaRPr lang="en-SA"/>
            </a:p>
          </p:txBody>
        </p:sp>
      </p:grpSp>
      <p:grpSp>
        <p:nvGrpSpPr>
          <p:cNvPr id="17" name="Group 17"/>
          <p:cNvGrpSpPr/>
          <p:nvPr/>
        </p:nvGrpSpPr>
        <p:grpSpPr>
          <a:xfrm>
            <a:off x="16344901" y="3801854"/>
            <a:ext cx="314325" cy="314325"/>
            <a:chOff x="0" y="0"/>
            <a:chExt cx="419100" cy="419100"/>
          </a:xfrm>
        </p:grpSpPr>
        <p:sp>
          <p:nvSpPr>
            <p:cNvPr id="18" name="Freeform 18" descr="preencoded.png"/>
            <p:cNvSpPr/>
            <p:nvPr/>
          </p:nvSpPr>
          <p:spPr>
            <a:xfrm>
              <a:off x="0" y="0"/>
              <a:ext cx="419100" cy="419100"/>
            </a:xfrm>
            <a:custGeom>
              <a:avLst/>
              <a:gdLst/>
              <a:ahLst/>
              <a:cxnLst/>
              <a:rect l="l" t="t" r="r" b="b"/>
              <a:pathLst>
                <a:path w="419100" h="419100">
                  <a:moveTo>
                    <a:pt x="0" y="0"/>
                  </a:moveTo>
                  <a:lnTo>
                    <a:pt x="419100" y="0"/>
                  </a:lnTo>
                  <a:lnTo>
                    <a:pt x="419100" y="419100"/>
                  </a:lnTo>
                  <a:lnTo>
                    <a:pt x="0" y="419100"/>
                  </a:lnTo>
                  <a:lnTo>
                    <a:pt x="0" y="0"/>
                  </a:lnTo>
                  <a:close/>
                </a:path>
              </a:pathLst>
            </a:custGeom>
            <a:blipFill>
              <a:blip r:embed="rId4"/>
              <a:stretch>
                <a:fillRect t="-2272" b="-2272"/>
              </a:stretch>
            </a:blipFill>
          </p:spPr>
          <p:txBody>
            <a:bodyPr/>
            <a:lstStyle/>
            <a:p>
              <a:endParaRPr lang="en-SA"/>
            </a:p>
          </p:txBody>
        </p:sp>
      </p:grpSp>
      <p:sp>
        <p:nvSpPr>
          <p:cNvPr id="19" name="TextBox 19"/>
          <p:cNvSpPr txBox="1"/>
          <p:nvPr/>
        </p:nvSpPr>
        <p:spPr>
          <a:xfrm>
            <a:off x="14526816" y="3793331"/>
            <a:ext cx="1675209" cy="334707"/>
          </a:xfrm>
          <a:prstGeom prst="rect">
            <a:avLst/>
          </a:prstGeom>
        </p:spPr>
        <p:txBody>
          <a:bodyPr lIns="0" tIns="0" rIns="0" bIns="0" rtlCol="0" anchor="t">
            <a:spAutoFit/>
          </a:bodyPr>
          <a:lstStyle/>
          <a:p>
            <a:pPr algn="r" rtl="1">
              <a:lnSpc>
                <a:spcPts val="2640"/>
              </a:lnSpc>
            </a:pPr>
            <a:r>
              <a:rPr lang="ar-EG" sz="2200" b="1" dirty="0">
                <a:solidFill>
                  <a:srgbClr val="EA580C"/>
                </a:solidFill>
                <a:latin typeface="Cairo Bold"/>
                <a:ea typeface="Cairo Bold"/>
                <a:cs typeface="Cairo Bold"/>
                <a:sym typeface="Cairo Bold"/>
                <a:rtl/>
              </a:rPr>
              <a:t>فكّر وناقش</a:t>
            </a:r>
            <a:r>
              <a:rPr lang="en-US" sz="2200" b="1" dirty="0">
                <a:solidFill>
                  <a:srgbClr val="EA580C"/>
                </a:solidFill>
                <a:latin typeface="Cairo Bold"/>
                <a:ea typeface="Cairo Bold"/>
                <a:cs typeface="Cairo Bold"/>
                <a:sym typeface="Cairo Bold"/>
              </a:rPr>
              <a:t>:</a:t>
            </a:r>
          </a:p>
        </p:txBody>
      </p:sp>
      <p:sp>
        <p:nvSpPr>
          <p:cNvPr id="20" name="TextBox 20"/>
          <p:cNvSpPr txBox="1"/>
          <p:nvPr/>
        </p:nvSpPr>
        <p:spPr>
          <a:xfrm>
            <a:off x="10186988" y="4544616"/>
            <a:ext cx="6472238" cy="723916"/>
          </a:xfrm>
          <a:prstGeom prst="rect">
            <a:avLst/>
          </a:prstGeom>
        </p:spPr>
        <p:txBody>
          <a:bodyPr lIns="0" tIns="0" rIns="0" bIns="0" rtlCol="0" anchor="t">
            <a:spAutoFit/>
          </a:bodyPr>
          <a:lstStyle/>
          <a:p>
            <a:pPr algn="r" rtl="1">
              <a:lnSpc>
                <a:spcPts val="2918"/>
              </a:lnSpc>
            </a:pPr>
            <a:r>
              <a:rPr lang="ar-EG" sz="1900" dirty="0">
                <a:solidFill>
                  <a:srgbClr val="0F172A"/>
                </a:solidFill>
                <a:latin typeface="Cairo"/>
                <a:ea typeface="Cairo"/>
                <a:cs typeface="Cairo"/>
                <a:sym typeface="Cairo"/>
                <a:rtl/>
              </a:rPr>
              <a:t>إذا كانت الشبكة العصبية الاصطناعية تحاول التعرف على صورة </a:t>
            </a:r>
            <a:r>
              <a:rPr lang="ar-EG" sz="1900" b="1" dirty="0">
                <a:solidFill>
                  <a:srgbClr val="0F172A"/>
                </a:solidFill>
                <a:latin typeface="Cairo Bold"/>
                <a:ea typeface="Cairo Bold"/>
                <a:cs typeface="Cairo Bold"/>
                <a:sym typeface="Cairo Bold"/>
                <a:rtl/>
              </a:rPr>
              <a:t>قطة</a:t>
            </a:r>
            <a:r>
              <a:rPr lang="en-US" sz="1900" dirty="0">
                <a:solidFill>
                  <a:srgbClr val="0F172A"/>
                </a:solidFill>
                <a:latin typeface="Cairo"/>
                <a:ea typeface="Cairo"/>
                <a:cs typeface="Cairo"/>
                <a:sym typeface="Cairo"/>
              </a:rPr>
              <a:t>:</a:t>
            </a:r>
          </a:p>
        </p:txBody>
      </p:sp>
      <p:sp>
        <p:nvSpPr>
          <p:cNvPr id="21" name="TextBox 21"/>
          <p:cNvSpPr txBox="1"/>
          <p:nvPr/>
        </p:nvSpPr>
        <p:spPr>
          <a:xfrm>
            <a:off x="10186988" y="5605615"/>
            <a:ext cx="6472238" cy="697627"/>
          </a:xfrm>
          <a:prstGeom prst="rect">
            <a:avLst/>
          </a:prstGeom>
        </p:spPr>
        <p:txBody>
          <a:bodyPr lIns="0" tIns="0" rIns="0" bIns="0" rtlCol="0" anchor="t">
            <a:spAutoFit/>
          </a:bodyPr>
          <a:lstStyle/>
          <a:p>
            <a:pPr algn="r" rtl="1">
              <a:lnSpc>
                <a:spcPts val="2764"/>
              </a:lnSpc>
            </a:pPr>
            <a:r>
              <a:rPr lang="ar-EG" sz="1800" b="1" dirty="0">
                <a:solidFill>
                  <a:srgbClr val="0F172A"/>
                </a:solidFill>
                <a:latin typeface="Cairo Bold"/>
                <a:ea typeface="Cairo Bold"/>
                <a:cs typeface="Cairo Bold"/>
                <a:sym typeface="Cairo Bold"/>
                <a:rtl/>
              </a:rPr>
              <a:t>ماذا قد تسأل الطبقة الأولى</a:t>
            </a:r>
            <a:r>
              <a:rPr lang="en-US" sz="1800" b="1" dirty="0">
                <a:solidFill>
                  <a:srgbClr val="0F172A"/>
                </a:solidFill>
                <a:latin typeface="Cairo Bold"/>
                <a:ea typeface="Cairo Bold"/>
                <a:cs typeface="Cairo Bold"/>
                <a:sym typeface="Cairo Bold"/>
              </a:rPr>
              <a:t> (Layer 1)</a:t>
            </a:r>
            <a:r>
              <a:rPr lang="ar-EG" sz="1800" b="1" dirty="0">
                <a:solidFill>
                  <a:srgbClr val="0F172A"/>
                </a:solidFill>
                <a:latin typeface="Cairo Bold"/>
                <a:ea typeface="Cairo Bold"/>
                <a:cs typeface="Cairo Bold"/>
                <a:sym typeface="Cairo Bold"/>
                <a:rtl/>
              </a:rPr>
              <a:t>؟</a:t>
            </a:r>
          </a:p>
          <a:p>
            <a:pPr algn="r" rtl="1">
              <a:lnSpc>
                <a:spcPts val="2764"/>
              </a:lnSpc>
            </a:pPr>
            <a:r>
              <a:rPr lang="ar-EG" sz="1800" b="1" dirty="0">
                <a:solidFill>
                  <a:srgbClr val="0F172A"/>
                </a:solidFill>
                <a:latin typeface="Cairo Bold"/>
                <a:ea typeface="Cairo Bold"/>
                <a:cs typeface="Cairo Bold"/>
                <a:sym typeface="Cairo Bold"/>
                <a:rtl/>
              </a:rPr>
              <a:t>وماذا قد تسأل الطبقة الثالثة العميقة</a:t>
            </a:r>
            <a:r>
              <a:rPr lang="en-US" sz="1800" b="1" dirty="0">
                <a:solidFill>
                  <a:srgbClr val="0F172A"/>
                </a:solidFill>
                <a:latin typeface="Cairo Bold"/>
                <a:ea typeface="Cairo Bold"/>
                <a:cs typeface="Cairo Bold"/>
                <a:sym typeface="Cairo Bold"/>
              </a:rPr>
              <a:t> (Layer 3)</a:t>
            </a:r>
            <a:r>
              <a:rPr lang="ar-EG" sz="1800" b="1" dirty="0">
                <a:solidFill>
                  <a:srgbClr val="0F172A"/>
                </a:solidFill>
                <a:latin typeface="Cairo Bold"/>
                <a:ea typeface="Cairo Bold"/>
                <a:cs typeface="Cairo Bold"/>
                <a:sym typeface="Cairo Bold"/>
                <a:rtl/>
              </a:rPr>
              <a:t>؟</a:t>
            </a:r>
          </a:p>
        </p:txBody>
      </p:sp>
      <p:grpSp>
        <p:nvGrpSpPr>
          <p:cNvPr id="22" name="Group 22"/>
          <p:cNvGrpSpPr/>
          <p:nvPr/>
        </p:nvGrpSpPr>
        <p:grpSpPr>
          <a:xfrm>
            <a:off x="1285875" y="3364706"/>
            <a:ext cx="7158038" cy="5064919"/>
            <a:chOff x="0" y="0"/>
            <a:chExt cx="9544050" cy="6753225"/>
          </a:xfrm>
        </p:grpSpPr>
        <p:sp>
          <p:nvSpPr>
            <p:cNvPr id="23" name="Freeform 23"/>
            <p:cNvSpPr/>
            <p:nvPr/>
          </p:nvSpPr>
          <p:spPr>
            <a:xfrm>
              <a:off x="0" y="0"/>
              <a:ext cx="9544050" cy="6753225"/>
            </a:xfrm>
            <a:custGeom>
              <a:avLst/>
              <a:gdLst/>
              <a:ahLst/>
              <a:cxnLst/>
              <a:rect l="l" t="t" r="r" b="b"/>
              <a:pathLst>
                <a:path w="9544050" h="6753225">
                  <a:moveTo>
                    <a:pt x="0" y="0"/>
                  </a:moveTo>
                  <a:lnTo>
                    <a:pt x="9544050" y="0"/>
                  </a:lnTo>
                  <a:lnTo>
                    <a:pt x="9544050" y="6753225"/>
                  </a:lnTo>
                  <a:lnTo>
                    <a:pt x="0" y="6753225"/>
                  </a:lnTo>
                  <a:close/>
                </a:path>
              </a:pathLst>
            </a:custGeom>
            <a:solidFill>
              <a:srgbClr val="FFFFFF"/>
            </a:solidFill>
          </p:spPr>
          <p:txBody>
            <a:bodyPr/>
            <a:lstStyle/>
            <a:p>
              <a:endParaRPr lang="en-SA"/>
            </a:p>
          </p:txBody>
        </p:sp>
      </p:grpSp>
      <p:grpSp>
        <p:nvGrpSpPr>
          <p:cNvPr id="24" name="Group 24"/>
          <p:cNvGrpSpPr/>
          <p:nvPr/>
        </p:nvGrpSpPr>
        <p:grpSpPr>
          <a:xfrm>
            <a:off x="1285875" y="3364706"/>
            <a:ext cx="7158038" cy="85725"/>
            <a:chOff x="0" y="0"/>
            <a:chExt cx="9544050" cy="114300"/>
          </a:xfrm>
        </p:grpSpPr>
        <p:sp>
          <p:nvSpPr>
            <p:cNvPr id="25" name="Freeform 25"/>
            <p:cNvSpPr/>
            <p:nvPr/>
          </p:nvSpPr>
          <p:spPr>
            <a:xfrm>
              <a:off x="0" y="0"/>
              <a:ext cx="9544050" cy="114300"/>
            </a:xfrm>
            <a:custGeom>
              <a:avLst/>
              <a:gdLst/>
              <a:ahLst/>
              <a:cxnLst/>
              <a:rect l="l" t="t" r="r" b="b"/>
              <a:pathLst>
                <a:path w="9544050" h="114300">
                  <a:moveTo>
                    <a:pt x="0" y="0"/>
                  </a:moveTo>
                  <a:lnTo>
                    <a:pt x="9544050" y="0"/>
                  </a:lnTo>
                  <a:lnTo>
                    <a:pt x="9544050" y="114300"/>
                  </a:lnTo>
                  <a:lnTo>
                    <a:pt x="0" y="114300"/>
                  </a:lnTo>
                  <a:close/>
                </a:path>
              </a:pathLst>
            </a:custGeom>
            <a:solidFill>
              <a:srgbClr val="0284C7"/>
            </a:solidFill>
          </p:spPr>
          <p:txBody>
            <a:bodyPr/>
            <a:lstStyle/>
            <a:p>
              <a:endParaRPr lang="en-SA"/>
            </a:p>
          </p:txBody>
        </p:sp>
      </p:grpSp>
      <p:grpSp>
        <p:nvGrpSpPr>
          <p:cNvPr id="26" name="Group 26"/>
          <p:cNvGrpSpPr/>
          <p:nvPr/>
        </p:nvGrpSpPr>
        <p:grpSpPr>
          <a:xfrm>
            <a:off x="8415338" y="3364706"/>
            <a:ext cx="28575" cy="5064919"/>
            <a:chOff x="0" y="0"/>
            <a:chExt cx="38100" cy="6753225"/>
          </a:xfrm>
        </p:grpSpPr>
        <p:sp>
          <p:nvSpPr>
            <p:cNvPr id="27" name="Freeform 27"/>
            <p:cNvSpPr/>
            <p:nvPr/>
          </p:nvSpPr>
          <p:spPr>
            <a:xfrm>
              <a:off x="0" y="0"/>
              <a:ext cx="38100" cy="6753225"/>
            </a:xfrm>
            <a:custGeom>
              <a:avLst/>
              <a:gdLst/>
              <a:ahLst/>
              <a:cxnLst/>
              <a:rect l="l" t="t" r="r" b="b"/>
              <a:pathLst>
                <a:path w="38100" h="6753225">
                  <a:moveTo>
                    <a:pt x="0" y="0"/>
                  </a:moveTo>
                  <a:lnTo>
                    <a:pt x="38100" y="0"/>
                  </a:lnTo>
                  <a:lnTo>
                    <a:pt x="38100" y="6753225"/>
                  </a:lnTo>
                  <a:lnTo>
                    <a:pt x="0" y="6753225"/>
                  </a:lnTo>
                  <a:close/>
                </a:path>
              </a:pathLst>
            </a:custGeom>
            <a:solidFill>
              <a:srgbClr val="0284C7"/>
            </a:solidFill>
          </p:spPr>
          <p:txBody>
            <a:bodyPr/>
            <a:lstStyle/>
            <a:p>
              <a:endParaRPr lang="en-SA"/>
            </a:p>
          </p:txBody>
        </p:sp>
      </p:grpSp>
      <p:grpSp>
        <p:nvGrpSpPr>
          <p:cNvPr id="28" name="Group 28"/>
          <p:cNvGrpSpPr/>
          <p:nvPr/>
        </p:nvGrpSpPr>
        <p:grpSpPr>
          <a:xfrm>
            <a:off x="1285875" y="8401050"/>
            <a:ext cx="7158038" cy="28575"/>
            <a:chOff x="0" y="0"/>
            <a:chExt cx="9544050" cy="38100"/>
          </a:xfrm>
        </p:grpSpPr>
        <p:sp>
          <p:nvSpPr>
            <p:cNvPr id="29" name="Freeform 29"/>
            <p:cNvSpPr/>
            <p:nvPr/>
          </p:nvSpPr>
          <p:spPr>
            <a:xfrm>
              <a:off x="0" y="0"/>
              <a:ext cx="9544050" cy="38100"/>
            </a:xfrm>
            <a:custGeom>
              <a:avLst/>
              <a:gdLst/>
              <a:ahLst/>
              <a:cxnLst/>
              <a:rect l="l" t="t" r="r" b="b"/>
              <a:pathLst>
                <a:path w="9544050" h="38100">
                  <a:moveTo>
                    <a:pt x="0" y="0"/>
                  </a:moveTo>
                  <a:lnTo>
                    <a:pt x="9544050" y="0"/>
                  </a:lnTo>
                  <a:lnTo>
                    <a:pt x="9544050" y="38100"/>
                  </a:lnTo>
                  <a:lnTo>
                    <a:pt x="0" y="38100"/>
                  </a:lnTo>
                  <a:close/>
                </a:path>
              </a:pathLst>
            </a:custGeom>
            <a:solidFill>
              <a:srgbClr val="0284C7"/>
            </a:solidFill>
          </p:spPr>
          <p:txBody>
            <a:bodyPr/>
            <a:lstStyle/>
            <a:p>
              <a:endParaRPr lang="en-SA"/>
            </a:p>
          </p:txBody>
        </p:sp>
      </p:grpSp>
      <p:grpSp>
        <p:nvGrpSpPr>
          <p:cNvPr id="30" name="Group 30"/>
          <p:cNvGrpSpPr/>
          <p:nvPr/>
        </p:nvGrpSpPr>
        <p:grpSpPr>
          <a:xfrm>
            <a:off x="1285875" y="3364706"/>
            <a:ext cx="28575" cy="5064919"/>
            <a:chOff x="0" y="0"/>
            <a:chExt cx="38100" cy="6753225"/>
          </a:xfrm>
        </p:grpSpPr>
        <p:sp>
          <p:nvSpPr>
            <p:cNvPr id="31" name="Freeform 31"/>
            <p:cNvSpPr/>
            <p:nvPr/>
          </p:nvSpPr>
          <p:spPr>
            <a:xfrm>
              <a:off x="0" y="0"/>
              <a:ext cx="38100" cy="6753225"/>
            </a:xfrm>
            <a:custGeom>
              <a:avLst/>
              <a:gdLst/>
              <a:ahLst/>
              <a:cxnLst/>
              <a:rect l="l" t="t" r="r" b="b"/>
              <a:pathLst>
                <a:path w="38100" h="6753225">
                  <a:moveTo>
                    <a:pt x="0" y="0"/>
                  </a:moveTo>
                  <a:lnTo>
                    <a:pt x="38100" y="0"/>
                  </a:lnTo>
                  <a:lnTo>
                    <a:pt x="38100" y="6753225"/>
                  </a:lnTo>
                  <a:lnTo>
                    <a:pt x="0" y="6753225"/>
                  </a:lnTo>
                  <a:close/>
                </a:path>
              </a:pathLst>
            </a:custGeom>
            <a:solidFill>
              <a:srgbClr val="0284C7"/>
            </a:solidFill>
          </p:spPr>
          <p:txBody>
            <a:bodyPr/>
            <a:lstStyle/>
            <a:p>
              <a:endParaRPr lang="en-SA"/>
            </a:p>
          </p:txBody>
        </p:sp>
      </p:grpSp>
      <p:grpSp>
        <p:nvGrpSpPr>
          <p:cNvPr id="32" name="Group 32"/>
          <p:cNvGrpSpPr/>
          <p:nvPr/>
        </p:nvGrpSpPr>
        <p:grpSpPr>
          <a:xfrm>
            <a:off x="7786688" y="3771900"/>
            <a:ext cx="314325" cy="314325"/>
            <a:chOff x="0" y="0"/>
            <a:chExt cx="419100" cy="419100"/>
          </a:xfrm>
        </p:grpSpPr>
        <p:sp>
          <p:nvSpPr>
            <p:cNvPr id="33" name="Freeform 33" descr="preencoded.png"/>
            <p:cNvSpPr/>
            <p:nvPr/>
          </p:nvSpPr>
          <p:spPr>
            <a:xfrm>
              <a:off x="0" y="0"/>
              <a:ext cx="419100" cy="419100"/>
            </a:xfrm>
            <a:custGeom>
              <a:avLst/>
              <a:gdLst/>
              <a:ahLst/>
              <a:cxnLst/>
              <a:rect l="l" t="t" r="r" b="b"/>
              <a:pathLst>
                <a:path w="419100" h="419100">
                  <a:moveTo>
                    <a:pt x="0" y="0"/>
                  </a:moveTo>
                  <a:lnTo>
                    <a:pt x="419100" y="0"/>
                  </a:lnTo>
                  <a:lnTo>
                    <a:pt x="419100" y="419100"/>
                  </a:lnTo>
                  <a:lnTo>
                    <a:pt x="0" y="419100"/>
                  </a:lnTo>
                  <a:lnTo>
                    <a:pt x="0" y="0"/>
                  </a:lnTo>
                  <a:close/>
                </a:path>
              </a:pathLst>
            </a:custGeom>
            <a:blipFill>
              <a:blip r:embed="rId5"/>
              <a:stretch>
                <a:fillRect t="-2272" b="-2272"/>
              </a:stretch>
            </a:blipFill>
          </p:spPr>
          <p:txBody>
            <a:bodyPr/>
            <a:lstStyle/>
            <a:p>
              <a:endParaRPr lang="en-SA"/>
            </a:p>
          </p:txBody>
        </p:sp>
      </p:grpSp>
      <p:sp>
        <p:nvSpPr>
          <p:cNvPr id="34" name="TextBox 34"/>
          <p:cNvSpPr txBox="1"/>
          <p:nvPr/>
        </p:nvSpPr>
        <p:spPr>
          <a:xfrm>
            <a:off x="5368528" y="3793331"/>
            <a:ext cx="2275284" cy="334707"/>
          </a:xfrm>
          <a:prstGeom prst="rect">
            <a:avLst/>
          </a:prstGeom>
        </p:spPr>
        <p:txBody>
          <a:bodyPr lIns="0" tIns="0" rIns="0" bIns="0" rtlCol="0" anchor="t">
            <a:spAutoFit/>
          </a:bodyPr>
          <a:lstStyle/>
          <a:p>
            <a:pPr algn="r" rtl="1">
              <a:lnSpc>
                <a:spcPts val="2640"/>
              </a:lnSpc>
            </a:pPr>
            <a:r>
              <a:rPr lang="ar-EG" sz="2200" b="1" dirty="0">
                <a:solidFill>
                  <a:srgbClr val="0284C7"/>
                </a:solidFill>
                <a:latin typeface="Cairo Bold"/>
                <a:ea typeface="Cairo Bold"/>
                <a:cs typeface="Cairo Bold"/>
                <a:sym typeface="Cairo Bold"/>
                <a:rtl/>
              </a:rPr>
              <a:t>الإجابة المقترحة</a:t>
            </a:r>
            <a:r>
              <a:rPr lang="en-US" sz="2200" b="1" dirty="0">
                <a:solidFill>
                  <a:srgbClr val="0284C7"/>
                </a:solidFill>
                <a:latin typeface="Cairo Bold"/>
                <a:ea typeface="Cairo Bold"/>
                <a:cs typeface="Cairo Bold"/>
                <a:sym typeface="Cairo Bold"/>
              </a:rPr>
              <a:t>:</a:t>
            </a:r>
          </a:p>
        </p:txBody>
      </p:sp>
      <p:sp>
        <p:nvSpPr>
          <p:cNvPr id="35" name="TextBox 35"/>
          <p:cNvSpPr txBox="1"/>
          <p:nvPr/>
        </p:nvSpPr>
        <p:spPr>
          <a:xfrm>
            <a:off x="1628775" y="4563666"/>
            <a:ext cx="6472238" cy="969496"/>
          </a:xfrm>
          <a:prstGeom prst="rect">
            <a:avLst/>
          </a:prstGeom>
        </p:spPr>
        <p:txBody>
          <a:bodyPr lIns="0" tIns="0" rIns="0" bIns="0" rtlCol="0" anchor="t">
            <a:spAutoFit/>
          </a:bodyPr>
          <a:lstStyle/>
          <a:p>
            <a:pPr algn="r" rtl="1">
              <a:lnSpc>
                <a:spcPts val="2457"/>
              </a:lnSpc>
            </a:pPr>
            <a:r>
              <a:rPr lang="ar-EG" sz="1600" b="1" dirty="0">
                <a:solidFill>
                  <a:srgbClr val="0F172A"/>
                </a:solidFill>
                <a:latin typeface="Cairo Bold"/>
                <a:ea typeface="Cairo Bold"/>
                <a:cs typeface="Cairo Bold"/>
                <a:sym typeface="Cairo Bold"/>
                <a:rtl/>
              </a:rPr>
              <a:t>الطبقة الأولى</a:t>
            </a:r>
            <a:r>
              <a:rPr lang="en-US" sz="1600" b="1" dirty="0">
                <a:solidFill>
                  <a:srgbClr val="0F172A"/>
                </a:solidFill>
                <a:latin typeface="Cairo Bold"/>
                <a:ea typeface="Cairo Bold"/>
                <a:cs typeface="Cairo Bold"/>
                <a:sym typeface="Cairo Bold"/>
              </a:rPr>
              <a:t> (Layer 1):</a:t>
            </a:r>
          </a:p>
          <a:p>
            <a:pPr algn="r" rtl="1">
              <a:lnSpc>
                <a:spcPts val="2611"/>
              </a:lnSpc>
            </a:pPr>
            <a:r>
              <a:rPr lang="ar-EG" sz="1700" dirty="0">
                <a:solidFill>
                  <a:srgbClr val="475569"/>
                </a:solidFill>
                <a:latin typeface="Cairo"/>
                <a:ea typeface="Cairo"/>
                <a:cs typeface="Cairo"/>
                <a:sym typeface="Cairo"/>
                <a:rtl/>
              </a:rPr>
              <a:t>تسأل أسئلة بسيطة جداً عن التفاصيل الدقيقة مثل: "هل يوجد خط منحنٍ هنا؟" أو "هل توجد زاوية حادة في هذه المنطقة؟</a:t>
            </a:r>
            <a:r>
              <a:rPr lang="en-US" sz="1700" dirty="0">
                <a:solidFill>
                  <a:srgbClr val="475569"/>
                </a:solidFill>
                <a:latin typeface="Cairo"/>
                <a:ea typeface="Cairo"/>
                <a:cs typeface="Cairo"/>
                <a:sym typeface="Cairo"/>
              </a:rPr>
              <a:t>"</a:t>
            </a:r>
          </a:p>
        </p:txBody>
      </p:sp>
      <p:sp>
        <p:nvSpPr>
          <p:cNvPr id="36" name="TextBox 36"/>
          <p:cNvSpPr txBox="1"/>
          <p:nvPr/>
        </p:nvSpPr>
        <p:spPr>
          <a:xfrm>
            <a:off x="1628775" y="6003741"/>
            <a:ext cx="6472238" cy="969496"/>
          </a:xfrm>
          <a:prstGeom prst="rect">
            <a:avLst/>
          </a:prstGeom>
        </p:spPr>
        <p:txBody>
          <a:bodyPr lIns="0" tIns="0" rIns="0" bIns="0" rtlCol="0" anchor="t">
            <a:spAutoFit/>
          </a:bodyPr>
          <a:lstStyle/>
          <a:p>
            <a:pPr algn="r" rtl="1">
              <a:lnSpc>
                <a:spcPts val="2457"/>
              </a:lnSpc>
            </a:pPr>
            <a:r>
              <a:rPr lang="ar-EG" sz="1600" b="1" dirty="0">
                <a:solidFill>
                  <a:srgbClr val="0F172A"/>
                </a:solidFill>
                <a:latin typeface="Cairo Bold"/>
                <a:ea typeface="Cairo Bold"/>
                <a:cs typeface="Cairo Bold"/>
                <a:sym typeface="Cairo Bold"/>
                <a:rtl/>
              </a:rPr>
              <a:t>الطبقة الثالثة</a:t>
            </a:r>
            <a:r>
              <a:rPr lang="en-US" sz="1600" b="1" dirty="0">
                <a:solidFill>
                  <a:srgbClr val="0F172A"/>
                </a:solidFill>
                <a:latin typeface="Cairo Bold"/>
                <a:ea typeface="Cairo Bold"/>
                <a:cs typeface="Cairo Bold"/>
                <a:sym typeface="Cairo Bold"/>
              </a:rPr>
              <a:t> (Layer 3):</a:t>
            </a:r>
          </a:p>
          <a:p>
            <a:pPr algn="r" rtl="1">
              <a:lnSpc>
                <a:spcPts val="2611"/>
              </a:lnSpc>
            </a:pPr>
            <a:r>
              <a:rPr lang="ar-EG" sz="1700" dirty="0">
                <a:solidFill>
                  <a:srgbClr val="475569"/>
                </a:solidFill>
                <a:latin typeface="Cairo"/>
                <a:ea typeface="Cairo"/>
                <a:cs typeface="Cairo"/>
                <a:sym typeface="Cairo"/>
                <a:rtl/>
              </a:rPr>
              <a:t>تسأل أسئلة معقدة وتركيبية مثل: "هل تشكل هذه الخطوط والمنحنيات معاً أذنين مثلثتين؟" أو "هل يوجد شكل شوارب قطة في المنتصف؟</a:t>
            </a:r>
            <a:r>
              <a:rPr lang="en-US" sz="1700" dirty="0">
                <a:solidFill>
                  <a:srgbClr val="475569"/>
                </a:solidFill>
                <a:latin typeface="Cairo"/>
                <a:ea typeface="Cairo"/>
                <a:cs typeface="Cairo"/>
                <a:sym typeface="Cairo"/>
              </a:rPr>
              <a:t>"</a:t>
            </a:r>
          </a:p>
        </p:txBody>
      </p:sp>
      <p:sp>
        <p:nvSpPr>
          <p:cNvPr id="37" name="TextBox 37"/>
          <p:cNvSpPr txBox="1"/>
          <p:nvPr/>
        </p:nvSpPr>
        <p:spPr>
          <a:xfrm>
            <a:off x="13896976" y="9601200"/>
            <a:ext cx="3268834" cy="333425"/>
          </a:xfrm>
          <a:prstGeom prst="rect">
            <a:avLst/>
          </a:prstGeom>
        </p:spPr>
        <p:txBody>
          <a:bodyPr wrap="square" lIns="0" tIns="0" rIns="0" bIns="0" rtlCol="0" anchor="t">
            <a:spAutoFit/>
          </a:bodyPr>
          <a:lstStyle/>
          <a:p>
            <a:pPr algn="r">
              <a:lnSpc>
                <a:spcPts val="2595"/>
              </a:lnSpc>
            </a:pPr>
            <a:r>
              <a:rPr lang="ar-EG" sz="1800" dirty="0">
                <a:solidFill>
                  <a:srgbClr val="64748B"/>
                </a:solidFill>
                <a:latin typeface="Cairo Light"/>
                <a:ea typeface="Cairo Light"/>
                <a:cs typeface="Cairo Light"/>
                <a:sym typeface="Cairo Light"/>
                <a:rtl/>
              </a:rPr>
              <a:t>اليوم الثالث · مبني على صورتنا</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SA"/>
            </a:p>
          </p:txBody>
        </p:sp>
      </p:grpSp>
      <p:sp>
        <p:nvSpPr>
          <p:cNvPr id="4" name="TextBox 4"/>
          <p:cNvSpPr txBox="1"/>
          <p:nvPr/>
        </p:nvSpPr>
        <p:spPr>
          <a:xfrm>
            <a:off x="7911703" y="3095625"/>
            <a:ext cx="8118872" cy="640560"/>
          </a:xfrm>
          <a:prstGeom prst="rect">
            <a:avLst/>
          </a:prstGeom>
        </p:spPr>
        <p:txBody>
          <a:bodyPr lIns="0" tIns="0" rIns="0" bIns="0" rtlCol="0" anchor="t">
            <a:spAutoFit/>
          </a:bodyPr>
          <a:lstStyle/>
          <a:p>
            <a:pPr algn="r">
              <a:lnSpc>
                <a:spcPts val="4704"/>
              </a:lnSpc>
            </a:pPr>
            <a:r>
              <a:rPr lang="en-US" sz="4900" b="1" dirty="0">
                <a:solidFill>
                  <a:srgbClr val="0284C7"/>
                </a:solidFill>
                <a:latin typeface="Cairo Bold"/>
                <a:ea typeface="Cairo Bold"/>
                <a:cs typeface="Cairo Bold"/>
                <a:sym typeface="Cairo Bold"/>
              </a:rPr>
              <a:t>04</a:t>
            </a:r>
          </a:p>
        </p:txBody>
      </p:sp>
      <p:sp>
        <p:nvSpPr>
          <p:cNvPr id="5" name="TextBox 5"/>
          <p:cNvSpPr txBox="1"/>
          <p:nvPr/>
        </p:nvSpPr>
        <p:spPr>
          <a:xfrm>
            <a:off x="7911703" y="3886200"/>
            <a:ext cx="8118872" cy="931535"/>
          </a:xfrm>
          <a:prstGeom prst="rect">
            <a:avLst/>
          </a:prstGeom>
        </p:spPr>
        <p:txBody>
          <a:bodyPr lIns="0" tIns="0" rIns="0" bIns="0" rtlCol="0" anchor="t">
            <a:spAutoFit/>
          </a:bodyPr>
          <a:lstStyle/>
          <a:p>
            <a:pPr algn="r">
              <a:lnSpc>
                <a:spcPts val="6566"/>
              </a:lnSpc>
            </a:pPr>
            <a:r>
              <a:rPr lang="ar-EG" sz="5700" b="1">
                <a:solidFill>
                  <a:srgbClr val="0F172A"/>
                </a:solidFill>
                <a:latin typeface="Cairo Bold"/>
                <a:ea typeface="Cairo Bold"/>
                <a:cs typeface="Cairo Bold"/>
                <a:sym typeface="Cairo Bold"/>
                <a:rtl/>
              </a:rPr>
              <a:t>أين ينهار التشبيه؟</a:t>
            </a:r>
          </a:p>
        </p:txBody>
      </p:sp>
      <p:sp>
        <p:nvSpPr>
          <p:cNvPr id="6" name="TextBox 6"/>
          <p:cNvSpPr txBox="1"/>
          <p:nvPr/>
        </p:nvSpPr>
        <p:spPr>
          <a:xfrm>
            <a:off x="7911703" y="5055860"/>
            <a:ext cx="8118872" cy="461665"/>
          </a:xfrm>
          <a:prstGeom prst="rect">
            <a:avLst/>
          </a:prstGeom>
        </p:spPr>
        <p:txBody>
          <a:bodyPr lIns="0" tIns="0" rIns="0" bIns="0" rtlCol="0" anchor="t">
            <a:spAutoFit/>
          </a:bodyPr>
          <a:lstStyle/>
          <a:p>
            <a:pPr algn="r" rtl="1">
              <a:lnSpc>
                <a:spcPts val="3599"/>
              </a:lnSpc>
            </a:pPr>
            <a:r>
              <a:rPr lang="ar-EG" sz="2499" dirty="0">
                <a:solidFill>
                  <a:srgbClr val="475569"/>
                </a:solidFill>
                <a:latin typeface="Cairo Light"/>
                <a:ea typeface="Cairo Light"/>
                <a:cs typeface="Cairo Light"/>
                <a:sym typeface="Cairo Light"/>
                <a:rtl/>
              </a:rPr>
              <a:t>الاستلهام ليس تقليداً حتمياً. الفروق الجوهرية بين الدماغ والآلة</a:t>
            </a:r>
            <a:r>
              <a:rPr lang="en-US" sz="2499" dirty="0">
                <a:solidFill>
                  <a:srgbClr val="475569"/>
                </a:solidFill>
                <a:latin typeface="Cairo Light"/>
                <a:ea typeface="Cairo Light"/>
                <a:cs typeface="Cairo Light"/>
                <a:sym typeface="Cairo Light"/>
              </a:rPr>
              <a:t>.</a:t>
            </a:r>
          </a:p>
        </p:txBody>
      </p:sp>
      <p:sp>
        <p:nvSpPr>
          <p:cNvPr id="7" name="TextBox 7"/>
          <p:cNvSpPr txBox="1"/>
          <p:nvPr/>
        </p:nvSpPr>
        <p:spPr>
          <a:xfrm>
            <a:off x="14176772" y="7886700"/>
            <a:ext cx="2739628" cy="333425"/>
          </a:xfrm>
          <a:prstGeom prst="rect">
            <a:avLst/>
          </a:prstGeom>
        </p:spPr>
        <p:txBody>
          <a:bodyPr wrap="square" lIns="0" tIns="0" rIns="0" bIns="0" rtlCol="0" anchor="t">
            <a:spAutoFit/>
          </a:bodyPr>
          <a:lstStyle/>
          <a:p>
            <a:pPr algn="r">
              <a:lnSpc>
                <a:spcPts val="2595"/>
              </a:lnSpc>
            </a:pPr>
            <a:r>
              <a:rPr lang="ar-EG" sz="1800" dirty="0">
                <a:solidFill>
                  <a:srgbClr val="64748B"/>
                </a:solidFill>
                <a:latin typeface="Cairo Light"/>
                <a:ea typeface="Cairo Light"/>
                <a:cs typeface="Cairo Light"/>
                <a:sym typeface="Cairo Light"/>
                <a:rtl/>
              </a:rPr>
              <a:t>اليوم الثالث · مبني على صورتنا</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SA"/>
            </a:p>
          </p:txBody>
        </p:sp>
      </p:grpSp>
      <p:sp>
        <p:nvSpPr>
          <p:cNvPr id="4" name="TextBox 4"/>
          <p:cNvSpPr txBox="1"/>
          <p:nvPr/>
        </p:nvSpPr>
        <p:spPr>
          <a:xfrm>
            <a:off x="14351794" y="1000125"/>
            <a:ext cx="2650331" cy="642938"/>
          </a:xfrm>
          <a:prstGeom prst="rect">
            <a:avLst/>
          </a:prstGeom>
        </p:spPr>
        <p:txBody>
          <a:bodyPr lIns="0" tIns="0" rIns="0" bIns="0" rtlCol="0" anchor="t">
            <a:spAutoFit/>
          </a:bodyPr>
          <a:lstStyle/>
          <a:p>
            <a:pPr algn="r">
              <a:lnSpc>
                <a:spcPts val="2879"/>
              </a:lnSpc>
            </a:pPr>
            <a:r>
              <a:rPr lang="ar-EG" sz="2400" b="1">
                <a:solidFill>
                  <a:srgbClr val="0F172A"/>
                </a:solidFill>
                <a:latin typeface="Cairo Bold"/>
                <a:ea typeface="Cairo Bold"/>
                <a:cs typeface="Cairo Bold"/>
                <a:sym typeface="Cairo Bold"/>
                <a:rtl/>
              </a:rPr>
              <a:t>أين ينهار التشبيه؟</a:t>
            </a:r>
          </a:p>
        </p:txBody>
      </p:sp>
      <p:sp>
        <p:nvSpPr>
          <p:cNvPr id="5" name="TextBox 5"/>
          <p:cNvSpPr txBox="1"/>
          <p:nvPr/>
        </p:nvSpPr>
        <p:spPr>
          <a:xfrm>
            <a:off x="1285875" y="1107281"/>
            <a:ext cx="3414712" cy="244298"/>
          </a:xfrm>
          <a:prstGeom prst="rect">
            <a:avLst/>
          </a:prstGeom>
        </p:spPr>
        <p:txBody>
          <a:bodyPr lIns="0" tIns="0" rIns="0" bIns="0" rtlCol="0" anchor="t">
            <a:spAutoFit/>
          </a:bodyPr>
          <a:lstStyle/>
          <a:p>
            <a:pPr algn="r">
              <a:lnSpc>
                <a:spcPts val="1920"/>
              </a:lnSpc>
            </a:pPr>
            <a:r>
              <a:rPr lang="ar-EG" sz="1600" b="1" dirty="0">
                <a:solidFill>
                  <a:srgbClr val="EA580C"/>
                </a:solidFill>
                <a:latin typeface="Cairo Bold"/>
                <a:ea typeface="Cairo Bold"/>
                <a:cs typeface="Cairo Bold"/>
                <a:sym typeface="Cairo Bold"/>
                <a:rtl/>
              </a:rPr>
              <a:t>القسم الرابع: أين ينهار التشبيه؟</a:t>
            </a:r>
          </a:p>
        </p:txBody>
      </p:sp>
      <p:sp>
        <p:nvSpPr>
          <p:cNvPr id="6" name="TextBox 6"/>
          <p:cNvSpPr txBox="1"/>
          <p:nvPr/>
        </p:nvSpPr>
        <p:spPr>
          <a:xfrm>
            <a:off x="1285875" y="2271712"/>
            <a:ext cx="15716250" cy="419100"/>
          </a:xfrm>
          <a:prstGeom prst="rect">
            <a:avLst/>
          </a:prstGeom>
        </p:spPr>
        <p:txBody>
          <a:bodyPr lIns="0" tIns="0" rIns="0" bIns="0" rtlCol="0" anchor="t">
            <a:spAutoFit/>
          </a:bodyPr>
          <a:lstStyle/>
          <a:p>
            <a:pPr algn="r">
              <a:lnSpc>
                <a:spcPts val="3359"/>
              </a:lnSpc>
            </a:pPr>
            <a:r>
              <a:rPr lang="ar-EG" sz="2799" b="1">
                <a:solidFill>
                  <a:srgbClr val="0F172A"/>
                </a:solidFill>
                <a:latin typeface="Cairo Bold"/>
                <a:ea typeface="Cairo Bold"/>
                <a:cs typeface="Cairo Bold"/>
                <a:sym typeface="Cairo Bold"/>
                <a:rtl/>
              </a:rPr>
              <a:t>الفرق الأول: دماغك يُعيد التشكيل دائماً.. والشبكة تتجمد</a:t>
            </a:r>
          </a:p>
        </p:txBody>
      </p:sp>
      <p:grpSp>
        <p:nvGrpSpPr>
          <p:cNvPr id="7" name="Group 7"/>
          <p:cNvGrpSpPr/>
          <p:nvPr/>
        </p:nvGrpSpPr>
        <p:grpSpPr>
          <a:xfrm>
            <a:off x="16687800" y="3355772"/>
            <a:ext cx="314325" cy="314325"/>
            <a:chOff x="0" y="0"/>
            <a:chExt cx="419100" cy="419100"/>
          </a:xfrm>
        </p:grpSpPr>
        <p:sp>
          <p:nvSpPr>
            <p:cNvPr id="8" name="Freeform 8" descr="preencoded.png"/>
            <p:cNvSpPr/>
            <p:nvPr/>
          </p:nvSpPr>
          <p:spPr>
            <a:xfrm>
              <a:off x="0" y="0"/>
              <a:ext cx="419100" cy="419100"/>
            </a:xfrm>
            <a:custGeom>
              <a:avLst/>
              <a:gdLst/>
              <a:ahLst/>
              <a:cxnLst/>
              <a:rect l="l" t="t" r="r" b="b"/>
              <a:pathLst>
                <a:path w="419100" h="419100">
                  <a:moveTo>
                    <a:pt x="0" y="0"/>
                  </a:moveTo>
                  <a:lnTo>
                    <a:pt x="419100" y="0"/>
                  </a:lnTo>
                  <a:lnTo>
                    <a:pt x="419100" y="419100"/>
                  </a:lnTo>
                  <a:lnTo>
                    <a:pt x="0" y="419100"/>
                  </a:lnTo>
                  <a:lnTo>
                    <a:pt x="0" y="0"/>
                  </a:lnTo>
                  <a:close/>
                </a:path>
              </a:pathLst>
            </a:custGeom>
            <a:blipFill>
              <a:blip r:embed="rId4"/>
              <a:stretch>
                <a:fillRect t="-2272" b="-2272"/>
              </a:stretch>
            </a:blipFill>
          </p:spPr>
          <p:txBody>
            <a:bodyPr/>
            <a:lstStyle/>
            <a:p>
              <a:endParaRPr lang="en-SA"/>
            </a:p>
          </p:txBody>
        </p:sp>
      </p:grpSp>
      <p:sp>
        <p:nvSpPr>
          <p:cNvPr id="9" name="TextBox 9"/>
          <p:cNvSpPr txBox="1"/>
          <p:nvPr/>
        </p:nvSpPr>
        <p:spPr>
          <a:xfrm>
            <a:off x="12097941" y="3364706"/>
            <a:ext cx="4446984" cy="589359"/>
          </a:xfrm>
          <a:prstGeom prst="rect">
            <a:avLst/>
          </a:prstGeom>
        </p:spPr>
        <p:txBody>
          <a:bodyPr lIns="0" tIns="0" rIns="0" bIns="0" rtlCol="0" anchor="t">
            <a:spAutoFit/>
          </a:bodyPr>
          <a:lstStyle/>
          <a:p>
            <a:pPr algn="r">
              <a:lnSpc>
                <a:spcPts val="2640"/>
              </a:lnSpc>
            </a:pPr>
            <a:r>
              <a:rPr lang="ar-EG" sz="2200" b="1">
                <a:solidFill>
                  <a:srgbClr val="0284C7"/>
                </a:solidFill>
                <a:latin typeface="Cairo Bold"/>
                <a:ea typeface="Cairo Bold"/>
                <a:cs typeface="Cairo Bold"/>
                <a:sym typeface="Cairo Bold"/>
                <a:rtl/>
              </a:rPr>
              <a:t>دماغك البشري (المرونة العصبية)</a:t>
            </a:r>
          </a:p>
        </p:txBody>
      </p:sp>
      <p:sp>
        <p:nvSpPr>
          <p:cNvPr id="10" name="TextBox 10"/>
          <p:cNvSpPr txBox="1"/>
          <p:nvPr/>
        </p:nvSpPr>
        <p:spPr>
          <a:xfrm>
            <a:off x="10158412" y="4525566"/>
            <a:ext cx="6529388" cy="282129"/>
          </a:xfrm>
          <a:prstGeom prst="rect">
            <a:avLst/>
          </a:prstGeom>
        </p:spPr>
        <p:txBody>
          <a:bodyPr lIns="0" tIns="0" rIns="0" bIns="0" rtlCol="0" anchor="t">
            <a:spAutoFit/>
          </a:bodyPr>
          <a:lstStyle/>
          <a:p>
            <a:pPr algn="r" rtl="1">
              <a:lnSpc>
                <a:spcPts val="2160"/>
              </a:lnSpc>
            </a:pPr>
            <a:r>
              <a:rPr lang="ar-EG" sz="1800" b="1" dirty="0">
                <a:solidFill>
                  <a:srgbClr val="0F172A"/>
                </a:solidFill>
                <a:latin typeface="Cairo Bold"/>
                <a:ea typeface="Cairo Bold"/>
                <a:cs typeface="Cairo Bold"/>
                <a:sym typeface="Cairo Bold"/>
                <a:rtl/>
              </a:rPr>
              <a:t>إعادة تشكيل مستمرة وفي الوقت الفعلي</a:t>
            </a:r>
            <a:r>
              <a:rPr lang="en-US" sz="1800" b="1" dirty="0">
                <a:solidFill>
                  <a:srgbClr val="0F172A"/>
                </a:solidFill>
                <a:latin typeface="Cairo Bold"/>
                <a:ea typeface="Cairo Bold"/>
                <a:cs typeface="Cairo Bold"/>
                <a:sym typeface="Cairo Bold"/>
              </a:rPr>
              <a:t> 🧠</a:t>
            </a:r>
          </a:p>
        </p:txBody>
      </p:sp>
      <p:sp>
        <p:nvSpPr>
          <p:cNvPr id="11" name="TextBox 11"/>
          <p:cNvSpPr txBox="1"/>
          <p:nvPr/>
        </p:nvSpPr>
        <p:spPr>
          <a:xfrm>
            <a:off x="10158412" y="5055394"/>
            <a:ext cx="6529388" cy="589905"/>
          </a:xfrm>
          <a:prstGeom prst="rect">
            <a:avLst/>
          </a:prstGeom>
        </p:spPr>
        <p:txBody>
          <a:bodyPr lIns="0" tIns="0" rIns="0" bIns="0" rtlCol="0" anchor="t">
            <a:spAutoFit/>
          </a:bodyPr>
          <a:lstStyle/>
          <a:p>
            <a:pPr algn="r" rtl="1">
              <a:lnSpc>
                <a:spcPts val="2304"/>
              </a:lnSpc>
            </a:pPr>
            <a:r>
              <a:rPr lang="ar-EG" sz="1600" dirty="0">
                <a:solidFill>
                  <a:srgbClr val="475569"/>
                </a:solidFill>
                <a:latin typeface="Cairo"/>
                <a:ea typeface="Cairo"/>
                <a:cs typeface="Cairo"/>
                <a:sym typeface="Cairo"/>
                <a:rtl/>
              </a:rPr>
              <a:t>كل تجربة جديدة، وكل معلومة تسمعها، تقوم بتغيير الروابط الفيزيائية بين خلايا دماغك فوراً</a:t>
            </a:r>
            <a:r>
              <a:rPr lang="en-US" sz="1600" dirty="0">
                <a:solidFill>
                  <a:srgbClr val="475569"/>
                </a:solidFill>
                <a:latin typeface="Cairo"/>
                <a:ea typeface="Cairo"/>
                <a:cs typeface="Cairo"/>
                <a:sym typeface="Cairo"/>
              </a:rPr>
              <a:t>.</a:t>
            </a:r>
          </a:p>
        </p:txBody>
      </p:sp>
      <p:sp>
        <p:nvSpPr>
          <p:cNvPr id="12" name="TextBox 12"/>
          <p:cNvSpPr txBox="1"/>
          <p:nvPr/>
        </p:nvSpPr>
        <p:spPr>
          <a:xfrm>
            <a:off x="9844088" y="6068616"/>
            <a:ext cx="7158038" cy="648896"/>
          </a:xfrm>
          <a:prstGeom prst="rect">
            <a:avLst/>
          </a:prstGeom>
        </p:spPr>
        <p:txBody>
          <a:bodyPr lIns="0" tIns="0" rIns="0" bIns="0" rtlCol="0" anchor="t">
            <a:spAutoFit/>
          </a:bodyPr>
          <a:lstStyle/>
          <a:p>
            <a:pPr algn="r" rtl="1">
              <a:lnSpc>
                <a:spcPts val="2611"/>
              </a:lnSpc>
            </a:pPr>
            <a:r>
              <a:rPr lang="ar-EG" sz="1700" b="1" dirty="0">
                <a:solidFill>
                  <a:srgbClr val="0F172A"/>
                </a:solidFill>
                <a:latin typeface="Cairo Bold"/>
                <a:ea typeface="Cairo Bold"/>
                <a:cs typeface="Cairo Bold"/>
                <a:sym typeface="Cairo Bold"/>
                <a:rtl/>
              </a:rPr>
              <a:t>الآن في هذه اللحظة:</a:t>
            </a:r>
            <a:r>
              <a:rPr lang="ar-EG" sz="1700" dirty="0">
                <a:solidFill>
                  <a:srgbClr val="475569"/>
                </a:solidFill>
                <a:latin typeface="Cairo Light"/>
                <a:ea typeface="Cairo Light"/>
                <a:cs typeface="Cairo Light"/>
                <a:sym typeface="Cairo Light"/>
                <a:rtl/>
              </a:rPr>
              <a:t> استماعك وفهمك لهذه المحاضرة يقوم بإنشاء روابط جديدة وتقوية روابط أخرى داخل رأسك </a:t>
            </a:r>
            <a:r>
              <a:rPr lang="ar-EG" sz="1700" b="1" dirty="0">
                <a:solidFill>
                  <a:srgbClr val="0F172A"/>
                </a:solidFill>
                <a:latin typeface="Cairo Bold"/>
                <a:ea typeface="Cairo Bold"/>
                <a:cs typeface="Cairo Bold"/>
                <a:sym typeface="Cairo Bold"/>
                <a:rtl/>
              </a:rPr>
              <a:t>في الوقت الفعلي</a:t>
            </a:r>
            <a:r>
              <a:rPr lang="ar-EG" sz="1700" dirty="0">
                <a:solidFill>
                  <a:srgbClr val="475569"/>
                </a:solidFill>
                <a:latin typeface="Cairo Light"/>
                <a:ea typeface="Cairo Light"/>
                <a:cs typeface="Cairo Light"/>
                <a:sym typeface="Cairo Light"/>
                <a:rtl/>
              </a:rPr>
              <a:t> دون توقف</a:t>
            </a:r>
            <a:r>
              <a:rPr lang="en-US" sz="1700" dirty="0">
                <a:solidFill>
                  <a:srgbClr val="475569"/>
                </a:solidFill>
                <a:latin typeface="Cairo Light"/>
                <a:ea typeface="Cairo Light"/>
                <a:cs typeface="Cairo Light"/>
                <a:sym typeface="Cairo Light"/>
              </a:rPr>
              <a:t>!</a:t>
            </a:r>
          </a:p>
        </p:txBody>
      </p:sp>
      <p:grpSp>
        <p:nvGrpSpPr>
          <p:cNvPr id="13" name="Group 13"/>
          <p:cNvGrpSpPr/>
          <p:nvPr/>
        </p:nvGrpSpPr>
        <p:grpSpPr>
          <a:xfrm>
            <a:off x="8051006" y="3312319"/>
            <a:ext cx="392906" cy="314325"/>
            <a:chOff x="0" y="0"/>
            <a:chExt cx="523875" cy="419100"/>
          </a:xfrm>
        </p:grpSpPr>
        <p:sp>
          <p:nvSpPr>
            <p:cNvPr id="14" name="Freeform 14" descr="preencoded.png"/>
            <p:cNvSpPr/>
            <p:nvPr/>
          </p:nvSpPr>
          <p:spPr>
            <a:xfrm>
              <a:off x="0" y="0"/>
              <a:ext cx="523875" cy="419100"/>
            </a:xfrm>
            <a:custGeom>
              <a:avLst/>
              <a:gdLst/>
              <a:ahLst/>
              <a:cxnLst/>
              <a:rect l="l" t="t" r="r" b="b"/>
              <a:pathLst>
                <a:path w="523875" h="419100">
                  <a:moveTo>
                    <a:pt x="0" y="0"/>
                  </a:moveTo>
                  <a:lnTo>
                    <a:pt x="523875" y="0"/>
                  </a:lnTo>
                  <a:lnTo>
                    <a:pt x="523875" y="419100"/>
                  </a:lnTo>
                  <a:lnTo>
                    <a:pt x="0" y="419100"/>
                  </a:lnTo>
                  <a:lnTo>
                    <a:pt x="0" y="0"/>
                  </a:lnTo>
                  <a:close/>
                </a:path>
              </a:pathLst>
            </a:custGeom>
            <a:blipFill>
              <a:blip r:embed="rId5"/>
              <a:stretch>
                <a:fillRect t="-1136" b="-1136"/>
              </a:stretch>
            </a:blipFill>
          </p:spPr>
          <p:txBody>
            <a:bodyPr/>
            <a:lstStyle/>
            <a:p>
              <a:endParaRPr lang="en-SA"/>
            </a:p>
          </p:txBody>
        </p:sp>
      </p:grpSp>
      <p:sp>
        <p:nvSpPr>
          <p:cNvPr id="15" name="TextBox 15"/>
          <p:cNvSpPr txBox="1"/>
          <p:nvPr/>
        </p:nvSpPr>
        <p:spPr>
          <a:xfrm>
            <a:off x="4079081" y="3364706"/>
            <a:ext cx="3829050" cy="589359"/>
          </a:xfrm>
          <a:prstGeom prst="rect">
            <a:avLst/>
          </a:prstGeom>
        </p:spPr>
        <p:txBody>
          <a:bodyPr lIns="0" tIns="0" rIns="0" bIns="0" rtlCol="0" anchor="t">
            <a:spAutoFit/>
          </a:bodyPr>
          <a:lstStyle/>
          <a:p>
            <a:pPr algn="r">
              <a:lnSpc>
                <a:spcPts val="2640"/>
              </a:lnSpc>
            </a:pPr>
            <a:r>
              <a:rPr lang="ar-EG" sz="2200" b="1">
                <a:solidFill>
                  <a:srgbClr val="EA580C"/>
                </a:solidFill>
                <a:latin typeface="Cairo Bold"/>
                <a:ea typeface="Cairo Bold"/>
                <a:cs typeface="Cairo Bold"/>
                <a:sym typeface="Cairo Bold"/>
                <a:rtl/>
              </a:rPr>
              <a:t>الشبكة العصبية الاصطناعية</a:t>
            </a:r>
          </a:p>
        </p:txBody>
      </p:sp>
      <p:sp>
        <p:nvSpPr>
          <p:cNvPr id="16" name="TextBox 16"/>
          <p:cNvSpPr txBox="1"/>
          <p:nvPr/>
        </p:nvSpPr>
        <p:spPr>
          <a:xfrm>
            <a:off x="1600200" y="4525566"/>
            <a:ext cx="6529388" cy="282129"/>
          </a:xfrm>
          <a:prstGeom prst="rect">
            <a:avLst/>
          </a:prstGeom>
        </p:spPr>
        <p:txBody>
          <a:bodyPr lIns="0" tIns="0" rIns="0" bIns="0" rtlCol="0" anchor="t">
            <a:spAutoFit/>
          </a:bodyPr>
          <a:lstStyle/>
          <a:p>
            <a:pPr algn="r" rtl="1">
              <a:lnSpc>
                <a:spcPts val="2160"/>
              </a:lnSpc>
            </a:pPr>
            <a:r>
              <a:rPr lang="ar-EG" sz="1800" b="1" dirty="0">
                <a:solidFill>
                  <a:srgbClr val="0F172A"/>
                </a:solidFill>
                <a:latin typeface="Cairo Bold"/>
                <a:ea typeface="Cairo Bold"/>
                <a:cs typeface="Cairo Bold"/>
                <a:sym typeface="Cairo Bold"/>
                <a:rtl/>
              </a:rPr>
              <a:t>أوزان مجمدة بعد انتهاء التدريب</a:t>
            </a:r>
            <a:r>
              <a:rPr lang="en-US" sz="1800" b="1" dirty="0">
                <a:solidFill>
                  <a:srgbClr val="0F172A"/>
                </a:solidFill>
                <a:latin typeface="Cairo Bold"/>
                <a:ea typeface="Cairo Bold"/>
                <a:cs typeface="Cairo Bold"/>
                <a:sym typeface="Cairo Bold"/>
              </a:rPr>
              <a:t> ❄️</a:t>
            </a:r>
          </a:p>
        </p:txBody>
      </p:sp>
      <p:sp>
        <p:nvSpPr>
          <p:cNvPr id="17" name="TextBox 17"/>
          <p:cNvSpPr txBox="1"/>
          <p:nvPr/>
        </p:nvSpPr>
        <p:spPr>
          <a:xfrm>
            <a:off x="1600200" y="5055394"/>
            <a:ext cx="6529388" cy="589905"/>
          </a:xfrm>
          <a:prstGeom prst="rect">
            <a:avLst/>
          </a:prstGeom>
        </p:spPr>
        <p:txBody>
          <a:bodyPr lIns="0" tIns="0" rIns="0" bIns="0" rtlCol="0" anchor="t">
            <a:spAutoFit/>
          </a:bodyPr>
          <a:lstStyle/>
          <a:p>
            <a:pPr algn="r" rtl="1">
              <a:lnSpc>
                <a:spcPts val="2304"/>
              </a:lnSpc>
            </a:pPr>
            <a:r>
              <a:rPr lang="ar-EG" sz="1600" dirty="0">
                <a:solidFill>
                  <a:srgbClr val="475569"/>
                </a:solidFill>
                <a:latin typeface="Cairo"/>
                <a:ea typeface="Cairo"/>
                <a:cs typeface="Cairo"/>
                <a:sym typeface="Cairo"/>
                <a:rtl/>
              </a:rPr>
              <a:t>بمجرد انتهاء مرحلة التدريب، يتم تثبيت وتجميد قيم الأوزان تماماً ولا تتغير أثناء الاستخدام</a:t>
            </a:r>
            <a:r>
              <a:rPr lang="en-US" sz="1600" dirty="0">
                <a:solidFill>
                  <a:srgbClr val="475569"/>
                </a:solidFill>
                <a:latin typeface="Cairo"/>
                <a:ea typeface="Cairo"/>
                <a:cs typeface="Cairo"/>
                <a:sym typeface="Cairo"/>
              </a:rPr>
              <a:t>.</a:t>
            </a:r>
          </a:p>
        </p:txBody>
      </p:sp>
      <p:sp>
        <p:nvSpPr>
          <p:cNvPr id="18" name="TextBox 18"/>
          <p:cNvSpPr txBox="1"/>
          <p:nvPr/>
        </p:nvSpPr>
        <p:spPr>
          <a:xfrm>
            <a:off x="1285875" y="6068616"/>
            <a:ext cx="7158038" cy="982320"/>
          </a:xfrm>
          <a:prstGeom prst="rect">
            <a:avLst/>
          </a:prstGeom>
        </p:spPr>
        <p:txBody>
          <a:bodyPr lIns="0" tIns="0" rIns="0" bIns="0" rtlCol="0" anchor="t">
            <a:spAutoFit/>
          </a:bodyPr>
          <a:lstStyle/>
          <a:p>
            <a:pPr algn="r" rtl="1">
              <a:lnSpc>
                <a:spcPts val="2611"/>
              </a:lnSpc>
            </a:pPr>
            <a:r>
              <a:rPr lang="ar-EG" sz="1700" b="1" dirty="0">
                <a:solidFill>
                  <a:srgbClr val="0F172A"/>
                </a:solidFill>
                <a:latin typeface="Cairo Bold"/>
                <a:ea typeface="Cairo Bold"/>
                <a:cs typeface="Cairo Bold"/>
                <a:sym typeface="Cairo Bold"/>
                <a:rtl/>
              </a:rPr>
              <a:t>الذكاء الاصطناعي المنشور:</a:t>
            </a:r>
            <a:r>
              <a:rPr lang="ar-EG" sz="1700" dirty="0">
                <a:solidFill>
                  <a:srgbClr val="475569"/>
                </a:solidFill>
                <a:latin typeface="Cairo Light"/>
                <a:ea typeface="Cairo Light"/>
                <a:cs typeface="Cairo Light"/>
                <a:sym typeface="Cairo Light"/>
                <a:rtl/>
              </a:rPr>
              <a:t> عندما تتحدث مع</a:t>
            </a:r>
            <a:r>
              <a:rPr lang="en-US" sz="1700" dirty="0">
                <a:solidFill>
                  <a:srgbClr val="475569"/>
                </a:solidFill>
                <a:latin typeface="Cairo Light"/>
                <a:ea typeface="Cairo Light"/>
                <a:cs typeface="Cairo Light"/>
                <a:sym typeface="Cairo Light"/>
              </a:rPr>
              <a:t> ChatGPT، </a:t>
            </a:r>
            <a:r>
              <a:rPr lang="ar-EG" sz="1700" dirty="0">
                <a:solidFill>
                  <a:srgbClr val="475569"/>
                </a:solidFill>
                <a:latin typeface="Cairo Light"/>
                <a:ea typeface="Cairo Light"/>
                <a:cs typeface="Cairo Light"/>
                <a:sym typeface="Cairo Light"/>
                <a:rtl/>
              </a:rPr>
              <a:t>فإنه لا يتعلم منك ولا يغير أوزانه الداخلية بناءً على كلامك؛ إنه يعطيك إجابة فقط، وتظل معلوماته </a:t>
            </a:r>
            <a:r>
              <a:rPr lang="ar-EG" sz="1700" b="1" dirty="0">
                <a:solidFill>
                  <a:srgbClr val="0F172A"/>
                </a:solidFill>
                <a:latin typeface="Cairo Bold"/>
                <a:ea typeface="Cairo Bold"/>
                <a:cs typeface="Cairo Bold"/>
                <a:sym typeface="Cairo Bold"/>
                <a:rtl/>
              </a:rPr>
              <a:t>ثابتة ومجمدة</a:t>
            </a:r>
            <a:r>
              <a:rPr lang="ar-EG" sz="1700" dirty="0">
                <a:solidFill>
                  <a:srgbClr val="475569"/>
                </a:solidFill>
                <a:latin typeface="Cairo Light"/>
                <a:ea typeface="Cairo Light"/>
                <a:cs typeface="Cairo Light"/>
                <a:sym typeface="Cairo Light"/>
                <a:rtl/>
              </a:rPr>
              <a:t> كما هي</a:t>
            </a:r>
            <a:r>
              <a:rPr lang="en-US" sz="1700" dirty="0">
                <a:solidFill>
                  <a:srgbClr val="475569"/>
                </a:solidFill>
                <a:latin typeface="Cairo Light"/>
                <a:ea typeface="Cairo Light"/>
                <a:cs typeface="Cairo Light"/>
                <a:sym typeface="Cairo Light"/>
              </a:rPr>
              <a:t>.</a:t>
            </a:r>
          </a:p>
        </p:txBody>
      </p:sp>
      <p:grpSp>
        <p:nvGrpSpPr>
          <p:cNvPr id="19" name="Group 19"/>
          <p:cNvGrpSpPr/>
          <p:nvPr/>
        </p:nvGrpSpPr>
        <p:grpSpPr>
          <a:xfrm>
            <a:off x="16809244" y="8364740"/>
            <a:ext cx="192881" cy="257175"/>
            <a:chOff x="0" y="0"/>
            <a:chExt cx="257175" cy="342900"/>
          </a:xfrm>
        </p:grpSpPr>
        <p:sp>
          <p:nvSpPr>
            <p:cNvPr id="20" name="Freeform 20" descr="preencoded.png"/>
            <p:cNvSpPr/>
            <p:nvPr/>
          </p:nvSpPr>
          <p:spPr>
            <a:xfrm>
              <a:off x="0" y="0"/>
              <a:ext cx="257175" cy="342900"/>
            </a:xfrm>
            <a:custGeom>
              <a:avLst/>
              <a:gdLst/>
              <a:ahLst/>
              <a:cxnLst/>
              <a:rect l="l" t="t" r="r" b="b"/>
              <a:pathLst>
                <a:path w="257175" h="342900">
                  <a:moveTo>
                    <a:pt x="0" y="0"/>
                  </a:moveTo>
                  <a:lnTo>
                    <a:pt x="257175" y="0"/>
                  </a:lnTo>
                  <a:lnTo>
                    <a:pt x="257175" y="342900"/>
                  </a:lnTo>
                  <a:lnTo>
                    <a:pt x="0" y="342900"/>
                  </a:lnTo>
                  <a:lnTo>
                    <a:pt x="0" y="0"/>
                  </a:lnTo>
                  <a:close/>
                </a:path>
              </a:pathLst>
            </a:custGeom>
            <a:blipFill>
              <a:blip r:embed="rId6"/>
              <a:stretch>
                <a:fillRect t="-1388" b="-1388"/>
              </a:stretch>
            </a:blipFill>
          </p:spPr>
          <p:txBody>
            <a:bodyPr/>
            <a:lstStyle/>
            <a:p>
              <a:endParaRPr lang="en-SA"/>
            </a:p>
          </p:txBody>
        </p:sp>
      </p:grpSp>
      <p:sp>
        <p:nvSpPr>
          <p:cNvPr id="21" name="TextBox 21"/>
          <p:cNvSpPr txBox="1"/>
          <p:nvPr/>
        </p:nvSpPr>
        <p:spPr>
          <a:xfrm>
            <a:off x="2446734" y="8376047"/>
            <a:ext cx="14219634" cy="282129"/>
          </a:xfrm>
          <a:prstGeom prst="rect">
            <a:avLst/>
          </a:prstGeom>
        </p:spPr>
        <p:txBody>
          <a:bodyPr lIns="0" tIns="0" rIns="0" bIns="0" rtlCol="0" anchor="t">
            <a:spAutoFit/>
          </a:bodyPr>
          <a:lstStyle/>
          <a:p>
            <a:pPr algn="r" rtl="1">
              <a:lnSpc>
                <a:spcPts val="2160"/>
              </a:lnSpc>
            </a:pPr>
            <a:r>
              <a:rPr lang="ar-EG" sz="1800" b="1" dirty="0">
                <a:solidFill>
                  <a:srgbClr val="EA580C"/>
                </a:solidFill>
                <a:latin typeface="Cairo Bold"/>
                <a:ea typeface="Cairo Bold"/>
                <a:cs typeface="Cairo Bold"/>
                <a:sym typeface="Cairo Bold"/>
                <a:rtl/>
              </a:rPr>
              <a:t>الخلاصة: دماغك البشري في حالة تعلم وتغير مستمر مدى الحياة، بينما الذكاء الاصطناعي ثابت ومجمد بمجرد خروجه للمستخدمين</a:t>
            </a:r>
            <a:r>
              <a:rPr lang="en-US" sz="1800" b="1" dirty="0">
                <a:solidFill>
                  <a:srgbClr val="EA580C"/>
                </a:solidFill>
                <a:latin typeface="Cairo Bold"/>
                <a:ea typeface="Cairo Bold"/>
                <a:cs typeface="Cairo Bold"/>
                <a:sym typeface="Cairo Bold"/>
              </a:rPr>
              <a:t>!</a:t>
            </a:r>
          </a:p>
        </p:txBody>
      </p:sp>
      <p:sp>
        <p:nvSpPr>
          <p:cNvPr id="22" name="TextBox 22"/>
          <p:cNvSpPr txBox="1"/>
          <p:nvPr/>
        </p:nvSpPr>
        <p:spPr>
          <a:xfrm>
            <a:off x="13716000" y="9601200"/>
            <a:ext cx="3405168" cy="333425"/>
          </a:xfrm>
          <a:prstGeom prst="rect">
            <a:avLst/>
          </a:prstGeom>
        </p:spPr>
        <p:txBody>
          <a:bodyPr wrap="square" lIns="0" tIns="0" rIns="0" bIns="0" rtlCol="0" anchor="t">
            <a:spAutoFit/>
          </a:bodyPr>
          <a:lstStyle/>
          <a:p>
            <a:pPr algn="r">
              <a:lnSpc>
                <a:spcPts val="2595"/>
              </a:lnSpc>
            </a:pPr>
            <a:r>
              <a:rPr lang="ar-EG" sz="1800" dirty="0">
                <a:solidFill>
                  <a:srgbClr val="64748B"/>
                </a:solidFill>
                <a:latin typeface="Cairo Light"/>
                <a:ea typeface="Cairo Light"/>
                <a:cs typeface="Cairo Light"/>
                <a:sym typeface="Cairo Light"/>
                <a:rtl/>
              </a:rPr>
              <a:t>اليوم الثالث · مبني على صورتنا</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SA"/>
            </a:p>
          </p:txBody>
        </p:sp>
      </p:grpSp>
      <p:sp>
        <p:nvSpPr>
          <p:cNvPr id="4" name="TextBox 4"/>
          <p:cNvSpPr txBox="1"/>
          <p:nvPr/>
        </p:nvSpPr>
        <p:spPr>
          <a:xfrm>
            <a:off x="14351794" y="1000125"/>
            <a:ext cx="2650331" cy="642938"/>
          </a:xfrm>
          <a:prstGeom prst="rect">
            <a:avLst/>
          </a:prstGeom>
        </p:spPr>
        <p:txBody>
          <a:bodyPr lIns="0" tIns="0" rIns="0" bIns="0" rtlCol="0" anchor="t">
            <a:spAutoFit/>
          </a:bodyPr>
          <a:lstStyle/>
          <a:p>
            <a:pPr algn="r">
              <a:lnSpc>
                <a:spcPts val="2879"/>
              </a:lnSpc>
            </a:pPr>
            <a:r>
              <a:rPr lang="ar-EG" sz="2400" b="1">
                <a:solidFill>
                  <a:srgbClr val="0F172A"/>
                </a:solidFill>
                <a:latin typeface="Cairo Bold"/>
                <a:ea typeface="Cairo Bold"/>
                <a:cs typeface="Cairo Bold"/>
                <a:sym typeface="Cairo Bold"/>
                <a:rtl/>
              </a:rPr>
              <a:t>أين ينهار التشبيه؟</a:t>
            </a:r>
          </a:p>
        </p:txBody>
      </p:sp>
      <p:sp>
        <p:nvSpPr>
          <p:cNvPr id="5" name="TextBox 5"/>
          <p:cNvSpPr txBox="1"/>
          <p:nvPr/>
        </p:nvSpPr>
        <p:spPr>
          <a:xfrm>
            <a:off x="1285875" y="1107281"/>
            <a:ext cx="3414712" cy="244298"/>
          </a:xfrm>
          <a:prstGeom prst="rect">
            <a:avLst/>
          </a:prstGeom>
        </p:spPr>
        <p:txBody>
          <a:bodyPr lIns="0" tIns="0" rIns="0" bIns="0" rtlCol="0" anchor="t">
            <a:spAutoFit/>
          </a:bodyPr>
          <a:lstStyle/>
          <a:p>
            <a:pPr algn="r">
              <a:lnSpc>
                <a:spcPts val="1920"/>
              </a:lnSpc>
            </a:pPr>
            <a:r>
              <a:rPr lang="ar-EG" sz="1600" b="1" dirty="0">
                <a:solidFill>
                  <a:srgbClr val="EA580C"/>
                </a:solidFill>
                <a:latin typeface="Cairo Bold"/>
                <a:ea typeface="Cairo Bold"/>
                <a:cs typeface="Cairo Bold"/>
                <a:sym typeface="Cairo Bold"/>
                <a:rtl/>
              </a:rPr>
              <a:t>القسم الرابع: أين ينهار التشبيه؟</a:t>
            </a:r>
          </a:p>
        </p:txBody>
      </p:sp>
      <p:sp>
        <p:nvSpPr>
          <p:cNvPr id="6" name="TextBox 6"/>
          <p:cNvSpPr txBox="1"/>
          <p:nvPr/>
        </p:nvSpPr>
        <p:spPr>
          <a:xfrm>
            <a:off x="1285875" y="2271712"/>
            <a:ext cx="15716250" cy="436017"/>
          </a:xfrm>
          <a:prstGeom prst="rect">
            <a:avLst/>
          </a:prstGeom>
        </p:spPr>
        <p:txBody>
          <a:bodyPr lIns="0" tIns="0" rIns="0" bIns="0" rtlCol="0" anchor="t">
            <a:spAutoFit/>
          </a:bodyPr>
          <a:lstStyle/>
          <a:p>
            <a:pPr algn="r" rtl="1">
              <a:lnSpc>
                <a:spcPts val="3359"/>
              </a:lnSpc>
            </a:pPr>
            <a:r>
              <a:rPr lang="ar-EG" sz="2799" b="1" dirty="0">
                <a:solidFill>
                  <a:srgbClr val="0F172A"/>
                </a:solidFill>
                <a:latin typeface="Cairo Bold"/>
                <a:ea typeface="Cairo Bold"/>
                <a:cs typeface="Cairo Bold"/>
                <a:sym typeface="Cairo Bold"/>
                <a:rtl/>
              </a:rPr>
              <a:t>الفرق الثاني: البشر يتعلمون من مثال واحد.. والذكاء الاصطناعي يحتاج الملايين</a:t>
            </a:r>
            <a:r>
              <a:rPr lang="en-US" sz="2799" b="1" dirty="0">
                <a:solidFill>
                  <a:srgbClr val="0F172A"/>
                </a:solidFill>
                <a:latin typeface="Cairo Bold"/>
                <a:ea typeface="Cairo Bold"/>
                <a:cs typeface="Cairo Bold"/>
                <a:sym typeface="Cairo Bold"/>
              </a:rPr>
              <a:t>!</a:t>
            </a:r>
          </a:p>
        </p:txBody>
      </p:sp>
      <p:grpSp>
        <p:nvGrpSpPr>
          <p:cNvPr id="7" name="Group 7"/>
          <p:cNvGrpSpPr/>
          <p:nvPr/>
        </p:nvGrpSpPr>
        <p:grpSpPr>
          <a:xfrm>
            <a:off x="16727091" y="3253307"/>
            <a:ext cx="275034" cy="314325"/>
            <a:chOff x="0" y="0"/>
            <a:chExt cx="366712" cy="419100"/>
          </a:xfrm>
        </p:grpSpPr>
        <p:sp>
          <p:nvSpPr>
            <p:cNvPr id="8" name="Freeform 8" descr="preencoded.png"/>
            <p:cNvSpPr/>
            <p:nvPr/>
          </p:nvSpPr>
          <p:spPr>
            <a:xfrm>
              <a:off x="0" y="0"/>
              <a:ext cx="366649" cy="419100"/>
            </a:xfrm>
            <a:custGeom>
              <a:avLst/>
              <a:gdLst/>
              <a:ahLst/>
              <a:cxnLst/>
              <a:rect l="l" t="t" r="r" b="b"/>
              <a:pathLst>
                <a:path w="366649" h="419100">
                  <a:moveTo>
                    <a:pt x="0" y="0"/>
                  </a:moveTo>
                  <a:lnTo>
                    <a:pt x="366649" y="0"/>
                  </a:lnTo>
                  <a:lnTo>
                    <a:pt x="366649" y="419100"/>
                  </a:lnTo>
                  <a:lnTo>
                    <a:pt x="0" y="419100"/>
                  </a:lnTo>
                  <a:lnTo>
                    <a:pt x="0" y="0"/>
                  </a:lnTo>
                  <a:close/>
                </a:path>
              </a:pathLst>
            </a:custGeom>
            <a:blipFill>
              <a:blip r:embed="rId4"/>
              <a:stretch>
                <a:fillRect t="-481" r="-17" b="-478"/>
              </a:stretch>
            </a:blipFill>
          </p:spPr>
          <p:txBody>
            <a:bodyPr/>
            <a:lstStyle/>
            <a:p>
              <a:endParaRPr lang="en-SA"/>
            </a:p>
          </p:txBody>
        </p:sp>
      </p:grpSp>
      <p:sp>
        <p:nvSpPr>
          <p:cNvPr id="9" name="TextBox 9"/>
          <p:cNvSpPr txBox="1"/>
          <p:nvPr/>
        </p:nvSpPr>
        <p:spPr>
          <a:xfrm>
            <a:off x="13626703" y="3278981"/>
            <a:ext cx="2957512" cy="589359"/>
          </a:xfrm>
          <a:prstGeom prst="rect">
            <a:avLst/>
          </a:prstGeom>
        </p:spPr>
        <p:txBody>
          <a:bodyPr lIns="0" tIns="0" rIns="0" bIns="0" rtlCol="0" anchor="t">
            <a:spAutoFit/>
          </a:bodyPr>
          <a:lstStyle/>
          <a:p>
            <a:pPr algn="r">
              <a:lnSpc>
                <a:spcPts val="2640"/>
              </a:lnSpc>
            </a:pPr>
            <a:r>
              <a:rPr lang="ar-EG" sz="2200" b="1">
                <a:solidFill>
                  <a:srgbClr val="0284C7"/>
                </a:solidFill>
                <a:latin typeface="Cairo Bold"/>
                <a:ea typeface="Cairo Bold"/>
                <a:cs typeface="Cairo Bold"/>
                <a:sym typeface="Cairo Bold"/>
                <a:rtl/>
              </a:rPr>
              <a:t>الطفل البشري الصغير</a:t>
            </a:r>
          </a:p>
        </p:txBody>
      </p:sp>
      <p:sp>
        <p:nvSpPr>
          <p:cNvPr id="10" name="TextBox 10"/>
          <p:cNvSpPr txBox="1"/>
          <p:nvPr/>
        </p:nvSpPr>
        <p:spPr>
          <a:xfrm>
            <a:off x="9758362" y="4200525"/>
            <a:ext cx="6986588" cy="282129"/>
          </a:xfrm>
          <a:prstGeom prst="rect">
            <a:avLst/>
          </a:prstGeom>
        </p:spPr>
        <p:txBody>
          <a:bodyPr lIns="0" tIns="0" rIns="0" bIns="0" rtlCol="0" anchor="t">
            <a:spAutoFit/>
          </a:bodyPr>
          <a:lstStyle/>
          <a:p>
            <a:pPr algn="r" rtl="1">
              <a:lnSpc>
                <a:spcPts val="2160"/>
              </a:lnSpc>
            </a:pPr>
            <a:r>
              <a:rPr lang="ar-EG" sz="1800" b="1" dirty="0">
                <a:solidFill>
                  <a:srgbClr val="0F172A"/>
                </a:solidFill>
                <a:latin typeface="Cairo Bold"/>
                <a:ea typeface="Cairo Bold"/>
                <a:cs typeface="Cairo Bold"/>
                <a:sym typeface="Cairo Bold"/>
                <a:rtl/>
              </a:rPr>
              <a:t>التعلم السريع والذكي</a:t>
            </a:r>
            <a:r>
              <a:rPr lang="en-US" sz="1800" b="1" dirty="0">
                <a:solidFill>
                  <a:srgbClr val="0F172A"/>
                </a:solidFill>
                <a:latin typeface="Cairo Bold"/>
                <a:ea typeface="Cairo Bold"/>
                <a:cs typeface="Cairo Bold"/>
                <a:sym typeface="Cairo Bold"/>
              </a:rPr>
              <a:t> 👶</a:t>
            </a:r>
          </a:p>
        </p:txBody>
      </p:sp>
      <p:sp>
        <p:nvSpPr>
          <p:cNvPr id="11" name="TextBox 11"/>
          <p:cNvSpPr txBox="1"/>
          <p:nvPr/>
        </p:nvSpPr>
        <p:spPr>
          <a:xfrm>
            <a:off x="9878020" y="4644628"/>
            <a:ext cx="6986588" cy="589905"/>
          </a:xfrm>
          <a:prstGeom prst="rect">
            <a:avLst/>
          </a:prstGeom>
        </p:spPr>
        <p:txBody>
          <a:bodyPr lIns="0" tIns="0" rIns="0" bIns="0" rtlCol="0" anchor="t">
            <a:spAutoFit/>
          </a:bodyPr>
          <a:lstStyle/>
          <a:p>
            <a:pPr algn="r" rtl="1">
              <a:lnSpc>
                <a:spcPts val="2304"/>
              </a:lnSpc>
            </a:pPr>
            <a:r>
              <a:rPr lang="ar-EG" sz="1600" dirty="0">
                <a:solidFill>
                  <a:srgbClr val="475569"/>
                </a:solidFill>
                <a:latin typeface="Cairo"/>
                <a:ea typeface="Cairo"/>
                <a:cs typeface="Cairo"/>
                <a:sym typeface="Cairo"/>
                <a:rtl/>
              </a:rPr>
              <a:t>يرى الطفل قطاً حقيقياً مرة واحدة أو مرتين فقط في حياته، فيفهم مفهوم "القط" إلى الأبد</a:t>
            </a:r>
          </a:p>
        </p:txBody>
      </p:sp>
      <p:sp>
        <p:nvSpPr>
          <p:cNvPr id="12" name="TextBox 12"/>
          <p:cNvSpPr txBox="1"/>
          <p:nvPr/>
        </p:nvSpPr>
        <p:spPr>
          <a:xfrm>
            <a:off x="9501188" y="5439966"/>
            <a:ext cx="7500938" cy="648896"/>
          </a:xfrm>
          <a:prstGeom prst="rect">
            <a:avLst/>
          </a:prstGeom>
        </p:spPr>
        <p:txBody>
          <a:bodyPr lIns="0" tIns="0" rIns="0" bIns="0" rtlCol="0" anchor="t">
            <a:spAutoFit/>
          </a:bodyPr>
          <a:lstStyle/>
          <a:p>
            <a:pPr algn="r" rtl="1">
              <a:lnSpc>
                <a:spcPts val="2611"/>
              </a:lnSpc>
            </a:pPr>
            <a:r>
              <a:rPr lang="ar-EG" sz="1700" dirty="0">
                <a:solidFill>
                  <a:srgbClr val="475569"/>
                </a:solidFill>
                <a:latin typeface="Cairo Light"/>
                <a:ea typeface="Cairo Light"/>
                <a:cs typeface="Cairo Light"/>
                <a:sym typeface="Cairo Light"/>
                <a:rtl/>
              </a:rPr>
              <a:t>يستطيع الطفل بعد ذلك التعرف على أي قط بسهولة، حتى لو كان </a:t>
            </a:r>
            <a:r>
              <a:rPr lang="ar-EG" sz="1700" b="1" dirty="0">
                <a:solidFill>
                  <a:srgbClr val="0F172A"/>
                </a:solidFill>
                <a:latin typeface="Cairo Bold"/>
                <a:ea typeface="Cairo Bold"/>
                <a:cs typeface="Cairo Bold"/>
                <a:sym typeface="Cairo Bold"/>
                <a:rtl/>
              </a:rPr>
              <a:t>مرسوماً بألوان التلوين</a:t>
            </a:r>
            <a:r>
              <a:rPr lang="ar-EG" sz="1700" dirty="0">
                <a:solidFill>
                  <a:srgbClr val="475569"/>
                </a:solidFill>
                <a:latin typeface="Cairo Light"/>
                <a:ea typeface="Cairo Light"/>
                <a:cs typeface="Cairo Light"/>
                <a:sym typeface="Cairo Light"/>
                <a:rtl/>
              </a:rPr>
              <a:t>، أو في الظلام، أو من زاوية تصوير غريبة جداً لم يسبق له رؤيتها</a:t>
            </a:r>
            <a:r>
              <a:rPr lang="en-US" sz="1700" dirty="0">
                <a:solidFill>
                  <a:srgbClr val="475569"/>
                </a:solidFill>
                <a:latin typeface="Cairo Light"/>
                <a:ea typeface="Cairo Light"/>
                <a:cs typeface="Cairo Light"/>
                <a:sym typeface="Cairo Light"/>
              </a:rPr>
              <a:t>.</a:t>
            </a:r>
          </a:p>
        </p:txBody>
      </p:sp>
      <p:grpSp>
        <p:nvGrpSpPr>
          <p:cNvPr id="13" name="Group 13"/>
          <p:cNvGrpSpPr/>
          <p:nvPr/>
        </p:nvGrpSpPr>
        <p:grpSpPr>
          <a:xfrm>
            <a:off x="8393907" y="3238062"/>
            <a:ext cx="392906" cy="314325"/>
            <a:chOff x="0" y="0"/>
            <a:chExt cx="523875" cy="419100"/>
          </a:xfrm>
        </p:grpSpPr>
        <p:sp>
          <p:nvSpPr>
            <p:cNvPr id="14" name="Freeform 14" descr="preencoded.png"/>
            <p:cNvSpPr/>
            <p:nvPr/>
          </p:nvSpPr>
          <p:spPr>
            <a:xfrm>
              <a:off x="0" y="0"/>
              <a:ext cx="523875" cy="419100"/>
            </a:xfrm>
            <a:custGeom>
              <a:avLst/>
              <a:gdLst/>
              <a:ahLst/>
              <a:cxnLst/>
              <a:rect l="l" t="t" r="r" b="b"/>
              <a:pathLst>
                <a:path w="523875" h="419100">
                  <a:moveTo>
                    <a:pt x="0" y="0"/>
                  </a:moveTo>
                  <a:lnTo>
                    <a:pt x="523875" y="0"/>
                  </a:lnTo>
                  <a:lnTo>
                    <a:pt x="523875" y="419100"/>
                  </a:lnTo>
                  <a:lnTo>
                    <a:pt x="0" y="419100"/>
                  </a:lnTo>
                  <a:lnTo>
                    <a:pt x="0" y="0"/>
                  </a:lnTo>
                  <a:close/>
                </a:path>
              </a:pathLst>
            </a:custGeom>
            <a:blipFill>
              <a:blip r:embed="rId5"/>
              <a:stretch>
                <a:fillRect t="-1136" b="-1136"/>
              </a:stretch>
            </a:blipFill>
          </p:spPr>
          <p:txBody>
            <a:bodyPr/>
            <a:lstStyle/>
            <a:p>
              <a:endParaRPr lang="en-SA"/>
            </a:p>
          </p:txBody>
        </p:sp>
      </p:grpSp>
      <p:sp>
        <p:nvSpPr>
          <p:cNvPr id="15" name="TextBox 15"/>
          <p:cNvSpPr txBox="1"/>
          <p:nvPr/>
        </p:nvSpPr>
        <p:spPr>
          <a:xfrm>
            <a:off x="4421981" y="3278981"/>
            <a:ext cx="3829050" cy="589359"/>
          </a:xfrm>
          <a:prstGeom prst="rect">
            <a:avLst/>
          </a:prstGeom>
        </p:spPr>
        <p:txBody>
          <a:bodyPr lIns="0" tIns="0" rIns="0" bIns="0" rtlCol="0" anchor="t">
            <a:spAutoFit/>
          </a:bodyPr>
          <a:lstStyle/>
          <a:p>
            <a:pPr algn="r">
              <a:lnSpc>
                <a:spcPts val="2640"/>
              </a:lnSpc>
            </a:pPr>
            <a:r>
              <a:rPr lang="ar-EG" sz="2200" b="1" dirty="0">
                <a:solidFill>
                  <a:srgbClr val="EA580C"/>
                </a:solidFill>
                <a:latin typeface="Cairo Bold"/>
                <a:ea typeface="Cairo Bold"/>
                <a:cs typeface="Cairo Bold"/>
                <a:sym typeface="Cairo Bold"/>
                <a:rtl/>
              </a:rPr>
              <a:t>الشبكة العصبية الاصطناعية</a:t>
            </a:r>
          </a:p>
        </p:txBody>
      </p:sp>
      <p:sp>
        <p:nvSpPr>
          <p:cNvPr id="16" name="TextBox 16"/>
          <p:cNvSpPr txBox="1"/>
          <p:nvPr/>
        </p:nvSpPr>
        <p:spPr>
          <a:xfrm>
            <a:off x="1543050" y="4325541"/>
            <a:ext cx="6986588" cy="282129"/>
          </a:xfrm>
          <a:prstGeom prst="rect">
            <a:avLst/>
          </a:prstGeom>
        </p:spPr>
        <p:txBody>
          <a:bodyPr lIns="0" tIns="0" rIns="0" bIns="0" rtlCol="0" anchor="t">
            <a:spAutoFit/>
          </a:bodyPr>
          <a:lstStyle/>
          <a:p>
            <a:pPr algn="r" rtl="1">
              <a:lnSpc>
                <a:spcPts val="2160"/>
              </a:lnSpc>
            </a:pPr>
            <a:r>
              <a:rPr lang="ar-EG" sz="1800" b="1" dirty="0">
                <a:solidFill>
                  <a:srgbClr val="0F172A"/>
                </a:solidFill>
                <a:latin typeface="Cairo Bold"/>
                <a:ea typeface="Cairo Bold"/>
                <a:cs typeface="Cairo Bold"/>
                <a:sym typeface="Cairo Bold"/>
                <a:rtl/>
              </a:rPr>
              <a:t>الحاجة لكميات هائلة من البيانات</a:t>
            </a:r>
            <a:r>
              <a:rPr lang="en-US" sz="1800" b="1" dirty="0">
                <a:solidFill>
                  <a:srgbClr val="0F172A"/>
                </a:solidFill>
                <a:latin typeface="Cairo Bold"/>
                <a:ea typeface="Cairo Bold"/>
                <a:cs typeface="Cairo Bold"/>
                <a:sym typeface="Cairo Bold"/>
              </a:rPr>
              <a:t> 🤖</a:t>
            </a:r>
          </a:p>
        </p:txBody>
      </p:sp>
      <p:sp>
        <p:nvSpPr>
          <p:cNvPr id="17" name="TextBox 17"/>
          <p:cNvSpPr txBox="1"/>
          <p:nvPr/>
        </p:nvSpPr>
        <p:spPr>
          <a:xfrm>
            <a:off x="1543050" y="4644628"/>
            <a:ext cx="6986588" cy="589905"/>
          </a:xfrm>
          <a:prstGeom prst="rect">
            <a:avLst/>
          </a:prstGeom>
        </p:spPr>
        <p:txBody>
          <a:bodyPr lIns="0" tIns="0" rIns="0" bIns="0" rtlCol="0" anchor="t">
            <a:spAutoFit/>
          </a:bodyPr>
          <a:lstStyle/>
          <a:p>
            <a:pPr algn="r" rtl="1">
              <a:lnSpc>
                <a:spcPts val="2304"/>
              </a:lnSpc>
            </a:pPr>
            <a:r>
              <a:rPr lang="ar-EG" sz="1600" dirty="0">
                <a:solidFill>
                  <a:srgbClr val="475569"/>
                </a:solidFill>
                <a:latin typeface="Cairo"/>
                <a:ea typeface="Cairo"/>
                <a:cs typeface="Cairo"/>
                <a:sym typeface="Cairo"/>
                <a:rtl/>
              </a:rPr>
              <a:t>تحتاج الشبكة العصبية إلى التغذية بـ </a:t>
            </a:r>
            <a:r>
              <a:rPr lang="ar-EG" sz="1600" b="1" dirty="0">
                <a:solidFill>
                  <a:srgbClr val="0F172A"/>
                </a:solidFill>
                <a:latin typeface="Cairo Bold"/>
                <a:ea typeface="Cairo Bold"/>
                <a:cs typeface="Cairo Bold"/>
                <a:sym typeface="Cairo Bold"/>
                <a:rtl/>
              </a:rPr>
              <a:t>ملايين الصور الموسومة</a:t>
            </a:r>
            <a:r>
              <a:rPr lang="ar-EG" sz="1600" dirty="0">
                <a:solidFill>
                  <a:srgbClr val="475569"/>
                </a:solidFill>
                <a:latin typeface="Cairo"/>
                <a:ea typeface="Cairo"/>
                <a:cs typeface="Cairo"/>
                <a:sym typeface="Cairo"/>
                <a:rtl/>
              </a:rPr>
              <a:t> للقطط لتتعلم تمييزها</a:t>
            </a:r>
          </a:p>
        </p:txBody>
      </p:sp>
      <p:sp>
        <p:nvSpPr>
          <p:cNvPr id="18" name="TextBox 18"/>
          <p:cNvSpPr txBox="1"/>
          <p:nvPr/>
        </p:nvSpPr>
        <p:spPr>
          <a:xfrm>
            <a:off x="1285875" y="5439966"/>
            <a:ext cx="7500938" cy="648896"/>
          </a:xfrm>
          <a:prstGeom prst="rect">
            <a:avLst/>
          </a:prstGeom>
        </p:spPr>
        <p:txBody>
          <a:bodyPr lIns="0" tIns="0" rIns="0" bIns="0" rtlCol="0" anchor="t">
            <a:spAutoFit/>
          </a:bodyPr>
          <a:lstStyle/>
          <a:p>
            <a:pPr algn="r" rtl="1">
              <a:lnSpc>
                <a:spcPts val="2611"/>
              </a:lnSpc>
            </a:pPr>
            <a:r>
              <a:rPr lang="ar-EG" sz="1700" dirty="0">
                <a:solidFill>
                  <a:srgbClr val="475569"/>
                </a:solidFill>
                <a:latin typeface="Cairo Light"/>
                <a:ea typeface="Cairo Light"/>
                <a:cs typeface="Cairo Light"/>
                <a:sym typeface="Cairo Light"/>
                <a:rtl/>
              </a:rPr>
              <a:t>على الرغم من رؤيتها لملايين الصور، إلا أنها قد </a:t>
            </a:r>
            <a:r>
              <a:rPr lang="ar-EG" sz="1700" b="1" dirty="0">
                <a:solidFill>
                  <a:srgbClr val="0F172A"/>
                </a:solidFill>
                <a:latin typeface="Cairo Bold"/>
                <a:ea typeface="Cairo Bold"/>
                <a:cs typeface="Cairo Bold"/>
                <a:sym typeface="Cairo Bold"/>
                <a:rtl/>
              </a:rPr>
              <a:t>تستمر في الفشل</a:t>
            </a:r>
            <a:r>
              <a:rPr lang="ar-EG" sz="1700" dirty="0">
                <a:solidFill>
                  <a:srgbClr val="475569"/>
                </a:solidFill>
                <a:latin typeface="Cairo Light"/>
                <a:ea typeface="Cairo Light"/>
                <a:cs typeface="Cairo Light"/>
                <a:sym typeface="Cairo Light"/>
                <a:rtl/>
              </a:rPr>
              <a:t> والارتباك إذا تغيرت زاوية التصوير قليلاً، أو كانت الإضاءة سيئة، أو ظهرت سلالة كلاب نادرة جداً</a:t>
            </a:r>
          </a:p>
        </p:txBody>
      </p:sp>
      <p:grpSp>
        <p:nvGrpSpPr>
          <p:cNvPr id="19" name="Group 19"/>
          <p:cNvGrpSpPr/>
          <p:nvPr/>
        </p:nvGrpSpPr>
        <p:grpSpPr>
          <a:xfrm>
            <a:off x="16430625" y="7375848"/>
            <a:ext cx="257175" cy="257175"/>
            <a:chOff x="0" y="0"/>
            <a:chExt cx="342900" cy="342900"/>
          </a:xfrm>
        </p:grpSpPr>
        <p:sp>
          <p:nvSpPr>
            <p:cNvPr id="20" name="Freeform 20" descr="preencoded.png"/>
            <p:cNvSpPr/>
            <p:nvPr/>
          </p:nvSpPr>
          <p:spPr>
            <a:xfrm>
              <a:off x="0" y="0"/>
              <a:ext cx="342900" cy="342900"/>
            </a:xfrm>
            <a:custGeom>
              <a:avLst/>
              <a:gdLst/>
              <a:ahLst/>
              <a:cxnLst/>
              <a:rect l="l" t="t" r="r" b="b"/>
              <a:pathLst>
                <a:path w="342900" h="342900">
                  <a:moveTo>
                    <a:pt x="0" y="0"/>
                  </a:moveTo>
                  <a:lnTo>
                    <a:pt x="342900" y="0"/>
                  </a:lnTo>
                  <a:lnTo>
                    <a:pt x="342900" y="342900"/>
                  </a:lnTo>
                  <a:lnTo>
                    <a:pt x="0" y="342900"/>
                  </a:lnTo>
                  <a:lnTo>
                    <a:pt x="0" y="0"/>
                  </a:lnTo>
                  <a:close/>
                </a:path>
              </a:pathLst>
            </a:custGeom>
            <a:blipFill>
              <a:blip r:embed="rId6"/>
              <a:stretch>
                <a:fillRect t="-2777" b="-2777"/>
              </a:stretch>
            </a:blipFill>
          </p:spPr>
          <p:txBody>
            <a:bodyPr/>
            <a:lstStyle/>
            <a:p>
              <a:endParaRPr lang="en-SA"/>
            </a:p>
          </p:txBody>
        </p:sp>
      </p:grpSp>
      <p:sp>
        <p:nvSpPr>
          <p:cNvPr id="21" name="TextBox 21"/>
          <p:cNvSpPr txBox="1"/>
          <p:nvPr/>
        </p:nvSpPr>
        <p:spPr>
          <a:xfrm>
            <a:off x="13626703" y="7375848"/>
            <a:ext cx="2636044" cy="266700"/>
          </a:xfrm>
          <a:prstGeom prst="rect">
            <a:avLst/>
          </a:prstGeom>
        </p:spPr>
        <p:txBody>
          <a:bodyPr lIns="0" tIns="0" rIns="0" bIns="0" rtlCol="0" anchor="t">
            <a:spAutoFit/>
          </a:bodyPr>
          <a:lstStyle/>
          <a:p>
            <a:pPr algn="r">
              <a:lnSpc>
                <a:spcPts val="2160"/>
              </a:lnSpc>
            </a:pPr>
            <a:r>
              <a:rPr lang="ar-EG" sz="1800" b="1">
                <a:solidFill>
                  <a:srgbClr val="EA580C"/>
                </a:solidFill>
                <a:latin typeface="Cairo Bold"/>
                <a:ea typeface="Cairo Bold"/>
                <a:cs typeface="Cairo Bold"/>
                <a:sym typeface="Cairo Bold"/>
                <a:rtl/>
              </a:rPr>
              <a:t>لماذا هذا الفرق الهائل</a:t>
            </a:r>
          </a:p>
        </p:txBody>
      </p:sp>
      <p:sp>
        <p:nvSpPr>
          <p:cNvPr id="22" name="TextBox 22"/>
          <p:cNvSpPr txBox="1"/>
          <p:nvPr/>
        </p:nvSpPr>
        <p:spPr>
          <a:xfrm>
            <a:off x="1639491" y="7994973"/>
            <a:ext cx="15087600" cy="589905"/>
          </a:xfrm>
          <a:prstGeom prst="rect">
            <a:avLst/>
          </a:prstGeom>
        </p:spPr>
        <p:txBody>
          <a:bodyPr lIns="0" tIns="0" rIns="0" bIns="0" rtlCol="0" anchor="t">
            <a:spAutoFit/>
          </a:bodyPr>
          <a:lstStyle/>
          <a:p>
            <a:pPr algn="r" rtl="1">
              <a:lnSpc>
                <a:spcPts val="2304"/>
              </a:lnSpc>
            </a:pPr>
            <a:r>
              <a:rPr lang="ar-EG" sz="1600" dirty="0">
                <a:solidFill>
                  <a:srgbClr val="475569"/>
                </a:solidFill>
                <a:latin typeface="Cairo"/>
                <a:ea typeface="Cairo"/>
                <a:cs typeface="Cairo"/>
                <a:sym typeface="Cairo"/>
                <a:rtl/>
              </a:rPr>
              <a:t>لأن الطفل البشري لا يبدأ من الصفر؛ فهو يحمل معه تجربة حياة كاملة وتفاعلاً حقيقياً وحواساً متعددة لاستكشاف العالم المادي من حوله، بينما الشبكة العصبية لا تملك سوى أرقام صامتة مصفوفة في جداول</a:t>
            </a:r>
          </a:p>
        </p:txBody>
      </p:sp>
      <p:sp>
        <p:nvSpPr>
          <p:cNvPr id="23" name="TextBox 23"/>
          <p:cNvSpPr txBox="1"/>
          <p:nvPr/>
        </p:nvSpPr>
        <p:spPr>
          <a:xfrm>
            <a:off x="14020800" y="9601200"/>
            <a:ext cx="3100368" cy="333425"/>
          </a:xfrm>
          <a:prstGeom prst="rect">
            <a:avLst/>
          </a:prstGeom>
        </p:spPr>
        <p:txBody>
          <a:bodyPr wrap="square" lIns="0" tIns="0" rIns="0" bIns="0" rtlCol="0" anchor="t">
            <a:spAutoFit/>
          </a:bodyPr>
          <a:lstStyle/>
          <a:p>
            <a:pPr algn="r">
              <a:lnSpc>
                <a:spcPts val="2595"/>
              </a:lnSpc>
            </a:pPr>
            <a:r>
              <a:rPr lang="ar-EG" sz="1800" dirty="0">
                <a:solidFill>
                  <a:srgbClr val="64748B"/>
                </a:solidFill>
                <a:latin typeface="Cairo Light"/>
                <a:ea typeface="Cairo Light"/>
                <a:cs typeface="Cairo Light"/>
                <a:sym typeface="Cairo Light"/>
                <a:rtl/>
              </a:rPr>
              <a:t>اليوم الثالث · مبني على صورتنا</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SA"/>
            </a:p>
          </p:txBody>
        </p:sp>
      </p:grpSp>
      <p:sp>
        <p:nvSpPr>
          <p:cNvPr id="4" name="TextBox 4"/>
          <p:cNvSpPr txBox="1"/>
          <p:nvPr/>
        </p:nvSpPr>
        <p:spPr>
          <a:xfrm>
            <a:off x="14351794" y="1000125"/>
            <a:ext cx="2650331" cy="642938"/>
          </a:xfrm>
          <a:prstGeom prst="rect">
            <a:avLst/>
          </a:prstGeom>
        </p:spPr>
        <p:txBody>
          <a:bodyPr lIns="0" tIns="0" rIns="0" bIns="0" rtlCol="0" anchor="t">
            <a:spAutoFit/>
          </a:bodyPr>
          <a:lstStyle/>
          <a:p>
            <a:pPr algn="r">
              <a:lnSpc>
                <a:spcPts val="2879"/>
              </a:lnSpc>
            </a:pPr>
            <a:r>
              <a:rPr lang="ar-EG" sz="2400" b="1">
                <a:solidFill>
                  <a:srgbClr val="0F172A"/>
                </a:solidFill>
                <a:latin typeface="Cairo Bold"/>
                <a:ea typeface="Cairo Bold"/>
                <a:cs typeface="Cairo Bold"/>
                <a:sym typeface="Cairo Bold"/>
                <a:rtl/>
              </a:rPr>
              <a:t>أين ينهار التشبيه؟</a:t>
            </a:r>
          </a:p>
        </p:txBody>
      </p:sp>
      <p:sp>
        <p:nvSpPr>
          <p:cNvPr id="5" name="TextBox 5"/>
          <p:cNvSpPr txBox="1"/>
          <p:nvPr/>
        </p:nvSpPr>
        <p:spPr>
          <a:xfrm>
            <a:off x="1285875" y="1107281"/>
            <a:ext cx="3414712" cy="244298"/>
          </a:xfrm>
          <a:prstGeom prst="rect">
            <a:avLst/>
          </a:prstGeom>
        </p:spPr>
        <p:txBody>
          <a:bodyPr lIns="0" tIns="0" rIns="0" bIns="0" rtlCol="0" anchor="t">
            <a:spAutoFit/>
          </a:bodyPr>
          <a:lstStyle/>
          <a:p>
            <a:pPr algn="r">
              <a:lnSpc>
                <a:spcPts val="1920"/>
              </a:lnSpc>
            </a:pPr>
            <a:r>
              <a:rPr lang="ar-EG" sz="1600" b="1" dirty="0">
                <a:solidFill>
                  <a:srgbClr val="EA580C"/>
                </a:solidFill>
                <a:latin typeface="Cairo Bold"/>
                <a:ea typeface="Cairo Bold"/>
                <a:cs typeface="Cairo Bold"/>
                <a:sym typeface="Cairo Bold"/>
                <a:rtl/>
              </a:rPr>
              <a:t>القسم الرابع: أين ينهار التشبيه؟</a:t>
            </a:r>
          </a:p>
        </p:txBody>
      </p:sp>
      <p:sp>
        <p:nvSpPr>
          <p:cNvPr id="6" name="TextBox 6"/>
          <p:cNvSpPr txBox="1"/>
          <p:nvPr/>
        </p:nvSpPr>
        <p:spPr>
          <a:xfrm>
            <a:off x="1285875" y="1957388"/>
            <a:ext cx="15716250" cy="436017"/>
          </a:xfrm>
          <a:prstGeom prst="rect">
            <a:avLst/>
          </a:prstGeom>
        </p:spPr>
        <p:txBody>
          <a:bodyPr lIns="0" tIns="0" rIns="0" bIns="0" rtlCol="0" anchor="t">
            <a:spAutoFit/>
          </a:bodyPr>
          <a:lstStyle/>
          <a:p>
            <a:pPr algn="r" rtl="1">
              <a:lnSpc>
                <a:spcPts val="3359"/>
              </a:lnSpc>
            </a:pPr>
            <a:r>
              <a:rPr lang="ar-EG" sz="2799" b="1" dirty="0">
                <a:solidFill>
                  <a:srgbClr val="0F172A"/>
                </a:solidFill>
                <a:latin typeface="Cairo Bold"/>
                <a:ea typeface="Cairo Bold"/>
                <a:cs typeface="Cairo Bold"/>
                <a:sym typeface="Cairo Bold"/>
                <a:rtl/>
              </a:rPr>
              <a:t>الفرق الثالث: لا تجربة داخلية، لا فضول، لا "لماذا؟</a:t>
            </a:r>
            <a:r>
              <a:rPr lang="en-US" sz="2799" b="1" dirty="0">
                <a:solidFill>
                  <a:srgbClr val="0F172A"/>
                </a:solidFill>
                <a:latin typeface="Cairo Bold"/>
                <a:ea typeface="Cairo Bold"/>
                <a:cs typeface="Cairo Bold"/>
                <a:sym typeface="Cairo Bold"/>
              </a:rPr>
              <a:t>"</a:t>
            </a:r>
          </a:p>
        </p:txBody>
      </p:sp>
      <p:grpSp>
        <p:nvGrpSpPr>
          <p:cNvPr id="7" name="Group 7"/>
          <p:cNvGrpSpPr/>
          <p:nvPr/>
        </p:nvGrpSpPr>
        <p:grpSpPr>
          <a:xfrm>
            <a:off x="16766381" y="3073594"/>
            <a:ext cx="235744" cy="314325"/>
            <a:chOff x="0" y="0"/>
            <a:chExt cx="314325" cy="419100"/>
          </a:xfrm>
        </p:grpSpPr>
        <p:sp>
          <p:nvSpPr>
            <p:cNvPr id="8" name="Freeform 8" descr="preencoded.png"/>
            <p:cNvSpPr/>
            <p:nvPr/>
          </p:nvSpPr>
          <p:spPr>
            <a:xfrm>
              <a:off x="0" y="0"/>
              <a:ext cx="314325" cy="419100"/>
            </a:xfrm>
            <a:custGeom>
              <a:avLst/>
              <a:gdLst/>
              <a:ahLst/>
              <a:cxnLst/>
              <a:rect l="l" t="t" r="r" b="b"/>
              <a:pathLst>
                <a:path w="314325" h="419100">
                  <a:moveTo>
                    <a:pt x="0" y="0"/>
                  </a:moveTo>
                  <a:lnTo>
                    <a:pt x="314325" y="0"/>
                  </a:lnTo>
                  <a:lnTo>
                    <a:pt x="314325" y="419100"/>
                  </a:lnTo>
                  <a:lnTo>
                    <a:pt x="0" y="419100"/>
                  </a:lnTo>
                  <a:lnTo>
                    <a:pt x="0" y="0"/>
                  </a:lnTo>
                  <a:close/>
                </a:path>
              </a:pathLst>
            </a:custGeom>
            <a:blipFill>
              <a:blip r:embed="rId4"/>
              <a:stretch>
                <a:fillRect t="-1136" b="-1136"/>
              </a:stretch>
            </a:blipFill>
          </p:spPr>
          <p:txBody>
            <a:bodyPr/>
            <a:lstStyle/>
            <a:p>
              <a:endParaRPr lang="en-SA"/>
            </a:p>
          </p:txBody>
        </p:sp>
      </p:grpSp>
      <p:sp>
        <p:nvSpPr>
          <p:cNvPr id="9" name="TextBox 9"/>
          <p:cNvSpPr txBox="1"/>
          <p:nvPr/>
        </p:nvSpPr>
        <p:spPr>
          <a:xfrm>
            <a:off x="12869466" y="2936081"/>
            <a:ext cx="3754041" cy="589359"/>
          </a:xfrm>
          <a:prstGeom prst="rect">
            <a:avLst/>
          </a:prstGeom>
        </p:spPr>
        <p:txBody>
          <a:bodyPr lIns="0" tIns="0" rIns="0" bIns="0" rtlCol="0" anchor="t">
            <a:spAutoFit/>
          </a:bodyPr>
          <a:lstStyle/>
          <a:p>
            <a:pPr algn="r">
              <a:lnSpc>
                <a:spcPts val="2640"/>
              </a:lnSpc>
            </a:pPr>
            <a:r>
              <a:rPr lang="ar-EG" sz="2200" b="1">
                <a:solidFill>
                  <a:srgbClr val="0284C7"/>
                </a:solidFill>
                <a:latin typeface="Cairo Bold"/>
                <a:ea typeface="Cairo Bold"/>
                <a:cs typeface="Cairo Bold"/>
                <a:sym typeface="Cairo Bold"/>
                <a:rtl/>
              </a:rPr>
              <a:t>أنت كإنسان (العقل البشري)</a:t>
            </a:r>
          </a:p>
        </p:txBody>
      </p:sp>
      <p:sp>
        <p:nvSpPr>
          <p:cNvPr id="10" name="TextBox 10"/>
          <p:cNvSpPr txBox="1"/>
          <p:nvPr/>
        </p:nvSpPr>
        <p:spPr>
          <a:xfrm>
            <a:off x="9815512" y="3896916"/>
            <a:ext cx="6986588" cy="282129"/>
          </a:xfrm>
          <a:prstGeom prst="rect">
            <a:avLst/>
          </a:prstGeom>
        </p:spPr>
        <p:txBody>
          <a:bodyPr lIns="0" tIns="0" rIns="0" bIns="0" rtlCol="0" anchor="t">
            <a:spAutoFit/>
          </a:bodyPr>
          <a:lstStyle/>
          <a:p>
            <a:pPr algn="r" rtl="1">
              <a:lnSpc>
                <a:spcPts val="2160"/>
              </a:lnSpc>
            </a:pPr>
            <a:r>
              <a:rPr lang="ar-EG" sz="1800" b="1" dirty="0">
                <a:solidFill>
                  <a:srgbClr val="0F172A"/>
                </a:solidFill>
                <a:latin typeface="Cairo Bold"/>
                <a:ea typeface="Cairo Bold"/>
                <a:cs typeface="Cairo Bold"/>
                <a:sym typeface="Cairo Bold"/>
                <a:rtl/>
              </a:rPr>
              <a:t>الفضول والوعي والتساؤل</a:t>
            </a:r>
            <a:r>
              <a:rPr lang="en-US" sz="1800" b="1" dirty="0">
                <a:solidFill>
                  <a:srgbClr val="0F172A"/>
                </a:solidFill>
                <a:latin typeface="Cairo Bold"/>
                <a:ea typeface="Cairo Bold"/>
                <a:cs typeface="Cairo Bold"/>
                <a:sym typeface="Cairo Bold"/>
              </a:rPr>
              <a:t> 🧠</a:t>
            </a:r>
          </a:p>
        </p:txBody>
      </p:sp>
      <p:sp>
        <p:nvSpPr>
          <p:cNvPr id="11" name="TextBox 11"/>
          <p:cNvSpPr txBox="1"/>
          <p:nvPr/>
        </p:nvSpPr>
        <p:spPr>
          <a:xfrm>
            <a:off x="9815512" y="4426744"/>
            <a:ext cx="6986588" cy="294953"/>
          </a:xfrm>
          <a:prstGeom prst="rect">
            <a:avLst/>
          </a:prstGeom>
        </p:spPr>
        <p:txBody>
          <a:bodyPr lIns="0" tIns="0" rIns="0" bIns="0" rtlCol="0" anchor="t">
            <a:spAutoFit/>
          </a:bodyPr>
          <a:lstStyle/>
          <a:p>
            <a:pPr algn="r" rtl="1">
              <a:lnSpc>
                <a:spcPts val="2304"/>
              </a:lnSpc>
            </a:pPr>
            <a:r>
              <a:rPr lang="ar-EG" sz="1600" dirty="0">
                <a:solidFill>
                  <a:srgbClr val="475569"/>
                </a:solidFill>
                <a:latin typeface="Cairo"/>
                <a:ea typeface="Cairo"/>
                <a:cs typeface="Cairo"/>
                <a:sym typeface="Cairo"/>
                <a:rtl/>
              </a:rPr>
              <a:t>تشعر بالفضول الحقيقي، وتسأل دائماً "لماذا؟" لتفهم العالم وتزيل الغموض</a:t>
            </a:r>
            <a:r>
              <a:rPr lang="en-US" sz="1600" dirty="0">
                <a:solidFill>
                  <a:srgbClr val="475569"/>
                </a:solidFill>
                <a:latin typeface="Cairo"/>
                <a:ea typeface="Cairo"/>
                <a:cs typeface="Cairo"/>
                <a:sym typeface="Cairo"/>
              </a:rPr>
              <a:t>.</a:t>
            </a:r>
          </a:p>
        </p:txBody>
      </p:sp>
      <p:sp>
        <p:nvSpPr>
          <p:cNvPr id="12" name="TextBox 12"/>
          <p:cNvSpPr txBox="1"/>
          <p:nvPr/>
        </p:nvSpPr>
        <p:spPr>
          <a:xfrm>
            <a:off x="9615488" y="5182791"/>
            <a:ext cx="7386638" cy="315471"/>
          </a:xfrm>
          <a:prstGeom prst="rect">
            <a:avLst/>
          </a:prstGeom>
        </p:spPr>
        <p:txBody>
          <a:bodyPr lIns="0" tIns="0" rIns="0" bIns="0" rtlCol="0" anchor="t">
            <a:spAutoFit/>
          </a:bodyPr>
          <a:lstStyle/>
          <a:p>
            <a:pPr algn="r" rtl="1">
              <a:lnSpc>
                <a:spcPts val="2611"/>
              </a:lnSpc>
            </a:pPr>
            <a:r>
              <a:rPr lang="ar-EG" sz="1700" b="1" dirty="0">
                <a:solidFill>
                  <a:srgbClr val="0F172A"/>
                </a:solidFill>
                <a:latin typeface="Cairo Bold"/>
                <a:ea typeface="Cairo Bold"/>
                <a:cs typeface="Cairo Bold"/>
                <a:sym typeface="Cairo Bold"/>
                <a:rtl/>
              </a:rPr>
              <a:t>أنت</a:t>
            </a:r>
            <a:r>
              <a:rPr lang="ar-EG" sz="1700" dirty="0">
                <a:solidFill>
                  <a:srgbClr val="475569"/>
                </a:solidFill>
                <a:latin typeface="Cairo Light"/>
                <a:ea typeface="Cairo Light"/>
                <a:cs typeface="Cairo Light"/>
                <a:sym typeface="Cairo Light"/>
                <a:rtl/>
              </a:rPr>
              <a:t> تربط المعلومات الجديدة بتجاربك ومشاعرك وذكرياتك لفهم المعنى الحقيقي</a:t>
            </a:r>
            <a:r>
              <a:rPr lang="en-US" sz="1700" dirty="0">
                <a:solidFill>
                  <a:srgbClr val="475569"/>
                </a:solidFill>
                <a:latin typeface="Cairo Light"/>
                <a:ea typeface="Cairo Light"/>
                <a:cs typeface="Cairo Light"/>
                <a:sym typeface="Cairo Light"/>
              </a:rPr>
              <a:t>.</a:t>
            </a:r>
          </a:p>
        </p:txBody>
      </p:sp>
      <p:grpSp>
        <p:nvGrpSpPr>
          <p:cNvPr id="13" name="Group 13"/>
          <p:cNvGrpSpPr/>
          <p:nvPr/>
        </p:nvGrpSpPr>
        <p:grpSpPr>
          <a:xfrm>
            <a:off x="8436769" y="2940097"/>
            <a:ext cx="235744" cy="314325"/>
            <a:chOff x="0" y="0"/>
            <a:chExt cx="314325" cy="419100"/>
          </a:xfrm>
        </p:grpSpPr>
        <p:sp>
          <p:nvSpPr>
            <p:cNvPr id="14" name="Freeform 14" descr="preencoded.png"/>
            <p:cNvSpPr/>
            <p:nvPr/>
          </p:nvSpPr>
          <p:spPr>
            <a:xfrm>
              <a:off x="0" y="0"/>
              <a:ext cx="314325" cy="419100"/>
            </a:xfrm>
            <a:custGeom>
              <a:avLst/>
              <a:gdLst/>
              <a:ahLst/>
              <a:cxnLst/>
              <a:rect l="l" t="t" r="r" b="b"/>
              <a:pathLst>
                <a:path w="314325" h="419100">
                  <a:moveTo>
                    <a:pt x="0" y="0"/>
                  </a:moveTo>
                  <a:lnTo>
                    <a:pt x="314325" y="0"/>
                  </a:lnTo>
                  <a:lnTo>
                    <a:pt x="314325" y="419100"/>
                  </a:lnTo>
                  <a:lnTo>
                    <a:pt x="0" y="419100"/>
                  </a:lnTo>
                  <a:lnTo>
                    <a:pt x="0" y="0"/>
                  </a:lnTo>
                  <a:close/>
                </a:path>
              </a:pathLst>
            </a:custGeom>
            <a:blipFill>
              <a:blip r:embed="rId5"/>
              <a:stretch>
                <a:fillRect t="-1136" b="-1136"/>
              </a:stretch>
            </a:blipFill>
          </p:spPr>
          <p:txBody>
            <a:bodyPr/>
            <a:lstStyle/>
            <a:p>
              <a:endParaRPr lang="en-SA"/>
            </a:p>
          </p:txBody>
        </p:sp>
      </p:grpSp>
      <p:sp>
        <p:nvSpPr>
          <p:cNvPr id="15" name="TextBox 15"/>
          <p:cNvSpPr txBox="1"/>
          <p:nvPr/>
        </p:nvSpPr>
        <p:spPr>
          <a:xfrm>
            <a:off x="4464844" y="2936081"/>
            <a:ext cx="3829050" cy="589359"/>
          </a:xfrm>
          <a:prstGeom prst="rect">
            <a:avLst/>
          </a:prstGeom>
        </p:spPr>
        <p:txBody>
          <a:bodyPr lIns="0" tIns="0" rIns="0" bIns="0" rtlCol="0" anchor="t">
            <a:spAutoFit/>
          </a:bodyPr>
          <a:lstStyle/>
          <a:p>
            <a:pPr algn="r">
              <a:lnSpc>
                <a:spcPts val="2640"/>
              </a:lnSpc>
            </a:pPr>
            <a:r>
              <a:rPr lang="ar-EG" sz="2200" b="1" dirty="0">
                <a:solidFill>
                  <a:srgbClr val="EA580C"/>
                </a:solidFill>
                <a:latin typeface="Cairo Bold"/>
                <a:ea typeface="Cairo Bold"/>
                <a:cs typeface="Cairo Bold"/>
                <a:sym typeface="Cairo Bold"/>
                <a:rtl/>
              </a:rPr>
              <a:t>الشبكة العصبية الاصطناعية</a:t>
            </a:r>
          </a:p>
        </p:txBody>
      </p:sp>
      <p:sp>
        <p:nvSpPr>
          <p:cNvPr id="16" name="TextBox 16"/>
          <p:cNvSpPr txBox="1"/>
          <p:nvPr/>
        </p:nvSpPr>
        <p:spPr>
          <a:xfrm>
            <a:off x="1485900" y="3896916"/>
            <a:ext cx="6986588" cy="282129"/>
          </a:xfrm>
          <a:prstGeom prst="rect">
            <a:avLst/>
          </a:prstGeom>
        </p:spPr>
        <p:txBody>
          <a:bodyPr lIns="0" tIns="0" rIns="0" bIns="0" rtlCol="0" anchor="t">
            <a:spAutoFit/>
          </a:bodyPr>
          <a:lstStyle/>
          <a:p>
            <a:pPr algn="r" rtl="1">
              <a:lnSpc>
                <a:spcPts val="2160"/>
              </a:lnSpc>
            </a:pPr>
            <a:r>
              <a:rPr lang="ar-EG" sz="1800" b="1" dirty="0">
                <a:solidFill>
                  <a:srgbClr val="0F172A"/>
                </a:solidFill>
                <a:latin typeface="Cairo Bold"/>
                <a:ea typeface="Cairo Bold"/>
                <a:cs typeface="Cairo Bold"/>
                <a:sym typeface="Cairo Bold"/>
                <a:rtl/>
              </a:rPr>
              <a:t>مجرد عمليات حسابية صامتة</a:t>
            </a:r>
            <a:r>
              <a:rPr lang="en-US" sz="1800" b="1" dirty="0">
                <a:solidFill>
                  <a:srgbClr val="0F172A"/>
                </a:solidFill>
                <a:latin typeface="Cairo Bold"/>
                <a:ea typeface="Cairo Bold"/>
                <a:cs typeface="Cairo Bold"/>
                <a:sym typeface="Cairo Bold"/>
              </a:rPr>
              <a:t> 🤖</a:t>
            </a:r>
          </a:p>
        </p:txBody>
      </p:sp>
      <p:sp>
        <p:nvSpPr>
          <p:cNvPr id="17" name="TextBox 17"/>
          <p:cNvSpPr txBox="1"/>
          <p:nvPr/>
        </p:nvSpPr>
        <p:spPr>
          <a:xfrm>
            <a:off x="1485900" y="4426744"/>
            <a:ext cx="6986588" cy="294953"/>
          </a:xfrm>
          <a:prstGeom prst="rect">
            <a:avLst/>
          </a:prstGeom>
        </p:spPr>
        <p:txBody>
          <a:bodyPr lIns="0" tIns="0" rIns="0" bIns="0" rtlCol="0" anchor="t">
            <a:spAutoFit/>
          </a:bodyPr>
          <a:lstStyle/>
          <a:p>
            <a:pPr algn="r" rtl="1">
              <a:lnSpc>
                <a:spcPts val="2304"/>
              </a:lnSpc>
            </a:pPr>
            <a:r>
              <a:rPr lang="ar-EG" sz="1600" dirty="0">
                <a:solidFill>
                  <a:srgbClr val="475569"/>
                </a:solidFill>
                <a:latin typeface="Cairo"/>
                <a:ea typeface="Cairo"/>
                <a:cs typeface="Cairo"/>
                <a:sym typeface="Cairo"/>
                <a:rtl/>
              </a:rPr>
              <a:t>لا تملك فضولاً أو وعيًا؛ تحول المدخلات لمخرجات فقط</a:t>
            </a:r>
            <a:r>
              <a:rPr lang="en-US" sz="1600" dirty="0">
                <a:solidFill>
                  <a:srgbClr val="475569"/>
                </a:solidFill>
                <a:latin typeface="Cairo"/>
                <a:ea typeface="Cairo"/>
                <a:cs typeface="Cairo"/>
                <a:sym typeface="Cairo"/>
              </a:rPr>
              <a:t>.</a:t>
            </a:r>
          </a:p>
        </p:txBody>
      </p:sp>
      <p:sp>
        <p:nvSpPr>
          <p:cNvPr id="18" name="TextBox 18"/>
          <p:cNvSpPr txBox="1"/>
          <p:nvPr/>
        </p:nvSpPr>
        <p:spPr>
          <a:xfrm>
            <a:off x="1285875" y="5182791"/>
            <a:ext cx="7386638" cy="648896"/>
          </a:xfrm>
          <a:prstGeom prst="rect">
            <a:avLst/>
          </a:prstGeom>
        </p:spPr>
        <p:txBody>
          <a:bodyPr lIns="0" tIns="0" rIns="0" bIns="0" rtlCol="0" anchor="t">
            <a:spAutoFit/>
          </a:bodyPr>
          <a:lstStyle/>
          <a:p>
            <a:pPr algn="r" rtl="1">
              <a:lnSpc>
                <a:spcPts val="2611"/>
              </a:lnSpc>
            </a:pPr>
            <a:r>
              <a:rPr lang="ar-EG" sz="1700" dirty="0">
                <a:solidFill>
                  <a:srgbClr val="475569"/>
                </a:solidFill>
                <a:latin typeface="Cairo Light"/>
                <a:ea typeface="Cairo Light"/>
                <a:cs typeface="Cairo Light"/>
                <a:sym typeface="Cairo Light"/>
                <a:rtl/>
              </a:rPr>
              <a:t>الشبكة العصبية </a:t>
            </a:r>
            <a:r>
              <a:rPr lang="ar-EG" sz="1700" b="1" dirty="0">
                <a:solidFill>
                  <a:srgbClr val="0F172A"/>
                </a:solidFill>
                <a:latin typeface="Cairo Bold"/>
                <a:ea typeface="Cairo Bold"/>
                <a:cs typeface="Cairo Bold"/>
                <a:sym typeface="Cairo Bold"/>
                <a:rtl/>
              </a:rPr>
              <a:t>لا تتساءل</a:t>
            </a:r>
            <a:r>
              <a:rPr lang="ar-EG" sz="1700" dirty="0">
                <a:solidFill>
                  <a:srgbClr val="475569"/>
                </a:solidFill>
                <a:latin typeface="Cairo Light"/>
                <a:ea typeface="Cairo Light"/>
                <a:cs typeface="Cairo Light"/>
                <a:sym typeface="Cairo Light"/>
                <a:rtl/>
              </a:rPr>
              <a:t> عن السؤال ولا تفهم معنى الكلمات؛ إنها أرقام وضرب وجمع</a:t>
            </a:r>
            <a:r>
              <a:rPr lang="en-US" sz="1700" dirty="0">
                <a:solidFill>
                  <a:srgbClr val="475569"/>
                </a:solidFill>
                <a:latin typeface="Cairo Light"/>
                <a:ea typeface="Cairo Light"/>
                <a:cs typeface="Cairo Light"/>
                <a:sym typeface="Cairo Light"/>
              </a:rPr>
              <a:t>.</a:t>
            </a:r>
          </a:p>
        </p:txBody>
      </p:sp>
      <p:grpSp>
        <p:nvGrpSpPr>
          <p:cNvPr id="19" name="Group 19"/>
          <p:cNvGrpSpPr/>
          <p:nvPr/>
        </p:nvGrpSpPr>
        <p:grpSpPr>
          <a:xfrm>
            <a:off x="16459200" y="8229600"/>
            <a:ext cx="228600" cy="257175"/>
            <a:chOff x="0" y="0"/>
            <a:chExt cx="304800" cy="342900"/>
          </a:xfrm>
        </p:grpSpPr>
        <p:sp>
          <p:nvSpPr>
            <p:cNvPr id="20" name="Freeform 20" descr="preencoded.png"/>
            <p:cNvSpPr/>
            <p:nvPr/>
          </p:nvSpPr>
          <p:spPr>
            <a:xfrm>
              <a:off x="0" y="0"/>
              <a:ext cx="304800" cy="342900"/>
            </a:xfrm>
            <a:custGeom>
              <a:avLst/>
              <a:gdLst/>
              <a:ahLst/>
              <a:cxnLst/>
              <a:rect l="l" t="t" r="r" b="b"/>
              <a:pathLst>
                <a:path w="304800" h="342900">
                  <a:moveTo>
                    <a:pt x="0" y="0"/>
                  </a:moveTo>
                  <a:lnTo>
                    <a:pt x="304800" y="0"/>
                  </a:lnTo>
                  <a:lnTo>
                    <a:pt x="304800" y="342900"/>
                  </a:lnTo>
                  <a:lnTo>
                    <a:pt x="0" y="342900"/>
                  </a:lnTo>
                  <a:lnTo>
                    <a:pt x="0" y="0"/>
                  </a:lnTo>
                  <a:close/>
                </a:path>
              </a:pathLst>
            </a:custGeom>
            <a:blipFill>
              <a:blip r:embed="rId6"/>
              <a:stretch>
                <a:fillRect t="-2777" b="-2777"/>
              </a:stretch>
            </a:blipFill>
          </p:spPr>
          <p:txBody>
            <a:bodyPr/>
            <a:lstStyle/>
            <a:p>
              <a:endParaRPr lang="en-SA"/>
            </a:p>
          </p:txBody>
        </p:sp>
      </p:grpSp>
      <p:sp>
        <p:nvSpPr>
          <p:cNvPr id="21" name="TextBox 21"/>
          <p:cNvSpPr txBox="1"/>
          <p:nvPr/>
        </p:nvSpPr>
        <p:spPr>
          <a:xfrm>
            <a:off x="14405372" y="8229600"/>
            <a:ext cx="1939528" cy="282129"/>
          </a:xfrm>
          <a:prstGeom prst="rect">
            <a:avLst/>
          </a:prstGeom>
        </p:spPr>
        <p:txBody>
          <a:bodyPr lIns="0" tIns="0" rIns="0" bIns="0" rtlCol="0" anchor="t">
            <a:spAutoFit/>
          </a:bodyPr>
          <a:lstStyle/>
          <a:p>
            <a:pPr algn="r" rtl="1">
              <a:lnSpc>
                <a:spcPts val="2160"/>
              </a:lnSpc>
            </a:pPr>
            <a:r>
              <a:rPr lang="ar-EG" sz="1800" b="1" dirty="0">
                <a:solidFill>
                  <a:srgbClr val="EA580C"/>
                </a:solidFill>
                <a:latin typeface="Cairo Bold"/>
                <a:ea typeface="Cairo Bold"/>
                <a:cs typeface="Cairo Bold"/>
                <a:sym typeface="Cairo Bold"/>
                <a:rtl/>
              </a:rPr>
              <a:t>حقيقة هامة جداً</a:t>
            </a:r>
            <a:r>
              <a:rPr lang="en-US" sz="1800" b="1" dirty="0">
                <a:solidFill>
                  <a:srgbClr val="EA580C"/>
                </a:solidFill>
                <a:latin typeface="Cairo Bold"/>
                <a:ea typeface="Cairo Bold"/>
                <a:cs typeface="Cairo Bold"/>
                <a:sym typeface="Cairo Bold"/>
              </a:rPr>
              <a:t>:</a:t>
            </a:r>
          </a:p>
        </p:txBody>
      </p:sp>
      <p:sp>
        <p:nvSpPr>
          <p:cNvPr id="22" name="TextBox 22"/>
          <p:cNvSpPr txBox="1"/>
          <p:nvPr/>
        </p:nvSpPr>
        <p:spPr>
          <a:xfrm>
            <a:off x="1600200" y="8730853"/>
            <a:ext cx="15087600" cy="294953"/>
          </a:xfrm>
          <a:prstGeom prst="rect">
            <a:avLst/>
          </a:prstGeom>
        </p:spPr>
        <p:txBody>
          <a:bodyPr lIns="0" tIns="0" rIns="0" bIns="0" rtlCol="0" anchor="t">
            <a:spAutoFit/>
          </a:bodyPr>
          <a:lstStyle/>
          <a:p>
            <a:pPr algn="r" rtl="1">
              <a:lnSpc>
                <a:spcPts val="2304"/>
              </a:lnSpc>
            </a:pPr>
            <a:r>
              <a:rPr lang="en-US" sz="1600" dirty="0">
                <a:solidFill>
                  <a:srgbClr val="475569"/>
                </a:solidFill>
                <a:latin typeface="Cairo"/>
                <a:ea typeface="Cairo"/>
                <a:cs typeface="Cairo"/>
                <a:sym typeface="Cairo"/>
              </a:rPr>
              <a:t>"</a:t>
            </a:r>
            <a:r>
              <a:rPr lang="ar-EG" sz="1600" dirty="0">
                <a:solidFill>
                  <a:srgbClr val="475569"/>
                </a:solidFill>
                <a:latin typeface="Cairo"/>
                <a:ea typeface="Cairo"/>
                <a:cs typeface="Cairo"/>
                <a:sym typeface="Cairo"/>
                <a:rtl/>
              </a:rPr>
              <a:t>لا يوجد أحد في الداخل!" الشبكة العصبية أداة رياضية معقدة تحاكي شكل الدماغ دون وعي أو روح</a:t>
            </a:r>
          </a:p>
        </p:txBody>
      </p:sp>
      <p:sp>
        <p:nvSpPr>
          <p:cNvPr id="23" name="TextBox 23"/>
          <p:cNvSpPr txBox="1"/>
          <p:nvPr/>
        </p:nvSpPr>
        <p:spPr>
          <a:xfrm>
            <a:off x="13716000" y="9672638"/>
            <a:ext cx="3420049" cy="333425"/>
          </a:xfrm>
          <a:prstGeom prst="rect">
            <a:avLst/>
          </a:prstGeom>
        </p:spPr>
        <p:txBody>
          <a:bodyPr wrap="square" lIns="0" tIns="0" rIns="0" bIns="0" rtlCol="0" anchor="t">
            <a:spAutoFit/>
          </a:bodyPr>
          <a:lstStyle/>
          <a:p>
            <a:pPr algn="r">
              <a:lnSpc>
                <a:spcPts val="2595"/>
              </a:lnSpc>
            </a:pPr>
            <a:r>
              <a:rPr lang="ar-EG" sz="1800" dirty="0">
                <a:solidFill>
                  <a:srgbClr val="64748B"/>
                </a:solidFill>
                <a:latin typeface="Cairo Light"/>
                <a:ea typeface="Cairo Light"/>
                <a:cs typeface="Cairo Light"/>
                <a:sym typeface="Cairo Light"/>
                <a:rtl/>
              </a:rPr>
              <a:t>اليوم الثالث · مبني على صورتنا</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SA"/>
            </a:p>
          </p:txBody>
        </p:sp>
      </p:grpSp>
      <p:sp>
        <p:nvSpPr>
          <p:cNvPr id="4" name="TextBox 4"/>
          <p:cNvSpPr txBox="1"/>
          <p:nvPr/>
        </p:nvSpPr>
        <p:spPr>
          <a:xfrm>
            <a:off x="14855428" y="1000125"/>
            <a:ext cx="2146697" cy="642938"/>
          </a:xfrm>
          <a:prstGeom prst="rect">
            <a:avLst/>
          </a:prstGeom>
        </p:spPr>
        <p:txBody>
          <a:bodyPr lIns="0" tIns="0" rIns="0" bIns="0" rtlCol="0" anchor="t">
            <a:spAutoFit/>
          </a:bodyPr>
          <a:lstStyle/>
          <a:p>
            <a:pPr algn="r">
              <a:lnSpc>
                <a:spcPts val="2879"/>
              </a:lnSpc>
            </a:pPr>
            <a:r>
              <a:rPr lang="ar-EG" sz="2400" b="1">
                <a:solidFill>
                  <a:srgbClr val="0F172A"/>
                </a:solidFill>
                <a:latin typeface="Cairo Bold"/>
                <a:ea typeface="Cairo Bold"/>
                <a:cs typeface="Cairo Bold"/>
                <a:sym typeface="Cairo Bold"/>
                <a:rtl/>
              </a:rPr>
              <a:t>ملخص الفروق</a:t>
            </a:r>
          </a:p>
        </p:txBody>
      </p:sp>
      <p:sp>
        <p:nvSpPr>
          <p:cNvPr id="5" name="TextBox 5"/>
          <p:cNvSpPr txBox="1"/>
          <p:nvPr/>
        </p:nvSpPr>
        <p:spPr>
          <a:xfrm>
            <a:off x="1285875" y="1107281"/>
            <a:ext cx="3414712" cy="244298"/>
          </a:xfrm>
          <a:prstGeom prst="rect">
            <a:avLst/>
          </a:prstGeom>
        </p:spPr>
        <p:txBody>
          <a:bodyPr lIns="0" tIns="0" rIns="0" bIns="0" rtlCol="0" anchor="t">
            <a:spAutoFit/>
          </a:bodyPr>
          <a:lstStyle/>
          <a:p>
            <a:pPr algn="r">
              <a:lnSpc>
                <a:spcPts val="1920"/>
              </a:lnSpc>
            </a:pPr>
            <a:r>
              <a:rPr lang="ar-EG" sz="1600" b="1" dirty="0">
                <a:solidFill>
                  <a:srgbClr val="EA580C"/>
                </a:solidFill>
                <a:latin typeface="Cairo Bold"/>
                <a:ea typeface="Cairo Bold"/>
                <a:cs typeface="Cairo Bold"/>
                <a:sym typeface="Cairo Bold"/>
                <a:rtl/>
              </a:rPr>
              <a:t>القسم الرابع: أين ينهار التشبيه؟</a:t>
            </a:r>
          </a:p>
        </p:txBody>
      </p:sp>
      <p:sp>
        <p:nvSpPr>
          <p:cNvPr id="6" name="TextBox 6"/>
          <p:cNvSpPr txBox="1"/>
          <p:nvPr/>
        </p:nvSpPr>
        <p:spPr>
          <a:xfrm>
            <a:off x="1285875" y="2100262"/>
            <a:ext cx="15716250" cy="750094"/>
          </a:xfrm>
          <a:prstGeom prst="rect">
            <a:avLst/>
          </a:prstGeom>
        </p:spPr>
        <p:txBody>
          <a:bodyPr lIns="0" tIns="0" rIns="0" bIns="0" rtlCol="0" anchor="t">
            <a:spAutoFit/>
          </a:bodyPr>
          <a:lstStyle/>
          <a:p>
            <a:pPr algn="r">
              <a:lnSpc>
                <a:spcPts val="3359"/>
              </a:lnSpc>
            </a:pPr>
            <a:r>
              <a:rPr lang="ar-EG" sz="2799" b="1">
                <a:solidFill>
                  <a:srgbClr val="0F172A"/>
                </a:solidFill>
                <a:latin typeface="Cairo Bold"/>
                <a:ea typeface="Cairo Bold"/>
                <a:cs typeface="Cairo Bold"/>
                <a:sym typeface="Cairo Bold"/>
                <a:rtl/>
              </a:rPr>
              <a:t>مقارنة شاملة: أين ينهار التشبيه بين الدماغ والآلة؟</a:t>
            </a:r>
          </a:p>
        </p:txBody>
      </p:sp>
      <p:grpSp>
        <p:nvGrpSpPr>
          <p:cNvPr id="7" name="Group 7"/>
          <p:cNvGrpSpPr/>
          <p:nvPr/>
        </p:nvGrpSpPr>
        <p:grpSpPr>
          <a:xfrm>
            <a:off x="13850341" y="3036094"/>
            <a:ext cx="3137506" cy="635794"/>
            <a:chOff x="0" y="0"/>
            <a:chExt cx="4183342" cy="847725"/>
          </a:xfrm>
        </p:grpSpPr>
        <p:sp>
          <p:nvSpPr>
            <p:cNvPr id="8" name="Freeform 8"/>
            <p:cNvSpPr/>
            <p:nvPr/>
          </p:nvSpPr>
          <p:spPr>
            <a:xfrm>
              <a:off x="0" y="0"/>
              <a:ext cx="4183380" cy="847725"/>
            </a:xfrm>
            <a:custGeom>
              <a:avLst/>
              <a:gdLst/>
              <a:ahLst/>
              <a:cxnLst/>
              <a:rect l="l" t="t" r="r" b="b"/>
              <a:pathLst>
                <a:path w="4183380" h="847725">
                  <a:moveTo>
                    <a:pt x="0" y="0"/>
                  </a:moveTo>
                  <a:lnTo>
                    <a:pt x="4183380" y="0"/>
                  </a:lnTo>
                  <a:lnTo>
                    <a:pt x="4183380" y="847725"/>
                  </a:lnTo>
                  <a:lnTo>
                    <a:pt x="0" y="847725"/>
                  </a:lnTo>
                  <a:close/>
                </a:path>
              </a:pathLst>
            </a:custGeom>
            <a:solidFill>
              <a:srgbClr val="0284C7"/>
            </a:solidFill>
          </p:spPr>
          <p:txBody>
            <a:bodyPr/>
            <a:lstStyle/>
            <a:p>
              <a:endParaRPr lang="en-SA"/>
            </a:p>
          </p:txBody>
        </p:sp>
      </p:grpSp>
      <p:grpSp>
        <p:nvGrpSpPr>
          <p:cNvPr id="9" name="Group 9"/>
          <p:cNvGrpSpPr/>
          <p:nvPr/>
        </p:nvGrpSpPr>
        <p:grpSpPr>
          <a:xfrm>
            <a:off x="13850341" y="3036094"/>
            <a:ext cx="3137506" cy="635794"/>
            <a:chOff x="0" y="0"/>
            <a:chExt cx="4183342" cy="847725"/>
          </a:xfrm>
        </p:grpSpPr>
        <p:sp>
          <p:nvSpPr>
            <p:cNvPr id="10" name="Freeform 10"/>
            <p:cNvSpPr/>
            <p:nvPr/>
          </p:nvSpPr>
          <p:spPr>
            <a:xfrm>
              <a:off x="0" y="0"/>
              <a:ext cx="4183336" cy="847725"/>
            </a:xfrm>
            <a:custGeom>
              <a:avLst/>
              <a:gdLst/>
              <a:ahLst/>
              <a:cxnLst/>
              <a:rect l="l" t="t" r="r" b="b"/>
              <a:pathLst>
                <a:path w="4183336" h="847725">
                  <a:moveTo>
                    <a:pt x="0" y="0"/>
                  </a:moveTo>
                  <a:lnTo>
                    <a:pt x="4183336" y="0"/>
                  </a:lnTo>
                  <a:lnTo>
                    <a:pt x="4183336" y="847725"/>
                  </a:lnTo>
                  <a:lnTo>
                    <a:pt x="0" y="847725"/>
                  </a:lnTo>
                  <a:close/>
                </a:path>
              </a:pathLst>
            </a:custGeom>
            <a:blipFill>
              <a:blip r:embed="rId4">
                <a:alphaModFix amt="0"/>
              </a:blip>
              <a:stretch>
                <a:fillRect t="-46154" b="-46154"/>
              </a:stretch>
            </a:blipFill>
          </p:spPr>
          <p:txBody>
            <a:bodyPr/>
            <a:lstStyle/>
            <a:p>
              <a:endParaRPr lang="en-SA"/>
            </a:p>
          </p:txBody>
        </p:sp>
        <p:sp>
          <p:nvSpPr>
            <p:cNvPr id="11" name="TextBox 11"/>
            <p:cNvSpPr txBox="1"/>
            <p:nvPr/>
          </p:nvSpPr>
          <p:spPr>
            <a:xfrm>
              <a:off x="0" y="0"/>
              <a:ext cx="4183342" cy="847725"/>
            </a:xfrm>
            <a:prstGeom prst="rect">
              <a:avLst/>
            </a:prstGeom>
          </p:spPr>
          <p:txBody>
            <a:bodyPr lIns="0" tIns="0" rIns="0" bIns="0" rtlCol="0" anchor="ctr"/>
            <a:lstStyle/>
            <a:p>
              <a:pPr algn="ctr">
                <a:lnSpc>
                  <a:spcPts val="2400"/>
                </a:lnSpc>
              </a:pPr>
              <a:r>
                <a:rPr lang="ar-EG" sz="2000" b="1" dirty="0">
                  <a:solidFill>
                    <a:srgbClr val="FFFFFF"/>
                  </a:solidFill>
                  <a:latin typeface="Cairo Bold"/>
                  <a:ea typeface="Cairo Bold"/>
                  <a:cs typeface="Cairo Bold"/>
                  <a:sym typeface="Cairo Bold"/>
                  <a:rtl/>
                </a:rPr>
                <a:t>وجه المقارنة</a:t>
              </a:r>
            </a:p>
          </p:txBody>
        </p:sp>
      </p:grpSp>
      <p:grpSp>
        <p:nvGrpSpPr>
          <p:cNvPr id="12" name="Group 12"/>
          <p:cNvGrpSpPr/>
          <p:nvPr/>
        </p:nvGrpSpPr>
        <p:grpSpPr>
          <a:xfrm>
            <a:off x="7575280" y="3036094"/>
            <a:ext cx="6275060" cy="635794"/>
            <a:chOff x="0" y="0"/>
            <a:chExt cx="8366747" cy="847725"/>
          </a:xfrm>
        </p:grpSpPr>
        <p:sp>
          <p:nvSpPr>
            <p:cNvPr id="13" name="Freeform 13"/>
            <p:cNvSpPr/>
            <p:nvPr/>
          </p:nvSpPr>
          <p:spPr>
            <a:xfrm>
              <a:off x="0" y="0"/>
              <a:ext cx="8366760" cy="847725"/>
            </a:xfrm>
            <a:custGeom>
              <a:avLst/>
              <a:gdLst/>
              <a:ahLst/>
              <a:cxnLst/>
              <a:rect l="l" t="t" r="r" b="b"/>
              <a:pathLst>
                <a:path w="8366760" h="847725">
                  <a:moveTo>
                    <a:pt x="0" y="0"/>
                  </a:moveTo>
                  <a:lnTo>
                    <a:pt x="8366760" y="0"/>
                  </a:lnTo>
                  <a:lnTo>
                    <a:pt x="8366760" y="847725"/>
                  </a:lnTo>
                  <a:lnTo>
                    <a:pt x="0" y="847725"/>
                  </a:lnTo>
                  <a:close/>
                </a:path>
              </a:pathLst>
            </a:custGeom>
            <a:solidFill>
              <a:srgbClr val="0284C7"/>
            </a:solidFill>
          </p:spPr>
          <p:txBody>
            <a:bodyPr/>
            <a:lstStyle/>
            <a:p>
              <a:endParaRPr lang="en-SA"/>
            </a:p>
          </p:txBody>
        </p:sp>
      </p:grpSp>
      <p:grpSp>
        <p:nvGrpSpPr>
          <p:cNvPr id="14" name="Group 14"/>
          <p:cNvGrpSpPr/>
          <p:nvPr/>
        </p:nvGrpSpPr>
        <p:grpSpPr>
          <a:xfrm>
            <a:off x="7575280" y="3036094"/>
            <a:ext cx="6275060" cy="635794"/>
            <a:chOff x="0" y="0"/>
            <a:chExt cx="8366747" cy="847725"/>
          </a:xfrm>
        </p:grpSpPr>
        <p:sp>
          <p:nvSpPr>
            <p:cNvPr id="15" name="Freeform 15"/>
            <p:cNvSpPr/>
            <p:nvPr/>
          </p:nvSpPr>
          <p:spPr>
            <a:xfrm>
              <a:off x="0" y="0"/>
              <a:ext cx="8366744" cy="847725"/>
            </a:xfrm>
            <a:custGeom>
              <a:avLst/>
              <a:gdLst/>
              <a:ahLst/>
              <a:cxnLst/>
              <a:rect l="l" t="t" r="r" b="b"/>
              <a:pathLst>
                <a:path w="8366744" h="847725">
                  <a:moveTo>
                    <a:pt x="0" y="0"/>
                  </a:moveTo>
                  <a:lnTo>
                    <a:pt x="8366744" y="0"/>
                  </a:lnTo>
                  <a:lnTo>
                    <a:pt x="8366744" y="847725"/>
                  </a:lnTo>
                  <a:lnTo>
                    <a:pt x="0" y="847725"/>
                  </a:lnTo>
                  <a:close/>
                </a:path>
              </a:pathLst>
            </a:custGeom>
            <a:blipFill>
              <a:blip r:embed="rId4">
                <a:alphaModFix amt="0"/>
              </a:blip>
              <a:stretch>
                <a:fillRect t="-142310" b="-142310"/>
              </a:stretch>
            </a:blipFill>
          </p:spPr>
          <p:txBody>
            <a:bodyPr/>
            <a:lstStyle/>
            <a:p>
              <a:endParaRPr lang="en-SA"/>
            </a:p>
          </p:txBody>
        </p:sp>
        <p:sp>
          <p:nvSpPr>
            <p:cNvPr id="16" name="TextBox 16"/>
            <p:cNvSpPr txBox="1"/>
            <p:nvPr/>
          </p:nvSpPr>
          <p:spPr>
            <a:xfrm>
              <a:off x="0" y="0"/>
              <a:ext cx="8366747" cy="847725"/>
            </a:xfrm>
            <a:prstGeom prst="rect">
              <a:avLst/>
            </a:prstGeom>
          </p:spPr>
          <p:txBody>
            <a:bodyPr lIns="0" tIns="0" rIns="0" bIns="0" rtlCol="0" anchor="ctr"/>
            <a:lstStyle/>
            <a:p>
              <a:pPr algn="ctr">
                <a:lnSpc>
                  <a:spcPts val="2400"/>
                </a:lnSpc>
              </a:pPr>
              <a:r>
                <a:rPr lang="en-US" sz="2000" b="1" dirty="0">
                  <a:solidFill>
                    <a:srgbClr val="FFFFFF"/>
                  </a:solidFill>
                  <a:latin typeface="Cairo Bold"/>
                  <a:ea typeface="Cairo Bold"/>
                  <a:cs typeface="Cairo Bold"/>
                  <a:sym typeface="Cairo Bold"/>
                </a:rPr>
                <a:t>🧠 </a:t>
              </a:r>
              <a:r>
                <a:rPr lang="ar-EG" sz="2000" b="1" dirty="0">
                  <a:solidFill>
                    <a:srgbClr val="FFFFFF"/>
                  </a:solidFill>
                  <a:latin typeface="Cairo Bold"/>
                  <a:ea typeface="Cairo Bold"/>
                  <a:cs typeface="Cairo Bold"/>
                  <a:sym typeface="Cairo Bold"/>
                  <a:rtl/>
                </a:rPr>
                <a:t>الدماغ البشري</a:t>
              </a:r>
            </a:p>
          </p:txBody>
        </p:sp>
      </p:grpSp>
      <p:grpSp>
        <p:nvGrpSpPr>
          <p:cNvPr id="17" name="Group 17"/>
          <p:cNvGrpSpPr/>
          <p:nvPr/>
        </p:nvGrpSpPr>
        <p:grpSpPr>
          <a:xfrm>
            <a:off x="1300162" y="3036094"/>
            <a:ext cx="6275118" cy="635794"/>
            <a:chOff x="0" y="0"/>
            <a:chExt cx="8366823" cy="847725"/>
          </a:xfrm>
        </p:grpSpPr>
        <p:sp>
          <p:nvSpPr>
            <p:cNvPr id="18" name="Freeform 18"/>
            <p:cNvSpPr/>
            <p:nvPr/>
          </p:nvSpPr>
          <p:spPr>
            <a:xfrm>
              <a:off x="0" y="0"/>
              <a:ext cx="8366760" cy="847725"/>
            </a:xfrm>
            <a:custGeom>
              <a:avLst/>
              <a:gdLst/>
              <a:ahLst/>
              <a:cxnLst/>
              <a:rect l="l" t="t" r="r" b="b"/>
              <a:pathLst>
                <a:path w="8366760" h="847725">
                  <a:moveTo>
                    <a:pt x="0" y="0"/>
                  </a:moveTo>
                  <a:lnTo>
                    <a:pt x="8366760" y="0"/>
                  </a:lnTo>
                  <a:lnTo>
                    <a:pt x="8366760" y="847725"/>
                  </a:lnTo>
                  <a:lnTo>
                    <a:pt x="0" y="847725"/>
                  </a:lnTo>
                  <a:close/>
                </a:path>
              </a:pathLst>
            </a:custGeom>
            <a:solidFill>
              <a:srgbClr val="0284C7"/>
            </a:solidFill>
          </p:spPr>
          <p:txBody>
            <a:bodyPr/>
            <a:lstStyle/>
            <a:p>
              <a:endParaRPr lang="en-SA"/>
            </a:p>
          </p:txBody>
        </p:sp>
      </p:grpSp>
      <p:grpSp>
        <p:nvGrpSpPr>
          <p:cNvPr id="19" name="Group 19"/>
          <p:cNvGrpSpPr/>
          <p:nvPr/>
        </p:nvGrpSpPr>
        <p:grpSpPr>
          <a:xfrm>
            <a:off x="1300162" y="3036094"/>
            <a:ext cx="6275118" cy="635794"/>
            <a:chOff x="0" y="0"/>
            <a:chExt cx="8366823" cy="847725"/>
          </a:xfrm>
        </p:grpSpPr>
        <p:sp>
          <p:nvSpPr>
            <p:cNvPr id="20" name="Freeform 20"/>
            <p:cNvSpPr/>
            <p:nvPr/>
          </p:nvSpPr>
          <p:spPr>
            <a:xfrm>
              <a:off x="0" y="0"/>
              <a:ext cx="8366819" cy="847725"/>
            </a:xfrm>
            <a:custGeom>
              <a:avLst/>
              <a:gdLst/>
              <a:ahLst/>
              <a:cxnLst/>
              <a:rect l="l" t="t" r="r" b="b"/>
              <a:pathLst>
                <a:path w="8366819" h="847725">
                  <a:moveTo>
                    <a:pt x="0" y="0"/>
                  </a:moveTo>
                  <a:lnTo>
                    <a:pt x="8366819" y="0"/>
                  </a:lnTo>
                  <a:lnTo>
                    <a:pt x="8366819" y="847725"/>
                  </a:lnTo>
                  <a:lnTo>
                    <a:pt x="0" y="847725"/>
                  </a:lnTo>
                  <a:close/>
                </a:path>
              </a:pathLst>
            </a:custGeom>
            <a:blipFill>
              <a:blip r:embed="rId4">
                <a:alphaModFix amt="0"/>
              </a:blip>
              <a:stretch>
                <a:fillRect t="-142312" b="-142312"/>
              </a:stretch>
            </a:blipFill>
          </p:spPr>
          <p:txBody>
            <a:bodyPr/>
            <a:lstStyle/>
            <a:p>
              <a:endParaRPr lang="en-SA"/>
            </a:p>
          </p:txBody>
        </p:sp>
        <p:sp>
          <p:nvSpPr>
            <p:cNvPr id="21" name="TextBox 21"/>
            <p:cNvSpPr txBox="1"/>
            <p:nvPr/>
          </p:nvSpPr>
          <p:spPr>
            <a:xfrm>
              <a:off x="0" y="0"/>
              <a:ext cx="8366823" cy="847725"/>
            </a:xfrm>
            <a:prstGeom prst="rect">
              <a:avLst/>
            </a:prstGeom>
          </p:spPr>
          <p:txBody>
            <a:bodyPr lIns="0" tIns="0" rIns="0" bIns="0" rtlCol="0" anchor="ctr"/>
            <a:lstStyle/>
            <a:p>
              <a:pPr algn="ctr">
                <a:lnSpc>
                  <a:spcPts val="2400"/>
                </a:lnSpc>
              </a:pPr>
              <a:r>
                <a:rPr lang="en-US" sz="2000" b="1" dirty="0">
                  <a:solidFill>
                    <a:srgbClr val="FFFFFF"/>
                  </a:solidFill>
                  <a:latin typeface="Cairo Bold"/>
                  <a:ea typeface="Cairo Bold"/>
                  <a:cs typeface="Cairo Bold"/>
                  <a:sym typeface="Cairo Bold"/>
                </a:rPr>
                <a:t>🤖 </a:t>
              </a:r>
              <a:r>
                <a:rPr lang="ar-EG" sz="2000" b="1" dirty="0">
                  <a:solidFill>
                    <a:srgbClr val="FFFFFF"/>
                  </a:solidFill>
                  <a:latin typeface="Cairo Bold"/>
                  <a:ea typeface="Cairo Bold"/>
                  <a:cs typeface="Cairo Bold"/>
                  <a:sym typeface="Cairo Bold"/>
                  <a:rtl/>
                </a:rPr>
                <a:t>الشبكة العصبية الاصطناعية</a:t>
              </a:r>
            </a:p>
          </p:txBody>
        </p:sp>
      </p:grpSp>
      <p:sp>
        <p:nvSpPr>
          <p:cNvPr id="22" name="TextBox 22"/>
          <p:cNvSpPr txBox="1"/>
          <p:nvPr/>
        </p:nvSpPr>
        <p:spPr>
          <a:xfrm>
            <a:off x="15148322" y="3998709"/>
            <a:ext cx="1653778" cy="482203"/>
          </a:xfrm>
          <a:prstGeom prst="rect">
            <a:avLst/>
          </a:prstGeom>
        </p:spPr>
        <p:txBody>
          <a:bodyPr lIns="0" tIns="0" rIns="0" bIns="0" rtlCol="0" anchor="t">
            <a:spAutoFit/>
          </a:bodyPr>
          <a:lstStyle/>
          <a:p>
            <a:pPr algn="r">
              <a:lnSpc>
                <a:spcPts val="2160"/>
              </a:lnSpc>
            </a:pPr>
            <a:r>
              <a:rPr lang="ar-EG" sz="1800" b="1">
                <a:solidFill>
                  <a:srgbClr val="475569"/>
                </a:solidFill>
                <a:latin typeface="Cairo Bold"/>
                <a:ea typeface="Cairo Bold"/>
                <a:cs typeface="Cairo Bold"/>
                <a:sym typeface="Cairo Bold"/>
                <a:rtl/>
              </a:rPr>
              <a:t>إعادة التشكيل</a:t>
            </a:r>
          </a:p>
        </p:txBody>
      </p:sp>
      <p:grpSp>
        <p:nvGrpSpPr>
          <p:cNvPr id="23" name="Group 23"/>
          <p:cNvGrpSpPr/>
          <p:nvPr/>
        </p:nvGrpSpPr>
        <p:grpSpPr>
          <a:xfrm>
            <a:off x="7575280" y="3671888"/>
            <a:ext cx="6275060" cy="1057275"/>
            <a:chOff x="0" y="0"/>
            <a:chExt cx="8366747" cy="1409700"/>
          </a:xfrm>
        </p:grpSpPr>
        <p:sp>
          <p:nvSpPr>
            <p:cNvPr id="24" name="Freeform 24"/>
            <p:cNvSpPr/>
            <p:nvPr/>
          </p:nvSpPr>
          <p:spPr>
            <a:xfrm>
              <a:off x="0" y="0"/>
              <a:ext cx="8366744" cy="1409701"/>
            </a:xfrm>
            <a:custGeom>
              <a:avLst/>
              <a:gdLst/>
              <a:ahLst/>
              <a:cxnLst/>
              <a:rect l="l" t="t" r="r" b="b"/>
              <a:pathLst>
                <a:path w="8366744" h="1409701">
                  <a:moveTo>
                    <a:pt x="0" y="0"/>
                  </a:moveTo>
                  <a:lnTo>
                    <a:pt x="8366744" y="0"/>
                  </a:lnTo>
                  <a:lnTo>
                    <a:pt x="8366744" y="1409701"/>
                  </a:lnTo>
                  <a:lnTo>
                    <a:pt x="0" y="1409701"/>
                  </a:lnTo>
                  <a:close/>
                </a:path>
              </a:pathLst>
            </a:custGeom>
            <a:blipFill>
              <a:blip r:embed="rId4">
                <a:alphaModFix amt="0"/>
              </a:blip>
              <a:stretch>
                <a:fillRect t="-65646" b="-65646"/>
              </a:stretch>
            </a:blipFill>
          </p:spPr>
          <p:txBody>
            <a:bodyPr/>
            <a:lstStyle/>
            <a:p>
              <a:endParaRPr lang="en-SA"/>
            </a:p>
          </p:txBody>
        </p:sp>
        <p:sp>
          <p:nvSpPr>
            <p:cNvPr id="25" name="TextBox 25"/>
            <p:cNvSpPr txBox="1"/>
            <p:nvPr/>
          </p:nvSpPr>
          <p:spPr>
            <a:xfrm>
              <a:off x="0" y="0"/>
              <a:ext cx="8366747" cy="1409700"/>
            </a:xfrm>
            <a:prstGeom prst="rect">
              <a:avLst/>
            </a:prstGeom>
          </p:spPr>
          <p:txBody>
            <a:bodyPr lIns="0" tIns="0" rIns="0" bIns="0" rtlCol="0" anchor="ctr"/>
            <a:lstStyle/>
            <a:p>
              <a:pPr algn="r" rtl="1">
                <a:lnSpc>
                  <a:spcPts val="2280"/>
                </a:lnSpc>
              </a:pPr>
              <a:r>
                <a:rPr lang="ar-EG" sz="1900" dirty="0">
                  <a:solidFill>
                    <a:srgbClr val="475569"/>
                  </a:solidFill>
                  <a:latin typeface="Cairo"/>
                  <a:ea typeface="Cairo"/>
                  <a:cs typeface="Cairo"/>
                  <a:sym typeface="Cairo"/>
                  <a:rtl/>
                </a:rPr>
                <a:t>يتغير ويعيد بناء روابطه باستمرار وفي الوقت الفعلي مدى الحياة</a:t>
              </a:r>
            </a:p>
          </p:txBody>
        </p:sp>
      </p:grpSp>
      <p:grpSp>
        <p:nvGrpSpPr>
          <p:cNvPr id="26" name="Group 26"/>
          <p:cNvGrpSpPr/>
          <p:nvPr/>
        </p:nvGrpSpPr>
        <p:grpSpPr>
          <a:xfrm>
            <a:off x="1300162" y="3671888"/>
            <a:ext cx="6275118" cy="1057275"/>
            <a:chOff x="0" y="0"/>
            <a:chExt cx="8366823" cy="1409700"/>
          </a:xfrm>
        </p:grpSpPr>
        <p:sp>
          <p:nvSpPr>
            <p:cNvPr id="27" name="Freeform 27"/>
            <p:cNvSpPr/>
            <p:nvPr/>
          </p:nvSpPr>
          <p:spPr>
            <a:xfrm>
              <a:off x="0" y="0"/>
              <a:ext cx="8366819" cy="1409701"/>
            </a:xfrm>
            <a:custGeom>
              <a:avLst/>
              <a:gdLst/>
              <a:ahLst/>
              <a:cxnLst/>
              <a:rect l="l" t="t" r="r" b="b"/>
              <a:pathLst>
                <a:path w="8366819" h="1409701">
                  <a:moveTo>
                    <a:pt x="0" y="0"/>
                  </a:moveTo>
                  <a:lnTo>
                    <a:pt x="8366819" y="0"/>
                  </a:lnTo>
                  <a:lnTo>
                    <a:pt x="8366819" y="1409701"/>
                  </a:lnTo>
                  <a:lnTo>
                    <a:pt x="0" y="1409701"/>
                  </a:lnTo>
                  <a:close/>
                </a:path>
              </a:pathLst>
            </a:custGeom>
            <a:blipFill>
              <a:blip r:embed="rId4">
                <a:alphaModFix amt="0"/>
              </a:blip>
              <a:stretch>
                <a:fillRect t="-65647" b="-65647"/>
              </a:stretch>
            </a:blipFill>
          </p:spPr>
          <p:txBody>
            <a:bodyPr/>
            <a:lstStyle/>
            <a:p>
              <a:endParaRPr lang="en-SA"/>
            </a:p>
          </p:txBody>
        </p:sp>
        <p:sp>
          <p:nvSpPr>
            <p:cNvPr id="28" name="TextBox 28"/>
            <p:cNvSpPr txBox="1"/>
            <p:nvPr/>
          </p:nvSpPr>
          <p:spPr>
            <a:xfrm>
              <a:off x="0" y="0"/>
              <a:ext cx="8366823" cy="1409700"/>
            </a:xfrm>
            <a:prstGeom prst="rect">
              <a:avLst/>
            </a:prstGeom>
          </p:spPr>
          <p:txBody>
            <a:bodyPr lIns="0" tIns="0" rIns="0" bIns="0" rtlCol="0" anchor="ctr"/>
            <a:lstStyle/>
            <a:p>
              <a:pPr algn="r">
                <a:lnSpc>
                  <a:spcPts val="2280"/>
                </a:lnSpc>
              </a:pPr>
              <a:r>
                <a:rPr lang="ar-EG" sz="1900">
                  <a:solidFill>
                    <a:srgbClr val="475569"/>
                  </a:solidFill>
                  <a:latin typeface="Cairo"/>
                  <a:ea typeface="Cairo"/>
                  <a:cs typeface="Cairo"/>
                  <a:sym typeface="Cairo"/>
                  <a:rtl/>
                </a:rPr>
                <a:t>تتغير أثناء التدريب فقط، وتتجمد تماماً بمجرد نشرها للمستخدمين</a:t>
              </a:r>
            </a:p>
          </p:txBody>
        </p:sp>
      </p:grpSp>
      <p:grpSp>
        <p:nvGrpSpPr>
          <p:cNvPr id="29" name="Group 29"/>
          <p:cNvGrpSpPr/>
          <p:nvPr/>
        </p:nvGrpSpPr>
        <p:grpSpPr>
          <a:xfrm>
            <a:off x="1300162" y="4729162"/>
            <a:ext cx="15687675" cy="1064419"/>
            <a:chOff x="0" y="0"/>
            <a:chExt cx="20916900" cy="1419225"/>
          </a:xfrm>
        </p:grpSpPr>
        <p:sp>
          <p:nvSpPr>
            <p:cNvPr id="30" name="Freeform 30"/>
            <p:cNvSpPr/>
            <p:nvPr/>
          </p:nvSpPr>
          <p:spPr>
            <a:xfrm>
              <a:off x="0" y="0"/>
              <a:ext cx="20916900" cy="1419225"/>
            </a:xfrm>
            <a:custGeom>
              <a:avLst/>
              <a:gdLst/>
              <a:ahLst/>
              <a:cxnLst/>
              <a:rect l="l" t="t" r="r" b="b"/>
              <a:pathLst>
                <a:path w="20916900" h="1419225">
                  <a:moveTo>
                    <a:pt x="0" y="0"/>
                  </a:moveTo>
                  <a:lnTo>
                    <a:pt x="20916900" y="0"/>
                  </a:lnTo>
                  <a:lnTo>
                    <a:pt x="20916900" y="1419225"/>
                  </a:lnTo>
                  <a:lnTo>
                    <a:pt x="0" y="1419225"/>
                  </a:lnTo>
                  <a:close/>
                </a:path>
              </a:pathLst>
            </a:custGeom>
            <a:solidFill>
              <a:srgbClr val="F1F5F9"/>
            </a:solidFill>
          </p:spPr>
          <p:txBody>
            <a:bodyPr/>
            <a:lstStyle/>
            <a:p>
              <a:endParaRPr lang="en-SA"/>
            </a:p>
          </p:txBody>
        </p:sp>
      </p:grpSp>
      <p:sp>
        <p:nvSpPr>
          <p:cNvPr id="31" name="TextBox 31"/>
          <p:cNvSpPr txBox="1"/>
          <p:nvPr/>
        </p:nvSpPr>
        <p:spPr>
          <a:xfrm>
            <a:off x="15398353" y="5063128"/>
            <a:ext cx="1403747" cy="482203"/>
          </a:xfrm>
          <a:prstGeom prst="rect">
            <a:avLst/>
          </a:prstGeom>
        </p:spPr>
        <p:txBody>
          <a:bodyPr lIns="0" tIns="0" rIns="0" bIns="0" rtlCol="0" anchor="t">
            <a:spAutoFit/>
          </a:bodyPr>
          <a:lstStyle/>
          <a:p>
            <a:pPr algn="r">
              <a:lnSpc>
                <a:spcPts val="2160"/>
              </a:lnSpc>
            </a:pPr>
            <a:r>
              <a:rPr lang="ar-EG" sz="1800" b="1">
                <a:solidFill>
                  <a:srgbClr val="475569"/>
                </a:solidFill>
                <a:latin typeface="Cairo Bold"/>
                <a:ea typeface="Cairo Bold"/>
                <a:cs typeface="Cairo Bold"/>
                <a:sym typeface="Cairo Bold"/>
                <a:rtl/>
              </a:rPr>
              <a:t>سرعة التعلم</a:t>
            </a:r>
          </a:p>
        </p:txBody>
      </p:sp>
      <p:grpSp>
        <p:nvGrpSpPr>
          <p:cNvPr id="32" name="Group 32"/>
          <p:cNvGrpSpPr/>
          <p:nvPr/>
        </p:nvGrpSpPr>
        <p:grpSpPr>
          <a:xfrm>
            <a:off x="7575280" y="4729162"/>
            <a:ext cx="6275060" cy="1064419"/>
            <a:chOff x="0" y="0"/>
            <a:chExt cx="8366747" cy="1419225"/>
          </a:xfrm>
        </p:grpSpPr>
        <p:sp>
          <p:nvSpPr>
            <p:cNvPr id="33" name="Freeform 33"/>
            <p:cNvSpPr/>
            <p:nvPr/>
          </p:nvSpPr>
          <p:spPr>
            <a:xfrm>
              <a:off x="0" y="0"/>
              <a:ext cx="8366744" cy="1419224"/>
            </a:xfrm>
            <a:custGeom>
              <a:avLst/>
              <a:gdLst/>
              <a:ahLst/>
              <a:cxnLst/>
              <a:rect l="l" t="t" r="r" b="b"/>
              <a:pathLst>
                <a:path w="8366744" h="1419224">
                  <a:moveTo>
                    <a:pt x="0" y="0"/>
                  </a:moveTo>
                  <a:lnTo>
                    <a:pt x="8366744" y="0"/>
                  </a:lnTo>
                  <a:lnTo>
                    <a:pt x="8366744" y="1419224"/>
                  </a:lnTo>
                  <a:lnTo>
                    <a:pt x="0" y="1419224"/>
                  </a:lnTo>
                  <a:close/>
                </a:path>
              </a:pathLst>
            </a:custGeom>
            <a:blipFill>
              <a:blip r:embed="rId4">
                <a:alphaModFix amt="0"/>
              </a:blip>
              <a:stretch>
                <a:fillRect t="-64870" b="-64870"/>
              </a:stretch>
            </a:blipFill>
          </p:spPr>
          <p:txBody>
            <a:bodyPr/>
            <a:lstStyle/>
            <a:p>
              <a:endParaRPr lang="en-SA"/>
            </a:p>
          </p:txBody>
        </p:sp>
        <p:sp>
          <p:nvSpPr>
            <p:cNvPr id="34" name="TextBox 34"/>
            <p:cNvSpPr txBox="1"/>
            <p:nvPr/>
          </p:nvSpPr>
          <p:spPr>
            <a:xfrm>
              <a:off x="0" y="0"/>
              <a:ext cx="8366747" cy="1419225"/>
            </a:xfrm>
            <a:prstGeom prst="rect">
              <a:avLst/>
            </a:prstGeom>
          </p:spPr>
          <p:txBody>
            <a:bodyPr lIns="0" tIns="0" rIns="0" bIns="0" rtlCol="0" anchor="ctr"/>
            <a:lstStyle/>
            <a:p>
              <a:pPr algn="r">
                <a:lnSpc>
                  <a:spcPts val="2280"/>
                </a:lnSpc>
              </a:pPr>
              <a:r>
                <a:rPr lang="ar-EG" sz="1900">
                  <a:solidFill>
                    <a:srgbClr val="475569"/>
                  </a:solidFill>
                  <a:latin typeface="Cairo"/>
                  <a:ea typeface="Cairo"/>
                  <a:cs typeface="Cairo"/>
                  <a:sym typeface="Cairo"/>
                  <a:rtl/>
                </a:rPr>
                <a:t>يتعلم ويفهم المفاهيم المعقدة من مثال واحد أو مثالين فقط</a:t>
              </a:r>
            </a:p>
          </p:txBody>
        </p:sp>
      </p:grpSp>
      <p:grpSp>
        <p:nvGrpSpPr>
          <p:cNvPr id="35" name="Group 35"/>
          <p:cNvGrpSpPr/>
          <p:nvPr/>
        </p:nvGrpSpPr>
        <p:grpSpPr>
          <a:xfrm>
            <a:off x="1300162" y="4729162"/>
            <a:ext cx="6275118" cy="1064419"/>
            <a:chOff x="0" y="0"/>
            <a:chExt cx="8366823" cy="1419225"/>
          </a:xfrm>
        </p:grpSpPr>
        <p:sp>
          <p:nvSpPr>
            <p:cNvPr id="36" name="Freeform 36"/>
            <p:cNvSpPr/>
            <p:nvPr/>
          </p:nvSpPr>
          <p:spPr>
            <a:xfrm>
              <a:off x="0" y="0"/>
              <a:ext cx="8366819" cy="1419224"/>
            </a:xfrm>
            <a:custGeom>
              <a:avLst/>
              <a:gdLst/>
              <a:ahLst/>
              <a:cxnLst/>
              <a:rect l="l" t="t" r="r" b="b"/>
              <a:pathLst>
                <a:path w="8366819" h="1419224">
                  <a:moveTo>
                    <a:pt x="0" y="0"/>
                  </a:moveTo>
                  <a:lnTo>
                    <a:pt x="8366819" y="0"/>
                  </a:lnTo>
                  <a:lnTo>
                    <a:pt x="8366819" y="1419224"/>
                  </a:lnTo>
                  <a:lnTo>
                    <a:pt x="0" y="1419224"/>
                  </a:lnTo>
                  <a:close/>
                </a:path>
              </a:pathLst>
            </a:custGeom>
            <a:blipFill>
              <a:blip r:embed="rId4">
                <a:alphaModFix amt="0"/>
              </a:blip>
              <a:stretch>
                <a:fillRect t="-64871" b="-64871"/>
              </a:stretch>
            </a:blipFill>
          </p:spPr>
          <p:txBody>
            <a:bodyPr/>
            <a:lstStyle/>
            <a:p>
              <a:endParaRPr lang="en-SA"/>
            </a:p>
          </p:txBody>
        </p:sp>
        <p:sp>
          <p:nvSpPr>
            <p:cNvPr id="37" name="TextBox 37"/>
            <p:cNvSpPr txBox="1"/>
            <p:nvPr/>
          </p:nvSpPr>
          <p:spPr>
            <a:xfrm>
              <a:off x="0" y="0"/>
              <a:ext cx="8366823" cy="1419225"/>
            </a:xfrm>
            <a:prstGeom prst="rect">
              <a:avLst/>
            </a:prstGeom>
          </p:spPr>
          <p:txBody>
            <a:bodyPr lIns="0" tIns="0" rIns="0" bIns="0" rtlCol="0" anchor="ctr"/>
            <a:lstStyle/>
            <a:p>
              <a:pPr algn="r">
                <a:lnSpc>
                  <a:spcPts val="2280"/>
                </a:lnSpc>
              </a:pPr>
              <a:r>
                <a:rPr lang="ar-EG" sz="1900">
                  <a:solidFill>
                    <a:srgbClr val="475569"/>
                  </a:solidFill>
                  <a:latin typeface="Cairo"/>
                  <a:ea typeface="Cairo"/>
                  <a:cs typeface="Cairo"/>
                  <a:sym typeface="Cairo"/>
                  <a:rtl/>
                </a:rPr>
                <a:t>تحتاج إلى ملايين الأمثلة والصور الموسومة لتتعلم نمطاً واحداً</a:t>
              </a:r>
            </a:p>
          </p:txBody>
        </p:sp>
      </p:grpSp>
      <p:sp>
        <p:nvSpPr>
          <p:cNvPr id="38" name="TextBox 38"/>
          <p:cNvSpPr txBox="1"/>
          <p:nvPr/>
        </p:nvSpPr>
        <p:spPr>
          <a:xfrm>
            <a:off x="15084028" y="6127556"/>
            <a:ext cx="1718072" cy="482203"/>
          </a:xfrm>
          <a:prstGeom prst="rect">
            <a:avLst/>
          </a:prstGeom>
        </p:spPr>
        <p:txBody>
          <a:bodyPr lIns="0" tIns="0" rIns="0" bIns="0" rtlCol="0" anchor="t">
            <a:spAutoFit/>
          </a:bodyPr>
          <a:lstStyle/>
          <a:p>
            <a:pPr algn="r">
              <a:lnSpc>
                <a:spcPts val="2160"/>
              </a:lnSpc>
            </a:pPr>
            <a:r>
              <a:rPr lang="ar-EG" sz="1800" b="1">
                <a:solidFill>
                  <a:srgbClr val="475569"/>
                </a:solidFill>
                <a:latin typeface="Cairo Bold"/>
                <a:ea typeface="Cairo Bold"/>
                <a:cs typeface="Cairo Bold"/>
                <a:sym typeface="Cairo Bold"/>
                <a:rtl/>
              </a:rPr>
              <a:t>التجربة الداخلية</a:t>
            </a:r>
          </a:p>
        </p:txBody>
      </p:sp>
      <p:grpSp>
        <p:nvGrpSpPr>
          <p:cNvPr id="39" name="Group 39"/>
          <p:cNvGrpSpPr/>
          <p:nvPr/>
        </p:nvGrpSpPr>
        <p:grpSpPr>
          <a:xfrm>
            <a:off x="7575280" y="5793581"/>
            <a:ext cx="6275060" cy="1071562"/>
            <a:chOff x="0" y="0"/>
            <a:chExt cx="8366747" cy="1428750"/>
          </a:xfrm>
        </p:grpSpPr>
        <p:sp>
          <p:nvSpPr>
            <p:cNvPr id="40" name="Freeform 40"/>
            <p:cNvSpPr/>
            <p:nvPr/>
          </p:nvSpPr>
          <p:spPr>
            <a:xfrm>
              <a:off x="0" y="0"/>
              <a:ext cx="8366744" cy="1428749"/>
            </a:xfrm>
            <a:custGeom>
              <a:avLst/>
              <a:gdLst/>
              <a:ahLst/>
              <a:cxnLst/>
              <a:rect l="l" t="t" r="r" b="b"/>
              <a:pathLst>
                <a:path w="8366744" h="1428749">
                  <a:moveTo>
                    <a:pt x="0" y="0"/>
                  </a:moveTo>
                  <a:lnTo>
                    <a:pt x="8366744" y="0"/>
                  </a:lnTo>
                  <a:lnTo>
                    <a:pt x="8366744" y="1428749"/>
                  </a:lnTo>
                  <a:lnTo>
                    <a:pt x="0" y="1428749"/>
                  </a:lnTo>
                  <a:close/>
                </a:path>
              </a:pathLst>
            </a:custGeom>
            <a:blipFill>
              <a:blip r:embed="rId4">
                <a:alphaModFix amt="0"/>
              </a:blip>
              <a:stretch>
                <a:fillRect t="-64104" b="-64104"/>
              </a:stretch>
            </a:blipFill>
          </p:spPr>
          <p:txBody>
            <a:bodyPr/>
            <a:lstStyle/>
            <a:p>
              <a:endParaRPr lang="en-SA"/>
            </a:p>
          </p:txBody>
        </p:sp>
        <p:sp>
          <p:nvSpPr>
            <p:cNvPr id="41" name="TextBox 41"/>
            <p:cNvSpPr txBox="1"/>
            <p:nvPr/>
          </p:nvSpPr>
          <p:spPr>
            <a:xfrm>
              <a:off x="0" y="0"/>
              <a:ext cx="8366747" cy="1428750"/>
            </a:xfrm>
            <a:prstGeom prst="rect">
              <a:avLst/>
            </a:prstGeom>
          </p:spPr>
          <p:txBody>
            <a:bodyPr lIns="0" tIns="0" rIns="0" bIns="0" rtlCol="0" anchor="ctr"/>
            <a:lstStyle/>
            <a:p>
              <a:pPr algn="r">
                <a:lnSpc>
                  <a:spcPts val="2280"/>
                </a:lnSpc>
              </a:pPr>
              <a:r>
                <a:rPr lang="ar-EG" sz="1900">
                  <a:solidFill>
                    <a:srgbClr val="475569"/>
                  </a:solidFill>
                  <a:latin typeface="Cairo"/>
                  <a:ea typeface="Cairo"/>
                  <a:cs typeface="Cairo"/>
                  <a:sym typeface="Cairo"/>
                  <a:rtl/>
                </a:rPr>
                <a:t>يمتلك فضولاً حقيقياً، مشاعر، وعياً، ويتساءل دائماً عن "لماذا؟</a:t>
              </a:r>
              <a:r>
                <a:rPr lang="en-US" sz="1900">
                  <a:solidFill>
                    <a:srgbClr val="475569"/>
                  </a:solidFill>
                  <a:latin typeface="Cairo"/>
                  <a:ea typeface="Cairo"/>
                  <a:cs typeface="Cairo"/>
                  <a:sym typeface="Cairo"/>
                </a:rPr>
                <a:t>"</a:t>
              </a:r>
            </a:p>
          </p:txBody>
        </p:sp>
      </p:grpSp>
      <p:grpSp>
        <p:nvGrpSpPr>
          <p:cNvPr id="42" name="Group 42"/>
          <p:cNvGrpSpPr/>
          <p:nvPr/>
        </p:nvGrpSpPr>
        <p:grpSpPr>
          <a:xfrm>
            <a:off x="1300162" y="5793581"/>
            <a:ext cx="6275118" cy="1071562"/>
            <a:chOff x="0" y="0"/>
            <a:chExt cx="8366823" cy="1428750"/>
          </a:xfrm>
        </p:grpSpPr>
        <p:sp>
          <p:nvSpPr>
            <p:cNvPr id="43" name="Freeform 43"/>
            <p:cNvSpPr/>
            <p:nvPr/>
          </p:nvSpPr>
          <p:spPr>
            <a:xfrm>
              <a:off x="0" y="0"/>
              <a:ext cx="8366819" cy="1428749"/>
            </a:xfrm>
            <a:custGeom>
              <a:avLst/>
              <a:gdLst/>
              <a:ahLst/>
              <a:cxnLst/>
              <a:rect l="l" t="t" r="r" b="b"/>
              <a:pathLst>
                <a:path w="8366819" h="1428749">
                  <a:moveTo>
                    <a:pt x="0" y="0"/>
                  </a:moveTo>
                  <a:lnTo>
                    <a:pt x="8366819" y="0"/>
                  </a:lnTo>
                  <a:lnTo>
                    <a:pt x="8366819" y="1428749"/>
                  </a:lnTo>
                  <a:lnTo>
                    <a:pt x="0" y="1428749"/>
                  </a:lnTo>
                  <a:close/>
                </a:path>
              </a:pathLst>
            </a:custGeom>
            <a:blipFill>
              <a:blip r:embed="rId4">
                <a:alphaModFix amt="0"/>
              </a:blip>
              <a:stretch>
                <a:fillRect t="-64105" b="-64105"/>
              </a:stretch>
            </a:blipFill>
          </p:spPr>
          <p:txBody>
            <a:bodyPr/>
            <a:lstStyle/>
            <a:p>
              <a:endParaRPr lang="en-SA"/>
            </a:p>
          </p:txBody>
        </p:sp>
        <p:sp>
          <p:nvSpPr>
            <p:cNvPr id="44" name="TextBox 44"/>
            <p:cNvSpPr txBox="1"/>
            <p:nvPr/>
          </p:nvSpPr>
          <p:spPr>
            <a:xfrm>
              <a:off x="0" y="0"/>
              <a:ext cx="8366823" cy="1428750"/>
            </a:xfrm>
            <a:prstGeom prst="rect">
              <a:avLst/>
            </a:prstGeom>
          </p:spPr>
          <p:txBody>
            <a:bodyPr lIns="0" tIns="0" rIns="0" bIns="0" rtlCol="0" anchor="ctr"/>
            <a:lstStyle/>
            <a:p>
              <a:pPr algn="r">
                <a:lnSpc>
                  <a:spcPts val="2280"/>
                </a:lnSpc>
              </a:pPr>
              <a:r>
                <a:rPr lang="ar-EG" sz="1900">
                  <a:solidFill>
                    <a:srgbClr val="475569"/>
                  </a:solidFill>
                  <a:latin typeface="Cairo"/>
                  <a:ea typeface="Cairo"/>
                  <a:cs typeface="Cairo"/>
                  <a:sym typeface="Cairo"/>
                  <a:rtl/>
                </a:rPr>
                <a:t>لا تملك أي فضول أو وعي؛ إنها مجرد عمليات حسابية صامتة (مدخلات ← مخرجات)</a:t>
              </a:r>
            </a:p>
          </p:txBody>
        </p:sp>
      </p:grpSp>
      <p:grpSp>
        <p:nvGrpSpPr>
          <p:cNvPr id="45" name="Group 45"/>
          <p:cNvGrpSpPr/>
          <p:nvPr/>
        </p:nvGrpSpPr>
        <p:grpSpPr>
          <a:xfrm>
            <a:off x="16644937" y="8551195"/>
            <a:ext cx="357188" cy="285750"/>
            <a:chOff x="0" y="0"/>
            <a:chExt cx="476250" cy="381000"/>
          </a:xfrm>
        </p:grpSpPr>
        <p:sp>
          <p:nvSpPr>
            <p:cNvPr id="46" name="Freeform 46" descr="preencoded.png"/>
            <p:cNvSpPr/>
            <p:nvPr/>
          </p:nvSpPr>
          <p:spPr>
            <a:xfrm>
              <a:off x="0" y="0"/>
              <a:ext cx="476250" cy="381000"/>
            </a:xfrm>
            <a:custGeom>
              <a:avLst/>
              <a:gdLst/>
              <a:ahLst/>
              <a:cxnLst/>
              <a:rect l="l" t="t" r="r" b="b"/>
              <a:pathLst>
                <a:path w="476250" h="381000">
                  <a:moveTo>
                    <a:pt x="0" y="0"/>
                  </a:moveTo>
                  <a:lnTo>
                    <a:pt x="476250" y="0"/>
                  </a:lnTo>
                  <a:lnTo>
                    <a:pt x="476250" y="381000"/>
                  </a:lnTo>
                  <a:lnTo>
                    <a:pt x="0" y="381000"/>
                  </a:lnTo>
                  <a:lnTo>
                    <a:pt x="0" y="0"/>
                  </a:lnTo>
                  <a:close/>
                </a:path>
              </a:pathLst>
            </a:custGeom>
            <a:blipFill>
              <a:blip r:embed="rId5"/>
              <a:stretch>
                <a:fillRect t="-2500" b="-2500"/>
              </a:stretch>
            </a:blipFill>
          </p:spPr>
          <p:txBody>
            <a:bodyPr/>
            <a:lstStyle/>
            <a:p>
              <a:endParaRPr lang="en-SA"/>
            </a:p>
          </p:txBody>
        </p:sp>
      </p:grpSp>
      <p:sp>
        <p:nvSpPr>
          <p:cNvPr id="47" name="TextBox 47"/>
          <p:cNvSpPr txBox="1"/>
          <p:nvPr/>
        </p:nvSpPr>
        <p:spPr>
          <a:xfrm>
            <a:off x="2493169" y="8579644"/>
            <a:ext cx="14008894" cy="295275"/>
          </a:xfrm>
          <a:prstGeom prst="rect">
            <a:avLst/>
          </a:prstGeom>
        </p:spPr>
        <p:txBody>
          <a:bodyPr lIns="0" tIns="0" rIns="0" bIns="0" rtlCol="0" anchor="t">
            <a:spAutoFit/>
          </a:bodyPr>
          <a:lstStyle/>
          <a:p>
            <a:pPr algn="r">
              <a:lnSpc>
                <a:spcPts val="2400"/>
              </a:lnSpc>
            </a:pPr>
            <a:r>
              <a:rPr lang="ar-EG" sz="2000" b="1">
                <a:solidFill>
                  <a:srgbClr val="EA580C"/>
                </a:solidFill>
                <a:latin typeface="Cairo Bold"/>
                <a:ea typeface="Cairo Bold"/>
                <a:cs typeface="Cairo Bold"/>
                <a:sym typeface="Cairo Bold"/>
                <a:rtl/>
              </a:rPr>
              <a:t>الخلاصة: التشبيه قوي ومفيد جداً للتعلم، لكن الدماغ ليس مجرد معالج صامت، والذكاء الاصطناعي ليس عقلاً واعياً</a:t>
            </a:r>
          </a:p>
        </p:txBody>
      </p:sp>
      <p:sp>
        <p:nvSpPr>
          <p:cNvPr id="48" name="TextBox 48"/>
          <p:cNvSpPr txBox="1"/>
          <p:nvPr/>
        </p:nvSpPr>
        <p:spPr>
          <a:xfrm>
            <a:off x="13563600" y="9601200"/>
            <a:ext cx="3542688" cy="333425"/>
          </a:xfrm>
          <a:prstGeom prst="rect">
            <a:avLst/>
          </a:prstGeom>
        </p:spPr>
        <p:txBody>
          <a:bodyPr wrap="square" lIns="0" tIns="0" rIns="0" bIns="0" rtlCol="0" anchor="t">
            <a:spAutoFit/>
          </a:bodyPr>
          <a:lstStyle/>
          <a:p>
            <a:pPr algn="r">
              <a:lnSpc>
                <a:spcPts val="2595"/>
              </a:lnSpc>
            </a:pPr>
            <a:r>
              <a:rPr lang="ar-EG" sz="1800" dirty="0">
                <a:solidFill>
                  <a:srgbClr val="64748B"/>
                </a:solidFill>
                <a:latin typeface="Cairo Light"/>
                <a:ea typeface="Cairo Light"/>
                <a:cs typeface="Cairo Light"/>
                <a:sym typeface="Cairo Light"/>
                <a:rtl/>
              </a:rPr>
              <a:t>اليوم الثالث · مبني على صورتنا</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n-SA"/>
            </a:p>
          </p:txBody>
        </p:sp>
      </p:grpSp>
      <p:sp>
        <p:nvSpPr>
          <p:cNvPr id="4" name="TextBox 4"/>
          <p:cNvSpPr txBox="1"/>
          <p:nvPr/>
        </p:nvSpPr>
        <p:spPr>
          <a:xfrm>
            <a:off x="9380410" y="2842803"/>
            <a:ext cx="7621714" cy="813397"/>
          </a:xfrm>
          <a:prstGeom prst="rect">
            <a:avLst/>
          </a:prstGeom>
        </p:spPr>
        <p:txBody>
          <a:bodyPr lIns="0" tIns="0" rIns="0" bIns="0" rtlCol="0" anchor="t">
            <a:spAutoFit/>
          </a:bodyPr>
          <a:lstStyle/>
          <a:p>
            <a:pPr algn="r">
              <a:lnSpc>
                <a:spcPts val="5644"/>
              </a:lnSpc>
            </a:pPr>
            <a:r>
              <a:rPr lang="ar-EG" sz="4900" b="1">
                <a:solidFill>
                  <a:srgbClr val="0F172A"/>
                </a:solidFill>
                <a:latin typeface="Cairo Bold"/>
                <a:ea typeface="Cairo Bold"/>
                <a:cs typeface="Cairo Bold"/>
                <a:sym typeface="Cairo Bold"/>
                <a:rtl/>
              </a:rPr>
              <a:t>الفكرة الكبرى لليوم</a:t>
            </a:r>
          </a:p>
        </p:txBody>
      </p:sp>
      <p:sp>
        <p:nvSpPr>
          <p:cNvPr id="5" name="TextBox 5"/>
          <p:cNvSpPr txBox="1"/>
          <p:nvPr/>
        </p:nvSpPr>
        <p:spPr>
          <a:xfrm>
            <a:off x="9380410" y="3903850"/>
            <a:ext cx="7621714" cy="941283"/>
          </a:xfrm>
          <a:prstGeom prst="rect">
            <a:avLst/>
          </a:prstGeom>
        </p:spPr>
        <p:txBody>
          <a:bodyPr lIns="0" tIns="0" rIns="0" bIns="0" rtlCol="0" anchor="t">
            <a:spAutoFit/>
          </a:bodyPr>
          <a:lstStyle/>
          <a:p>
            <a:pPr algn="r" rtl="1">
              <a:lnSpc>
                <a:spcPts val="3753"/>
              </a:lnSpc>
            </a:pPr>
            <a:r>
              <a:rPr lang="ar-EG" sz="2300" dirty="0">
                <a:solidFill>
                  <a:srgbClr val="475569"/>
                </a:solidFill>
                <a:latin typeface="Cairo Light"/>
                <a:ea typeface="Cairo Light"/>
                <a:cs typeface="Cairo Light"/>
                <a:sym typeface="Cairo Light"/>
                <a:rtl/>
              </a:rPr>
              <a:t>الذكاء الاصطناعي بُني على صورة الدماغ البشري. الإلهام كان حقيقياً، والتقدم العلمي مذهل للغاية</a:t>
            </a:r>
            <a:r>
              <a:rPr lang="en-US" sz="2300" dirty="0">
                <a:solidFill>
                  <a:srgbClr val="475569"/>
                </a:solidFill>
                <a:latin typeface="Cairo Light"/>
                <a:ea typeface="Cairo Light"/>
                <a:cs typeface="Cairo Light"/>
                <a:sym typeface="Cairo Light"/>
              </a:rPr>
              <a:t>.</a:t>
            </a:r>
          </a:p>
        </p:txBody>
      </p:sp>
      <p:sp>
        <p:nvSpPr>
          <p:cNvPr id="6" name="TextBox 6"/>
          <p:cNvSpPr txBox="1"/>
          <p:nvPr/>
        </p:nvSpPr>
        <p:spPr>
          <a:xfrm>
            <a:off x="9380410" y="5315417"/>
            <a:ext cx="7621714" cy="453970"/>
          </a:xfrm>
          <a:prstGeom prst="rect">
            <a:avLst/>
          </a:prstGeom>
        </p:spPr>
        <p:txBody>
          <a:bodyPr lIns="0" tIns="0" rIns="0" bIns="0" rtlCol="0" anchor="t">
            <a:spAutoFit/>
          </a:bodyPr>
          <a:lstStyle/>
          <a:p>
            <a:pPr algn="r" rtl="1">
              <a:lnSpc>
                <a:spcPts val="3753"/>
              </a:lnSpc>
            </a:pPr>
            <a:r>
              <a:rPr lang="ar-EG" sz="2300" dirty="0">
                <a:solidFill>
                  <a:srgbClr val="475569"/>
                </a:solidFill>
                <a:latin typeface="Cairo Light"/>
                <a:ea typeface="Cairo Light"/>
                <a:cs typeface="Cairo Light"/>
                <a:sym typeface="Cairo Light"/>
                <a:rtl/>
              </a:rPr>
              <a:t>ولكن كما رأينا، فإن هذا التشابه له </a:t>
            </a:r>
            <a:r>
              <a:rPr lang="ar-EG" sz="2300" b="1" dirty="0">
                <a:solidFill>
                  <a:srgbClr val="EA580C"/>
                </a:solidFill>
                <a:latin typeface="Cairo Bold"/>
                <a:ea typeface="Cairo Bold"/>
                <a:cs typeface="Cairo Bold"/>
                <a:sym typeface="Cairo Bold"/>
                <a:rtl/>
              </a:rPr>
              <a:t>حدود حقيقية وجوهرية</a:t>
            </a:r>
            <a:r>
              <a:rPr lang="en-US" sz="2300" dirty="0">
                <a:solidFill>
                  <a:srgbClr val="475569"/>
                </a:solidFill>
                <a:latin typeface="Cairo Light"/>
                <a:ea typeface="Cairo Light"/>
                <a:cs typeface="Cairo Light"/>
                <a:sym typeface="Cairo Light"/>
              </a:rPr>
              <a:t>.</a:t>
            </a:r>
          </a:p>
        </p:txBody>
      </p:sp>
      <p:sp>
        <p:nvSpPr>
          <p:cNvPr id="7" name="TextBox 7"/>
          <p:cNvSpPr txBox="1"/>
          <p:nvPr/>
        </p:nvSpPr>
        <p:spPr>
          <a:xfrm>
            <a:off x="9380410" y="6183125"/>
            <a:ext cx="7621714" cy="967573"/>
          </a:xfrm>
          <a:prstGeom prst="rect">
            <a:avLst/>
          </a:prstGeom>
        </p:spPr>
        <p:txBody>
          <a:bodyPr lIns="0" tIns="0" rIns="0" bIns="0" rtlCol="0" anchor="t">
            <a:spAutoFit/>
          </a:bodyPr>
          <a:lstStyle/>
          <a:p>
            <a:pPr algn="r" rtl="1">
              <a:lnSpc>
                <a:spcPts val="3916"/>
              </a:lnSpc>
            </a:pPr>
            <a:r>
              <a:rPr lang="ar-EG" sz="2400" b="1" dirty="0">
                <a:solidFill>
                  <a:srgbClr val="EA580C"/>
                </a:solidFill>
                <a:latin typeface="Cairo Bold"/>
                <a:ea typeface="Cairo Bold"/>
                <a:cs typeface="Cairo Bold"/>
                <a:sym typeface="Cairo Bold"/>
                <a:rtl/>
              </a:rPr>
              <a:t>وفهمك لهذه الحدود بدقة هو ما يجعلك أذكى بكثير ممن يظن أن الآلات تفكر مثلنا</a:t>
            </a:r>
            <a:r>
              <a:rPr lang="en-US" sz="2400" b="1" dirty="0">
                <a:solidFill>
                  <a:srgbClr val="EA580C"/>
                </a:solidFill>
                <a:latin typeface="Cairo Bold"/>
                <a:ea typeface="Cairo Bold"/>
                <a:cs typeface="Cairo Bold"/>
                <a:sym typeface="Cairo Bold"/>
              </a:rPr>
              <a:t>!</a:t>
            </a:r>
          </a:p>
        </p:txBody>
      </p:sp>
      <p:grpSp>
        <p:nvGrpSpPr>
          <p:cNvPr id="8" name="Group 8"/>
          <p:cNvGrpSpPr/>
          <p:nvPr/>
        </p:nvGrpSpPr>
        <p:grpSpPr>
          <a:xfrm>
            <a:off x="2032787" y="3000375"/>
            <a:ext cx="4857750" cy="4286250"/>
            <a:chOff x="0" y="0"/>
            <a:chExt cx="6477000" cy="5715000"/>
          </a:xfrm>
        </p:grpSpPr>
        <p:sp>
          <p:nvSpPr>
            <p:cNvPr id="9" name="Freeform 9"/>
            <p:cNvSpPr/>
            <p:nvPr/>
          </p:nvSpPr>
          <p:spPr>
            <a:xfrm>
              <a:off x="0" y="0"/>
              <a:ext cx="6477000" cy="5715000"/>
            </a:xfrm>
            <a:custGeom>
              <a:avLst/>
              <a:gdLst/>
              <a:ahLst/>
              <a:cxnLst/>
              <a:rect l="l" t="t" r="r" b="b"/>
              <a:pathLst>
                <a:path w="6477000" h="5715000">
                  <a:moveTo>
                    <a:pt x="0" y="0"/>
                  </a:moveTo>
                  <a:lnTo>
                    <a:pt x="6477000" y="0"/>
                  </a:lnTo>
                  <a:lnTo>
                    <a:pt x="6477000" y="5715000"/>
                  </a:lnTo>
                  <a:lnTo>
                    <a:pt x="0" y="5715000"/>
                  </a:lnTo>
                  <a:close/>
                </a:path>
              </a:pathLst>
            </a:custGeom>
            <a:solidFill>
              <a:srgbClr val="FFFFFF"/>
            </a:solidFill>
          </p:spPr>
          <p:txBody>
            <a:bodyPr/>
            <a:lstStyle/>
            <a:p>
              <a:endParaRPr lang="en-SA"/>
            </a:p>
          </p:txBody>
        </p:sp>
      </p:grpSp>
      <p:grpSp>
        <p:nvGrpSpPr>
          <p:cNvPr id="10" name="Group 10"/>
          <p:cNvGrpSpPr/>
          <p:nvPr/>
        </p:nvGrpSpPr>
        <p:grpSpPr>
          <a:xfrm>
            <a:off x="2032787" y="3000375"/>
            <a:ext cx="4857750" cy="85725"/>
            <a:chOff x="0" y="0"/>
            <a:chExt cx="6477000" cy="114300"/>
          </a:xfrm>
        </p:grpSpPr>
        <p:sp>
          <p:nvSpPr>
            <p:cNvPr id="11" name="Freeform 11"/>
            <p:cNvSpPr/>
            <p:nvPr/>
          </p:nvSpPr>
          <p:spPr>
            <a:xfrm>
              <a:off x="0" y="0"/>
              <a:ext cx="6477000" cy="114300"/>
            </a:xfrm>
            <a:custGeom>
              <a:avLst/>
              <a:gdLst/>
              <a:ahLst/>
              <a:cxnLst/>
              <a:rect l="l" t="t" r="r" b="b"/>
              <a:pathLst>
                <a:path w="6477000" h="114300">
                  <a:moveTo>
                    <a:pt x="0" y="0"/>
                  </a:moveTo>
                  <a:lnTo>
                    <a:pt x="6477000" y="0"/>
                  </a:lnTo>
                  <a:lnTo>
                    <a:pt x="6477000" y="114300"/>
                  </a:lnTo>
                  <a:lnTo>
                    <a:pt x="0" y="114300"/>
                  </a:lnTo>
                  <a:close/>
                </a:path>
              </a:pathLst>
            </a:custGeom>
            <a:solidFill>
              <a:srgbClr val="0284C7"/>
            </a:solidFill>
          </p:spPr>
          <p:txBody>
            <a:bodyPr/>
            <a:lstStyle/>
            <a:p>
              <a:endParaRPr lang="en-SA"/>
            </a:p>
          </p:txBody>
        </p:sp>
      </p:grpSp>
      <p:grpSp>
        <p:nvGrpSpPr>
          <p:cNvPr id="12" name="Group 12"/>
          <p:cNvGrpSpPr/>
          <p:nvPr/>
        </p:nvGrpSpPr>
        <p:grpSpPr>
          <a:xfrm>
            <a:off x="6861962" y="3000375"/>
            <a:ext cx="28575" cy="4286250"/>
            <a:chOff x="0" y="0"/>
            <a:chExt cx="38100" cy="5715000"/>
          </a:xfrm>
        </p:grpSpPr>
        <p:sp>
          <p:nvSpPr>
            <p:cNvPr id="13" name="Freeform 13"/>
            <p:cNvSpPr/>
            <p:nvPr/>
          </p:nvSpPr>
          <p:spPr>
            <a:xfrm>
              <a:off x="0" y="0"/>
              <a:ext cx="38100" cy="5715000"/>
            </a:xfrm>
            <a:custGeom>
              <a:avLst/>
              <a:gdLst/>
              <a:ahLst/>
              <a:cxnLst/>
              <a:rect l="l" t="t" r="r" b="b"/>
              <a:pathLst>
                <a:path w="38100" h="5715000">
                  <a:moveTo>
                    <a:pt x="0" y="0"/>
                  </a:moveTo>
                  <a:lnTo>
                    <a:pt x="38100" y="0"/>
                  </a:lnTo>
                  <a:lnTo>
                    <a:pt x="38100" y="5715000"/>
                  </a:lnTo>
                  <a:lnTo>
                    <a:pt x="0" y="5715000"/>
                  </a:lnTo>
                  <a:close/>
                </a:path>
              </a:pathLst>
            </a:custGeom>
            <a:solidFill>
              <a:srgbClr val="0284C7"/>
            </a:solidFill>
          </p:spPr>
          <p:txBody>
            <a:bodyPr/>
            <a:lstStyle/>
            <a:p>
              <a:endParaRPr lang="en-SA"/>
            </a:p>
          </p:txBody>
        </p:sp>
      </p:grpSp>
      <p:grpSp>
        <p:nvGrpSpPr>
          <p:cNvPr id="14" name="Group 14"/>
          <p:cNvGrpSpPr/>
          <p:nvPr/>
        </p:nvGrpSpPr>
        <p:grpSpPr>
          <a:xfrm>
            <a:off x="2032787" y="7258050"/>
            <a:ext cx="4857750" cy="28575"/>
            <a:chOff x="0" y="0"/>
            <a:chExt cx="6477000" cy="38100"/>
          </a:xfrm>
        </p:grpSpPr>
        <p:sp>
          <p:nvSpPr>
            <p:cNvPr id="15" name="Freeform 15"/>
            <p:cNvSpPr/>
            <p:nvPr/>
          </p:nvSpPr>
          <p:spPr>
            <a:xfrm>
              <a:off x="0" y="0"/>
              <a:ext cx="6477000" cy="38100"/>
            </a:xfrm>
            <a:custGeom>
              <a:avLst/>
              <a:gdLst/>
              <a:ahLst/>
              <a:cxnLst/>
              <a:rect l="l" t="t" r="r" b="b"/>
              <a:pathLst>
                <a:path w="6477000" h="38100">
                  <a:moveTo>
                    <a:pt x="0" y="0"/>
                  </a:moveTo>
                  <a:lnTo>
                    <a:pt x="6477000" y="0"/>
                  </a:lnTo>
                  <a:lnTo>
                    <a:pt x="6477000" y="38100"/>
                  </a:lnTo>
                  <a:lnTo>
                    <a:pt x="0" y="38100"/>
                  </a:lnTo>
                  <a:close/>
                </a:path>
              </a:pathLst>
            </a:custGeom>
            <a:solidFill>
              <a:srgbClr val="0284C7"/>
            </a:solidFill>
          </p:spPr>
          <p:txBody>
            <a:bodyPr/>
            <a:lstStyle/>
            <a:p>
              <a:endParaRPr lang="en-SA"/>
            </a:p>
          </p:txBody>
        </p:sp>
      </p:grpSp>
      <p:grpSp>
        <p:nvGrpSpPr>
          <p:cNvPr id="16" name="Group 16"/>
          <p:cNvGrpSpPr/>
          <p:nvPr/>
        </p:nvGrpSpPr>
        <p:grpSpPr>
          <a:xfrm>
            <a:off x="2032787" y="3000375"/>
            <a:ext cx="28575" cy="4286250"/>
            <a:chOff x="0" y="0"/>
            <a:chExt cx="38100" cy="5715000"/>
          </a:xfrm>
        </p:grpSpPr>
        <p:sp>
          <p:nvSpPr>
            <p:cNvPr id="17" name="Freeform 17"/>
            <p:cNvSpPr/>
            <p:nvPr/>
          </p:nvSpPr>
          <p:spPr>
            <a:xfrm>
              <a:off x="0" y="0"/>
              <a:ext cx="38100" cy="5715000"/>
            </a:xfrm>
            <a:custGeom>
              <a:avLst/>
              <a:gdLst/>
              <a:ahLst/>
              <a:cxnLst/>
              <a:rect l="l" t="t" r="r" b="b"/>
              <a:pathLst>
                <a:path w="38100" h="5715000">
                  <a:moveTo>
                    <a:pt x="0" y="0"/>
                  </a:moveTo>
                  <a:lnTo>
                    <a:pt x="38100" y="0"/>
                  </a:lnTo>
                  <a:lnTo>
                    <a:pt x="38100" y="5715000"/>
                  </a:lnTo>
                  <a:lnTo>
                    <a:pt x="0" y="5715000"/>
                  </a:lnTo>
                  <a:close/>
                </a:path>
              </a:pathLst>
            </a:custGeom>
            <a:solidFill>
              <a:srgbClr val="0284C7"/>
            </a:solidFill>
          </p:spPr>
          <p:txBody>
            <a:bodyPr/>
            <a:lstStyle/>
            <a:p>
              <a:endParaRPr lang="en-SA"/>
            </a:p>
          </p:txBody>
        </p:sp>
      </p:grpSp>
      <p:grpSp>
        <p:nvGrpSpPr>
          <p:cNvPr id="18" name="Group 18"/>
          <p:cNvGrpSpPr/>
          <p:nvPr/>
        </p:nvGrpSpPr>
        <p:grpSpPr>
          <a:xfrm>
            <a:off x="4118762" y="3807619"/>
            <a:ext cx="685800" cy="685800"/>
            <a:chOff x="0" y="0"/>
            <a:chExt cx="914400" cy="914400"/>
          </a:xfrm>
        </p:grpSpPr>
        <p:sp>
          <p:nvSpPr>
            <p:cNvPr id="19" name="Freeform 19" descr="preencoded.png"/>
            <p:cNvSpPr/>
            <p:nvPr/>
          </p:nvSpPr>
          <p:spPr>
            <a:xfrm>
              <a:off x="0" y="0"/>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blipFill>
              <a:blip r:embed="rId4"/>
              <a:stretch>
                <a:fillRect/>
              </a:stretch>
            </a:blipFill>
          </p:spPr>
          <p:txBody>
            <a:bodyPr/>
            <a:lstStyle/>
            <a:p>
              <a:endParaRPr lang="en-SA"/>
            </a:p>
          </p:txBody>
        </p:sp>
      </p:grpSp>
      <p:sp>
        <p:nvSpPr>
          <p:cNvPr id="20" name="TextBox 20"/>
          <p:cNvSpPr txBox="1"/>
          <p:nvPr/>
        </p:nvSpPr>
        <p:spPr>
          <a:xfrm>
            <a:off x="3347237" y="5086350"/>
            <a:ext cx="2228850" cy="589359"/>
          </a:xfrm>
          <a:prstGeom prst="rect">
            <a:avLst/>
          </a:prstGeom>
        </p:spPr>
        <p:txBody>
          <a:bodyPr lIns="0" tIns="0" rIns="0" bIns="0" rtlCol="0" anchor="t">
            <a:spAutoFit/>
          </a:bodyPr>
          <a:lstStyle/>
          <a:p>
            <a:pPr algn="ctr">
              <a:lnSpc>
                <a:spcPts val="2640"/>
              </a:lnSpc>
            </a:pPr>
            <a:r>
              <a:rPr lang="ar-EG" sz="2200" b="1">
                <a:solidFill>
                  <a:srgbClr val="0F172A"/>
                </a:solidFill>
                <a:latin typeface="Cairo Bold"/>
                <a:ea typeface="Cairo Bold"/>
                <a:cs typeface="Cairo Bold"/>
                <a:sym typeface="Cairo Bold"/>
                <a:rtl/>
              </a:rPr>
              <a:t>ماذا ينتظرنا غداً؟</a:t>
            </a:r>
          </a:p>
        </p:txBody>
      </p:sp>
      <p:sp>
        <p:nvSpPr>
          <p:cNvPr id="21" name="TextBox 21"/>
          <p:cNvSpPr txBox="1"/>
          <p:nvPr/>
        </p:nvSpPr>
        <p:spPr>
          <a:xfrm>
            <a:off x="2375687" y="5799534"/>
            <a:ext cx="4171950" cy="622606"/>
          </a:xfrm>
          <a:prstGeom prst="rect">
            <a:avLst/>
          </a:prstGeom>
        </p:spPr>
        <p:txBody>
          <a:bodyPr lIns="0" tIns="0" rIns="0" bIns="0" rtlCol="0" anchor="t">
            <a:spAutoFit/>
          </a:bodyPr>
          <a:lstStyle/>
          <a:p>
            <a:pPr algn="ctr" rtl="1">
              <a:lnSpc>
                <a:spcPts val="2457"/>
              </a:lnSpc>
            </a:pPr>
            <a:r>
              <a:rPr lang="ar-EG" sz="1600" dirty="0">
                <a:solidFill>
                  <a:srgbClr val="64748B"/>
                </a:solidFill>
                <a:latin typeface="Cairo"/>
                <a:ea typeface="Cairo"/>
                <a:cs typeface="Cairo"/>
                <a:sym typeface="Cairo"/>
                <a:rtl/>
              </a:rPr>
              <a:t>في اليوم </a:t>
            </a:r>
            <a:r>
              <a:rPr lang="ar-SA" sz="1600" dirty="0">
                <a:solidFill>
                  <a:srgbClr val="64748B"/>
                </a:solidFill>
                <a:latin typeface="Cairo"/>
                <a:ea typeface="Cairo"/>
                <a:cs typeface="Cairo"/>
                <a:sym typeface="Cairo"/>
                <a:rtl/>
              </a:rPr>
              <a:t>الرابع</a:t>
            </a:r>
            <a:r>
              <a:rPr lang="ar-EG" sz="1600" dirty="0">
                <a:solidFill>
                  <a:srgbClr val="64748B"/>
                </a:solidFill>
                <a:latin typeface="Cairo"/>
                <a:ea typeface="Cairo"/>
                <a:cs typeface="Cairo"/>
                <a:sym typeface="Cairo"/>
                <a:rtl/>
              </a:rPr>
              <a:t> والدرس القادم، سنذهب في رحلة لاستكشاف واستخدام نماذج وكلاء الاصطناعي</a:t>
            </a:r>
            <a:endParaRPr lang="en-US" sz="1600" dirty="0">
              <a:solidFill>
                <a:srgbClr val="64748B"/>
              </a:solidFill>
              <a:latin typeface="Cairo"/>
              <a:ea typeface="Cairo"/>
              <a:cs typeface="Cairo"/>
              <a:sym typeface="Cairo"/>
            </a:endParaRPr>
          </a:p>
        </p:txBody>
      </p:sp>
      <p:sp>
        <p:nvSpPr>
          <p:cNvPr id="23" name="TextBox 23"/>
          <p:cNvSpPr txBox="1"/>
          <p:nvPr/>
        </p:nvSpPr>
        <p:spPr>
          <a:xfrm>
            <a:off x="13792200" y="9601200"/>
            <a:ext cx="3343849" cy="333425"/>
          </a:xfrm>
          <a:prstGeom prst="rect">
            <a:avLst/>
          </a:prstGeom>
        </p:spPr>
        <p:txBody>
          <a:bodyPr wrap="square" lIns="0" tIns="0" rIns="0" bIns="0" rtlCol="0" anchor="t">
            <a:spAutoFit/>
          </a:bodyPr>
          <a:lstStyle/>
          <a:p>
            <a:pPr algn="r">
              <a:lnSpc>
                <a:spcPts val="2595"/>
              </a:lnSpc>
            </a:pPr>
            <a:r>
              <a:rPr lang="ar-EG" sz="1800" dirty="0">
                <a:solidFill>
                  <a:srgbClr val="64748B"/>
                </a:solidFill>
                <a:latin typeface="Cairo Light"/>
                <a:ea typeface="Cairo Light"/>
                <a:cs typeface="Cairo Light"/>
                <a:sym typeface="Cairo Light"/>
                <a:rtl/>
              </a:rPr>
              <a:t>اليوم الثالث · مبني على صورتنا</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TotalTime>
  <Words>2842</Words>
  <Application>Microsoft Macintosh PowerPoint</Application>
  <PresentationFormat>Custom</PresentationFormat>
  <Paragraphs>422</Paragraphs>
  <Slides>30</Slides>
  <Notes>30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Cairo Bold</vt:lpstr>
      <vt:lpstr>Calibri</vt:lpstr>
      <vt:lpstr>Cairo</vt:lpstr>
      <vt:lpstr>Cairo Light</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٢مبني_على_صورتنا.pptx</dc:title>
  <cp:lastModifiedBy>Balkhair, Mohammed Ahmed M</cp:lastModifiedBy>
  <cp:revision>7</cp:revision>
  <dcterms:created xsi:type="dcterms:W3CDTF">2006-08-16T00:00:00Z</dcterms:created>
  <dcterms:modified xsi:type="dcterms:W3CDTF">2026-06-18T05:31:58Z</dcterms:modified>
  <dc:identifier>DAHLZwFvugs</dc:identifier>
</cp:coreProperties>
</file>