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1.xml" ContentType="application/vnd.openxmlformats-officedocument.drawingml.chart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92" r:id="rId20"/>
    <p:sldId id="295" r:id="rId21"/>
    <p:sldId id="276" r:id="rId22"/>
    <p:sldId id="293" r:id="rId23"/>
    <p:sldId id="294" r:id="rId24"/>
    <p:sldId id="277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العدد</c:v>
                </c:pt>
              </c:strCache>
            </c:strRef>
          </c:tx>
          <c:spPr>
            <a:solidFill>
              <a:srgbClr val="FF2D7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0A0E2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مواقع AI زائفة</c:v>
                </c:pt>
                <c:pt idx="1">
                  <c:v>صحف محلية حقيقية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1265</c:v>
                </c:pt>
                <c:pt idx="1">
                  <c:v>1213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F0-4B74-B00E-39E20D8927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1" i="0" u="none" strike="noStrike">
                <a:solidFill>
                  <a:srgbClr val="0A0E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3358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64592" cy="164592"/>
          </a:xfrm>
          <a:prstGeom prst="ellipse">
            <a:avLst/>
          </a:prstGeom>
          <a:solidFill>
            <a:srgbClr val="FF2D7B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2194560"/>
            <a:ext cx="91440" cy="9144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474720"/>
            <a:ext cx="128016" cy="128016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4754880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852160"/>
            <a:ext cx="91440" cy="91440"/>
          </a:xfrm>
          <a:prstGeom prst="ellipse">
            <a:avLst/>
          </a:prstGeom>
          <a:solidFill>
            <a:srgbClr val="FF2D7B"/>
          </a:solidFill>
          <a:ln/>
        </p:spPr>
      </p:sp>
      <p:sp>
        <p:nvSpPr>
          <p:cNvPr id="7" name="Shape 5"/>
          <p:cNvSpPr/>
          <p:nvPr/>
        </p:nvSpPr>
        <p:spPr>
          <a:xfrm>
            <a:off x="2377440" y="1463040"/>
            <a:ext cx="73152" cy="73152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0058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b="1" kern="0" spc="600" dirty="0">
                <a:solidFill>
                  <a:srgbClr val="00D9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المحاضرة الخامسة</a:t>
            </a:r>
            <a:endParaRPr lang="ar-SA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56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لمّا ما تقدر تثق</a:t>
            </a:r>
            <a:endParaRPr lang="ar-SA" sz="5600" dirty="0"/>
          </a:p>
        </p:txBody>
      </p:sp>
      <p:sp>
        <p:nvSpPr>
          <p:cNvPr id="10" name="Text 8"/>
          <p:cNvSpPr/>
          <p:nvPr/>
        </p:nvSpPr>
        <p:spPr>
          <a:xfrm>
            <a:off x="3200400" y="26060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56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اللي تشوفه ،</a:t>
            </a:r>
            <a:endParaRPr lang="ar-SA" sz="5600" dirty="0"/>
          </a:p>
        </p:txBody>
      </p:sp>
      <p:sp>
        <p:nvSpPr>
          <p:cNvPr id="11" name="Text 9"/>
          <p:cNvSpPr/>
          <p:nvPr/>
        </p:nvSpPr>
        <p:spPr>
          <a:xfrm>
            <a:off x="3200400" y="384048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6000" b="1" i="1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وش اللي تثق فيه ؟</a:t>
            </a:r>
            <a:endParaRPr lang="ar-SA" sz="6000" dirty="0"/>
          </a:p>
        </p:txBody>
      </p:sp>
      <p:sp>
        <p:nvSpPr>
          <p:cNvPr id="12" name="Text 10"/>
          <p:cNvSpPr/>
          <p:nvPr/>
        </p:nvSpPr>
        <p:spPr>
          <a:xfrm>
            <a:off x="3200400" y="5943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الذكاء الاصطناعي، الاخلاقيات، التزييف، الانترنت الميت</a:t>
            </a:r>
            <a:endParaRPr lang="ar-SA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محاضرة 3 ، قلنا</a:t>
            </a:r>
            <a:endParaRPr lang="ar-SA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48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«الذكاء الاصطناعي ما يخليك ذكي ،</a:t>
            </a:r>
            <a:endParaRPr lang="ar-SA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4800" b="1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يخليك أسرع.»</a:t>
            </a:r>
            <a:endParaRPr lang="ar-SA" sz="4800" dirty="0"/>
          </a:p>
        </p:txBody>
      </p:sp>
      <p:sp>
        <p:nvSpPr>
          <p:cNvPr id="5" name="Shape 3"/>
          <p:cNvSpPr/>
          <p:nvPr/>
        </p:nvSpPr>
        <p:spPr>
          <a:xfrm>
            <a:off x="11475720" y="5120640"/>
            <a:ext cx="137160" cy="91440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212080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4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اليوم نسأل ؛ وش يصير لمّا الأسرع يكون كذّاب ؟</a:t>
            </a:r>
            <a:endParaRPr lang="ar-SA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151A3D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01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kern="0" spc="800" dirty="0">
                <a:solidFill>
                  <a:srgbClr val="00D9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الفصل الأول</a:t>
            </a:r>
            <a:endParaRPr lang="ar-SA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96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الأخلاقيات</a:t>
            </a:r>
            <a:endParaRPr lang="ar-SA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4663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مين المسؤول لمّا الذكاء الاصطناعي يغلط ؟</a:t>
            </a:r>
            <a:endParaRPr lang="ar-SA" sz="2200" dirty="0"/>
          </a:p>
        </p:txBody>
      </p:sp>
      <p:sp>
        <p:nvSpPr>
          <p:cNvPr id="6" name="Shape 4"/>
          <p:cNvSpPr/>
          <p:nvPr/>
        </p:nvSpPr>
        <p:spPr>
          <a:xfrm>
            <a:off x="10698480" y="6035040"/>
            <a:ext cx="164592" cy="164592"/>
          </a:xfrm>
          <a:prstGeom prst="ellipse">
            <a:avLst/>
          </a:prstGeom>
          <a:solidFill>
            <a:srgbClr val="FF2D7B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0" y="6035040"/>
            <a:ext cx="164592" cy="164592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0" y="6035040"/>
            <a:ext cx="164592" cy="164592"/>
          </a:xfrm>
          <a:prstGeom prst="ellipse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kern="0" spc="400" dirty="0">
                <a:solidFill>
                  <a:srgbClr val="8B5CF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تأطير سريع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وش يعني «أخلاقيات الذكاء الاصطناعي» ؟</a:t>
            </a:r>
            <a:endParaRPr lang="ar-SA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371600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 فلسفة ، ولا كلام معقّد</a:t>
            </a:r>
            <a:endParaRPr lang="ar-SA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8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هي مجموعة قرارات يومية ، يقررها بشر مثلنا</a:t>
            </a:r>
            <a:endParaRPr lang="ar-SA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3474720" cy="237744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657600"/>
            <a:ext cx="3474720" cy="109728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931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5600" b="1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وش</a:t>
            </a:r>
            <a:endParaRPr lang="ar-SA" sz="56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نسوّي بالـ</a:t>
            </a:r>
            <a:r>
              <a:rPr lang="en-US" altLang="en-US" sz="20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Ai</a:t>
            </a:r>
            <a:r>
              <a:rPr lang="ar-SA" altLang="en-US" sz="20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؟</a:t>
            </a:r>
            <a:endParaRPr lang="ar-SA" sz="2000" dirty="0"/>
          </a:p>
        </p:txBody>
      </p:sp>
      <p:sp>
        <p:nvSpPr>
          <p:cNvPr id="11" name="Shape 9"/>
          <p:cNvSpPr/>
          <p:nvPr/>
        </p:nvSpPr>
        <p:spPr>
          <a:xfrm>
            <a:off x="4297680" y="3657600"/>
            <a:ext cx="3474720" cy="237744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3657600"/>
            <a:ext cx="3474720" cy="10972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3931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5600" b="1" dirty="0">
                <a:solidFill>
                  <a:srgbClr val="00D9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وش</a:t>
            </a:r>
            <a:endParaRPr lang="ar-SA" sz="560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نسوّي بالذكاء الاصطناعي؟</a:t>
            </a:r>
            <a:endParaRPr lang="ar-SA" sz="2000" dirty="0"/>
          </a:p>
        </p:txBody>
      </p:sp>
      <p:sp>
        <p:nvSpPr>
          <p:cNvPr id="15" name="Shape 13"/>
          <p:cNvSpPr/>
          <p:nvPr/>
        </p:nvSpPr>
        <p:spPr>
          <a:xfrm>
            <a:off x="8046720" y="3657600"/>
            <a:ext cx="3474720" cy="237744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0" y="3657600"/>
            <a:ext cx="3474720" cy="109728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3931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5600" b="1" dirty="0">
                <a:solidFill>
                  <a:srgbClr val="FFD93D"/>
                </a:solidFill>
                <a:latin typeface="Tajawal" pitchFamily="34" charset="0"/>
                <a:cs typeface="Tajawal" pitchFamily="34" charset="-120"/>
              </a:rPr>
              <a:t>مين</a:t>
            </a:r>
            <a:endParaRPr lang="ar-SA" sz="5600" dirty="0"/>
          </a:p>
        </p:txBody>
      </p:sp>
      <p:sp>
        <p:nvSpPr>
          <p:cNvPr id="18" name="Text 16"/>
          <p:cNvSpPr/>
          <p:nvPr/>
        </p:nvSpPr>
        <p:spPr>
          <a:xfrm>
            <a:off x="8321040" y="4846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اللي يتحمّل النتيجة ؟</a:t>
            </a:r>
            <a:endParaRPr lang="ar-SA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64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ثلاث معضلات</a:t>
            </a:r>
            <a:endParaRPr lang="ar-SA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5600" b="1" dirty="0">
                <a:solidFill>
                  <a:srgbClr val="FFD93D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مكان صاحب القرار</a:t>
            </a:r>
            <a:endParaRPr lang="ar-SA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فيه إجابة صح. فيه قرار تختاره ، وثمن تدفعه.</a:t>
            </a:r>
            <a:endParaRPr lang="ar-SA" sz="2200" dirty="0"/>
          </a:p>
        </p:txBody>
      </p:sp>
      <p:sp>
        <p:nvSpPr>
          <p:cNvPr id="5" name="Shape 3"/>
          <p:cNvSpPr/>
          <p:nvPr/>
        </p:nvSpPr>
        <p:spPr>
          <a:xfrm>
            <a:off x="10515600" y="5852160"/>
            <a:ext cx="365760" cy="365760"/>
          </a:xfrm>
          <a:prstGeom prst="ellipse">
            <a:avLst/>
          </a:prstGeom>
          <a:solidFill>
            <a:srgbClr val="FF2D7B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0" y="5852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0" y="5852160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0" y="5852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0" y="5852160"/>
            <a:ext cx="365760" cy="36576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0" y="5852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F2D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kern="0" spc="400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المعضلة الأولى ، أنت المدير التنفيذي</a:t>
            </a:r>
            <a:endParaRPr lang="ar-SA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نظام الذكاء الاصطناعي اللي تستخدمه ٩٥٪؜</a:t>
            </a:r>
            <a:endParaRPr lang="ar-SA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منحاز ضد فئة معيّنة</a:t>
            </a:r>
            <a:endParaRPr lang="ar-SA" sz="3600" dirty="0"/>
          </a:p>
        </p:txBody>
      </p:sp>
      <p:sp>
        <p:nvSpPr>
          <p:cNvPr id="7" name="Shape 5"/>
          <p:cNvSpPr/>
          <p:nvPr/>
        </p:nvSpPr>
        <p:spPr>
          <a:xfrm>
            <a:off x="6400800" y="2377440"/>
            <a:ext cx="5212080" cy="3383280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rgbClr val="10E09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لو ركّبته زي ما هو</a:t>
            </a:r>
            <a:endParaRPr lang="ar-SA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310896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700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وفّر للشركة ملايين</a:t>
            </a:r>
            <a:endParaRPr lang="ar-SA" sz="170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700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أسرع من أي موظف بشري</a:t>
            </a:r>
            <a:endParaRPr lang="ar-SA" sz="170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700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المستثمرين مبسوطين</a:t>
            </a:r>
            <a:endParaRPr lang="ar-SA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5212080" cy="3383280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60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لو رفضت تركّبه</a:t>
            </a:r>
            <a:endParaRPr lang="ar-SA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700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إصلاح التحيّز مكلف جداً</a:t>
            </a:r>
            <a:endParaRPr lang="ar-SA" sz="170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700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المنافسين ممكن يركّبونه قبلك</a:t>
            </a:r>
            <a:endParaRPr lang="ar-SA" sz="170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700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ممكن يحصل خسارات على مدى بعيد...</a:t>
            </a:r>
            <a:endParaRPr lang="ar-SA" sz="1700" dirty="0"/>
          </a:p>
        </p:txBody>
      </p:sp>
      <p:sp>
        <p:nvSpPr>
          <p:cNvPr id="13" name="Shape 11"/>
          <p:cNvSpPr/>
          <p:nvPr/>
        </p:nvSpPr>
        <p:spPr>
          <a:xfrm>
            <a:off x="11475720" y="5989320"/>
            <a:ext cx="137160" cy="548640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89320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وش قرارك ؟ وأهم من القرار ، ليش ؟</a:t>
            </a:r>
            <a:endParaRPr lang="ar-SA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kern="0" spc="400" dirty="0">
                <a:solidFill>
                  <a:srgbClr val="00D9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المعضلة الثانية ، الكاتب</a:t>
            </a:r>
            <a:endParaRPr lang="ar-SA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صحفي كتب مقال ، نصف فقراته</a:t>
            </a:r>
            <a:endParaRPr lang="ar-SA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8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ChatGPT ، وحطّ اسمه عليه</a:t>
            </a:r>
            <a:endParaRPr lang="ar-SA" sz="3800" dirty="0"/>
          </a:p>
        </p:txBody>
      </p:sp>
      <p:sp>
        <p:nvSpPr>
          <p:cNvPr id="7" name="Shape 5"/>
          <p:cNvSpPr/>
          <p:nvPr/>
        </p:nvSpPr>
        <p:spPr>
          <a:xfrm>
            <a:off x="11338560" y="2788920"/>
            <a:ext cx="274320" cy="274320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974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8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الصحفي فعلا كتب المقال؟</a:t>
            </a:r>
            <a:endParaRPr lang="ar-SA" sz="2800" dirty="0"/>
          </a:p>
        </p:txBody>
      </p:sp>
      <p:sp>
        <p:nvSpPr>
          <p:cNvPr id="9" name="Shape 7"/>
          <p:cNvSpPr/>
          <p:nvPr/>
        </p:nvSpPr>
        <p:spPr>
          <a:xfrm>
            <a:off x="11338560" y="3840480"/>
            <a:ext cx="274320" cy="2743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7490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8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مين المؤلف الحقيقي ؟</a:t>
            </a:r>
            <a:endParaRPr lang="ar-SA" sz="2800" dirty="0"/>
          </a:p>
        </p:txBody>
      </p:sp>
      <p:sp>
        <p:nvSpPr>
          <p:cNvPr id="11" name="Shape 9"/>
          <p:cNvSpPr/>
          <p:nvPr/>
        </p:nvSpPr>
        <p:spPr>
          <a:xfrm>
            <a:off x="11338560" y="4892040"/>
            <a:ext cx="274320" cy="2743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8006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8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وين بالضبط الخط الفاصل بين عادي يستعمل </a:t>
            </a:r>
            <a:r>
              <a:rPr lang="en-US" altLang="en-US" sz="28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Ai</a:t>
            </a:r>
            <a:r>
              <a:rPr lang="ar-SA" altLang="en-US" sz="28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</a:t>
            </a:r>
            <a:r>
              <a:rPr lang="ar-SA" altLang="en-US" sz="2800" b="1" dirty="0" err="1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ومو</a:t>
            </a:r>
            <a:r>
              <a:rPr lang="ar-SA" altLang="en-US" sz="28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عادي ؟</a:t>
            </a:r>
            <a:endParaRPr lang="ar-SA" sz="2800" dirty="0"/>
          </a:p>
        </p:txBody>
      </p:sp>
      <p:sp>
        <p:nvSpPr>
          <p:cNvPr id="13" name="Text 11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i="1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لو غيّر كلمة وحدة في كل فقرة ، يصير هو الكاتب ؟</a:t>
            </a:r>
            <a:endParaRPr lang="ar-SA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i="1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ولو كتب الفكرة بنفسه وخلّى الذكاء الاصطناعي يصيغها ؟</a:t>
            </a:r>
            <a:endParaRPr lang="ar-SA" sz="18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1DCDCFD7-4CDD-69E7-71A3-1EF2FD5B5D80}"/>
              </a:ext>
            </a:extLst>
          </p:cNvPr>
          <p:cNvSpPr/>
          <p:nvPr/>
        </p:nvSpPr>
        <p:spPr>
          <a:xfrm>
            <a:off x="579120" y="19888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i="1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المقالة رهيبة والكل حبها، بس فيه جزئية فيها </a:t>
            </a:r>
            <a:r>
              <a:rPr lang="ar-SA" altLang="en-US" sz="1800" i="1" dirty="0" err="1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اسقاطية</a:t>
            </a:r>
            <a:r>
              <a:rPr lang="ar-SA" altLang="en-US" sz="1800" i="1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على شخص حقيقي، وجاه ضرر ...</a:t>
            </a:r>
            <a:endParaRPr lang="ar-SA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b="1" kern="0" spc="400" dirty="0">
                <a:solidFill>
                  <a:srgbClr val="FFD93D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المعضلة الثالثة ، السيارة ذاتية القيادة</a:t>
            </a:r>
            <a:endParaRPr lang="ar-SA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ثانية واحدة ، السيارة لازم تختار</a:t>
            </a:r>
            <a:endParaRPr lang="ar-SA" sz="3600" dirty="0"/>
          </a:p>
        </p:txBody>
      </p:sp>
      <p:sp>
        <p:nvSpPr>
          <p:cNvPr id="6" name="Shape 4"/>
          <p:cNvSpPr/>
          <p:nvPr/>
        </p:nvSpPr>
        <p:spPr>
          <a:xfrm>
            <a:off x="6400800" y="2103120"/>
            <a:ext cx="5212080" cy="2286000"/>
          </a:xfrm>
          <a:prstGeom prst="rect">
            <a:avLst/>
          </a:prstGeom>
          <a:solidFill>
            <a:srgbClr val="151A3D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0" y="2103120"/>
            <a:ext cx="5212080" cy="91440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b="1" kern="0" spc="400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الخيار أ</a:t>
            </a:r>
            <a:endParaRPr lang="ar-SA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6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تنحرف وتقتل المشاة</a:t>
            </a:r>
            <a:endParaRPr lang="ar-SA" sz="2600" dirty="0"/>
          </a:p>
        </p:txBody>
      </p:sp>
      <p:sp>
        <p:nvSpPr>
          <p:cNvPr id="10" name="Text 8"/>
          <p:cNvSpPr/>
          <p:nvPr/>
        </p:nvSpPr>
        <p:spPr>
          <a:xfrm>
            <a:off x="6583680" y="3474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لتنقذ صاحب السيارة</a:t>
            </a:r>
            <a:endParaRPr lang="ar-SA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5212080" cy="2286000"/>
          </a:xfrm>
          <a:prstGeom prst="rect">
            <a:avLst/>
          </a:prstGeom>
          <a:solidFill>
            <a:srgbClr val="151A3D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103120"/>
            <a:ext cx="5212080" cy="914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b="1" kern="0" spc="400" dirty="0">
                <a:solidFill>
                  <a:srgbClr val="00D9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الخيار ب</a:t>
            </a:r>
            <a:endParaRPr lang="ar-SA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6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تكمل وتقتل صاحبها</a:t>
            </a:r>
            <a:endParaRPr lang="ar-SA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لتنقذ المشاة</a:t>
            </a:r>
            <a:endParaRPr lang="ar-SA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1064240" cy="1645920"/>
          </a:xfrm>
          <a:prstGeom prst="rect">
            <a:avLst/>
          </a:prstGeom>
          <a:solidFill>
            <a:srgbClr val="151A3D"/>
          </a:solidFill>
          <a:ln/>
        </p:spPr>
      </p:sp>
      <p:sp>
        <p:nvSpPr>
          <p:cNvPr id="17" name="Shape 15"/>
          <p:cNvSpPr/>
          <p:nvPr/>
        </p:nvSpPr>
        <p:spPr>
          <a:xfrm>
            <a:off x="11521440" y="4754880"/>
            <a:ext cx="91440" cy="16459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892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بس السؤال الحقيقي مو هذا</a:t>
            </a:r>
            <a:endParaRPr lang="ar-SA" sz="1700" dirty="0"/>
          </a:p>
        </p:txBody>
      </p:sp>
      <p:sp>
        <p:nvSpPr>
          <p:cNvPr id="19" name="Text 17"/>
          <p:cNvSpPr/>
          <p:nvPr/>
        </p:nvSpPr>
        <p:spPr>
          <a:xfrm>
            <a:off x="731520" y="5349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FFD93D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مين اللي قرّر السيارة وش تختار ؟</a:t>
            </a:r>
            <a:endParaRPr lang="ar-SA" sz="3200" dirty="0"/>
          </a:p>
        </p:txBody>
      </p:sp>
      <p:sp>
        <p:nvSpPr>
          <p:cNvPr id="20" name="Text 18"/>
          <p:cNvSpPr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ومين اللي يتحاسب لمّا تختار غلط ؟</a:t>
            </a:r>
            <a:endParaRPr lang="ar-SA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kern="0" spc="400" dirty="0">
                <a:solidFill>
                  <a:srgbClr val="8B5CF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سؤال التأليف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لمّا الذكاء الاصطناعي يكتب ، مين المؤلف ؟</a:t>
            </a:r>
            <a:endParaRPr lang="ar-SA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71600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1691640"/>
            <a:ext cx="137160" cy="1371600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2022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83527" y="1828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لوحة فازت بمسابقة فنية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جايسون آلِن دخّل لوحة سواها بـ Midjourney في مسابقة فنون أمريكية ، وفازت بالمركز الأول. الفنانين الباقين انهارت أعصابهم. هل هو فنان ؟</a:t>
            </a:r>
            <a:endParaRPr lang="ar-SA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1371600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10" name="Shape 8"/>
          <p:cNvSpPr/>
          <p:nvPr/>
        </p:nvSpPr>
        <p:spPr>
          <a:xfrm>
            <a:off x="11475720" y="3200400"/>
            <a:ext cx="137160" cy="137160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0" y="3337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D9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2023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83527" y="3337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كتب على أمازون من بدون مؤلفين</a:t>
            </a:r>
            <a:endParaRPr lang="ar-SA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أمازون انغمر بآلاف الكتب المولّدة بالذكاء الاصطناعي ، بعضها بأسماء كتّاب حقيقيين بدون إذنهم. اضطرّوا يحطّون حدّ : 3 كتب باليوم بس.</a:t>
            </a:r>
            <a:endParaRPr lang="ar-SA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64240" cy="1371600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75720" y="4709160"/>
            <a:ext cx="137160" cy="137160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0" y="4846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D93D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2023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83527" y="4846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محامي قدّم مرافعة فيها مراجع مخترعة</a:t>
            </a:r>
            <a:endParaRPr lang="ar-SA" sz="2000" dirty="0"/>
          </a:p>
        </p:txBody>
      </p:sp>
      <p:sp>
        <p:nvSpPr>
          <p:cNvPr id="18" name="Text 16"/>
          <p:cNvSpPr/>
          <p:nvPr/>
        </p:nvSpPr>
        <p:spPr>
          <a:xfrm>
            <a:off x="731520" y="5349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محامي في نيويورك استخدم ChatGPT لكتابة مرافعة قانونية. الـ</a:t>
            </a:r>
            <a:r>
              <a:rPr lang="en-US" altLang="en-US" sz="14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Ai</a:t>
            </a:r>
            <a:r>
              <a:rPr lang="ar-SA" altLang="en-US" sz="14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هلوس واخترع قضايا ما هي موجودة.</a:t>
            </a:r>
            <a:endParaRPr lang="ar-SA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kern="0" spc="400" dirty="0">
                <a:solidFill>
                  <a:srgbClr val="00D9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التحيّز ، مو خطأ تقني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64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التحيّز</a:t>
            </a:r>
            <a:endParaRPr lang="ar-SA" sz="6400" dirty="0"/>
          </a:p>
        </p:txBody>
      </p:sp>
      <p:sp>
        <p:nvSpPr>
          <p:cNvPr id="4" name="Shape 2"/>
          <p:cNvSpPr/>
          <p:nvPr/>
        </p:nvSpPr>
        <p:spPr>
          <a:xfrm>
            <a:off x="11338560" y="2240280"/>
            <a:ext cx="274320" cy="274320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الذكاء الاصطناعي يعكس البيانات</a:t>
            </a:r>
            <a:endParaRPr lang="ar-SA" sz="3200" dirty="0"/>
          </a:p>
        </p:txBody>
      </p:sp>
      <p:sp>
        <p:nvSpPr>
          <p:cNvPr id="6" name="Shape 4"/>
          <p:cNvSpPr/>
          <p:nvPr/>
        </p:nvSpPr>
        <p:spPr>
          <a:xfrm>
            <a:off x="11338560" y="3154680"/>
            <a:ext cx="274320" cy="2743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0175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البيانات تعكس العالم</a:t>
            </a:r>
            <a:endParaRPr lang="ar-SA" sz="3200" dirty="0"/>
          </a:p>
        </p:txBody>
      </p:sp>
      <p:sp>
        <p:nvSpPr>
          <p:cNvPr id="8" name="Shape 6"/>
          <p:cNvSpPr/>
          <p:nvPr/>
        </p:nvSpPr>
        <p:spPr>
          <a:xfrm>
            <a:off x="11338560" y="4069080"/>
            <a:ext cx="274320" cy="2743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9319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والعالم ، فيه ظلم أصلاً</a:t>
            </a:r>
            <a:endParaRPr lang="ar-SA" sz="3200" dirty="0"/>
          </a:p>
        </p:txBody>
      </p:sp>
      <p:sp>
        <p:nvSpPr>
          <p:cNvPr id="10" name="Shape 8"/>
          <p:cNvSpPr/>
          <p:nvPr/>
        </p:nvSpPr>
        <p:spPr>
          <a:xfrm>
            <a:off x="548640" y="5394960"/>
            <a:ext cx="11064240" cy="1097280"/>
          </a:xfrm>
          <a:prstGeom prst="rect">
            <a:avLst/>
          </a:prstGeom>
          <a:solidFill>
            <a:srgbClr val="151A3D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0" y="5394960"/>
            <a:ext cx="91440" cy="1097280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4864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b="1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التحيّز </a:t>
            </a:r>
            <a:r>
              <a:rPr lang="ar-SA" altLang="en-US" sz="2200" b="1" dirty="0" err="1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</a:t>
            </a:r>
            <a:r>
              <a:rPr lang="ar-SA" altLang="en-US" sz="2200" b="1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«</a:t>
            </a:r>
            <a:r>
              <a:rPr lang="ar-SA" altLang="en-US" sz="2200" b="1" dirty="0" err="1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قلتش</a:t>
            </a:r>
            <a:r>
              <a:rPr lang="ar-SA" altLang="en-US" sz="2200" b="1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» تصلحه بسطر كود</a:t>
            </a:r>
            <a:endParaRPr lang="ar-SA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هو انعكاس لمشكلة في العالم نفسه ، والكود ما يحلّها</a:t>
            </a:r>
            <a:endParaRPr lang="ar-SA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0" b="1" dirty="0">
                <a:solidFill>
                  <a:srgbClr val="FF2D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400" dirty="0">
                <a:solidFill>
                  <a:srgbClr val="00D9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IBM Training Manual ، 1979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8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«الكمبيوتر ما يمكن يتحمّل المسؤولية ؛</a:t>
            </a:r>
            <a:endParaRPr lang="ar-SA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800" b="1" dirty="0">
                <a:solidFill>
                  <a:srgbClr val="FFD93D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لذلك ما يصير الكمبيوتر يأخذ قراراً إدارياً.»</a:t>
            </a:r>
            <a:endParaRPr lang="ar-SA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8A8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computer can never be held accountable, therefore a computer must never make a management decision."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394960"/>
            <a:ext cx="11064240" cy="1188720"/>
          </a:xfrm>
          <a:prstGeom prst="rect">
            <a:avLst/>
          </a:prstGeom>
          <a:solidFill>
            <a:srgbClr val="151A3D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0" y="5394960"/>
            <a:ext cx="91440" cy="1188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kern="0" spc="400" dirty="0">
                <a:solidFill>
                  <a:srgbClr val="00D9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47 سنة عدّت</a:t>
            </a:r>
            <a:endParaRPr lang="ar-SA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6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والسؤال نفسه ، ما زال ما له جواب</a:t>
            </a:r>
            <a:endParaRPr lang="ar-SA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kern="0" spc="400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سلسلة المسؤولية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لمّا الذكاء الاصطناعي يغلط ، مين يتحمّل ؟</a:t>
            </a:r>
            <a:endParaRPr lang="ar-SA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103120" cy="2286000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2560320"/>
            <a:ext cx="365760" cy="365760"/>
          </a:xfrm>
          <a:prstGeom prst="ellipse">
            <a:avLst/>
          </a:prstGeom>
          <a:solidFill>
            <a:srgbClr val="FF2D7B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المبرمج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اللي كتب الكود</a:t>
            </a:r>
            <a:endParaRPr lang="ar-SA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2286000"/>
            <a:ext cx="2103120" cy="2286000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10" name="Shape 8"/>
          <p:cNvSpPr/>
          <p:nvPr/>
        </p:nvSpPr>
        <p:spPr>
          <a:xfrm>
            <a:off x="3749040" y="2560320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7180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الشركة</a:t>
            </a:r>
            <a:endParaRPr lang="ar-SA" sz="2000" dirty="0"/>
          </a:p>
        </p:txBody>
      </p:sp>
      <p:sp>
        <p:nvSpPr>
          <p:cNvPr id="13" name="Text 11"/>
          <p:cNvSpPr/>
          <p:nvPr/>
        </p:nvSpPr>
        <p:spPr>
          <a:xfrm>
            <a:off x="297180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اللي درّبت النموذج</a:t>
            </a:r>
            <a:endParaRPr lang="ar-SA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2286000"/>
            <a:ext cx="2103120" cy="2286000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0" y="2560320"/>
            <a:ext cx="365760" cy="36576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5780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المستخدم</a:t>
            </a:r>
            <a:endParaRPr lang="ar-SA" sz="2000" dirty="0"/>
          </a:p>
        </p:txBody>
      </p:sp>
      <p:sp>
        <p:nvSpPr>
          <p:cNvPr id="18" name="Text 16"/>
          <p:cNvSpPr/>
          <p:nvPr/>
        </p:nvSpPr>
        <p:spPr>
          <a:xfrm>
            <a:off x="525780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اللي قرّر يستخدمه</a:t>
            </a:r>
            <a:endParaRPr lang="ar-SA" sz="1200" dirty="0"/>
          </a:p>
        </p:txBody>
      </p:sp>
      <p:sp>
        <p:nvSpPr>
          <p:cNvPr id="19" name="Shape 17"/>
          <p:cNvSpPr/>
          <p:nvPr/>
        </p:nvSpPr>
        <p:spPr>
          <a:xfrm>
            <a:off x="7406640" y="2286000"/>
            <a:ext cx="2103120" cy="2286000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20" name="Shape 18"/>
          <p:cNvSpPr/>
          <p:nvPr/>
        </p:nvSpPr>
        <p:spPr>
          <a:xfrm>
            <a:off x="8321040" y="25603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4380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المنظِّم</a:t>
            </a:r>
            <a:endParaRPr lang="ar-SA" sz="2000" dirty="0"/>
          </a:p>
        </p:txBody>
      </p:sp>
      <p:sp>
        <p:nvSpPr>
          <p:cNvPr id="23" name="Text 21"/>
          <p:cNvSpPr/>
          <p:nvPr/>
        </p:nvSpPr>
        <p:spPr>
          <a:xfrm>
            <a:off x="754380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موفر الخدمة ...</a:t>
            </a:r>
            <a:endParaRPr lang="ar-SA" sz="1200" dirty="0"/>
          </a:p>
        </p:txBody>
      </p:sp>
      <p:sp>
        <p:nvSpPr>
          <p:cNvPr id="24" name="Shape 22"/>
          <p:cNvSpPr/>
          <p:nvPr/>
        </p:nvSpPr>
        <p:spPr>
          <a:xfrm>
            <a:off x="9692640" y="2286000"/>
            <a:ext cx="2103120" cy="2286000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25" name="Shape 23"/>
          <p:cNvSpPr/>
          <p:nvPr/>
        </p:nvSpPr>
        <p:spPr>
          <a:xfrm>
            <a:off x="10607040" y="2560320"/>
            <a:ext cx="365760" cy="365760"/>
          </a:xfrm>
          <a:prstGeom prst="ellipse">
            <a:avLst/>
          </a:prstGeom>
          <a:solidFill>
            <a:srgbClr val="10E098"/>
          </a:solidFill>
          <a:ln/>
        </p:spPr>
      </p:sp>
      <p:sp>
        <p:nvSpPr>
          <p:cNvPr id="26" name="Text 24"/>
          <p:cNvSpPr/>
          <p:nvPr/>
        </p:nvSpPr>
        <p:spPr>
          <a:xfrm>
            <a:off x="106070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2980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الذكاء نفسه</a:t>
            </a:r>
            <a:endParaRPr lang="ar-SA" sz="2000" dirty="0"/>
          </a:p>
        </p:txBody>
      </p:sp>
      <p:sp>
        <p:nvSpPr>
          <p:cNvPr id="28" name="Text 26"/>
          <p:cNvSpPr/>
          <p:nvPr/>
        </p:nvSpPr>
        <p:spPr>
          <a:xfrm>
            <a:off x="982980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اللي «قرّر»</a:t>
            </a:r>
            <a:endParaRPr lang="ar-SA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11064240" cy="128016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30" name="Shape 28"/>
          <p:cNvSpPr/>
          <p:nvPr/>
        </p:nvSpPr>
        <p:spPr>
          <a:xfrm>
            <a:off x="11521440" y="5120640"/>
            <a:ext cx="91440" cy="128016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257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الواقع ، كل واحد فيهم يرمي اللوم على الثاني</a:t>
            </a:r>
            <a:endParaRPr lang="ar-SA" sz="2200" dirty="0"/>
          </a:p>
        </p:txBody>
      </p:sp>
      <p:sp>
        <p:nvSpPr>
          <p:cNvPr id="32" name="Text 30"/>
          <p:cNvSpPr/>
          <p:nvPr/>
        </p:nvSpPr>
        <p:spPr>
          <a:xfrm>
            <a:off x="731520" y="57607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rgbClr val="FFD93D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والضحية ، تظل ضحية..</a:t>
            </a:r>
            <a:endParaRPr lang="ar-SA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151A3D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02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kern="0" spc="800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الفصل الثاني</a:t>
            </a:r>
            <a:endParaRPr lang="ar-SA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96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التزييف</a:t>
            </a:r>
            <a:endParaRPr lang="ar-SA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4663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لمّا الصور والأصوات والفيديوهات صارت كذّابة</a:t>
            </a:r>
            <a:endParaRPr lang="ar-SA" sz="2200" dirty="0"/>
          </a:p>
        </p:txBody>
      </p:sp>
      <p:sp>
        <p:nvSpPr>
          <p:cNvPr id="6" name="Shape 4"/>
          <p:cNvSpPr/>
          <p:nvPr/>
        </p:nvSpPr>
        <p:spPr>
          <a:xfrm>
            <a:off x="10698480" y="6035040"/>
            <a:ext cx="164592" cy="164592"/>
          </a:xfrm>
          <a:prstGeom prst="ellipse">
            <a:avLst/>
          </a:prstGeom>
          <a:solidFill>
            <a:srgbClr val="FF2D7B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0" y="6035040"/>
            <a:ext cx="164592" cy="164592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0" y="6035040"/>
            <a:ext cx="164592" cy="164592"/>
          </a:xfrm>
          <a:prstGeom prst="ellipse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kern="0" spc="400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كيف وصلنا هنا ؟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تطوّر الفيكات ، من 2017 إلى 2026</a:t>
            </a:r>
            <a:endParaRPr lang="ar-SA" sz="3600" dirty="0"/>
          </a:p>
        </p:txBody>
      </p:sp>
      <p:sp>
        <p:nvSpPr>
          <p:cNvPr id="4" name="Shape 2"/>
          <p:cNvSpPr/>
          <p:nvPr/>
        </p:nvSpPr>
        <p:spPr>
          <a:xfrm>
            <a:off x="9784080" y="2011680"/>
            <a:ext cx="1828800" cy="45720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1874520"/>
            <a:ext cx="274320" cy="274320"/>
          </a:xfrm>
          <a:prstGeom prst="ellipse">
            <a:avLst/>
          </a:prstGeom>
          <a:solidFill>
            <a:srgbClr val="FF2D7B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2017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78408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البداية</a:t>
            </a:r>
            <a:endParaRPr lang="ar-SA" sz="1800" dirty="0"/>
          </a:p>
        </p:txBody>
      </p:sp>
      <p:sp>
        <p:nvSpPr>
          <p:cNvPr id="8" name="Text 6"/>
          <p:cNvSpPr/>
          <p:nvPr/>
        </p:nvSpPr>
        <p:spPr>
          <a:xfrm>
            <a:off x="9784080" y="274320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ظهور كلمة Deepfake في Reddit ؛ وجوه ممثلين على فيديوهات ثانية ، واضح إنه فيك بالعين المجرّدة</a:t>
            </a:r>
            <a:endParaRPr lang="ar-SA" sz="1150" dirty="0"/>
          </a:p>
        </p:txBody>
      </p:sp>
      <p:sp>
        <p:nvSpPr>
          <p:cNvPr id="9" name="Shape 7"/>
          <p:cNvSpPr/>
          <p:nvPr/>
        </p:nvSpPr>
        <p:spPr>
          <a:xfrm>
            <a:off x="7589520" y="2011680"/>
            <a:ext cx="182880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0" name="Shape 8"/>
          <p:cNvSpPr/>
          <p:nvPr/>
        </p:nvSpPr>
        <p:spPr>
          <a:xfrm>
            <a:off x="8366760" y="187452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2019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8952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الجودة قفزت</a:t>
            </a:r>
            <a:endParaRPr lang="ar-SA" sz="1800" dirty="0"/>
          </a:p>
        </p:txBody>
      </p:sp>
      <p:sp>
        <p:nvSpPr>
          <p:cNvPr id="13" name="Text 11"/>
          <p:cNvSpPr/>
          <p:nvPr/>
        </p:nvSpPr>
        <p:spPr>
          <a:xfrm>
            <a:off x="7589520" y="274320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أوّل فيديو لـ Obama «يتكلم» بكلام ما قاله ، تنبيه عالمي إن الفيكات صارت سياسية</a:t>
            </a:r>
            <a:endParaRPr lang="ar-SA" sz="1150" dirty="0"/>
          </a:p>
        </p:txBody>
      </p:sp>
      <p:sp>
        <p:nvSpPr>
          <p:cNvPr id="14" name="Shape 12"/>
          <p:cNvSpPr/>
          <p:nvPr/>
        </p:nvSpPr>
        <p:spPr>
          <a:xfrm>
            <a:off x="5394960" y="2011680"/>
            <a:ext cx="1828800" cy="457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1874520"/>
            <a:ext cx="274320" cy="27432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93D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2022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9496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صور AI</a:t>
            </a:r>
            <a:endParaRPr lang="ar-SA" sz="1800" dirty="0"/>
          </a:p>
        </p:txBody>
      </p:sp>
      <p:sp>
        <p:nvSpPr>
          <p:cNvPr id="18" name="Text 16"/>
          <p:cNvSpPr/>
          <p:nvPr/>
        </p:nvSpPr>
        <p:spPr>
          <a:xfrm>
            <a:off x="5394960" y="274320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DALL·E ، Midjourney ، Stable Diffusion ؛ أي شخص بأي جهاز يقدر يولّد صورة فيها أي حد يسوّي أي شي</a:t>
            </a:r>
            <a:endParaRPr lang="ar-SA" sz="1150" dirty="0"/>
          </a:p>
        </p:txBody>
      </p:sp>
      <p:sp>
        <p:nvSpPr>
          <p:cNvPr id="19" name="Shape 17"/>
          <p:cNvSpPr/>
          <p:nvPr/>
        </p:nvSpPr>
        <p:spPr>
          <a:xfrm>
            <a:off x="3200400" y="2011680"/>
            <a:ext cx="18288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Shape 18"/>
          <p:cNvSpPr/>
          <p:nvPr/>
        </p:nvSpPr>
        <p:spPr>
          <a:xfrm>
            <a:off x="3977640" y="1874520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2024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0040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الصوت</a:t>
            </a:r>
            <a:endParaRPr lang="ar-SA" sz="1800" dirty="0"/>
          </a:p>
        </p:txBody>
      </p:sp>
      <p:sp>
        <p:nvSpPr>
          <p:cNvPr id="23" name="Text 21"/>
          <p:cNvSpPr/>
          <p:nvPr/>
        </p:nvSpPr>
        <p:spPr>
          <a:xfrm>
            <a:off x="3200400" y="268605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تقليد الصوت من 3 ثواني تسجيل ؛ مكالمات احتيال صوتية بصوت أفراد العايلة ، خسائر بالملايين</a:t>
            </a:r>
            <a:endParaRPr lang="ar-SA" sz="1150" dirty="0"/>
          </a:p>
        </p:txBody>
      </p:sp>
      <p:sp>
        <p:nvSpPr>
          <p:cNvPr id="24" name="Shape 22"/>
          <p:cNvSpPr/>
          <p:nvPr/>
        </p:nvSpPr>
        <p:spPr>
          <a:xfrm>
            <a:off x="1005840" y="2011680"/>
            <a:ext cx="1828800" cy="45720"/>
          </a:xfrm>
          <a:prstGeom prst="rect">
            <a:avLst/>
          </a:prstGeom>
          <a:solidFill>
            <a:srgbClr val="10E098"/>
          </a:solidFill>
          <a:ln/>
        </p:spPr>
      </p:sp>
      <p:sp>
        <p:nvSpPr>
          <p:cNvPr id="25" name="Shape 23"/>
          <p:cNvSpPr/>
          <p:nvPr/>
        </p:nvSpPr>
        <p:spPr>
          <a:xfrm>
            <a:off x="1783080" y="1874520"/>
            <a:ext cx="274320" cy="274320"/>
          </a:xfrm>
          <a:prstGeom prst="ellipse">
            <a:avLst/>
          </a:prstGeom>
          <a:solidFill>
            <a:srgbClr val="10E098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E09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2026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0584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اليوم</a:t>
            </a:r>
            <a:endParaRPr lang="ar-SA" sz="1800" dirty="0"/>
          </a:p>
        </p:txBody>
      </p:sp>
      <p:sp>
        <p:nvSpPr>
          <p:cNvPr id="28" name="Text 26"/>
          <p:cNvSpPr/>
          <p:nvPr/>
        </p:nvSpPr>
        <p:spPr>
          <a:xfrm>
            <a:off x="1005840" y="269748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فيديوهات HD كاملة بصوت وحركة شفاه ، 30 ثانية على لابتوب عادي ، صعب تفرّقه عن الحقيقي</a:t>
            </a:r>
            <a:endParaRPr lang="ar-SA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b="1" i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 سنوات ، من «فيديو مضحك على ريديت» إلى «ما تقدر تفرّقه عن الحقيقة»</a:t>
            </a:r>
            <a:endParaRPr lang="ar-SA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kern="0" spc="400" dirty="0">
                <a:solidFill>
                  <a:srgbClr val="00D9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اللعبة اللي ما تنتهي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الكشف ضد أدوات التوليد</a:t>
            </a:r>
            <a:endParaRPr lang="ar-SA" sz="3600" dirty="0"/>
          </a:p>
        </p:txBody>
      </p:sp>
      <p:sp>
        <p:nvSpPr>
          <p:cNvPr id="4" name="Shape 2"/>
          <p:cNvSpPr/>
          <p:nvPr/>
        </p:nvSpPr>
        <p:spPr>
          <a:xfrm>
            <a:off x="6400800" y="1645920"/>
            <a:ext cx="5212080" cy="3657600"/>
          </a:xfrm>
          <a:prstGeom prst="rect">
            <a:avLst/>
          </a:prstGeom>
          <a:solidFill>
            <a:srgbClr val="151A3D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1645920"/>
            <a:ext cx="5212080" cy="914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kern="0" spc="400" dirty="0">
                <a:solidFill>
                  <a:srgbClr val="00D9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الكشف</a:t>
            </a:r>
            <a:endParaRPr lang="ar-SA" sz="1600" dirty="0"/>
          </a:p>
        </p:txBody>
      </p:sp>
      <p:sp>
        <p:nvSpPr>
          <p:cNvPr id="7" name="Text 5"/>
          <p:cNvSpPr/>
          <p:nvPr/>
        </p:nvSpPr>
        <p:spPr>
          <a:xfrm>
            <a:off x="6583680" y="22860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يحاول يلحق</a:t>
            </a:r>
            <a:endParaRPr lang="ar-SA" sz="3200" dirty="0"/>
          </a:p>
        </p:txBody>
      </p:sp>
      <p:sp>
        <p:nvSpPr>
          <p:cNvPr id="8" name="Text 6"/>
          <p:cNvSpPr/>
          <p:nvPr/>
        </p:nvSpPr>
        <p:spPr>
          <a:xfrm>
            <a:off x="6583680" y="320040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ينتظر يشوف أنماط الفيكات الجديدة</a:t>
            </a:r>
            <a:endParaRPr lang="ar-SA" sz="150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يحتاج آلاف الأمثلة ليتعلّم</a:t>
            </a:r>
            <a:endParaRPr lang="ar-SA" sz="150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تطوّر يتعلّمه ، يتعلّم المولّد أيضا</a:t>
            </a:r>
            <a:endParaRPr lang="ar-SA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5212080" cy="3657600"/>
          </a:xfrm>
          <a:prstGeom prst="rect">
            <a:avLst/>
          </a:prstGeom>
          <a:solidFill>
            <a:srgbClr val="151A3D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645920"/>
            <a:ext cx="5212080" cy="91440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kern="0" spc="400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التوليد</a:t>
            </a:r>
            <a:endParaRPr lang="ar-SA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2860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يسبق دايماً</a:t>
            </a:r>
            <a:endParaRPr lang="ar-SA" sz="3200" dirty="0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يستخدم نفس تقنيات الكشف عشان يتطور</a:t>
            </a:r>
            <a:endParaRPr lang="ar-SA" sz="150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يوم يطلع تحسين جديد عشان "ما </a:t>
            </a:r>
            <a:r>
              <a:rPr lang="ar-SA" altLang="en-US" sz="1500" dirty="0" err="1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ينقفط</a:t>
            </a:r>
            <a:r>
              <a:rPr lang="ar-SA" altLang="en-US" sz="15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</a:t>
            </a:r>
            <a:endParaRPr lang="ar-SA" sz="150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يحتاج بس مولّد واحد  (نموذج واحد) ما </a:t>
            </a:r>
            <a:r>
              <a:rPr lang="ar-SA" altLang="en-US" sz="1500" dirty="0" err="1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ينفقط</a:t>
            </a:r>
            <a:r>
              <a:rPr lang="ar-SA" altLang="en-US" sz="15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، يفوز</a:t>
            </a:r>
            <a:endParaRPr lang="ar-SA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577840"/>
            <a:ext cx="11064240" cy="914400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7150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اللعبة ، رياضياً ، ما تنتهي. ودايماً المولّد قدّام بخطوة.</a:t>
            </a:r>
            <a:endParaRPr lang="ar-SA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kern="0" spc="400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التحدي الحالي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بتكون دائما تقدر تكتشف الفيك ؟</a:t>
            </a:r>
            <a:endParaRPr lang="ar-SA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3200400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874520"/>
            <a:ext cx="3383280" cy="310896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87452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؟</a:t>
            </a:r>
            <a:endParaRPr lang="en-US" sz="14000" dirty="0"/>
          </a:p>
        </p:txBody>
      </p:sp>
      <p:sp>
        <p:nvSpPr>
          <p:cNvPr id="7" name="Text 5"/>
          <p:cNvSpPr/>
          <p:nvPr/>
        </p:nvSpPr>
        <p:spPr>
          <a:xfrm>
            <a:off x="548640" y="5120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صورة ١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474720" cy="3200400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1874520"/>
            <a:ext cx="3383280" cy="310896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87452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00D9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؟</a:t>
            </a:r>
            <a:endParaRPr lang="en-US" sz="14000" dirty="0"/>
          </a:p>
        </p:txBody>
      </p:sp>
      <p:sp>
        <p:nvSpPr>
          <p:cNvPr id="11" name="Text 9"/>
          <p:cNvSpPr/>
          <p:nvPr/>
        </p:nvSpPr>
        <p:spPr>
          <a:xfrm>
            <a:off x="4297680" y="5120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صورة ٢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474720" cy="3200400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13" name="Shape 11"/>
          <p:cNvSpPr/>
          <p:nvPr/>
        </p:nvSpPr>
        <p:spPr>
          <a:xfrm>
            <a:off x="8092440" y="1874520"/>
            <a:ext cx="3383280" cy="310896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14" name="Text 12"/>
          <p:cNvSpPr/>
          <p:nvPr/>
        </p:nvSpPr>
        <p:spPr>
          <a:xfrm>
            <a:off x="8092440" y="187452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FFD93D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؟</a:t>
            </a:r>
            <a:endParaRPr lang="en-US" sz="14000" dirty="0"/>
          </a:p>
        </p:txBody>
      </p:sp>
      <p:sp>
        <p:nvSpPr>
          <p:cNvPr id="15" name="Text 13"/>
          <p:cNvSpPr/>
          <p:nvPr/>
        </p:nvSpPr>
        <p:spPr>
          <a:xfrm>
            <a:off x="8046720" y="5120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صورة ٣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852160"/>
            <a:ext cx="11064240" cy="68580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89788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i="1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حط ببالك ان هذا بالتدقيق، بالواقع الناس بجوالهم ما يحسّون بخطر فما يدققون...</a:t>
            </a:r>
            <a:endParaRPr lang="ar-SA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64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التزوير</a:t>
            </a:r>
            <a:endParaRPr lang="ar-SA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36576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4800" b="1" dirty="0">
                <a:solidFill>
                  <a:srgbClr val="FFD93D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بالمواضيع الدينية ..</a:t>
            </a:r>
            <a:endParaRPr lang="ar-SA" sz="4800" dirty="0"/>
          </a:p>
        </p:txBody>
      </p:sp>
      <p:sp>
        <p:nvSpPr>
          <p:cNvPr id="4" name="Shape 2"/>
          <p:cNvSpPr/>
          <p:nvPr/>
        </p:nvSpPr>
        <p:spPr>
          <a:xfrm>
            <a:off x="11475720" y="5120640"/>
            <a:ext cx="137160" cy="914400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212080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حالات حقيقية ، كل وحدة تكشف جانب آخر</a:t>
            </a:r>
            <a:endParaRPr lang="ar-SA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F2D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2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١</a:t>
            </a:r>
            <a:endParaRPr lang="ar-SA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kern="0" spc="400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الحالة الأولى</a:t>
            </a:r>
            <a:endParaRPr lang="ar-SA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4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شبكة محمد قاسم</a:t>
            </a:r>
            <a:endParaRPr lang="ar-SA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صوت العلماء ، بدون علم العلماء</a:t>
            </a:r>
            <a:endParaRPr lang="ar-SA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600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شبكة على </a:t>
            </a:r>
            <a:r>
              <a:rPr lang="ar-SA" altLang="en-US" sz="1600" dirty="0" err="1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TikTok</a:t>
            </a:r>
            <a:r>
              <a:rPr lang="ar-SA" altLang="en-US" sz="1600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و </a:t>
            </a:r>
            <a:r>
              <a:rPr lang="ar-SA" altLang="en-US" sz="1600" dirty="0" err="1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YouTube</a:t>
            </a:r>
            <a:r>
              <a:rPr lang="ar-SA" altLang="en-US" sz="1600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تولّد فيديوهات صوتية بأصوات شيوخ معروفين مثل ذاكر نايك</a:t>
            </a:r>
            <a:endParaRPr lang="ar-SA" sz="160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600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العلماء ما قالوا الكلام أصلاً؛ صوتهم استُنسخ من محاضرات طويلة وقديمة ووُضع على نص جديد</a:t>
            </a:r>
            <a:endParaRPr lang="ar-SA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394960"/>
            <a:ext cx="11064240" cy="1097280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54406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+540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731520" y="54406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مليون مشاهدة على هاشتاقات الشبكة في TikTok</a:t>
            </a:r>
            <a:endParaRPr lang="ar-SA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F2D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2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١</a:t>
            </a:r>
            <a:endParaRPr lang="ar-SA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kern="0" spc="400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الحالة الأولى ، التفاصيل</a:t>
            </a:r>
            <a:endParaRPr lang="ar-SA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4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كيف اشتغلت الشبكة ؟</a:t>
            </a:r>
            <a:endParaRPr lang="ar-SA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أداتين بس ، وانتشار بالملايين</a:t>
            </a:r>
            <a:endParaRPr lang="ar-SA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600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صور AI ملحمية ، مشاهد مؤثرة، تخلّي الكلام الصوتي يبان حقيقي ومؤثّر</a:t>
            </a:r>
            <a:endParaRPr lang="ar-SA" sz="160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600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أصوات شيوخ حقيقيين تتقطّع من محاضرات قديمة ، ويندمج عليها أصوات بالذكاء الاصطناعي مفبركة (الأصلي والمزيف يندمجون)</a:t>
            </a:r>
          </a:p>
        </p:txBody>
      </p:sp>
      <p:sp>
        <p:nvSpPr>
          <p:cNvPr id="8" name="Shape 6"/>
          <p:cNvSpPr/>
          <p:nvPr/>
        </p:nvSpPr>
        <p:spPr>
          <a:xfrm>
            <a:off x="548640" y="5394960"/>
            <a:ext cx="11064240" cy="1097280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54406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▶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2751151" y="5440680"/>
            <a:ext cx="790359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الموضوع وصل لدرجة ان "مفتي منك" رد رسميًا</a:t>
            </a:r>
            <a:endParaRPr lang="ar-SA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836FD-44B0-9232-7A8E-DC4093DAB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CF1800-C81B-2468-B98C-9C7C776530F4}"/>
              </a:ext>
            </a:extLst>
          </p:cNvPr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F2D7B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343EAD-ED64-2955-FB48-72BAED16AAC5}"/>
              </a:ext>
            </a:extLst>
          </p:cNvPr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2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١</a:t>
            </a:r>
            <a:endParaRPr lang="ar-SA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A66330E-FF50-0024-BAF5-7A83DAAFE56C}"/>
              </a:ext>
            </a:extLst>
          </p:cNvPr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kern="0" spc="400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الحالة الأولى ، التفاصيل</a:t>
            </a:r>
            <a:endParaRPr lang="ar-SA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E08CC4D-401E-A4B9-6AD6-9CACB4B4F45D}"/>
              </a:ext>
            </a:extLst>
          </p:cNvPr>
          <p:cNvSpPr/>
          <p:nvPr/>
        </p:nvSpPr>
        <p:spPr>
          <a:xfrm>
            <a:off x="5486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4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اقتباسات من رد الشيخ:</a:t>
            </a:r>
            <a:endParaRPr lang="ar-SA" sz="3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1F00A50-FFC1-0BC7-BB3C-67C1E7C945BC}"/>
              </a:ext>
            </a:extLst>
          </p:cNvPr>
          <p:cNvSpPr/>
          <p:nvPr/>
        </p:nvSpPr>
        <p:spPr>
          <a:xfrm>
            <a:off x="54864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حملة التزييف كانت فعلا حقيقية، فعلا مؤثرة</a:t>
            </a:r>
            <a:endParaRPr lang="ar-SA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0201FB-07B1-8062-612C-340A44F71FC4}"/>
              </a:ext>
            </a:extLst>
          </p:cNvPr>
          <p:cNvSpPr/>
          <p:nvPr/>
        </p:nvSpPr>
        <p:spPr>
          <a:xfrm>
            <a:off x="548640" y="245099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en-US" sz="1600" dirty="0"/>
              <a:t>“There are more Ai videos of me than real videos”</a:t>
            </a:r>
            <a:endParaRPr lang="ar-SA" sz="160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en-US" altLang="en-US" sz="1600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“when it first started people could tell it was fake, now even I sometimes look at a video and say ‘when did I say this’”</a:t>
            </a:r>
            <a:endParaRPr lang="ar-SA" altLang="en-US" sz="1600" dirty="0">
              <a:solidFill>
                <a:srgbClr val="0A0E27"/>
              </a:solidFill>
              <a:latin typeface="Tajawal" pitchFamily="34" charset="0"/>
              <a:ea typeface="Tajawal" pitchFamily="34" charset="-122"/>
              <a:cs typeface="Tajawal" pitchFamily="34" charset="-12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29D081B-86AB-04BC-3944-6D4C89D1F617}"/>
              </a:ext>
            </a:extLst>
          </p:cNvPr>
          <p:cNvSpPr/>
          <p:nvPr/>
        </p:nvSpPr>
        <p:spPr>
          <a:xfrm>
            <a:off x="548640" y="5394960"/>
            <a:ext cx="11064240" cy="1097280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FD0E7D1-7123-5824-2F3E-C9203DE04E0C}"/>
              </a:ext>
            </a:extLst>
          </p:cNvPr>
          <p:cNvSpPr/>
          <p:nvPr/>
        </p:nvSpPr>
        <p:spPr>
          <a:xfrm>
            <a:off x="7315200" y="54406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6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ABF2014-CF4D-1364-8CE4-6BA7DDC35266}"/>
              </a:ext>
            </a:extLst>
          </p:cNvPr>
          <p:cNvSpPr/>
          <p:nvPr/>
        </p:nvSpPr>
        <p:spPr>
          <a:xfrm>
            <a:off x="2751151" y="5440680"/>
            <a:ext cx="790359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 err="1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لانه</a:t>
            </a:r>
            <a:r>
              <a:rPr lang="ar-SA" altLang="en-US" sz="18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شخصية مؤثرة، محاضراته كثيرة، سهل تستعمله وسهل ينتشر</a:t>
            </a:r>
            <a:endParaRPr lang="ar-SA" sz="1800" dirty="0"/>
          </a:p>
        </p:txBody>
      </p:sp>
    </p:spTree>
    <p:extLst>
      <p:ext uri="{BB962C8B-B14F-4D97-AF65-F5344CB8AC3E}">
        <p14:creationId xmlns:p14="http://schemas.microsoft.com/office/powerpoint/2010/main" val="23883284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ar-SA" altLang="en-US" sz="22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٢</a:t>
            </a:r>
            <a:endParaRPr lang="ar-SA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kern="0" spc="400" dirty="0">
                <a:solidFill>
                  <a:srgbClr val="8B5CF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الحالة الثانية</a:t>
            </a:r>
            <a:endParaRPr lang="ar-SA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4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الباكستاني اللي يدير الحسابين</a:t>
            </a:r>
            <a:endParaRPr lang="ar-SA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القصة اللي تكسر فكرة «الأيديولوجيا»</a:t>
            </a:r>
            <a:endParaRPr lang="ar-SA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2560320"/>
            <a:ext cx="5212080" cy="2743200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2560320"/>
            <a:ext cx="5212080" cy="91440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697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b="1" kern="0" spc="400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الحساب الأول</a:t>
            </a:r>
            <a:endParaRPr lang="ar-SA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31089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محتوى ضد المسلمين</a:t>
            </a:r>
            <a:endParaRPr lang="ar-SA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37033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صور وفيديوهات AI مفبركة ، تستهدف الجمهور البريطاني ، تجلب ملايين المشاهدات والإعلانات</a:t>
            </a:r>
            <a:endParaRPr lang="ar-SA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5212080" cy="2743200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560320"/>
            <a:ext cx="5212080" cy="91440"/>
          </a:xfrm>
          <a:prstGeom prst="rect">
            <a:avLst/>
          </a:prstGeom>
          <a:solidFill>
            <a:srgbClr val="10E09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97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b="1" kern="0" spc="400" dirty="0">
                <a:solidFill>
                  <a:srgbClr val="10E09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الحساب الثاني</a:t>
            </a:r>
            <a:endParaRPr lang="ar-SA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محتوى قرآني للمسلمين</a:t>
            </a:r>
            <a:endParaRPr lang="ar-SA" sz="2200" dirty="0"/>
          </a:p>
        </p:txBody>
      </p:sp>
      <p:sp>
        <p:nvSpPr>
          <p:cNvPr id="16" name="Text 14"/>
          <p:cNvSpPr/>
          <p:nvPr/>
        </p:nvSpPr>
        <p:spPr>
          <a:xfrm>
            <a:off x="731520" y="37033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صور قرآنية وأذكار، يستهدف الجمهور المسلم ، يجلب إعلانات بنفس الطريقة</a:t>
            </a:r>
            <a:endParaRPr lang="ar-SA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486400"/>
            <a:ext cx="11064240" cy="100584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18" name="Shape 16"/>
          <p:cNvSpPr/>
          <p:nvPr/>
        </p:nvSpPr>
        <p:spPr>
          <a:xfrm>
            <a:off x="11521440" y="5486400"/>
            <a:ext cx="91440" cy="100584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6235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400" b="1" dirty="0">
                <a:solidFill>
                  <a:srgbClr val="FFD93D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المصيبة انه ... مسلم ... </a:t>
            </a:r>
            <a:endParaRPr lang="ar-SA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2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٢</a:t>
            </a:r>
            <a:endParaRPr lang="ar-SA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kern="0" spc="400" dirty="0">
                <a:solidFill>
                  <a:srgbClr val="8B5CF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الحالة الثانية ، بكم يطلّع</a:t>
            </a:r>
            <a:endParaRPr lang="ar-SA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4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صفحة وحدة، ١٬٥٠٠ دولار في الشهر</a:t>
            </a:r>
            <a:endParaRPr lang="ar-SA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صفحة «Britain Today» ، ١٩٢ ألف متابع ، ملايين المشاهدات</a:t>
            </a:r>
            <a:endParaRPr lang="ar-SA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600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طريقته : </a:t>
            </a:r>
            <a:r>
              <a:rPr lang="ar-SA" altLang="en-US" sz="1600" dirty="0" err="1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ياخذ</a:t>
            </a:r>
            <a:r>
              <a:rPr lang="ar-SA" altLang="en-US" sz="1600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"خبر </a:t>
            </a:r>
            <a:r>
              <a:rPr lang="ar-SA" altLang="en-US" sz="1600" dirty="0" err="1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ترندي</a:t>
            </a:r>
            <a:r>
              <a:rPr lang="ar-SA" altLang="en-US" sz="1600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 من </a:t>
            </a:r>
            <a:r>
              <a:rPr lang="ar-SA" altLang="en-US" sz="1600" dirty="0" err="1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Gemini</a:t>
            </a:r>
            <a:r>
              <a:rPr lang="ar-SA" altLang="en-US" sz="1600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، الـ AI يطلّع الفيديو، يضيف صور وينشر</a:t>
            </a:r>
            <a:endParaRPr lang="ar-SA" sz="160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600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قالها بصراحة : «كله copy-paste ، أنا أحيانا ما أقرأ وش يقول الفيديو أصلاً»</a:t>
            </a:r>
            <a:endParaRPr lang="ar-SA" sz="160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600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محتوى يدعو لطرد المسلمين + أشياء مفبركة لرئيس وزراء بريطانيا —للإعلانات</a:t>
            </a:r>
            <a:endParaRPr lang="ar-SA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394960"/>
            <a:ext cx="11064240" cy="109728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54406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$1,500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731520" y="54406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الشهر ، من صفحة وحدة بس</a:t>
            </a:r>
            <a:endParaRPr lang="ar-SA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F2D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2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●</a:t>
            </a:r>
            <a:endParaRPr lang="ar-SA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kern="0" spc="400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تجربة مباشرة</a:t>
            </a:r>
            <a:endParaRPr lang="ar-SA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4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ديمو مباشر</a:t>
            </a:r>
            <a:endParaRPr lang="ar-SA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نفتح تحقيق The Bureau of Investigative Journalism سوا</a:t>
            </a:r>
            <a:endParaRPr lang="ar-SA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600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الصفحة : «Britain Today» — حذفتها Meta بعد التحقيق</a:t>
            </a:r>
            <a:endParaRPr lang="ar-SA" sz="160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600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نمشي على الصور و الـ </a:t>
            </a:r>
            <a:r>
              <a:rPr lang="ar-SA" altLang="en-US" sz="1600" dirty="0" err="1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screenshots</a:t>
            </a:r>
            <a:r>
              <a:rPr lang="ar-SA" altLang="en-US" sz="1600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من التقرير الأصلي</a:t>
            </a:r>
            <a:endParaRPr lang="ar-SA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394960"/>
            <a:ext cx="11064240" cy="109728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54406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▶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731520" y="54406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5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افتح التقرير : thebureauinvestigates.com</a:t>
            </a:r>
            <a:endParaRPr lang="ar-SA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kern="0" spc="400" dirty="0">
                <a:solidFill>
                  <a:srgbClr val="00D9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ليش الناس تسوّي هذا ؟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SA" altLang="en-US" sz="36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دوافع كثيرة ... من ضمنها</a:t>
            </a:r>
            <a:endParaRPr lang="ar-SA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4206240"/>
          </a:xfrm>
          <a:prstGeom prst="rect">
            <a:avLst/>
          </a:prstGeom>
          <a:solidFill>
            <a:srgbClr val="151A3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0E09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3291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8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الفلوس</a:t>
            </a:r>
            <a:endParaRPr lang="ar-SA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41148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إعلانات ، اشتراكات ، شراء متابعين ، انتشار = دخل. </a:t>
            </a:r>
            <a:endParaRPr lang="ar-SA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520440" cy="4206240"/>
          </a:xfrm>
          <a:prstGeom prst="rect">
            <a:avLst/>
          </a:prstGeom>
          <a:solidFill>
            <a:srgbClr val="151A3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8B5CF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0" y="3291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8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الأيديولوجيا</a:t>
            </a:r>
            <a:endParaRPr lang="ar-SA" sz="2800" dirty="0"/>
          </a:p>
        </p:txBody>
      </p:sp>
      <p:sp>
        <p:nvSpPr>
          <p:cNvPr id="11" name="Text 9"/>
          <p:cNvSpPr/>
          <p:nvPr/>
        </p:nvSpPr>
        <p:spPr>
          <a:xfrm>
            <a:off x="4572000" y="41148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إيمان حقيقي بفكرة ، أي فكرة. يستخدم الفيكات لينشرها.</a:t>
            </a:r>
            <a:endParaRPr lang="ar-SA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2011680"/>
            <a:ext cx="3520440" cy="4206240"/>
          </a:xfrm>
          <a:prstGeom prst="rect">
            <a:avLst/>
          </a:prstGeom>
          <a:solidFill>
            <a:srgbClr val="151A3D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366760" y="3291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8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السياسة</a:t>
            </a:r>
            <a:endParaRPr lang="ar-SA" sz="2800" dirty="0"/>
          </a:p>
        </p:txBody>
      </p:sp>
      <p:sp>
        <p:nvSpPr>
          <p:cNvPr id="15" name="Text 13"/>
          <p:cNvSpPr/>
          <p:nvPr/>
        </p:nvSpPr>
        <p:spPr>
          <a:xfrm>
            <a:off x="8366760" y="41148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دوافع أخرى محفزة ضمنها السياسة</a:t>
            </a:r>
            <a:endParaRPr lang="ar-SA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اليوم ،</a:t>
            </a:r>
            <a:endParaRPr lang="ar-SA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52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صورة تشوفها ،</a:t>
            </a:r>
            <a:endParaRPr lang="ar-SA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52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صوت تسمعه ،</a:t>
            </a:r>
            <a:endParaRPr lang="ar-SA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52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فيديو ينتشر ،</a:t>
            </a:r>
            <a:endParaRPr lang="ar-SA" sz="5200" dirty="0"/>
          </a:p>
        </p:txBody>
      </p:sp>
      <p:sp>
        <p:nvSpPr>
          <p:cNvPr id="6" name="Shape 4"/>
          <p:cNvSpPr/>
          <p:nvPr/>
        </p:nvSpPr>
        <p:spPr>
          <a:xfrm>
            <a:off x="11475720" y="5486400"/>
            <a:ext cx="137160" cy="1005840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48640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فيه احتمال حقيقي إنه ، ما حدث ..</a:t>
            </a:r>
            <a:endParaRPr lang="ar-SA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6126480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i="1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وهذا أكبر تحوّل في تاريخ الإعلام</a:t>
            </a:r>
            <a:endParaRPr lang="ar-SA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151A3D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03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kern="0" spc="800" dirty="0">
                <a:solidFill>
                  <a:srgbClr val="FFD93D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الفصل الثالث</a:t>
            </a:r>
            <a:endParaRPr lang="ar-SA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96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الإنترنت الميت</a:t>
            </a:r>
            <a:endParaRPr lang="ar-SA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4663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لمّا أكثر من نص اللي على الإنترنت ، مو ناس</a:t>
            </a:r>
            <a:endParaRPr lang="ar-SA" sz="2200" dirty="0"/>
          </a:p>
        </p:txBody>
      </p:sp>
      <p:sp>
        <p:nvSpPr>
          <p:cNvPr id="6" name="Shape 4"/>
          <p:cNvSpPr/>
          <p:nvPr/>
        </p:nvSpPr>
        <p:spPr>
          <a:xfrm>
            <a:off x="10698480" y="6035040"/>
            <a:ext cx="164592" cy="164592"/>
          </a:xfrm>
          <a:prstGeom prst="ellipse">
            <a:avLst/>
          </a:prstGeom>
          <a:solidFill>
            <a:srgbClr val="FF2D7B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0" y="6035040"/>
            <a:ext cx="164592" cy="164592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0" y="6035040"/>
            <a:ext cx="164592" cy="164592"/>
          </a:xfrm>
          <a:prstGeom prst="ellipse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kern="0" spc="400" dirty="0">
                <a:solidFill>
                  <a:srgbClr val="FFD93D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نظرية الإنترنت الميت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نظرية كانت مجنونة ، الان صارت معقولة</a:t>
            </a:r>
            <a:endParaRPr lang="ar-SA" sz="3600" dirty="0"/>
          </a:p>
        </p:txBody>
      </p:sp>
      <p:sp>
        <p:nvSpPr>
          <p:cNvPr id="4" name="Shape 2"/>
          <p:cNvSpPr/>
          <p:nvPr/>
        </p:nvSpPr>
        <p:spPr>
          <a:xfrm>
            <a:off x="6400800" y="2049946"/>
            <a:ext cx="5212080" cy="2286000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2072806"/>
            <a:ext cx="521208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0" y="220996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b="1" kern="0" spc="400" dirty="0">
                <a:solidFill>
                  <a:srgbClr val="8B5CF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تقوله النظرية</a:t>
            </a:r>
            <a:endParaRPr lang="ar-SA" sz="1400" dirty="0"/>
          </a:p>
        </p:txBody>
      </p:sp>
      <p:sp>
        <p:nvSpPr>
          <p:cNvPr id="7" name="Text 5"/>
          <p:cNvSpPr/>
          <p:nvPr/>
        </p:nvSpPr>
        <p:spPr>
          <a:xfrm>
            <a:off x="6583680" y="2667166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9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معظم اللي تشوفه على الإنترنت ، مو من بشر حقيقيين</a:t>
            </a:r>
            <a:endParaRPr lang="ar-SA" sz="1900" dirty="0"/>
          </a:p>
        </p:txBody>
      </p:sp>
      <p:sp>
        <p:nvSpPr>
          <p:cNvPr id="8" name="Text 6"/>
          <p:cNvSpPr/>
          <p:nvPr/>
        </p:nvSpPr>
        <p:spPr>
          <a:xfrm>
            <a:off x="6583680" y="2815756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منشورات ، تعليقات ، إعجابات ، حتى المتابعين كلهم بوتات ، أو محتوى مولّد آلياً</a:t>
            </a:r>
            <a:endParaRPr lang="ar-SA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072806"/>
            <a:ext cx="5212080" cy="2286000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072806"/>
            <a:ext cx="5212080" cy="914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0996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b="1" kern="0" spc="400" dirty="0">
                <a:solidFill>
                  <a:srgbClr val="00D9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ليش صارت معقولة</a:t>
            </a:r>
            <a:endParaRPr lang="ar-SA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667166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ظهرت 2016 كنظرية مؤامرة</a:t>
            </a:r>
            <a:endParaRPr lang="ar-SA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575726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2026 ، الأرقام تقولها بصوت عالٍ ، الإنترنت اللي تستخدمه يومياً ، نصفه على الأقل ، ما هو ناس</a:t>
            </a:r>
            <a:endParaRPr lang="ar-SA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i="1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بنشوف الأرقام في الشريحة الجاية</a:t>
            </a:r>
            <a:endParaRPr lang="ar-SA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kern="0" spc="400" dirty="0">
                <a:solidFill>
                  <a:srgbClr val="00D9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أرقام 2024 ، Imperva و Cloudflare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كم نسبة البشر على الإنترنت ؟</a:t>
            </a:r>
            <a:endParaRPr lang="ar-SA" sz="3600" dirty="0"/>
          </a:p>
        </p:txBody>
      </p:sp>
      <p:sp>
        <p:nvSpPr>
          <p:cNvPr id="4" name="Shape 2"/>
          <p:cNvSpPr/>
          <p:nvPr/>
        </p:nvSpPr>
        <p:spPr>
          <a:xfrm>
            <a:off x="6400800" y="2011680"/>
            <a:ext cx="5212080" cy="4114800"/>
          </a:xfrm>
          <a:prstGeom prst="rect">
            <a:avLst/>
          </a:prstGeom>
          <a:solidFill>
            <a:srgbClr val="151A3D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0" y="21945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0" b="1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%49.6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6583680" y="3657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حركة الإنترنت ، 2024</a:t>
            </a:r>
            <a:endParaRPr lang="ar-SA" sz="1600" dirty="0"/>
          </a:p>
        </p:txBody>
      </p:sp>
      <p:sp>
        <p:nvSpPr>
          <p:cNvPr id="7" name="Text 5"/>
          <p:cNvSpPr/>
          <p:nvPr/>
        </p:nvSpPr>
        <p:spPr>
          <a:xfrm>
            <a:off x="6583680" y="4114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4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تجي من بشر</a:t>
            </a:r>
            <a:endParaRPr lang="ar-SA" sz="2400" dirty="0"/>
          </a:p>
        </p:txBody>
      </p:sp>
      <p:sp>
        <p:nvSpPr>
          <p:cNvPr id="8" name="Text 6"/>
          <p:cNvSpPr/>
          <p:nvPr/>
        </p:nvSpPr>
        <p:spPr>
          <a:xfrm>
            <a:off x="6583680" y="4846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بوتات ، سكربتات ، أدوات تجميع بيانات</a:t>
            </a:r>
            <a:endParaRPr lang="ar-SA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5212080" cy="4114800"/>
          </a:xfrm>
          <a:prstGeom prst="rect">
            <a:avLst/>
          </a:prstGeom>
          <a:solidFill>
            <a:srgbClr val="151A3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945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0" b="1" dirty="0">
                <a:solidFill>
                  <a:srgbClr val="FFD93D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%37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4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منها </a:t>
            </a:r>
            <a:r>
              <a:rPr lang="ar-SA" altLang="en-US" sz="2400" b="1" dirty="0" err="1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بوتات</a:t>
            </a:r>
            <a:r>
              <a:rPr lang="ar-SA" altLang="en-US" sz="24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«سيئة»</a:t>
            </a:r>
            <a:endParaRPr lang="ar-SA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4297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تنشر تضليل ، تسرق بيانات ،</a:t>
            </a:r>
            <a:endParaRPr lang="ar-SA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709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تتفاعل بأسماء وهمية</a:t>
            </a:r>
            <a:endParaRPr lang="ar-SA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kern="0" spc="400" dirty="0">
                <a:solidFill>
                  <a:srgbClr val="8B5CF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النقلة الكبيرة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البوتات الجديدة ، عندها ألسنة</a:t>
            </a:r>
            <a:endParaRPr lang="ar-SA" sz="3600" dirty="0"/>
          </a:p>
        </p:txBody>
      </p:sp>
      <p:sp>
        <p:nvSpPr>
          <p:cNvPr id="4" name="Shape 2"/>
          <p:cNvSpPr/>
          <p:nvPr/>
        </p:nvSpPr>
        <p:spPr>
          <a:xfrm>
            <a:off x="6400800" y="1828800"/>
            <a:ext cx="5212080" cy="4297680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1828800"/>
            <a:ext cx="5212080" cy="914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b="1" kern="0" spc="4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قبل الـ LLMs</a:t>
            </a:r>
            <a:endParaRPr lang="ar-SA" sz="1400" dirty="0"/>
          </a:p>
        </p:txBody>
      </p:sp>
      <p:sp>
        <p:nvSpPr>
          <p:cNvPr id="7" name="Text 5"/>
          <p:cNvSpPr/>
          <p:nvPr/>
        </p:nvSpPr>
        <p:spPr>
          <a:xfrm>
            <a:off x="6583680" y="2468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0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بوت واضح</a:t>
            </a:r>
            <a:endParaRPr lang="ar-SA" sz="3000" dirty="0"/>
          </a:p>
        </p:txBody>
      </p:sp>
      <p:sp>
        <p:nvSpPr>
          <p:cNvPr id="8" name="Text 6"/>
          <p:cNvSpPr/>
          <p:nvPr/>
        </p:nvSpPr>
        <p:spPr>
          <a:xfrm>
            <a:off x="6583680" y="320040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نفس الرد المكرّر مية مرة</a:t>
            </a:r>
            <a:endParaRPr lang="ar-SA" sz="150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أخطاء إملائية واضحة</a:t>
            </a:r>
            <a:endParaRPr lang="ar-SA" sz="150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روابط مشبوهة لمواقع غريبة</a:t>
            </a:r>
            <a:endParaRPr lang="ar-SA" sz="150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محد كان يصدّقها</a:t>
            </a:r>
            <a:endParaRPr lang="ar-SA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5212080" cy="4297680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828800"/>
            <a:ext cx="5212080" cy="91440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b="1" kern="0" spc="400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الـ LLMs</a:t>
            </a:r>
            <a:endParaRPr lang="ar-SA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468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0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بوت ما تميّزه</a:t>
            </a:r>
            <a:endParaRPr lang="ar-SA" sz="3000" dirty="0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ردود مختلفة ومدروسة على كل تعليق</a:t>
            </a:r>
            <a:endParaRPr lang="ar-SA" sz="150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لغة طبيعية ، حتى أخطاء «بشرية»</a:t>
            </a:r>
            <a:endParaRPr lang="ar-SA" sz="150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شخصية ثابتة وآراء متماسكة</a:t>
            </a:r>
            <a:endParaRPr lang="ar-SA" sz="150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بروفايل كامل بصور AI</a:t>
            </a:r>
            <a:endParaRPr lang="ar-SA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500" i="1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الفرق ، إن البوت قبل كان غبي ، البوت الحين فصيح</a:t>
            </a:r>
            <a:endParaRPr lang="ar-SA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kern="0" spc="400" dirty="0">
                <a:solidFill>
                  <a:srgbClr val="00D9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دراسة Cyabra ، انتخابات أمريكا 2024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كيف تُدار الأجندات بالبوتات</a:t>
            </a:r>
            <a:endParaRPr lang="ar-SA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920240"/>
          </a:xfrm>
          <a:prstGeom prst="rect">
            <a:avLst/>
          </a:prstGeom>
          <a:solidFill>
            <a:srgbClr val="151A3D"/>
          </a:solidFill>
          <a:ln/>
        </p:spPr>
      </p:sp>
      <p:sp>
        <p:nvSpPr>
          <p:cNvPr id="5" name="Shape 3"/>
          <p:cNvSpPr/>
          <p:nvPr/>
        </p:nvSpPr>
        <p:spPr>
          <a:xfrm>
            <a:off x="11521440" y="1737360"/>
            <a:ext cx="91440" cy="1920240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0" y="18745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SA" sz="6400" b="1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 من كل 5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حسابات تفاعلت مع منشورات Elon Musk</a:t>
            </a:r>
            <a:endParaRPr lang="ar-SA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الانتخابية ، كانت مزيّفة</a:t>
            </a:r>
            <a:endParaRPr lang="ar-SA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بوتات + حسابات مدفوعة</a:t>
            </a:r>
            <a:endParaRPr lang="ar-SA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1064240" cy="1920240"/>
          </a:xfrm>
          <a:prstGeom prst="rect">
            <a:avLst/>
          </a:prstGeom>
          <a:solidFill>
            <a:srgbClr val="151A3D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0" y="3840480"/>
            <a:ext cx="91440" cy="192024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39776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FFD93D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%36</a:t>
            </a:r>
            <a:endParaRPr lang="en-US" sz="8000" dirty="0"/>
          </a:p>
        </p:txBody>
      </p:sp>
      <p:sp>
        <p:nvSpPr>
          <p:cNvPr id="13" name="Text 11"/>
          <p:cNvSpPr/>
          <p:nvPr/>
        </p:nvSpPr>
        <p:spPr>
          <a:xfrm>
            <a:off x="731520" y="4023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التعليقات على بعض المنشورات السياسية في امريكا</a:t>
            </a:r>
            <a:endParaRPr lang="ar-SA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617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كانت من بوتات</a:t>
            </a:r>
            <a:endParaRPr lang="ar-SA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5166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الرأي «العام» مو دايماً عام</a:t>
            </a:r>
            <a:endParaRPr lang="ar-SA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500" i="1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لمّا تشوف منشور عنده آلاف الإعجابات ، مو معناه إنه آلاف الناس</a:t>
            </a:r>
            <a:endParaRPr lang="ar-SA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kern="0" spc="400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صحافة الـ«Pink Slime»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المواقع اللي تشتغل بلا صحفيين</a:t>
            </a:r>
            <a:endParaRPr lang="ar-SA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«Pink Slime» ، مواقع تشبه الجرايد المحلّية ، لكنها كاذبة ؛ مولّدة بالذكاء الاصطناعي ، تنشر أجندات أو تروّج لمنتجات ، باسم محلّي يخدع القارئ</a:t>
            </a:r>
            <a:endParaRPr lang="ar-SA" sz="1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3108960"/>
          <a:ext cx="110642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11475720" y="5760720"/>
            <a:ext cx="137160" cy="731520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5852160"/>
            <a:ext cx="10835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i="1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2024 ، عدد مواقع الـAI الزائفة في أمريكا تجاوز عدد الصحف المحلّية الحقيقية لأول مرة</a:t>
            </a:r>
            <a:endParaRPr lang="ar-SA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kern="0" spc="400" dirty="0">
                <a:solidFill>
                  <a:srgbClr val="00D9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تحدّي للصف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أيّهم كتبه إنسان ؟</a:t>
            </a:r>
            <a:endParaRPr lang="ar-SA" sz="3600" dirty="0"/>
          </a:p>
        </p:txBody>
      </p:sp>
      <p:sp>
        <p:nvSpPr>
          <p:cNvPr id="4" name="Shape 2"/>
          <p:cNvSpPr/>
          <p:nvPr/>
        </p:nvSpPr>
        <p:spPr>
          <a:xfrm>
            <a:off x="6400800" y="1828800"/>
            <a:ext cx="5212080" cy="3657600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1828800"/>
            <a:ext cx="5212080" cy="91440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kern="0" spc="400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مقال أ</a:t>
            </a:r>
            <a:endParaRPr lang="ar-SA" sz="1600" dirty="0"/>
          </a:p>
        </p:txBody>
      </p:sp>
      <p:sp>
        <p:nvSpPr>
          <p:cNvPr id="7" name="Shape 5"/>
          <p:cNvSpPr/>
          <p:nvPr/>
        </p:nvSpPr>
        <p:spPr>
          <a:xfrm>
            <a:off x="6583680" y="2743200"/>
            <a:ext cx="4846320" cy="137160"/>
          </a:xfrm>
          <a:prstGeom prst="rect">
            <a:avLst/>
          </a:prstGeom>
          <a:solidFill>
            <a:srgbClr val="D0D0CB"/>
          </a:solidFill>
          <a:ln/>
        </p:spPr>
      </p:sp>
      <p:sp>
        <p:nvSpPr>
          <p:cNvPr id="8" name="Shape 6"/>
          <p:cNvSpPr/>
          <p:nvPr/>
        </p:nvSpPr>
        <p:spPr>
          <a:xfrm>
            <a:off x="6949440" y="3154680"/>
            <a:ext cx="4480560" cy="137160"/>
          </a:xfrm>
          <a:prstGeom prst="rect">
            <a:avLst/>
          </a:prstGeom>
          <a:solidFill>
            <a:srgbClr val="D0D0C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3566160"/>
            <a:ext cx="4846320" cy="137160"/>
          </a:xfrm>
          <a:prstGeom prst="rect">
            <a:avLst/>
          </a:prstGeom>
          <a:solidFill>
            <a:srgbClr val="D0D0CB"/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0" y="3977640"/>
            <a:ext cx="4480560" cy="137160"/>
          </a:xfrm>
          <a:prstGeom prst="rect">
            <a:avLst/>
          </a:prstGeom>
          <a:solidFill>
            <a:srgbClr val="D0D0CB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4389120"/>
            <a:ext cx="4846320" cy="137160"/>
          </a:xfrm>
          <a:prstGeom prst="rect">
            <a:avLst/>
          </a:prstGeom>
          <a:solidFill>
            <a:srgbClr val="D0D0CB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0" y="4800600"/>
            <a:ext cx="4480560" cy="137160"/>
          </a:xfrm>
          <a:prstGeom prst="rect">
            <a:avLst/>
          </a:prstGeom>
          <a:solidFill>
            <a:srgbClr val="D0D0C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828800"/>
            <a:ext cx="5212080" cy="3657600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1828800"/>
            <a:ext cx="5212080" cy="914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kern="0" spc="400" dirty="0">
                <a:solidFill>
                  <a:srgbClr val="00D9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مقال ب</a:t>
            </a:r>
            <a:endParaRPr lang="ar-SA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2743200"/>
            <a:ext cx="4846320" cy="137160"/>
          </a:xfrm>
          <a:prstGeom prst="rect">
            <a:avLst/>
          </a:prstGeom>
          <a:solidFill>
            <a:srgbClr val="D0D0CB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7280" y="3154680"/>
            <a:ext cx="4480560" cy="137160"/>
          </a:xfrm>
          <a:prstGeom prst="rect">
            <a:avLst/>
          </a:prstGeom>
          <a:solidFill>
            <a:srgbClr val="D0D0CB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566160"/>
            <a:ext cx="4846320" cy="137160"/>
          </a:xfrm>
          <a:prstGeom prst="rect">
            <a:avLst/>
          </a:prstGeom>
          <a:solidFill>
            <a:srgbClr val="D0D0C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7280" y="3977640"/>
            <a:ext cx="4480560" cy="137160"/>
          </a:xfrm>
          <a:prstGeom prst="rect">
            <a:avLst/>
          </a:prstGeom>
          <a:solidFill>
            <a:srgbClr val="D0D0CB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389120"/>
            <a:ext cx="4846320" cy="137160"/>
          </a:xfrm>
          <a:prstGeom prst="rect">
            <a:avLst/>
          </a:prstGeom>
          <a:solidFill>
            <a:srgbClr val="D0D0CB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7280" y="4800600"/>
            <a:ext cx="4480560" cy="137160"/>
          </a:xfrm>
          <a:prstGeom prst="rect">
            <a:avLst/>
          </a:prstGeom>
          <a:solidFill>
            <a:srgbClr val="D0D0CB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5852160"/>
            <a:ext cx="11064240" cy="68580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89788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i="1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شريحة عرض حيّ ، هل تقدرون تعرفون ايهم من انسان؟</a:t>
            </a:r>
            <a:endParaRPr lang="ar-SA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b="1" kern="0" spc="600" dirty="0">
                <a:solidFill>
                  <a:srgbClr val="00D9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نتيجة مهمة من 2024</a:t>
            </a:r>
            <a:endParaRPr lang="ar-SA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44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الـ LLMs الحين</a:t>
            </a:r>
            <a:endParaRPr lang="ar-SA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44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أحسن من البشر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FFD93D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كشف النصوص اللي كتبتها الـ LLMs</a:t>
            </a:r>
            <a:endParaRPr lang="ar-SA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5212080"/>
            <a:ext cx="11064240" cy="1280160"/>
          </a:xfrm>
          <a:prstGeom prst="rect">
            <a:avLst/>
          </a:prstGeom>
          <a:solidFill>
            <a:srgbClr val="151A3D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5212080"/>
            <a:ext cx="91440" cy="1280160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3492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b="1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يعني ، خسر البشر هذه اللعبة</a:t>
            </a:r>
            <a:endParaRPr lang="ar-SA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58521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i="1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هذي حقيقة مرعبة شوي ...</a:t>
            </a:r>
            <a:endParaRPr lang="ar-SA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kern="0" spc="400" dirty="0">
                <a:solidFill>
                  <a:srgbClr val="8B5CF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الخاتمة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كل هذا ، لا تيأس</a:t>
            </a:r>
            <a:endParaRPr lang="ar-SA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40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الذكاء الاصطناعي ما كسر العالم</a:t>
            </a:r>
            <a:endParaRPr lang="ar-SA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4000" b="1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بس كشف اللي كان مكسور أصلاً ، وكبّره</a:t>
            </a:r>
            <a:endParaRPr lang="ar-SA" sz="4000" dirty="0"/>
          </a:p>
        </p:txBody>
      </p:sp>
      <p:sp>
        <p:nvSpPr>
          <p:cNvPr id="6" name="Shape 4"/>
          <p:cNvSpPr/>
          <p:nvPr/>
        </p:nvSpPr>
        <p:spPr>
          <a:xfrm>
            <a:off x="6400800" y="4206240"/>
            <a:ext cx="5212080" cy="2103120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0" y="4206240"/>
            <a:ext cx="5212080" cy="91440"/>
          </a:xfrm>
          <a:prstGeom prst="rect">
            <a:avLst/>
          </a:prstGeom>
          <a:solidFill>
            <a:srgbClr val="10E098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4343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b="1" kern="0" spc="400" dirty="0">
                <a:solidFill>
                  <a:srgbClr val="10E09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المطلوب منكم:</a:t>
            </a:r>
            <a:endParaRPr lang="ar-SA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4754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4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كونوا شكّاكين</a:t>
            </a:r>
            <a:endParaRPr lang="ar-SA" sz="2400" dirty="0"/>
          </a:p>
        </p:txBody>
      </p:sp>
      <p:sp>
        <p:nvSpPr>
          <p:cNvPr id="10" name="Text 8"/>
          <p:cNvSpPr/>
          <p:nvPr/>
        </p:nvSpPr>
        <p:spPr>
          <a:xfrm>
            <a:off x="6583680" y="53492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اسألوا قبل ما تصدّقوا ، تحقّقوا قبل ما تشاركوا</a:t>
            </a:r>
            <a:endParaRPr lang="ar-SA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5212080" cy="2103120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4206240"/>
            <a:ext cx="5212080" cy="91440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343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b="1" kern="0" spc="400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اللي </a:t>
            </a:r>
            <a:r>
              <a:rPr lang="ar-SA" altLang="en-US" sz="1300" b="1" kern="0" spc="400" dirty="0" err="1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</a:t>
            </a:r>
            <a:r>
              <a:rPr lang="ar-SA" altLang="en-US" sz="1300" b="1" kern="0" spc="400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مطلوب:</a:t>
            </a:r>
            <a:endParaRPr lang="ar-SA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754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4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تكونوا متشائمين</a:t>
            </a:r>
            <a:endParaRPr lang="ar-SA" sz="2400" dirty="0"/>
          </a:p>
        </p:txBody>
      </p:sp>
      <p:sp>
        <p:nvSpPr>
          <p:cNvPr id="15" name="Text 13"/>
          <p:cNvSpPr/>
          <p:nvPr/>
        </p:nvSpPr>
        <p:spPr>
          <a:xfrm>
            <a:off x="731520" y="53492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الشكّ يحميكم ، التشاؤم يعمي. خلّوا فرق بينهم</a:t>
            </a:r>
            <a:endParaRPr lang="ar-SA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914400"/>
            <a:ext cx="164592" cy="164592"/>
          </a:xfrm>
          <a:prstGeom prst="ellipse">
            <a:avLst/>
          </a:prstGeom>
          <a:solidFill>
            <a:srgbClr val="FF2D7B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914400"/>
            <a:ext cx="91440" cy="9144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852160"/>
            <a:ext cx="128016" cy="128016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42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هذي محاضرة اثرائية</a:t>
            </a:r>
            <a:endParaRPr lang="ar-SA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4200" b="1" dirty="0">
                <a:solidFill>
                  <a:srgbClr val="FAFA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لكن مهمة</a:t>
            </a:r>
            <a:endParaRPr lang="ar-SA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FFD93D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شكّ باللي تشوفه،</a:t>
            </a:r>
            <a:endParaRPr lang="ar-SA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بس لا تشكّ في كل شيء.</a:t>
            </a:r>
            <a:endParaRPr lang="ar-SA" sz="3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36000" b="1" dirty="0">
                <a:solidFill>
                  <a:srgbClr val="FF2D7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؟</a:t>
            </a:r>
            <a:endParaRPr lang="ar-SA" sz="36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4400" b="1" dirty="0">
                <a:solidFill>
                  <a:srgbClr val="0A0E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أسئلتكم</a:t>
            </a:r>
            <a:endParaRPr lang="ar-SA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600" i="1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 سؤال</a:t>
            </a:r>
            <a:endParaRPr lang="ar-SA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1683</Words>
  <Application>Microsoft Office PowerPoint</Application>
  <PresentationFormat>Widescreen</PresentationFormat>
  <Paragraphs>336</Paragraphs>
  <Slides>36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Georgia</vt:lpstr>
      <vt:lpstr>Tajawal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، الفيكات ، والإنترنت الميت</dc:title>
  <dc:subject>PptxGenJS Presentation</dc:subject>
  <dc:creator>Lecture 5</dc:creator>
  <cp:lastModifiedBy>MUHANNAD ABFULLAH ALI ALHUMAIDI</cp:lastModifiedBy>
  <cp:revision>4</cp:revision>
  <dcterms:created xsi:type="dcterms:W3CDTF">2026-05-21T19:39:03Z</dcterms:created>
  <dcterms:modified xsi:type="dcterms:W3CDTF">2026-05-23T12:15:24Z</dcterms:modified>
</cp:coreProperties>
</file>