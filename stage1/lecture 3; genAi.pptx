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3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695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114800" cy="41148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338328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1463040" cy="146304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35040" y="502920"/>
            <a:ext cx="2743200" cy="411480"/>
          </a:xfrm>
          <a:prstGeom prst="roundRect">
            <a:avLst>
              <a:gd name="adj" fmla="val 48889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0" y="502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 الثالثة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200" b="1" dirty="0" err="1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ar-SA" sz="52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2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ar-SA" sz="52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r>
              <a:rPr lang="en-US" sz="5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دوا</a:t>
            </a:r>
            <a:r>
              <a:rPr lang="ar-SA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للحياة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تنفعك، وكيف تستخدمها صح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" y="54864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5486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8096" y="548640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محاضرة اليوم!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مواضيع ساعة اليوم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2180" y="20116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40980" y="2286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409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4078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وش</a:t>
            </a:r>
            <a:r>
              <a:rPr lang="ar-SA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</a:t>
            </a:r>
            <a:r>
              <a:rPr lang="ar-SA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</a:t>
            </a: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Aiالتوليدي</a:t>
            </a: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4078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مقدمة عامة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980" y="20116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97780" y="2286000"/>
            <a:ext cx="594360" cy="5943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977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9758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 الأدوات لكل مهمة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758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بحث، ترجمة، رياضيات، مذاكرة، عروض.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5780" y="20116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54580" y="228600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545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5438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تتعامل </a:t>
            </a:r>
            <a:r>
              <a:rPr lang="en-US" sz="18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</a:t>
            </a: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اللغة الكبيرة !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4380" y="3794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وكيف تطلع منها أحسن نتائج.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777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D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777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الجزء 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</a:t>
            </a:r>
            <a:r>
              <a:rPr lang="en-US" sz="34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ar-SA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</a:t>
            </a:r>
            <a:r>
              <a:rPr lang="en-US" sz="34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وش</a:t>
            </a: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هو ببساطة؟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960120"/>
          </a:xfrm>
          <a:prstGeom prst="rect">
            <a:avLst/>
          </a:prstGeom>
          <a:solidFill>
            <a:srgbClr val="7C3AED"/>
          </a:solidFill>
          <a:ln/>
          <a:effectLst>
            <a:outerShdw blurRad="279400" dist="76200" dir="5400000" algn="bl" rotWithShape="0">
              <a:srgbClr val="1A0B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ar-SA" sz="3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(يصنع)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محتوى </a:t>
            </a:r>
            <a:r>
              <a:rPr lang="en-US" sz="3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327648" y="34290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27648" y="3429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نصوص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54296" y="34290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54296" y="3429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80944" y="34290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80944" y="3429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07592" y="342900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07592" y="3429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يقدر</a:t>
            </a: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يخترع، يلخّص، يترجم، يكتب، يحل، </a:t>
            </a:r>
            <a:r>
              <a:rPr lang="en-US" sz="14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</a:t>
            </a:r>
            <a:r>
              <a:rPr lang="ar-SA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 تعطيه طلب (Prompt)</a:t>
            </a:r>
            <a:r>
              <a:rPr lang="ar-SA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وهو</a:t>
            </a: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يطلع لك جواب من اللي تعلّم عليه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114800" cy="41148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338328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1463040" cy="146304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مهمة أداتها. اختار صح، توفر وقت وجهد.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49440" y="777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777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ابي </a:t>
            </a:r>
            <a:r>
              <a:rPr lang="en-US" sz="32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أسوي</a:t>
            </a: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</a:t>
            </a:r>
            <a:r>
              <a:rPr lang="ar-SA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وش استخدم</a:t>
            </a: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709160" y="21031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2103120"/>
            <a:ext cx="3977640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2331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92040" y="2880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القوة</a:t>
            </a: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ar-SA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3291840"/>
            <a:ext cx="3611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5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</a:t>
            </a: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احترافي </a:t>
            </a:r>
            <a:r>
              <a:rPr lang="en-US" sz="15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ومرتب</a:t>
            </a:r>
            <a:endParaRPr lang="en-US" sz="1500" dirty="0"/>
          </a:p>
          <a:p>
            <a:pPr marL="0" indent="0" algn="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سريع جداً</a:t>
            </a:r>
            <a:endParaRPr lang="en-US" sz="1500" dirty="0"/>
          </a:p>
          <a:p>
            <a:pPr marL="0" indent="0" algn="r">
              <a:spcAft>
                <a:spcPts val="600"/>
              </a:spcAft>
              <a:buNone/>
            </a:pPr>
            <a:r>
              <a:rPr lang="en-US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المحتوى أحياناً سطحي</a:t>
            </a:r>
            <a:endParaRPr lang="en-US" sz="1500" dirty="0"/>
          </a:p>
          <a:p>
            <a:pPr marL="0" indent="0" algn="r">
              <a:spcAft>
                <a:spcPts val="600"/>
              </a:spcAft>
              <a:buNone/>
            </a:pPr>
            <a:r>
              <a:rPr lang="en-US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ضعيف بالعمق الأكاديمي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397764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القوة</a:t>
            </a:r>
            <a:r>
              <a:rPr lang="ar-SA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المحتوى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11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عميق بالمحتوى</a:t>
            </a:r>
            <a:endParaRPr lang="en-US" sz="1500" dirty="0"/>
          </a:p>
          <a:p>
            <a:pPr algn="r" rtl="1">
              <a:spcAft>
                <a:spcPts val="600"/>
              </a:spcAft>
            </a:pPr>
            <a:r>
              <a:rPr lang="en-US" sz="15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يحافظ</a:t>
            </a: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</a:t>
            </a: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وتنسيق الأفكار </a:t>
            </a:r>
            <a:r>
              <a:rPr lang="en-US" sz="15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  <a:p>
            <a:pPr marL="0" indent="0" algn="r">
              <a:spcAft>
                <a:spcPts val="600"/>
              </a:spcAft>
              <a:buNone/>
            </a:pPr>
            <a:r>
              <a:rPr lang="en-US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r>
              <a:rPr lang="ar-SA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غالي لصنع شيء عالي الجودة</a:t>
            </a:r>
            <a:endParaRPr lang="en-US" sz="1500" dirty="0"/>
          </a:p>
          <a:p>
            <a:pPr marL="0" indent="0" algn="r">
              <a:spcAft>
                <a:spcPts val="600"/>
              </a:spcAft>
              <a:buNone/>
            </a:pPr>
            <a:r>
              <a:rPr lang="en-US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r>
              <a:rPr lang="en-US" sz="15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</a:t>
            </a:r>
            <a:r>
              <a:rPr lang="en-US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كويس... </a:t>
            </a:r>
            <a:r>
              <a:rPr lang="ar-SA" sz="15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</a:t>
            </a:r>
            <a:r>
              <a:rPr lang="ar-SA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سيء بس </a:t>
            </a:r>
            <a:r>
              <a:rPr lang="ar-SA" sz="15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</a:t>
            </a:r>
            <a:r>
              <a:rPr lang="ar-SA" sz="15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خارق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269480" y="77724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69480" y="777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</a:t>
            </a:r>
            <a:r>
              <a:rPr lang="en-US" sz="34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البرومبت</a:t>
            </a: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</a:t>
            </a:r>
            <a:r>
              <a:rPr lang="ar-SA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٣أدوات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محاضرة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أمس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مصنوع من 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Claude، 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بنشوف نفس </a:t>
            </a:r>
            <a:r>
              <a:rPr lang="ar-SA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البرومبت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لـ3 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مختلفين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12180" y="246888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12180" y="2468880"/>
            <a:ext cx="73152" cy="21031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8650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8650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خفيف، سريع، بس النتيجة ضعيفة بالعروض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8650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8650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ضعيف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68980" y="2468880"/>
            <a:ext cx="73152" cy="2103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4330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330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عميق، تفاصيل، chain of thought كامل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4330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4330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الفايز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" y="246888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5780" y="2468880"/>
            <a:ext cx="73152" cy="21031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10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010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أحلى تصميم، بس المحتوى أقل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010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010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الأجمل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r>
              <a:rPr lang="ar-SA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كان </a:t>
            </a:r>
            <a:r>
              <a:rPr lang="ar-SA" sz="12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الاسوء</a:t>
            </a:r>
            <a:r>
              <a:rPr lang="ar-SA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بالراحة، </a:t>
            </a:r>
            <a:r>
              <a:rPr lang="en-US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</a:t>
            </a:r>
            <a:r>
              <a:rPr lang="ar-SA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جميل بس </a:t>
            </a:r>
            <a:r>
              <a:rPr lang="ar-SA" sz="12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</a:t>
            </a:r>
            <a:r>
              <a:rPr lang="ar-SA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لعرض اكاديمي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0">
            <a:extLst>
              <a:ext uri="{FF2B5EF4-FFF2-40B4-BE49-F238E27FC236}">
                <a16:creationId xmlns:a16="http://schemas.microsoft.com/office/drawing/2014/main" id="{A8B54FB8-1EA4-9B0A-F02A-69F8659A760E}"/>
              </a:ext>
            </a:extLst>
          </p:cNvPr>
          <p:cNvSpPr/>
          <p:nvPr/>
        </p:nvSpPr>
        <p:spPr>
          <a:xfrm>
            <a:off x="883608" y="926512"/>
            <a:ext cx="3391663" cy="1133590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680960" y="77724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Lens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709160" y="219456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0" y="2468880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تصوّر أي شي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290779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كائن، حيوان، نبتة، </a:t>
            </a:r>
            <a:r>
              <a:rPr lang="en-US" sz="13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أكل</a:t>
            </a:r>
            <a:r>
              <a:rPr lang="ar-SA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</a:t>
            </a:r>
            <a:r>
              <a:rPr lang="en-US" sz="13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77640" y="2468880"/>
            <a:ext cx="228600" cy="2286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عن شخص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90779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لشخص؟ يطلع لك مين هو من النت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3685032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3959352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38679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عكسي للصور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439826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عندك </a:t>
            </a:r>
            <a:r>
              <a:rPr lang="en-US" sz="13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</a:t>
            </a:r>
            <a:r>
              <a:rPr lang="en-US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من تويتر أو انستقرام؟ </a:t>
            </a:r>
            <a:r>
              <a:rPr lang="ar-SA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عطه و</a:t>
            </a:r>
            <a:r>
              <a:rPr lang="en-US" sz="13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يلاقيها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85032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77640" y="3959352"/>
            <a:ext cx="228600" cy="2286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679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حلول رياضيات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398264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السؤال ويحله لك (نتكلم عنها بعدين)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286D0A4-58E1-F2D1-9D16-11DDA0B46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89" y="950976"/>
            <a:ext cx="3338071" cy="1090958"/>
          </a:xfrm>
          <a:prstGeom prst="rect">
            <a:avLst/>
          </a:prstGeom>
        </p:spPr>
      </p:pic>
      <p:sp>
        <p:nvSpPr>
          <p:cNvPr id="27" name="Shape 12">
            <a:extLst>
              <a:ext uri="{FF2B5EF4-FFF2-40B4-BE49-F238E27FC236}">
                <a16:creationId xmlns:a16="http://schemas.microsoft.com/office/drawing/2014/main" id="{5C9EA120-E544-5A0B-5A0D-A5FE5E720B6E}"/>
              </a:ext>
            </a:extLst>
          </p:cNvPr>
          <p:cNvSpPr/>
          <p:nvPr/>
        </p:nvSpPr>
        <p:spPr>
          <a:xfrm>
            <a:off x="731308" y="95097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6809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30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امثلة استعمال لـ</a:t>
            </a:r>
            <a:r>
              <a:rPr lang="en-US" sz="30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Lens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9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15040" y="1418184"/>
            <a:ext cx="1703801" cy="3534911"/>
          </a:xfrm>
          <a:prstGeom prst="rect">
            <a:avLst/>
          </a:prstGeom>
          <a:solidFill>
            <a:srgbClr val="EDE4FF"/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85623" y="1423452"/>
            <a:ext cx="95637" cy="95637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60947" y="1391056"/>
            <a:ext cx="1653743" cy="3563286"/>
          </a:xfrm>
          <a:prstGeom prst="rect">
            <a:avLst/>
          </a:prstGeom>
          <a:solidFill>
            <a:srgbClr val="CFFAFE"/>
          </a:solidFill>
          <a:ln w="190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30312" y="1424240"/>
            <a:ext cx="95637" cy="95637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109788" y="1391056"/>
            <a:ext cx="1653743" cy="3563286"/>
          </a:xfrm>
          <a:prstGeom prst="rect">
            <a:avLst/>
          </a:prstGeom>
          <a:solidFill>
            <a:srgbClr val="FBCFE8"/>
          </a:solidFill>
          <a:ln w="19050">
            <a:solidFill>
              <a:srgbClr val="EC48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151" y="1418184"/>
            <a:ext cx="95637" cy="95637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28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07B179-8F62-A7BE-AF44-71AD8F61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726" y="1449336"/>
            <a:ext cx="1625037" cy="34765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9763DE-5D9A-B931-7532-0502192E9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662" y="1424240"/>
            <a:ext cx="1564168" cy="34770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3D034E-66C4-1F96-43EF-3DE65D4BC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971" y="1430296"/>
            <a:ext cx="1561069" cy="3470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06640" y="777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77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الرياضيات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Photomath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ت</a:t>
            </a:r>
            <a:r>
              <a:rPr lang="en-US" sz="17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</a:t>
            </a:r>
            <a:r>
              <a:rPr lang="en-US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المسألة، يطلع </a:t>
            </a:r>
            <a:r>
              <a:rPr lang="en-US" sz="17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r>
              <a:rPr lang="en-US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120640" y="26060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2606040"/>
            <a:ext cx="3566160" cy="73152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2697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Photomath</a:t>
            </a:r>
            <a:r>
              <a:rPr lang="ar-SA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باختصار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32004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سريع جداً</a:t>
            </a:r>
            <a:endParaRPr lang="en-US" sz="1400" dirty="0"/>
          </a:p>
          <a:p>
            <a:pPr marL="0" indent="0" algn="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4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دقيق</a:t>
            </a: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r>
              <a:rPr lang="en-US" sz="14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المسائل</a:t>
            </a:r>
            <a:endParaRPr lang="en-US" sz="1400" dirty="0"/>
          </a:p>
          <a:p>
            <a:pPr marL="0" indent="0" algn="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الخطوات مدفوعة</a:t>
            </a:r>
            <a:endParaRPr lang="en-US" sz="1400" dirty="0"/>
          </a:p>
          <a:p>
            <a:pPr algn="r">
              <a:spcAft>
                <a:spcPts val="500"/>
              </a:spcAft>
            </a:pP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14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مجرد</a:t>
            </a: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</a:t>
            </a:r>
            <a:r>
              <a:rPr lang="ar-SA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اشتراك للخطوات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32854" y="413410"/>
            <a:ext cx="2191650" cy="443291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22542" y="43739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-7430" y="18288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28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240898-5F1D-80AC-047B-89156C9C2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731" y="462844"/>
            <a:ext cx="2096437" cy="4344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06640" y="777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77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الرياضيات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lens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</a:t>
            </a:r>
            <a:r>
              <a:rPr lang="en-US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كامل </a:t>
            </a:r>
            <a:r>
              <a:rPr lang="en-US" sz="17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للمسألة</a:t>
            </a:r>
            <a:r>
              <a:rPr lang="en-US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مجاناً</a:t>
            </a:r>
            <a:r>
              <a:rPr lang="ar-SA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فيه</a:t>
            </a:r>
            <a:r>
              <a:rPr lang="en-US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</a:t>
            </a:r>
            <a:r>
              <a:rPr lang="ar-SA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</a:t>
            </a:r>
            <a:r>
              <a:rPr lang="en-US" sz="17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الكواليس.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120640" y="26060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20640" y="2606040"/>
            <a:ext cx="3566160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2697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Lens</a:t>
            </a:r>
            <a:r>
              <a:rPr lang="ar-SA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للرياضيات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32004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400" b="1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مجاناً</a:t>
            </a: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ــــ</a:t>
            </a: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ريال</a:t>
            </a:r>
            <a:endParaRPr lang="en-US" sz="1400" dirty="0"/>
          </a:p>
          <a:p>
            <a:pPr marL="0" indent="0" algn="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خطوات كاملة</a:t>
            </a:r>
            <a:endParaRPr lang="en-US" sz="1400" dirty="0"/>
          </a:p>
          <a:p>
            <a:pPr marL="0" indent="0" algn="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شرح بفهم</a:t>
            </a:r>
            <a:endParaRPr lang="en-US" sz="1400" dirty="0"/>
          </a:p>
          <a:p>
            <a:pPr marL="0" indent="0" algn="r">
              <a:spcAft>
                <a:spcPts val="500"/>
              </a:spcAft>
              <a:buNone/>
            </a:pP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ar-SA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داخل تطبيق جوجل، ما يحتاج تحمل شيء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3470" y="1118407"/>
            <a:ext cx="1739285" cy="3727913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0646" y="1153259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10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17265A6-1951-3028-785B-43AED0AD5ADF}"/>
              </a:ext>
            </a:extLst>
          </p:cNvPr>
          <p:cNvSpPr/>
          <p:nvPr/>
        </p:nvSpPr>
        <p:spPr>
          <a:xfrm>
            <a:off x="2628930" y="1118407"/>
            <a:ext cx="1831828" cy="3730335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640660AC-EEF1-925F-F0D8-3FC1E34DFA5C}"/>
              </a:ext>
            </a:extLst>
          </p:cNvPr>
          <p:cNvSpPr/>
          <p:nvPr/>
        </p:nvSpPr>
        <p:spPr>
          <a:xfrm>
            <a:off x="2461544" y="1153259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26BDF0-FDE6-F81C-6A09-84822CC5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302" y="1153259"/>
            <a:ext cx="1739084" cy="36606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B86B20-9A6F-7DF0-E9A5-EAF70D36F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40" y="1153259"/>
            <a:ext cx="1646743" cy="3660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الاصطناعي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التوليدي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ar-SA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المحاضرة</a:t>
            </a: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98080" y="7772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777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  vs  Google Translate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مواقع للترجمة 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2468880"/>
            <a:ext cx="3977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2468880"/>
            <a:ext cx="91440" cy="2331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920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أحلى بكثير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٣٠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8920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فقط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977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91440" cy="2331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لغات بكميات جنونية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٢٤٣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4">
            <a:extLst>
              <a:ext uri="{FF2B5EF4-FFF2-40B4-BE49-F238E27FC236}">
                <a16:creationId xmlns:a16="http://schemas.microsoft.com/office/drawing/2014/main" id="{A136F598-F126-91EB-9E1A-B11A7079EDE8}"/>
              </a:ext>
            </a:extLst>
          </p:cNvPr>
          <p:cNvSpPr/>
          <p:nvPr/>
        </p:nvSpPr>
        <p:spPr>
          <a:xfrm>
            <a:off x="457200" y="2098825"/>
            <a:ext cx="3977640" cy="1143000"/>
          </a:xfrm>
          <a:prstGeom prst="rect">
            <a:avLst/>
          </a:prstGeom>
          <a:solidFill>
            <a:srgbClr val="FBCFE8"/>
          </a:solidFill>
          <a:ln w="19050">
            <a:solidFill>
              <a:srgbClr val="EC48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شوف الفرق بعينك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مثالين للترجمة من </a:t>
            </a:r>
            <a:r>
              <a:rPr lang="ar-SA" sz="1300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انقليزي</a:t>
            </a:r>
            <a:r>
              <a:rPr lang="ar-SA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للعربي، شوف فرق الجودة...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691640"/>
            <a:ext cx="3977640" cy="320040"/>
          </a:xfrm>
          <a:prstGeom prst="roundRect">
            <a:avLst>
              <a:gd name="adj" fmla="val 4857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9160" y="1691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77640" cy="320040"/>
          </a:xfrm>
          <a:prstGeom prst="roundRect">
            <a:avLst>
              <a:gd name="adj" fmla="val 48571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23774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3252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36576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3252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103120"/>
            <a:ext cx="3977640" cy="1143000"/>
          </a:xfrm>
          <a:prstGeom prst="rect">
            <a:avLst/>
          </a:prstGeom>
          <a:solidFill>
            <a:srgbClr val="CFFAFE"/>
          </a:solidFill>
          <a:ln w="190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73752" y="230428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4688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حظًا سعيدا ـــــ </a:t>
            </a: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leg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2304288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4688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3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اكسر ساقه ــــ </a:t>
            </a:r>
            <a:r>
              <a:rPr lang="en-US" sz="13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leg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3977640" cy="1143000"/>
          </a:xfrm>
          <a:prstGeom prst="rect">
            <a:avLst/>
          </a:prstGeom>
          <a:solidFill>
            <a:srgbClr val="CFFAFE"/>
          </a:solidFill>
          <a:ln w="190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73752" y="358444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749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elephant in the room</a:t>
            </a:r>
          </a:p>
          <a:p>
            <a:pPr marL="0" indent="0" algn="ctr" rtl="1">
              <a:buNone/>
            </a:pPr>
            <a:r>
              <a:rPr lang="ar-SA" sz="1300" b="1" dirty="0">
                <a:solidFill>
                  <a:srgbClr val="0E7490"/>
                </a:solidFill>
                <a:latin typeface="Arial" pitchFamily="34" charset="0"/>
                <a:cs typeface="Arial" pitchFamily="34" charset="-120"/>
              </a:rPr>
              <a:t>المشكلة المتجاهلة من الجميع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3977640" cy="1143000"/>
          </a:xfrm>
          <a:prstGeom prst="rect">
            <a:avLst/>
          </a:prstGeom>
          <a:solidFill>
            <a:srgbClr val="FBCFE8"/>
          </a:solidFill>
          <a:ln w="19050">
            <a:solidFill>
              <a:srgbClr val="EC48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792" y="3584448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elephant in the room</a:t>
            </a:r>
          </a:p>
          <a:p>
            <a:pPr marL="0" indent="0" algn="ctr" rtl="1">
              <a:buNone/>
            </a:pPr>
            <a:r>
              <a:rPr lang="ar-SA" sz="1300" b="1" dirty="0">
                <a:solidFill>
                  <a:srgbClr val="BE185D"/>
                </a:solidFill>
                <a:latin typeface="Arial" pitchFamily="34" charset="0"/>
                <a:cs typeface="Arial" pitchFamily="34" charset="-120"/>
              </a:rPr>
              <a:t>الفيل المتجاهل من الجميع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</a:t>
            </a:r>
            <a:r>
              <a:rPr lang="en-US" sz="12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أنسب </a:t>
            </a:r>
            <a:r>
              <a:rPr lang="en-US" sz="12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للنصوص</a:t>
            </a:r>
            <a:r>
              <a:rPr lang="en-US" sz="12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الطويلة</a:t>
            </a:r>
            <a:r>
              <a:rPr lang="ar-SA" sz="12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</a:t>
            </a:r>
            <a:r>
              <a:rPr lang="en-US" sz="12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Translate أنسب للغات النادرة.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وممكن </a:t>
            </a:r>
            <a:r>
              <a:rPr lang="en-US" sz="32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تستخدم</a:t>
            </a: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اللغة الكبيرة</a:t>
            </a: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للترجمة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Gemini، Claude، ChatGPT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كلهم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يترجمون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باشكالية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اللغات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219456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(LLM)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٧٠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8920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عالية، فهم سياق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٢٤٣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أوسع، خصوصاً للنادر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الخلاصة: لو اللغة مشهورة — LLM أحلى. لو نادرة — Google Translate </a:t>
            </a:r>
            <a:r>
              <a:rPr lang="ar-SA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افضل </a:t>
            </a: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ar-SA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بمزايا وعيوب للاثنين 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223760" y="777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23760" y="777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مذاكرة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LM - Google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ترفع كتاب او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PDF 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مقصوص لدرس ويسوي محتوى للمذاكرة لك 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16268" y="2606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16268" y="2606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يلخّص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631436" y="2606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1436" y="2606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546604" y="2606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6604" y="2606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يجاوب أسئلتك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61772" y="2606040"/>
            <a:ext cx="1965960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" y="26060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بودكاست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0E0529"/>
          </a:solidFill>
          <a:ln/>
          <a:effectLst>
            <a:outerShdw blurRad="279400" dist="76200" dir="5400000" algn="bl" rotWithShape="0">
              <a:srgbClr val="1A0B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ar-SA" sz="12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389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بودكاست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في كتاب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الكيمياء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ــــ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راح أشغله بعد شوي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223760" y="777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23760" y="777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مذاكرة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r>
              <a:rPr lang="ar-SA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ــــ </a:t>
            </a:r>
            <a:r>
              <a:rPr lang="en-US" sz="32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</a:t>
            </a: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الفصل لعرض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 ما تذاكر من نص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طويل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ــــ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حوّله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لعرض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خلال ثواني.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697480"/>
            <a:ext cx="2286000" cy="1645920"/>
          </a:xfrm>
          <a:prstGeom prst="rect">
            <a:avLst/>
          </a:prstGeom>
          <a:solidFill>
            <a:srgbClr val="FBCFE8"/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2697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20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</a:t>
            </a:r>
            <a:r>
              <a:rPr lang="en-US" sz="20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ar-SA" sz="20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كتاب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flipH="1">
            <a:off x="5852160" y="3520440"/>
            <a:ext cx="50292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29000" y="2697480"/>
            <a:ext cx="2286000" cy="1645920"/>
          </a:xfrm>
          <a:prstGeom prst="rect">
            <a:avLst/>
          </a:prstGeom>
          <a:solidFill>
            <a:srgbClr val="7C3AED"/>
          </a:solidFill>
          <a:ln/>
          <a:effectLst>
            <a:outerShdw blurRad="279400" dist="76200" dir="5400000" algn="bl" rotWithShape="0">
              <a:srgbClr val="1A0B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ثواني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2880360" y="3520440"/>
            <a:ext cx="50292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286000" cy="1645920"/>
          </a:xfrm>
          <a:prstGeom prst="rect">
            <a:avLst/>
          </a:prstGeom>
          <a:solidFill>
            <a:srgbClr val="CFFAF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جاهز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! نفصل فصل الكيمياء بـ</a:t>
            </a: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أداة لها مهارتها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فيه أداة </a:t>
            </a:r>
            <a:r>
              <a:rPr lang="en-US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كاملة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ــــ</a:t>
            </a: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لكل واحد قوة وضعف.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0" y="2011680"/>
            <a:ext cx="91440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21945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قوي بـ: </a:t>
            </a: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والترجمة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FBC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ضعيف بـ: </a:t>
            </a:r>
            <a:r>
              <a:rPr lang="en-US" sz="1200" dirty="0" err="1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العروض</a:t>
            </a:r>
            <a:r>
              <a:rPr lang="en-US" sz="12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التقديمية</a:t>
            </a:r>
            <a:r>
              <a:rPr lang="ar-SA" sz="12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(الى الان)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95360" y="2926080"/>
            <a:ext cx="9144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520440" y="31089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قوي بـ: </a:t>
            </a: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العمق والكتابة الأكاديمية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FBC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ضعيف بـ: </a:t>
            </a:r>
            <a:r>
              <a:rPr lang="ar-SA" sz="12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غالي</a:t>
            </a:r>
            <a:r>
              <a:rPr lang="en-US" sz="12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تصميم عادي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95360" y="3840480"/>
            <a:ext cx="91440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520440" y="40233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1188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قوي بـ: </a:t>
            </a: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 البصري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FBC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ضعيف بـ: </a:t>
            </a:r>
            <a:r>
              <a:rPr lang="en-US" sz="12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العمق الأكاديمي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تعرف؟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أكثر من واحد. </a:t>
            </a:r>
            <a:r>
              <a:rPr lang="ar-SA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 الأداة المناسبة للشغل المناسب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114800" cy="41148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338328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1463040" cy="146304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LLMs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تشتغل، وكيف تطلع منها أحسن نتايج.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ar-SA" sz="6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اللغة الكبيرة</a:t>
            </a:r>
            <a:endParaRPr lang="en-US" sz="64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ar-SA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6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آلة</a:t>
            </a: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حاسبة</a:t>
            </a:r>
            <a:endParaRPr lang="en-US" sz="64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للكلمات.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8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</a:t>
            </a:r>
            <a:r>
              <a:rPr lang="en-US" sz="1800" dirty="0" err="1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حصاء</a:t>
            </a:r>
            <a:r>
              <a:rPr lang="ar-SA" sz="18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واحتماليات،</a:t>
            </a:r>
            <a:r>
              <a:rPr lang="en-US" sz="18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تتنبأ بالكلمة الجاية، </a:t>
            </a:r>
            <a:r>
              <a:rPr lang="en-US" sz="1800" dirty="0" err="1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</a:t>
            </a:r>
            <a:r>
              <a:rPr lang="en-US" sz="18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</a:t>
            </a:r>
            <a:r>
              <a:rPr lang="ar-SA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</a:t>
            </a:r>
            <a:r>
              <a:rPr lang="en-US" sz="18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مو ذكاء حقيقي.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12080" y="4434840"/>
            <a:ext cx="3566160" cy="502920"/>
          </a:xfrm>
          <a:prstGeom prst="roundRect">
            <a:avLst>
              <a:gd name="adj" fmla="val 49091"/>
            </a:avLst>
          </a:prstGeom>
          <a:solidFill>
            <a:srgbClr val="EC4899"/>
          </a:solidFill>
          <a:ln/>
          <a:effectLst>
            <a:outerShdw blurRad="279400" dist="76200" dir="5400000" algn="bl" rotWithShape="0">
              <a:srgbClr val="1A0B2E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12080" y="4434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الكلام المدخل هو كل شيء لهم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766560" y="777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777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تحذير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الهلوسة — Hallucinations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اللغة الكبيرة (</a:t>
            </a:r>
            <a:r>
              <a:rPr lang="en-US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</a:t>
            </a:r>
            <a:r>
              <a:rPr lang="ar-SA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أحياناً</a:t>
            </a:r>
            <a:r>
              <a:rPr lang="en-US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يخترعون</a:t>
            </a:r>
            <a:r>
              <a:rPr lang="en-US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معلومات</a:t>
            </a:r>
            <a:r>
              <a:rPr lang="ar-SA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</a:t>
            </a: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وبثقة</a:t>
            </a:r>
            <a:r>
              <a:rPr lang="en-US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كاملة</a:t>
            </a:r>
            <a:r>
              <a:rPr lang="ar-SA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!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09160" y="260604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الثقة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3108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ولأنه يقولها بثقة </a:t>
            </a:r>
            <a:r>
              <a:rPr lang="en-US" sz="15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عالية</a:t>
            </a:r>
            <a:r>
              <a:rPr lang="en-US" sz="15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5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ــــ</a:t>
            </a:r>
            <a:r>
              <a:rPr lang="en-US" sz="15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صعب تكتشف انه غلط بدون ما تتحقق.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</a:t>
            </a:r>
            <a:r>
              <a:rPr lang="en-US" sz="30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هلوسة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برومبتات عادية، ثلاث إجابات </a:t>
            </a:r>
            <a:r>
              <a:rPr lang="en-US" sz="1400" dirty="0" err="1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خاطئة</a:t>
            </a:r>
            <a:r>
              <a:rPr lang="en-US" sz="14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4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ــــ</a:t>
            </a:r>
            <a:r>
              <a:rPr lang="en-US" sz="14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بثقة عالية.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12180" y="1874520"/>
            <a:ext cx="2606040" cy="27432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58100" y="19842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6772" y="207568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95060" y="22402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هلوسة ١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(لقطة شاشة)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8980" y="1874520"/>
            <a:ext cx="2606040" cy="27432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4900" y="19842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33572" y="207568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1860" y="22402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هلوسة ٢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(لقطة شاشة)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5780" y="1874520"/>
            <a:ext cx="2606040" cy="27432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71700" y="19842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" y="207568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" y="22402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هلوسة ٣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(لقطة شاشة)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انه هبدها بثقة، لو انه كان سؤال معقد وحنا ما نعرف الجواب كنا </a:t>
            </a:r>
            <a:r>
              <a:rPr lang="ar-SA" sz="1300" b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بنبلعها</a:t>
            </a:r>
            <a:r>
              <a:rPr lang="ar-SA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...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202C1D-47D7-4222-9793-64E5BE7EF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0" r="-1084" b="8781"/>
          <a:stretch>
            <a:fillRect/>
          </a:stretch>
        </p:blipFill>
        <p:spPr>
          <a:xfrm>
            <a:off x="3291840" y="1881446"/>
            <a:ext cx="2606040" cy="27293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3BCDEA5-924B-0E5F-9888-C5AF5ADE64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40" t="1951" r="240" b="14541"/>
          <a:stretch>
            <a:fillRect/>
          </a:stretch>
        </p:blipFill>
        <p:spPr>
          <a:xfrm>
            <a:off x="6020853" y="1881471"/>
            <a:ext cx="2576333" cy="272932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178C17B-0E84-48EC-7EB7-BC02C03747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010"/>
          <a:stretch>
            <a:fillRect/>
          </a:stretch>
        </p:blipFill>
        <p:spPr>
          <a:xfrm>
            <a:off x="546813" y="1881471"/>
            <a:ext cx="2576333" cy="27293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164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المثال — برومبت أحسن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760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شوف الفرق — البرومبت يصلح اللي كان غلط.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30896" y="1627632"/>
            <a:ext cx="3078327" cy="3240344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6816" y="2188104"/>
            <a:ext cx="1026109" cy="302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5488" y="2309373"/>
            <a:ext cx="108011" cy="108011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3776" y="2092821"/>
            <a:ext cx="2646281" cy="2592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السؤال ١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برومبت محسّن 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654AC9-22A0-E1E3-DF2F-1D3C78AD63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8" r="402" b="1153"/>
          <a:stretch>
            <a:fillRect/>
          </a:stretch>
        </p:blipFill>
        <p:spPr>
          <a:xfrm>
            <a:off x="3141517" y="1627632"/>
            <a:ext cx="3065782" cy="32403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نطلع برومبت قوي؟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تكنيكات تخليك تفرق فرق كبير.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2180" y="21031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12180" y="2103120"/>
            <a:ext cx="2606040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238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19506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9506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الهيكلة</a:t>
            </a: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الذهبية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95060" y="3886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</a:t>
            </a: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r>
              <a:rPr lang="en-US" sz="14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لبرومبت</a:t>
            </a: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بشكل واضح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8980" y="21031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8980" y="2103120"/>
            <a:ext cx="2606040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806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5186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Meta-Prompting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5186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يكتب البرومبت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51860" y="3886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خلّه يكتب لك البرومبت بنفسه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" y="21031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" y="2103120"/>
            <a:ext cx="2606040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374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Tough Teacher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 القاسي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" y="3886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خلّه ينتقدك بصراحة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040880" y="777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D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0" y="777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تكنيك 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RCTF </a:t>
            </a:r>
            <a:r>
              <a:rPr lang="ar-SA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ـــــ</a:t>
            </a: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الهيكلة</a:t>
            </a: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الذهبية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743700" y="2194560"/>
            <a:ext cx="19933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43700" y="23317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6743700" y="3108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3700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35140" y="384048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حدد له شخصيته:</a:t>
            </a:r>
            <a:endParaRPr lang="en-US" sz="1200" dirty="0"/>
          </a:p>
          <a:p>
            <a:pPr marL="0" indent="0" algn="r" rtl="1">
              <a:buNone/>
            </a:pPr>
            <a:r>
              <a:rPr lang="ar-SA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"انت معلم رياضيات 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31436" y="2194560"/>
            <a:ext cx="19933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1436" y="23317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4631436" y="3108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31436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2876" y="384048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أعطه خلفية:</a:t>
            </a:r>
            <a:endParaRPr lang="en-US" sz="1200" dirty="0"/>
          </a:p>
          <a:p>
            <a:pPr marL="0" indent="0" algn="r" rtl="1">
              <a:buNone/>
            </a:pPr>
            <a:r>
              <a:rPr lang="ar-SA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"انا طالب بالجامعة ادرس رياضيات .."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9172" y="2194560"/>
            <a:ext cx="19933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19172" y="23317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0" dirty="0"/>
          </a:p>
        </p:txBody>
      </p:sp>
      <p:sp>
        <p:nvSpPr>
          <p:cNvPr id="19" name="Text 17"/>
          <p:cNvSpPr/>
          <p:nvPr/>
        </p:nvSpPr>
        <p:spPr>
          <a:xfrm>
            <a:off x="2519172" y="3108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19172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10612" y="384048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بدقة:</a:t>
            </a:r>
            <a:endParaRPr lang="en-US" sz="1200" dirty="0"/>
          </a:p>
          <a:p>
            <a:pPr marL="0" indent="0" algn="r" rtl="1">
              <a:buNone/>
            </a:pPr>
            <a:r>
              <a:rPr lang="ar-SA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ar-SA" sz="12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مهتمك</a:t>
            </a:r>
            <a:r>
              <a:rPr lang="ar-SA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اشرح لي حل </a:t>
            </a:r>
            <a:r>
              <a:rPr lang="ar-SA" sz="12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مسئلة</a:t>
            </a:r>
            <a:r>
              <a:rPr lang="ar-SA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الـ"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6908" y="2194560"/>
            <a:ext cx="19933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6908" y="233172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000" dirty="0"/>
          </a:p>
        </p:txBody>
      </p:sp>
      <p:sp>
        <p:nvSpPr>
          <p:cNvPr id="24" name="Text 22"/>
          <p:cNvSpPr/>
          <p:nvPr/>
        </p:nvSpPr>
        <p:spPr>
          <a:xfrm>
            <a:off x="406908" y="3108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06908" y="34747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الصيغة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" y="384048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شكل المخرج:</a:t>
            </a:r>
            <a:endParaRPr lang="en-US" sz="1200" dirty="0"/>
          </a:p>
          <a:p>
            <a:pPr marL="0" indent="0" algn="r" rtl="1">
              <a:buNone/>
            </a:pPr>
            <a:r>
              <a:rPr lang="ar-SA" sz="12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"جوابك النهائي المفترض يتبع هذي الصيغة .. 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50000"/>
            </a:avLst>
          </a:prstGeom>
          <a:solidFill>
            <a:srgbClr val="0E0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 err="1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زيادة</a:t>
            </a:r>
            <a:r>
              <a:rPr lang="ar-SA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300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ضيف بالأخير </a:t>
            </a:r>
            <a:r>
              <a:rPr lang="en-US" sz="1300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«think step by step»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040880" y="777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0" y="777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تكنيك 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Meta-Prompting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</a:t>
            </a:r>
            <a:r>
              <a:rPr lang="en-US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 كبير </a:t>
            </a:r>
            <a:r>
              <a:rPr lang="en-US" sz="18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عشان</a:t>
            </a:r>
            <a:r>
              <a:rPr lang="en-US" sz="18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يكتب لك البرومبت.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0E0529"/>
          </a:solidFill>
          <a:ln/>
          <a:effectLst>
            <a:outerShdw blurRad="279400" dist="76200" dir="5400000" algn="bl" rotWithShape="0">
              <a:srgbClr val="1A0B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 err="1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</a:t>
            </a:r>
            <a:r>
              <a:rPr lang="en-US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ar-SA" b="1" dirty="0">
              <a:solidFill>
                <a:srgbClr val="FCD34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ar-SA" sz="1200" b="1" dirty="0">
                <a:solidFill>
                  <a:srgbClr val="FCD34D"/>
                </a:solidFill>
                <a:latin typeface="Arial" pitchFamily="34" charset="0"/>
                <a:cs typeface="Arial" pitchFamily="34" charset="-120"/>
              </a:rPr>
              <a:t>نقول </a:t>
            </a:r>
            <a:r>
              <a:rPr lang="ar-SA" sz="1200" b="1" dirty="0" err="1">
                <a:solidFill>
                  <a:srgbClr val="FCD34D"/>
                </a:solidFill>
                <a:latin typeface="Arial" pitchFamily="34" charset="0"/>
                <a:cs typeface="Arial" pitchFamily="34" charset="-120"/>
              </a:rPr>
              <a:t>لجيمناي</a:t>
            </a:r>
            <a:r>
              <a:rPr lang="ar-SA" sz="1200" b="1" dirty="0">
                <a:solidFill>
                  <a:srgbClr val="FCD34D"/>
                </a:solidFill>
                <a:latin typeface="Arial" pitchFamily="34" charset="0"/>
                <a:cs typeface="Arial" pitchFamily="34" charset="-120"/>
              </a:rPr>
              <a:t> يعطيني كلام ارسله لتشات جي بي تي 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برومبت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قوي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يخلي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موضوع الجاذبية لطالب ثانوي بطريقة ممتعة وبأمثلة من الحياة اليومية</a:t>
            </a: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58200" y="4279392"/>
            <a:ext cx="118872" cy="1188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يعطيك برومبت محترف خلال ثواني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58200" y="4572000"/>
            <a:ext cx="118872" cy="1188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تقدر تعدّل عليه قبل ما ترسله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58200" y="4864608"/>
            <a:ext cx="118872" cy="1188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791456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تقدر تسويه مهما كان شغلك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040880" y="777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BC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0" y="777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تكنيك 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خلّه معلم قاسي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النماذج مدرّبة عشان تسلك لك، محد </a:t>
            </a:r>
            <a:r>
              <a:rPr lang="ar-SA" sz="1600" dirty="0" err="1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بيبغى</a:t>
            </a: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نموذج قاسي، بس حنا نبيه يكون صريح 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EC4899"/>
          </a:solidFill>
          <a:ln/>
          <a:effectLst>
            <a:outerShdw blurRad="279400" dist="76200" dir="5400000" algn="bl" rotWithShape="0">
              <a:srgbClr val="1A0B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انتقدني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بصراحة، حتى لو يوجع.</a:t>
            </a:r>
            <a:endParaRPr lang="en-US" sz="2200" dirty="0"/>
          </a:p>
          <a:p>
            <a:pPr algn="r" rtl="1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أبي ملاحظات حقيقية، مو مجاملات. «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12180" y="4160520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5060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للمقالات</a:t>
            </a:r>
            <a:r>
              <a:rPr lang="en-US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3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ينقدها قبل ما تسلمها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8980" y="4160520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1860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للأفكار</a:t>
            </a:r>
            <a:r>
              <a:rPr lang="en-US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3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يبين لك الثغرات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5780" y="4160520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FA"/>
            </a:solidFill>
            <a:prstDash val="solid"/>
          </a:ln>
        </p:spPr>
        <p:txBody>
          <a:bodyPr/>
          <a:lstStyle/>
          <a:p>
            <a:pPr algn="r" rtl="1"/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8660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للبحوث</a:t>
            </a:r>
            <a:r>
              <a:rPr lang="en-US" sz="13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3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يلاقي الضعف بالمنطق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4192" y="3657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التوليدي · المحاضرة 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269480" y="77724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69480" y="777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بـ</a:t>
            </a: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4A3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الموضوع: بحث عن حروف العلة (مثال)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2606040"/>
            <a:ext cx="3977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BCFE8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274320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FBC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برومبت عام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6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</a:t>
            </a:r>
            <a:r>
              <a:rPr lang="en-US" sz="16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</a:t>
            </a:r>
            <a:r>
              <a:rPr lang="en-US" sz="16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بحث عن </a:t>
            </a:r>
            <a:r>
              <a:rPr lang="en-US" sz="16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حروف</a:t>
            </a:r>
            <a:r>
              <a:rPr lang="en-US" sz="16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i="1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العلة</a:t>
            </a:r>
            <a:r>
              <a:rPr lang="en-US" sz="1600" i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77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1FAE5"/>
            </a:solidFill>
            <a:prstDash val="solid"/>
          </a:ln>
          <a:effectLst>
            <a:outerShdw blurRad="177800" dist="38100" dir="5400000" algn="bl" rotWithShape="0">
              <a:srgbClr val="1A0B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برومبت قوي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1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r>
              <a:rPr lang="en-US" sz="1100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</a:t>
            </a:r>
            <a:r>
              <a:rPr lang="en-US" sz="11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معلم لغة عربية. اكتب لطالب ثانوي بحث عن حروف العلة: التعريف، الأنواع، أمثلة من القرآن، تمارين. رتّبه بعناوين واضحة. فكر </a:t>
            </a:r>
            <a:r>
              <a:rPr lang="en-US" sz="1100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</a:t>
            </a:r>
            <a:r>
              <a:rPr lang="en-US" sz="11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</a:t>
            </a:r>
            <a:r>
              <a:rPr lang="en-US" sz="1100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</a:t>
            </a: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400" b="1" dirty="0" err="1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يستاهل</a:t>
            </a:r>
            <a:r>
              <a:rPr lang="ar-SA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...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27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0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114800" cy="41148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338328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1463040" cy="146304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en-US" sz="5400" dirty="0"/>
          </a:p>
          <a:p>
            <a:pPr marL="0" indent="0" algn="r" rtl="1">
              <a:lnSpc>
                <a:spcPct val="110000"/>
              </a:lnSpc>
              <a:buNone/>
            </a:pPr>
            <a:r>
              <a:rPr lang="en-US" sz="5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</a:t>
            </a: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يخليك</a:t>
            </a: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ذكي.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يخليك</a:t>
            </a: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أسرع.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استخدمه عشان </a:t>
            </a:r>
            <a:r>
              <a:rPr lang="en-US" sz="1700" b="1" dirty="0" err="1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تتعلم</a:t>
            </a:r>
            <a:r>
              <a:rPr lang="en-US" sz="1700" b="1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700" b="1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ـــ </a:t>
            </a:r>
            <a:r>
              <a:rPr lang="en-US" sz="1700" b="1" dirty="0" err="1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</a:t>
            </a:r>
            <a:r>
              <a:rPr lang="en-US" sz="1700" b="1" dirty="0">
                <a:solidFill>
                  <a:srgbClr val="E9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عشان تتهرب من التعلم.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شفت طلاب كثير ضيّعوا الفهم الحقيقي — لأنهم استخدموه غلط.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0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114800" cy="41148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338328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1463040" cy="146304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3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أسئلتكم؟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8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سؤال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329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8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1349</Words>
  <Application>Microsoft Office PowerPoint</Application>
  <PresentationFormat>On-screen Show (16:9)</PresentationFormat>
  <Paragraphs>328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الذكاء الاصطناعي التوليدي — المحاضرة الثالثة</dc:title>
  <dc:subject>PptxGenJS Presentation</dc:subject>
  <dc:creator>Lecture Series</dc:creator>
  <cp:lastModifiedBy>MUHANNAD ABFULLAH ALI ALHUMAIDI</cp:lastModifiedBy>
  <cp:revision>4</cp:revision>
  <dcterms:created xsi:type="dcterms:W3CDTF">2026-05-16T06:52:09Z</dcterms:created>
  <dcterms:modified xsi:type="dcterms:W3CDTF">2026-05-16T12:05:31Z</dcterms:modified>
</cp:coreProperties>
</file>