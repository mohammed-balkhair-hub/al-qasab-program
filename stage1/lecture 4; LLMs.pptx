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75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532" autoAdjust="0"/>
  </p:normalViewPr>
  <p:slideViewPr>
    <p:cSldViewPr snapToGrid="0" snapToObjects="1">
      <p:cViewPr varScale="1">
        <p:scale>
          <a:sx n="115" d="100"/>
          <a:sy n="115" d="100"/>
        </p:scale>
        <p:origin x="39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D6A83F"/>
                </a:solidFill>
                <a:latin typeface="Tajawal"/>
                <a:cs typeface="Tajawal"/>
              </a:rPr>
              <a:t>محاضرة 4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6080760"/>
            <a:ext cx="201168" cy="201168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1737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7800" b="1" i="0">
                <a:solidFill>
                  <a:srgbClr val="FFFFFF"/>
                </a:solidFill>
                <a:latin typeface="Tajawal"/>
                <a:cs typeface="Tajawal"/>
              </a:rPr>
              <a:t>وش يصير لمّا تضغط Send؟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023360"/>
            <a:ext cx="941832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i="0">
                <a:solidFill>
                  <a:srgbClr val="CFD6E2"/>
                </a:solidFill>
                <a:latin typeface="Tajawal"/>
                <a:cs typeface="Tajawal"/>
              </a:rPr>
              <a:t>رحلة خفيّة، ثوانٍ معدودة، وقصّة كاملة ما شفنا منها شي.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 i="0">
                <a:solidFill>
                  <a:srgbClr val="8F9BAD"/>
                </a:solidFill>
                <a:latin typeface="Tajawal"/>
                <a:cs typeface="Tajawal"/>
              </a:rPr>
              <a:t>نماذج اللغة الكبيرة (LLMs)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نظرة عامة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>
                <a:solidFill>
                  <a:srgbClr val="182233"/>
                </a:solidFill>
                <a:latin typeface="Tajawal"/>
                <a:cs typeface="Tajawal"/>
              </a:rPr>
              <a:t>خطّة المحاضرة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3747" y="283464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FB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43787" y="3200400"/>
            <a:ext cx="457200" cy="73152"/>
          </a:xfrm>
          <a:prstGeom prst="roundRect">
            <a:avLst>
              <a:gd name="adj" fmla="val 40000"/>
            </a:avLst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3787" y="3474720"/>
            <a:ext cx="1874519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400" b="1" i="0">
                <a:solidFill>
                  <a:srgbClr val="EE5B4C"/>
                </a:solidFill>
                <a:latin typeface="Tajawal"/>
                <a:cs typeface="Tajaw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787" y="4114800"/>
            <a:ext cx="1874519" cy="8048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000" b="1" i="0" dirty="0" err="1">
                <a:solidFill>
                  <a:srgbClr val="182233"/>
                </a:solidFill>
                <a:latin typeface="Tajawal"/>
                <a:cs typeface="Tajawal"/>
              </a:rPr>
              <a:t>وش</a:t>
            </a:r>
            <a:r>
              <a:rPr sz="20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000" b="1" i="0" dirty="0" err="1">
                <a:solidFill>
                  <a:srgbClr val="182233"/>
                </a:solidFill>
                <a:latin typeface="Tajawal"/>
                <a:cs typeface="Tajawal"/>
              </a:rPr>
              <a:t>يصير</a:t>
            </a:r>
            <a:r>
              <a:rPr sz="20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lang="ar-SA" sz="2000" b="1" i="0" dirty="0">
                <a:solidFill>
                  <a:srgbClr val="182233"/>
                </a:solidFill>
                <a:latin typeface="Tajawal"/>
                <a:cs typeface="Tajawal"/>
              </a:rPr>
              <a:t>لمّا نضغط إرسال</a:t>
            </a:r>
            <a:r>
              <a:rPr sz="2000" b="1" i="0" dirty="0">
                <a:solidFill>
                  <a:srgbClr val="182233"/>
                </a:solidFill>
                <a:latin typeface="Tajawal"/>
                <a:cs typeface="Tajawal"/>
              </a:rPr>
              <a:t>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6947" y="283464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D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86987" y="3200400"/>
            <a:ext cx="457200" cy="73152"/>
          </a:xfrm>
          <a:prstGeom prst="roundRect">
            <a:avLst>
              <a:gd name="adj" fmla="val 40000"/>
            </a:avLst>
          </a:prstGeom>
          <a:solidFill>
            <a:srgbClr val="338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86987" y="3474720"/>
            <a:ext cx="1874519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400" b="1" i="0">
                <a:solidFill>
                  <a:srgbClr val="338084"/>
                </a:solidFill>
                <a:latin typeface="Tajawal"/>
                <a:cs typeface="Tajaw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6987" y="4114800"/>
            <a:ext cx="1874519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000" b="1" i="0">
                <a:solidFill>
                  <a:srgbClr val="182233"/>
                </a:solidFill>
                <a:latin typeface="Tajawal"/>
                <a:cs typeface="Tajawal"/>
              </a:rPr>
              <a:t>كيف يطبخ النموذج الرد؟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283464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F6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30187" y="3200400"/>
            <a:ext cx="457200" cy="73152"/>
          </a:xfrm>
          <a:prstGeom prst="roundRect">
            <a:avLst>
              <a:gd name="adj" fmla="val 40000"/>
            </a:avLst>
          </a:prstGeom>
          <a:solidFill>
            <a:srgbClr val="D6A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0187" y="3474720"/>
            <a:ext cx="1874519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400" b="1" i="0">
                <a:solidFill>
                  <a:srgbClr val="D6A83F"/>
                </a:solidFill>
                <a:latin typeface="Tajawal"/>
                <a:cs typeface="Tajaw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0187" y="4114800"/>
            <a:ext cx="1874519" cy="8048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000" b="1" i="0" dirty="0" err="1">
                <a:solidFill>
                  <a:srgbClr val="182233"/>
                </a:solidFill>
                <a:latin typeface="Tajawal"/>
                <a:cs typeface="Tajawal"/>
              </a:rPr>
              <a:t>كيف</a:t>
            </a:r>
            <a:r>
              <a:rPr sz="20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000" b="1" i="0" dirty="0" err="1">
                <a:solidFill>
                  <a:srgbClr val="182233"/>
                </a:solidFill>
                <a:latin typeface="Tajawal"/>
                <a:cs typeface="Tajawal"/>
              </a:rPr>
              <a:t>يتدرّبون</a:t>
            </a:r>
            <a:r>
              <a:rPr sz="2000" b="1" i="0" dirty="0">
                <a:solidFill>
                  <a:srgbClr val="182233"/>
                </a:solidFill>
                <a:latin typeface="Tajawal"/>
                <a:cs typeface="Tajawal"/>
              </a:rPr>
              <a:t>؟</a:t>
            </a:r>
            <a:endParaRPr lang="ar-SA" sz="2000" b="1" i="0" dirty="0">
              <a:solidFill>
                <a:srgbClr val="182233"/>
              </a:solidFill>
              <a:latin typeface="Tajawal"/>
              <a:cs typeface="Tajawal"/>
            </a:endParaRPr>
          </a:p>
          <a:p>
            <a:pPr algn="r" rtl="1">
              <a:lnSpc>
                <a:spcPct val="130000"/>
              </a:lnSpc>
            </a:pPr>
            <a:r>
              <a:rPr lang="ar-SA" sz="2000" b="1" dirty="0" err="1">
                <a:solidFill>
                  <a:srgbClr val="182233"/>
                </a:solidFill>
                <a:latin typeface="Tajawal"/>
                <a:cs typeface="Tajawal"/>
              </a:rPr>
              <a:t>وايش</a:t>
            </a:r>
            <a:r>
              <a:rPr lang="ar-SA" sz="2000" b="1" dirty="0">
                <a:solidFill>
                  <a:srgbClr val="182233"/>
                </a:solidFill>
                <a:latin typeface="Tajawal"/>
                <a:cs typeface="Tajawal"/>
              </a:rPr>
              <a:t> البيانات؟</a:t>
            </a:r>
            <a:endParaRPr sz="2000" b="1" i="0" dirty="0">
              <a:solidFill>
                <a:srgbClr val="182233"/>
              </a:solidFill>
              <a:latin typeface="Tajawal"/>
              <a:cs typeface="Tajaw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953347" y="283464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DE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273387" y="3200400"/>
            <a:ext cx="457200" cy="73152"/>
          </a:xfrm>
          <a:prstGeom prst="roundRect">
            <a:avLst>
              <a:gd name="adj" fmla="val 40000"/>
            </a:avLst>
          </a:prstGeom>
          <a:solidFill>
            <a:srgbClr val="7B9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73387" y="3474720"/>
            <a:ext cx="1874519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400" b="1" i="0">
                <a:solidFill>
                  <a:srgbClr val="7B9E88"/>
                </a:solidFill>
                <a:latin typeface="Tajawal"/>
                <a:cs typeface="Tajaw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3387" y="4114800"/>
            <a:ext cx="1874519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000" b="1" i="0">
                <a:solidFill>
                  <a:srgbClr val="182233"/>
                </a:solidFill>
                <a:latin typeface="Tajawal"/>
                <a:cs typeface="Tajawal"/>
              </a:rPr>
              <a:t>تاريخ سريع للنماذج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400" b="0" i="1">
                <a:solidFill>
                  <a:srgbClr val="4D5B73"/>
                </a:solidFill>
                <a:latin typeface="Tajawal"/>
                <a:cs typeface="Tajawal"/>
              </a:rPr>
              <a:t>أربع محطات، ساعة واحدة.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البداية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>
                <a:solidFill>
                  <a:srgbClr val="182233"/>
                </a:solidFill>
                <a:latin typeface="Tajawal"/>
                <a:cs typeface="Tajawal"/>
              </a:rPr>
              <a:t>اللحظة اللي ما نشوفها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2560320"/>
            <a:ext cx="7315200" cy="56797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نكتب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السؤال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.</a:t>
            </a:r>
            <a:r>
              <a:rPr lang="ar-SA" sz="2800" b="1" i="0" dirty="0">
                <a:solidFill>
                  <a:srgbClr val="182233"/>
                </a:solidFill>
                <a:latin typeface="Tajawal"/>
                <a:cs typeface="Tajawal"/>
              </a:rPr>
              <a:t>.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نضغط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إرسال</a:t>
            </a:r>
            <a:r>
              <a:rPr lang="ar-SA" sz="2800" b="1" i="0" dirty="0">
                <a:solidFill>
                  <a:srgbClr val="182233"/>
                </a:solidFill>
                <a:latin typeface="Tajawal"/>
                <a:cs typeface="Tajawal"/>
              </a:rPr>
              <a:t>. 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يطلع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الجواب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3703320"/>
            <a:ext cx="73152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600" b="1" i="0">
                <a:solidFill>
                  <a:srgbClr val="EE5B4C"/>
                </a:solidFill>
                <a:latin typeface="Tajawal"/>
                <a:cs typeface="Tajawal"/>
              </a:rPr>
              <a:t>كأنها سحر.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617720"/>
            <a:ext cx="731520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800" b="0" i="0">
                <a:solidFill>
                  <a:srgbClr val="4D5B73"/>
                </a:solidFill>
                <a:latin typeface="Tajawal"/>
                <a:cs typeface="Tajawal"/>
              </a:rPr>
              <a:t>بس في ثوانٍ معدودة، صارت رحلة كاملة،</a:t>
            </a:r>
          </a:p>
          <a:p>
            <a:pPr algn="r" rtl="1">
              <a:lnSpc>
                <a:spcPct val="150000"/>
              </a:lnSpc>
            </a:pPr>
            <a:r>
              <a:rPr sz="1800" b="0" i="0">
                <a:solidFill>
                  <a:srgbClr val="4D5B73"/>
                </a:solidFill>
                <a:latin typeface="Tajawal"/>
                <a:cs typeface="Tajawal"/>
              </a:rPr>
              <a:t>ما شفنا منها شي.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377440"/>
            <a:ext cx="2468880" cy="3657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8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80160" y="2788920"/>
            <a:ext cx="2103120" cy="2788920"/>
          </a:xfrm>
          <a:prstGeom prst="roundRect">
            <a:avLst>
              <a:gd name="adj" fmla="val 5000"/>
            </a:avLst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286000" y="2542032"/>
            <a:ext cx="91440" cy="91440"/>
          </a:xfrm>
          <a:prstGeom prst="ellipse">
            <a:avLst/>
          </a:prstGeom>
          <a:solidFill>
            <a:srgbClr val="8F9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920239" y="5742431"/>
            <a:ext cx="822960" cy="73152"/>
          </a:xfrm>
          <a:prstGeom prst="roundRect">
            <a:avLst>
              <a:gd name="adj" fmla="val 40000"/>
            </a:avLst>
          </a:prstGeom>
          <a:solidFill>
            <a:srgbClr val="8F9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554480" y="3291840"/>
            <a:ext cx="1645920" cy="502920"/>
          </a:xfrm>
          <a:prstGeom prst="roundRect">
            <a:avLst>
              <a:gd name="adj" fmla="val 40000"/>
            </a:avLst>
          </a:prstGeom>
          <a:solidFill>
            <a:srgbClr val="FB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691640" y="4297680"/>
            <a:ext cx="118872" cy="118872"/>
          </a:xfrm>
          <a:prstGeom prst="ellipse">
            <a:avLst/>
          </a:prstGeom>
          <a:solidFill>
            <a:srgbClr val="8F9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965960" y="4297680"/>
            <a:ext cx="118872" cy="118872"/>
          </a:xfrm>
          <a:prstGeom prst="ellipse">
            <a:avLst/>
          </a:prstGeom>
          <a:solidFill>
            <a:srgbClr val="8F9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240280" y="4297680"/>
            <a:ext cx="118872" cy="118872"/>
          </a:xfrm>
          <a:prstGeom prst="ellipse">
            <a:avLst/>
          </a:prstGeom>
          <a:solidFill>
            <a:srgbClr val="8F9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88920" y="5039360"/>
            <a:ext cx="457200" cy="457200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88920" y="499127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 dirty="0">
                <a:solidFill>
                  <a:srgbClr val="FFFFFF"/>
                </a:solidFill>
                <a:latin typeface="Tajawal"/>
                <a:cs typeface="Tajawal"/>
              </a:rPr>
              <a:t>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مفاجأة أولى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66992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lang="ar-SA" sz="3800" b="1" i="0" dirty="0" err="1">
                <a:solidFill>
                  <a:srgbClr val="182233"/>
                </a:solidFill>
                <a:latin typeface="Tajawal"/>
                <a:cs typeface="Tajawal"/>
              </a:rPr>
              <a:t>مو</a:t>
            </a:r>
            <a:r>
              <a:rPr lang="ar-SA" sz="3800" b="1" i="0" dirty="0">
                <a:solidFill>
                  <a:srgbClr val="182233"/>
                </a:solidFill>
                <a:latin typeface="Tajawal"/>
                <a:cs typeface="Tajawal"/>
              </a:rPr>
              <a:t> جوّالك اللي يسوي الرد .. </a:t>
            </a:r>
            <a:endParaRPr sz="3800" b="1" i="0" dirty="0">
              <a:solidFill>
                <a:srgbClr val="182233"/>
              </a:solidFill>
              <a:latin typeface="Tajawal"/>
              <a:cs typeface="Tajaw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881360" cy="97052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جوّالك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يرسل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سؤالك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عبر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الإنترنت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إلى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خادم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بعيد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.</a:t>
            </a:r>
          </a:p>
          <a:p>
            <a:pPr algn="r" rtl="1">
              <a:lnSpc>
                <a:spcPct val="145000"/>
              </a:lnSpc>
            </a:pP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الخادم</a:t>
            </a:r>
            <a:r>
              <a:rPr lang="ar-SA" sz="2200" b="0" i="0" dirty="0">
                <a:solidFill>
                  <a:srgbClr val="4D5B73"/>
                </a:solidFill>
                <a:latin typeface="Tajawal"/>
                <a:cs typeface="Tajawal"/>
              </a:rPr>
              <a:t> (السيرفر)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هو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اللي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lang="ar-SA" sz="2200" b="0" i="0" dirty="0">
                <a:solidFill>
                  <a:srgbClr val="4D5B73"/>
                </a:solidFill>
                <a:latin typeface="Tajawal"/>
                <a:cs typeface="Tajawal"/>
              </a:rPr>
              <a:t>"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يفكّر</a:t>
            </a:r>
            <a:r>
              <a:rPr lang="ar-SA" sz="2200" b="0" i="0" dirty="0">
                <a:solidFill>
                  <a:srgbClr val="4D5B73"/>
                </a:solidFill>
                <a:latin typeface="Tajawal"/>
                <a:cs typeface="Tajawal"/>
              </a:rPr>
              <a:t>"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،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ويرجّع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الجواب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لجهازك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4023360"/>
            <a:ext cx="146304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8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738360" y="4343400"/>
            <a:ext cx="1188720" cy="1554480"/>
          </a:xfrm>
          <a:prstGeom prst="roundRect">
            <a:avLst>
              <a:gd name="adj" fmla="val 6000"/>
            </a:avLst>
          </a:prstGeom>
          <a:solidFill>
            <a:srgbClr val="FB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0" y="6309360"/>
            <a:ext cx="23774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 i="0">
                <a:solidFill>
                  <a:srgbClr val="182233"/>
                </a:solidFill>
                <a:latin typeface="Tajawal"/>
                <a:cs typeface="Tajawal"/>
              </a:rPr>
              <a:t>جوّالك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429768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0E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23559" y="4663440"/>
            <a:ext cx="1097280" cy="164592"/>
          </a:xfrm>
          <a:prstGeom prst="roundRect">
            <a:avLst>
              <a:gd name="adj" fmla="val 40000"/>
            </a:avLst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23559" y="5029200"/>
            <a:ext cx="1097280" cy="164592"/>
          </a:xfrm>
          <a:prstGeom prst="roundRect">
            <a:avLst>
              <a:gd name="adj" fmla="val 40000"/>
            </a:avLst>
          </a:prstGeom>
          <a:solidFill>
            <a:srgbClr val="D6A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23559" y="5394960"/>
            <a:ext cx="1097280" cy="164592"/>
          </a:xfrm>
          <a:prstGeom prst="roundRect">
            <a:avLst>
              <a:gd name="adj" fmla="val 40000"/>
            </a:avLst>
          </a:prstGeom>
          <a:solidFill>
            <a:srgbClr val="338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29399" y="470916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629399" y="507492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629399" y="544068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6126479"/>
            <a:ext cx="28346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 i="0">
                <a:solidFill>
                  <a:srgbClr val="182233"/>
                </a:solidFill>
                <a:latin typeface="Tajawal"/>
                <a:cs typeface="Tajawal"/>
              </a:rPr>
              <a:t>خادم (Server)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023360"/>
            <a:ext cx="146304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8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234439" y="4343400"/>
            <a:ext cx="1188720" cy="1554480"/>
          </a:xfrm>
          <a:prstGeom prst="roundRect">
            <a:avLst>
              <a:gd name="adj" fmla="val 6000"/>
            </a:avLst>
          </a:prstGeom>
          <a:solidFill>
            <a:srgbClr val="D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309360"/>
            <a:ext cx="2377440" cy="2684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lang="ar-SA" sz="1300" b="1" i="0" dirty="0">
                <a:solidFill>
                  <a:srgbClr val="182233"/>
                </a:solidFill>
                <a:latin typeface="Tajawal"/>
                <a:cs typeface="Tajawal"/>
              </a:rPr>
              <a:t>وصل الرد (نفس جوّالك)</a:t>
            </a:r>
            <a:endParaRPr sz="1300" b="1" i="0" dirty="0">
              <a:solidFill>
                <a:srgbClr val="182233"/>
              </a:solidFill>
              <a:latin typeface="Tajawal"/>
              <a:cs typeface="Tajawal"/>
            </a:endParaRPr>
          </a:p>
        </p:txBody>
      </p:sp>
      <p:cxnSp>
        <p:nvCxnSpPr>
          <p:cNvPr id="20" name="Connector 19"/>
          <p:cNvCxnSpPr/>
          <p:nvPr/>
        </p:nvCxnSpPr>
        <p:spPr>
          <a:xfrm flipH="1">
            <a:off x="7132320" y="5120640"/>
            <a:ext cx="2377440" cy="0"/>
          </a:xfrm>
          <a:prstGeom prst="line">
            <a:avLst/>
          </a:prstGeom>
          <a:ln w="31750">
            <a:solidFill>
              <a:srgbClr val="EE5B4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23760" y="4617720"/>
            <a:ext cx="2194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السؤال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697480" y="5212080"/>
            <a:ext cx="2514600" cy="0"/>
          </a:xfrm>
          <a:prstGeom prst="line">
            <a:avLst/>
          </a:prstGeom>
          <a:ln w="31750">
            <a:solidFill>
              <a:srgbClr val="3380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834640" y="5349240"/>
            <a:ext cx="21945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 i="0">
                <a:solidFill>
                  <a:srgbClr val="338084"/>
                </a:solidFill>
                <a:latin typeface="Tajawal"/>
                <a:cs typeface="Tajawal"/>
              </a:rPr>
              <a:t>الجواب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ما داخل الخادم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>
                <a:solidFill>
                  <a:srgbClr val="182233"/>
                </a:solidFill>
                <a:latin typeface="Tajawal"/>
                <a:cs typeface="Tajawal"/>
              </a:rPr>
              <a:t>طيّب، وش يصير في الخادم؟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126957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3000" b="0" i="0" dirty="0" err="1">
                <a:solidFill>
                  <a:srgbClr val="4D5B73"/>
                </a:solidFill>
                <a:latin typeface="Tajawal"/>
                <a:cs typeface="Tajawal"/>
              </a:rPr>
              <a:t>هذا</a:t>
            </a:r>
            <a:r>
              <a:rPr sz="3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3000" b="0" i="0" dirty="0" err="1">
                <a:solidFill>
                  <a:srgbClr val="4D5B73"/>
                </a:solidFill>
                <a:latin typeface="Tajawal"/>
                <a:cs typeface="Tajawal"/>
              </a:rPr>
              <a:t>اللي</a:t>
            </a:r>
            <a:r>
              <a:rPr sz="3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lang="ar-SA" sz="3000" b="0" i="0" dirty="0" err="1">
                <a:solidFill>
                  <a:srgbClr val="4D5B73"/>
                </a:solidFill>
                <a:latin typeface="Tajawal"/>
                <a:cs typeface="Tajawal"/>
              </a:rPr>
              <a:t>بنكتشفه</a:t>
            </a:r>
            <a:r>
              <a:rPr sz="3000" b="0" i="0" dirty="0">
                <a:solidFill>
                  <a:srgbClr val="4D5B73"/>
                </a:solidFill>
                <a:latin typeface="Tajawal"/>
                <a:cs typeface="Tajawal"/>
              </a:rPr>
              <a:t>.</a:t>
            </a:r>
          </a:p>
          <a:p>
            <a:pPr algn="r" rtl="1">
              <a:lnSpc>
                <a:spcPct val="140000"/>
              </a:lnSpc>
            </a:pPr>
            <a:r>
              <a:rPr sz="3000" b="0" i="0" dirty="0" err="1">
                <a:solidFill>
                  <a:srgbClr val="4D5B73"/>
                </a:solidFill>
                <a:latin typeface="Tajawal"/>
                <a:cs typeface="Tajawal"/>
              </a:rPr>
              <a:t>خطوة</a:t>
            </a:r>
            <a:r>
              <a:rPr sz="3000" b="0" i="0" dirty="0">
                <a:solidFill>
                  <a:srgbClr val="4D5B73"/>
                </a:solidFill>
                <a:latin typeface="Tajawal"/>
                <a:cs typeface="Tajawal"/>
              </a:rPr>
              <a:t>، </a:t>
            </a:r>
            <a:r>
              <a:rPr lang="ar-SA" sz="3000" b="0" i="0" dirty="0">
                <a:solidFill>
                  <a:srgbClr val="4D5B73"/>
                </a:solidFill>
                <a:latin typeface="Tajawal"/>
                <a:cs typeface="Tajawal"/>
              </a:rPr>
              <a:t>خطوة</a:t>
            </a:r>
            <a:r>
              <a:rPr sz="3000" b="0" i="0" dirty="0">
                <a:solidFill>
                  <a:srgbClr val="4D5B73"/>
                </a:solidFill>
                <a:latin typeface="Tajawal"/>
                <a:cs typeface="Tajaw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2367" y="4617720"/>
            <a:ext cx="3108960" cy="1325880"/>
          </a:xfrm>
          <a:prstGeom prst="roundRect">
            <a:avLst>
              <a:gd name="adj" fmla="val 10000"/>
            </a:avLst>
          </a:prstGeom>
          <a:solidFill>
            <a:srgbClr val="FB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40967" y="4937759"/>
            <a:ext cx="73152" cy="685800"/>
          </a:xfrm>
          <a:prstGeom prst="roundRect">
            <a:avLst>
              <a:gd name="adj" fmla="val 40000"/>
            </a:avLst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15287" y="4910328"/>
            <a:ext cx="2331720" cy="35753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ar-SA" sz="1800" b="1" i="0" dirty="0">
                <a:solidFill>
                  <a:srgbClr val="EE5B4C"/>
                </a:solidFill>
                <a:latin typeface="Tajawal"/>
                <a:cs typeface="Tajawal"/>
              </a:rPr>
              <a:t>1.</a:t>
            </a:r>
            <a:r>
              <a:rPr sz="1800" b="1" i="0" dirty="0">
                <a:solidFill>
                  <a:srgbClr val="EE5B4C"/>
                </a:solidFill>
                <a:latin typeface="Tajawal"/>
                <a:cs typeface="Tajawal"/>
              </a:rPr>
              <a:t> </a:t>
            </a:r>
            <a:r>
              <a:rPr sz="1800" b="1" i="0" dirty="0" err="1">
                <a:solidFill>
                  <a:srgbClr val="EE5B4C"/>
                </a:solidFill>
                <a:latin typeface="Tajawal"/>
                <a:cs typeface="Tajawal"/>
              </a:rPr>
              <a:t>التقطيع</a:t>
            </a:r>
            <a:r>
              <a:rPr sz="1800" b="1" i="0" dirty="0">
                <a:solidFill>
                  <a:srgbClr val="EE5B4C"/>
                </a:solidFill>
                <a:latin typeface="Tajawal"/>
                <a:cs typeface="Tajawal"/>
              </a:rPr>
              <a:t> (Tokens)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5287" y="5394959"/>
            <a:ext cx="2331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ar-SA" sz="1200" b="0" i="1" dirty="0">
                <a:solidFill>
                  <a:srgbClr val="4D5B73"/>
                </a:solidFill>
                <a:latin typeface="Tajawal"/>
                <a:cs typeface="Tajawal"/>
              </a:rPr>
              <a:t>نفتحها بعد قليل</a:t>
            </a:r>
            <a:endParaRPr sz="1200" b="0" i="1" dirty="0">
              <a:solidFill>
                <a:srgbClr val="4D5B73"/>
              </a:solidFill>
              <a:latin typeface="Tajawal"/>
              <a:cs typeface="Tajaw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41367" y="4617720"/>
            <a:ext cx="3108960" cy="1325880"/>
          </a:xfrm>
          <a:prstGeom prst="roundRect">
            <a:avLst>
              <a:gd name="adj" fmla="val 10000"/>
            </a:avLst>
          </a:prstGeom>
          <a:solidFill>
            <a:srgbClr val="D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69967" y="4937759"/>
            <a:ext cx="73152" cy="685800"/>
          </a:xfrm>
          <a:prstGeom prst="roundRect">
            <a:avLst>
              <a:gd name="adj" fmla="val 40000"/>
            </a:avLst>
          </a:prstGeom>
          <a:solidFill>
            <a:srgbClr val="338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44287" y="4910328"/>
            <a:ext cx="2331720" cy="35753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ar-SA" sz="1800" b="1" i="0" dirty="0">
                <a:solidFill>
                  <a:srgbClr val="338084"/>
                </a:solidFill>
                <a:latin typeface="Tajawal"/>
                <a:cs typeface="Tajawal"/>
              </a:rPr>
              <a:t>2.</a:t>
            </a:r>
            <a:r>
              <a:rPr sz="1800" b="1" i="0" dirty="0">
                <a:solidFill>
                  <a:srgbClr val="338084"/>
                </a:solidFill>
                <a:latin typeface="Tajawal"/>
                <a:cs typeface="Tajawal"/>
              </a:rPr>
              <a:t> </a:t>
            </a:r>
            <a:r>
              <a:rPr sz="1800" b="1" i="0" dirty="0" err="1">
                <a:solidFill>
                  <a:srgbClr val="338084"/>
                </a:solidFill>
                <a:latin typeface="Tajawal"/>
                <a:cs typeface="Tajawal"/>
              </a:rPr>
              <a:t>الانتباه</a:t>
            </a:r>
            <a:r>
              <a:rPr sz="1800" b="1" i="0" dirty="0">
                <a:solidFill>
                  <a:srgbClr val="338084"/>
                </a:solidFill>
                <a:latin typeface="Tajawal"/>
                <a:cs typeface="Tajawal"/>
              </a:rPr>
              <a:t> (Attention)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4287" y="5394959"/>
            <a:ext cx="2331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ar-SA" sz="1200" b="0" i="1" dirty="0">
                <a:solidFill>
                  <a:srgbClr val="4D5B73"/>
                </a:solidFill>
                <a:latin typeface="Tajawal"/>
                <a:cs typeface="Tajawal"/>
              </a:rPr>
              <a:t>نفتحها بعد قليل</a:t>
            </a:r>
            <a:endParaRPr sz="1200" b="0" i="1" dirty="0">
              <a:solidFill>
                <a:srgbClr val="4D5B73"/>
              </a:solidFill>
              <a:latin typeface="Tajawal"/>
              <a:cs typeface="Tajaw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970367" y="4617720"/>
            <a:ext cx="3108960" cy="1325880"/>
          </a:xfrm>
          <a:prstGeom prst="roundRect">
            <a:avLst>
              <a:gd name="adj" fmla="val 10000"/>
            </a:avLst>
          </a:prstGeom>
          <a:solidFill>
            <a:srgbClr val="F6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98967" y="4937759"/>
            <a:ext cx="73152" cy="685800"/>
          </a:xfrm>
          <a:prstGeom prst="roundRect">
            <a:avLst>
              <a:gd name="adj" fmla="val 40000"/>
            </a:avLst>
          </a:prstGeom>
          <a:solidFill>
            <a:srgbClr val="D6A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3287" y="4910328"/>
            <a:ext cx="2331720" cy="35753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ar-SA" b="1" dirty="0">
                <a:solidFill>
                  <a:srgbClr val="D6A83F"/>
                </a:solidFill>
                <a:latin typeface="Tajawal"/>
                <a:cs typeface="Tajawal"/>
              </a:rPr>
              <a:t>3.</a:t>
            </a:r>
            <a:r>
              <a:rPr sz="1800" b="1" i="0" dirty="0">
                <a:solidFill>
                  <a:srgbClr val="D6A83F"/>
                </a:solidFill>
                <a:latin typeface="Tajawal"/>
                <a:cs typeface="Tajawal"/>
              </a:rPr>
              <a:t> </a:t>
            </a:r>
            <a:r>
              <a:rPr sz="1800" b="1" i="0" dirty="0" err="1">
                <a:solidFill>
                  <a:srgbClr val="D6A83F"/>
                </a:solidFill>
                <a:latin typeface="Tajawal"/>
                <a:cs typeface="Tajawal"/>
              </a:rPr>
              <a:t>توليد</a:t>
            </a:r>
            <a:r>
              <a:rPr sz="1800" b="1" i="0" dirty="0">
                <a:solidFill>
                  <a:srgbClr val="D6A83F"/>
                </a:solidFill>
                <a:latin typeface="Tajawal"/>
                <a:cs typeface="Tajawal"/>
              </a:rPr>
              <a:t> </a:t>
            </a:r>
            <a:r>
              <a:rPr sz="1800" b="1" i="0" dirty="0" err="1">
                <a:solidFill>
                  <a:srgbClr val="D6A83F"/>
                </a:solidFill>
                <a:latin typeface="Tajawal"/>
                <a:cs typeface="Tajawal"/>
              </a:rPr>
              <a:t>الجواب</a:t>
            </a:r>
            <a:endParaRPr sz="1800" b="1" i="0" dirty="0">
              <a:solidFill>
                <a:srgbClr val="D6A83F"/>
              </a:solidFill>
              <a:latin typeface="Tajawal"/>
              <a:cs typeface="Tajaw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73287" y="5394959"/>
            <a:ext cx="2331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0" i="1">
                <a:solidFill>
                  <a:srgbClr val="4D5B73"/>
                </a:solidFill>
                <a:latin typeface="Tajawal"/>
                <a:cs typeface="Tajawal"/>
              </a:rPr>
              <a:t>نفتحها بعد قليل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الخطوة الأولى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66992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 dirty="0" err="1">
                <a:solidFill>
                  <a:srgbClr val="182233"/>
                </a:solidFill>
                <a:latin typeface="Tajawal"/>
                <a:cs typeface="Tajawal"/>
              </a:rPr>
              <a:t>التقطيع</a:t>
            </a:r>
            <a:r>
              <a:rPr lang="ar-SA" sz="3800" b="1" i="0" dirty="0">
                <a:solidFill>
                  <a:srgbClr val="182233"/>
                </a:solidFill>
                <a:latin typeface="Tajawal"/>
                <a:cs typeface="Tajawal"/>
              </a:rPr>
              <a:t>: </a:t>
            </a:r>
            <a:r>
              <a:rPr sz="3800" b="1" i="0" dirty="0" err="1">
                <a:solidFill>
                  <a:srgbClr val="182233"/>
                </a:solidFill>
                <a:latin typeface="Tajawal"/>
                <a:cs typeface="Tajawal"/>
              </a:rPr>
              <a:t>من</a:t>
            </a:r>
            <a:r>
              <a:rPr sz="3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3800" b="1" i="0" dirty="0" err="1">
                <a:solidFill>
                  <a:srgbClr val="182233"/>
                </a:solidFill>
                <a:latin typeface="Tajawal"/>
                <a:cs typeface="Tajawal"/>
              </a:rPr>
              <a:t>جملة</a:t>
            </a:r>
            <a:r>
              <a:rPr sz="3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3800" b="1" i="0" dirty="0" err="1">
                <a:solidFill>
                  <a:srgbClr val="182233"/>
                </a:solidFill>
                <a:latin typeface="Tajawal"/>
                <a:cs typeface="Tajawal"/>
              </a:rPr>
              <a:t>إلى</a:t>
            </a:r>
            <a:r>
              <a:rPr sz="3800" b="1" i="0" dirty="0">
                <a:solidFill>
                  <a:srgbClr val="182233"/>
                </a:solidFill>
                <a:latin typeface="Tajawal"/>
                <a:cs typeface="Tajawal"/>
              </a:rPr>
              <a:t>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97052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أول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شي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يسوّيه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النموذج</a:t>
            </a:r>
            <a:r>
              <a:rPr lang="ar-SA" sz="2200" b="0" i="0" dirty="0">
                <a:solidFill>
                  <a:srgbClr val="4D5B73"/>
                </a:solidFill>
                <a:latin typeface="Tajawal"/>
                <a:cs typeface="Tajawal"/>
              </a:rPr>
              <a:t>: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يقصّ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جملتك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إلى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قطع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صغيرة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.</a:t>
            </a:r>
          </a:p>
          <a:p>
            <a:pPr algn="r" rtl="1">
              <a:lnSpc>
                <a:spcPct val="145000"/>
              </a:lnSpc>
            </a:pP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اسم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هذي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القطع</a:t>
            </a:r>
            <a:r>
              <a:rPr lang="ar-SA" sz="2200" dirty="0">
                <a:solidFill>
                  <a:srgbClr val="4D5B73"/>
                </a:solidFill>
                <a:latin typeface="Tajawal"/>
                <a:cs typeface="Tajawal"/>
              </a:rPr>
              <a:t>: </a:t>
            </a:r>
            <a:r>
              <a:rPr lang="en-US" sz="2200" dirty="0">
                <a:solidFill>
                  <a:srgbClr val="4D5B73"/>
                </a:solidFill>
                <a:latin typeface="Tajawal"/>
                <a:cs typeface="Tajawal"/>
              </a:rPr>
              <a:t>Tokens</a:t>
            </a:r>
            <a:endParaRPr sz="2200" b="0" i="0" dirty="0">
              <a:solidFill>
                <a:srgbClr val="4D5B73"/>
              </a:solidFill>
              <a:latin typeface="Tajawal"/>
              <a:cs typeface="Tajaw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881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 i="0">
                <a:solidFill>
                  <a:srgbClr val="8F9BAD"/>
                </a:solidFill>
                <a:latin typeface="Tajawal"/>
                <a:cs typeface="Tajawal"/>
              </a:rPr>
              <a:t>الجملة الأصليّة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7047" y="4251960"/>
            <a:ext cx="3657600" cy="685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18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67047" y="4251960"/>
            <a:ext cx="3657600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2200" b="1">
                <a:solidFill>
                  <a:srgbClr val="182233"/>
                </a:solidFill>
                <a:latin typeface="Tajawal"/>
                <a:cs typeface="Tajawal"/>
              </a:rPr>
              <a:t>سلام عليكم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7" y="5029200"/>
            <a:ext cx="0" cy="320040"/>
          </a:xfrm>
          <a:prstGeom prst="line">
            <a:avLst/>
          </a:prstGeom>
          <a:ln w="19050">
            <a:solidFill>
              <a:srgbClr val="8F9B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 i="0">
                <a:solidFill>
                  <a:srgbClr val="8F9BAD"/>
                </a:solidFill>
                <a:latin typeface="Tajawal"/>
                <a:cs typeface="Tajawal"/>
              </a:rPr>
              <a:t>بعد التقطيع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5760720"/>
            <a:ext cx="1554480" cy="640080"/>
          </a:xfrm>
          <a:prstGeom prst="roundRect">
            <a:avLst>
              <a:gd name="adj" fmla="val 40000"/>
            </a:avLst>
          </a:prstGeom>
          <a:solidFill>
            <a:srgbClr val="FB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0147" y="5760720"/>
            <a:ext cx="15544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2000" b="1">
                <a:solidFill>
                  <a:srgbClr val="EE5B4C"/>
                </a:solidFill>
                <a:latin typeface="Tajawal"/>
                <a:cs typeface="Tajawal"/>
              </a:rPr>
              <a:t>سلام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7067" y="5760720"/>
            <a:ext cx="1554480" cy="640080"/>
          </a:xfrm>
          <a:prstGeom prst="roundRect">
            <a:avLst>
              <a:gd name="adj" fmla="val 40000"/>
            </a:avLst>
          </a:prstGeom>
          <a:solidFill>
            <a:srgbClr val="D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27067" y="5760720"/>
            <a:ext cx="15544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2000" b="1">
                <a:solidFill>
                  <a:srgbClr val="338084"/>
                </a:solidFill>
                <a:latin typeface="Tajawal"/>
                <a:cs typeface="Tajawal"/>
              </a:rPr>
              <a:t>عليكم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ليش نقطّع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66992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 dirty="0" err="1">
                <a:solidFill>
                  <a:srgbClr val="182233"/>
                </a:solidFill>
                <a:latin typeface="Tajawal"/>
                <a:cs typeface="Tajawal"/>
              </a:rPr>
              <a:t>الحاسوب</a:t>
            </a:r>
            <a:r>
              <a:rPr sz="3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lang="ar-SA" sz="3800" b="1" i="0" dirty="0">
                <a:solidFill>
                  <a:srgbClr val="182233"/>
                </a:solidFill>
                <a:latin typeface="Tajawal"/>
                <a:cs typeface="Tajawal"/>
              </a:rPr>
              <a:t>وظيفته "يحسب"</a:t>
            </a:r>
            <a:r>
              <a:rPr sz="3800" b="1" i="0" dirty="0">
                <a:solidFill>
                  <a:srgbClr val="182233"/>
                </a:solidFill>
                <a:latin typeface="Tajawal"/>
                <a:cs typeface="Tajawal"/>
              </a:rPr>
              <a:t>، </a:t>
            </a:r>
            <a:r>
              <a:rPr lang="ar-SA" sz="3800" b="1" i="0" dirty="0">
                <a:solidFill>
                  <a:srgbClr val="182233"/>
                </a:solidFill>
                <a:latin typeface="Tajawal"/>
                <a:cs typeface="Tajawal"/>
              </a:rPr>
              <a:t>حسابة يعني ارقام</a:t>
            </a:r>
            <a:endParaRPr sz="3800" b="1" i="0" dirty="0">
              <a:solidFill>
                <a:srgbClr val="182233"/>
              </a:solidFill>
              <a:latin typeface="Tajawal"/>
              <a:cs typeface="Tajaw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97052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الكمبيوتر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ما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يفهم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كلمات</a:t>
            </a:r>
            <a:r>
              <a:rPr lang="ar-SA" sz="2200" b="0" i="0" dirty="0">
                <a:solidFill>
                  <a:srgbClr val="4D5B73"/>
                </a:solidFill>
                <a:latin typeface="Tajawal"/>
                <a:cs typeface="Tajawal"/>
              </a:rPr>
              <a:t>.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يفهم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أرقام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ب</a:t>
            </a:r>
            <a:r>
              <a:rPr lang="ar-SA" sz="2200" b="0" i="0" dirty="0">
                <a:solidFill>
                  <a:srgbClr val="4D5B73"/>
                </a:solidFill>
                <a:latin typeface="Tajawal"/>
                <a:cs typeface="Tajawal"/>
              </a:rPr>
              <a:t>س</a:t>
            </a:r>
            <a:endParaRPr sz="2200" b="0" i="0" dirty="0">
              <a:solidFill>
                <a:srgbClr val="4D5B73"/>
              </a:solidFill>
              <a:latin typeface="Tajawal"/>
              <a:cs typeface="Tajawal"/>
            </a:endParaRPr>
          </a:p>
          <a:p>
            <a:pPr algn="r" rtl="1">
              <a:lnSpc>
                <a:spcPct val="145000"/>
              </a:lnSpc>
            </a:pPr>
            <a:r>
              <a:rPr lang="ar-SA" sz="2200" b="0" i="0" dirty="0">
                <a:solidFill>
                  <a:srgbClr val="4D5B73"/>
                </a:solidFill>
                <a:latin typeface="Tajawal"/>
                <a:cs typeface="Tajawal"/>
              </a:rPr>
              <a:t>كل </a:t>
            </a:r>
            <a:r>
              <a:rPr lang="en-US" sz="2200" b="0" i="0" dirty="0">
                <a:solidFill>
                  <a:srgbClr val="4D5B73"/>
                </a:solidFill>
                <a:latin typeface="Tajawal"/>
                <a:cs typeface="Tajawal"/>
              </a:rPr>
              <a:t>token</a:t>
            </a:r>
            <a:r>
              <a:rPr lang="ar-SA" sz="2200" b="0" i="0" dirty="0">
                <a:solidFill>
                  <a:srgbClr val="4D5B73"/>
                </a:solidFill>
                <a:latin typeface="Tajawal"/>
                <a:cs typeface="Tajawal"/>
              </a:rPr>
              <a:t> يتحول إلى رقم</a:t>
            </a:r>
            <a:endParaRPr sz="2200" b="0" i="0" dirty="0">
              <a:solidFill>
                <a:srgbClr val="4D5B73"/>
              </a:solidFill>
              <a:latin typeface="Tajawal"/>
              <a:cs typeface="Tajaw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0" y="4023360"/>
            <a:ext cx="2194560" cy="777240"/>
          </a:xfrm>
          <a:prstGeom prst="roundRect">
            <a:avLst>
              <a:gd name="adj" fmla="val 40000"/>
            </a:avLst>
          </a:prstGeom>
          <a:solidFill>
            <a:srgbClr val="FB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4023360"/>
            <a:ext cx="219456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2200" b="1">
                <a:solidFill>
                  <a:srgbClr val="EE5B4C"/>
                </a:solidFill>
                <a:latin typeface="Tajawal"/>
                <a:cs typeface="Tajawal"/>
              </a:rPr>
              <a:t>سلام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5486400" y="4411980"/>
            <a:ext cx="1188720" cy="0"/>
          </a:xfrm>
          <a:prstGeom prst="line">
            <a:avLst/>
          </a:prstGeom>
          <a:ln w="19050">
            <a:solidFill>
              <a:srgbClr val="8F9B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00400" y="4023360"/>
            <a:ext cx="2194560" cy="7772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18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4023360"/>
            <a:ext cx="219456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2200" b="1">
                <a:solidFill>
                  <a:srgbClr val="182233"/>
                </a:solidFill>
                <a:latin typeface="Tajawal"/>
                <a:cs typeface="Tajawal"/>
              </a:rPr>
              <a:t>4287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5257800"/>
            <a:ext cx="2194560" cy="777240"/>
          </a:xfrm>
          <a:prstGeom prst="roundRect">
            <a:avLst>
              <a:gd name="adj" fmla="val 40000"/>
            </a:avLst>
          </a:prstGeom>
          <a:solidFill>
            <a:srgbClr val="D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5257800"/>
            <a:ext cx="219456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2200" b="1">
                <a:solidFill>
                  <a:srgbClr val="338084"/>
                </a:solidFill>
                <a:latin typeface="Tajawal"/>
                <a:cs typeface="Tajawal"/>
              </a:rPr>
              <a:t>عليكم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5486400" y="5646420"/>
            <a:ext cx="1188720" cy="0"/>
          </a:xfrm>
          <a:prstGeom prst="line">
            <a:avLst/>
          </a:prstGeom>
          <a:ln w="19050">
            <a:solidFill>
              <a:srgbClr val="8F9B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00400" y="5257800"/>
            <a:ext cx="2194560" cy="7772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18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0" y="5257800"/>
            <a:ext cx="219456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2200" b="1">
                <a:solidFill>
                  <a:srgbClr val="182233"/>
                </a:solidFill>
                <a:latin typeface="Tajawal"/>
                <a:cs typeface="Tajawal"/>
              </a:rPr>
              <a:t>9342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أرقام بمعنى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>
                <a:solidFill>
                  <a:srgbClr val="182233"/>
                </a:solidFill>
                <a:latin typeface="Tajawal"/>
                <a:cs typeface="Tajawal"/>
              </a:rPr>
              <a:t>أرقام ذكيّة، مو عشوائيّة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5059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lang="ar-SA" sz="2400" b="1" i="0" dirty="0">
                <a:solidFill>
                  <a:srgbClr val="182233"/>
                </a:solidFill>
                <a:latin typeface="Tajawal"/>
                <a:cs typeface="Tajawal"/>
              </a:rPr>
              <a:t>الـ</a:t>
            </a:r>
            <a:r>
              <a:rPr lang="en-US" sz="2400" b="1" i="0" dirty="0">
                <a:solidFill>
                  <a:srgbClr val="182233"/>
                </a:solidFill>
                <a:latin typeface="Tajawal"/>
                <a:cs typeface="Tajawal"/>
              </a:rPr>
              <a:t>Ai</a:t>
            </a:r>
            <a:r>
              <a:rPr lang="ar-SA" sz="24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4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400" b="1" i="0" dirty="0" err="1">
                <a:solidFill>
                  <a:srgbClr val="182233"/>
                </a:solidFill>
                <a:latin typeface="Tajawal"/>
                <a:cs typeface="Tajawal"/>
              </a:rPr>
              <a:t>تعلّم</a:t>
            </a:r>
            <a:r>
              <a:rPr sz="24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400" b="1" i="0" dirty="0" err="1">
                <a:solidFill>
                  <a:srgbClr val="182233"/>
                </a:solidFill>
                <a:latin typeface="Tajawal"/>
                <a:cs typeface="Tajawal"/>
              </a:rPr>
              <a:t>يعطي</a:t>
            </a:r>
            <a:r>
              <a:rPr sz="24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400" b="1" i="0" dirty="0" err="1">
                <a:solidFill>
                  <a:srgbClr val="182233"/>
                </a:solidFill>
                <a:latin typeface="Tajawal"/>
                <a:cs typeface="Tajawal"/>
              </a:rPr>
              <a:t>الكلمات</a:t>
            </a:r>
            <a:r>
              <a:rPr sz="24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400" b="1" i="0" dirty="0" err="1">
                <a:solidFill>
                  <a:srgbClr val="182233"/>
                </a:solidFill>
                <a:latin typeface="Tajawal"/>
                <a:cs typeface="Tajawal"/>
              </a:rPr>
              <a:t>المتشابهة</a:t>
            </a:r>
            <a:r>
              <a:rPr sz="24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400" b="1" i="0" dirty="0" err="1">
                <a:solidFill>
                  <a:srgbClr val="182233"/>
                </a:solidFill>
                <a:latin typeface="Tajawal"/>
                <a:cs typeface="Tajawal"/>
              </a:rPr>
              <a:t>أرقاماً</a:t>
            </a:r>
            <a:r>
              <a:rPr sz="24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400" b="1" i="0" dirty="0" err="1">
                <a:solidFill>
                  <a:srgbClr val="182233"/>
                </a:solidFill>
                <a:latin typeface="Tajawal"/>
                <a:cs typeface="Tajawal"/>
              </a:rPr>
              <a:t>قريبة</a:t>
            </a:r>
            <a:r>
              <a:rPr sz="24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400" b="1" i="0" dirty="0" err="1">
                <a:solidFill>
                  <a:srgbClr val="182233"/>
                </a:solidFill>
                <a:latin typeface="Tajawal"/>
                <a:cs typeface="Tajawal"/>
              </a:rPr>
              <a:t>من</a:t>
            </a:r>
            <a:r>
              <a:rPr sz="24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400" b="1" i="0" dirty="0" err="1">
                <a:solidFill>
                  <a:srgbClr val="182233"/>
                </a:solidFill>
                <a:latin typeface="Tajawal"/>
                <a:cs typeface="Tajawal"/>
              </a:rPr>
              <a:t>بعض</a:t>
            </a:r>
            <a:r>
              <a:rPr lang="ar-SA" sz="24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lang="ar-SA" sz="2400" b="1" i="0" dirty="0" err="1">
                <a:solidFill>
                  <a:srgbClr val="182233"/>
                </a:solidFill>
                <a:latin typeface="Tajawal"/>
                <a:cs typeface="Tajawal"/>
              </a:rPr>
              <a:t>بالاحداثيات</a:t>
            </a:r>
            <a:r>
              <a:rPr sz="2400" b="1" i="0" dirty="0">
                <a:solidFill>
                  <a:srgbClr val="182233"/>
                </a:solidFill>
                <a:latin typeface="Tajawal"/>
                <a:cs typeface="Tajaw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881360" cy="91255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الفكرة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اسمها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lang="en-US" sz="2000" b="0" i="0" dirty="0">
                <a:solidFill>
                  <a:srgbClr val="4D5B73"/>
                </a:solidFill>
                <a:latin typeface="Tajawal"/>
                <a:cs typeface="Tajawal"/>
              </a:rPr>
              <a:t>Word embeddings</a:t>
            </a:r>
            <a:endParaRPr sz="2000" b="0" i="0" dirty="0">
              <a:solidFill>
                <a:srgbClr val="4D5B73"/>
              </a:solidFill>
              <a:latin typeface="Tajawal"/>
              <a:cs typeface="Tajawal"/>
            </a:endParaRPr>
          </a:p>
          <a:p>
            <a:pPr algn="r" rtl="1">
              <a:lnSpc>
                <a:spcPct val="150000"/>
              </a:lnSpc>
            </a:pP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الكلمات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تصير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نقاطاً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في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lang="ar-SA" sz="2000" b="0" i="0" dirty="0" err="1">
                <a:solidFill>
                  <a:srgbClr val="4D5B73"/>
                </a:solidFill>
                <a:latin typeface="Tajawal"/>
                <a:cs typeface="Tajawal"/>
              </a:rPr>
              <a:t>بالاحداثيات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،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وكل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lang="ar-SA" sz="2000" b="0" i="0" dirty="0">
                <a:solidFill>
                  <a:srgbClr val="4D5B73"/>
                </a:solidFill>
                <a:latin typeface="Tajawal"/>
                <a:cs typeface="Tajawal"/>
              </a:rPr>
              <a:t>"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عائلة</a:t>
            </a:r>
            <a:r>
              <a:rPr lang="ar-SA" sz="2000" b="0" i="0" dirty="0">
                <a:solidFill>
                  <a:srgbClr val="4D5B73"/>
                </a:solidFill>
                <a:latin typeface="Tajawal"/>
                <a:cs typeface="Tajawal"/>
              </a:rPr>
              <a:t>"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كلمات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قريبة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من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بعضها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4617720"/>
            <a:ext cx="4846320" cy="1783080"/>
          </a:xfrm>
          <a:prstGeom prst="roundRect">
            <a:avLst>
              <a:gd name="adj" fmla="val 5000"/>
            </a:avLst>
          </a:prstGeom>
          <a:solidFill>
            <a:srgbClr val="FBFAF6"/>
          </a:solidFill>
          <a:ln w="9525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869180" y="4617720"/>
            <a:ext cx="0" cy="1783080"/>
          </a:xfrm>
          <a:prstGeom prst="line">
            <a:avLst/>
          </a:prstGeom>
          <a:ln w="6350">
            <a:solidFill>
              <a:srgbClr val="E6E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0760" y="4617720"/>
            <a:ext cx="0" cy="1783080"/>
          </a:xfrm>
          <a:prstGeom prst="line">
            <a:avLst/>
          </a:prstGeom>
          <a:ln w="6350">
            <a:solidFill>
              <a:srgbClr val="E6E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292340" y="4617720"/>
            <a:ext cx="0" cy="1783080"/>
          </a:xfrm>
          <a:prstGeom prst="line">
            <a:avLst/>
          </a:prstGeom>
          <a:ln w="6350">
            <a:solidFill>
              <a:srgbClr val="E6E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57600" y="5206136"/>
            <a:ext cx="4846320" cy="0"/>
          </a:xfrm>
          <a:prstGeom prst="line">
            <a:avLst/>
          </a:prstGeom>
          <a:ln w="6350">
            <a:solidFill>
              <a:srgbClr val="E6E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0" y="5794552"/>
            <a:ext cx="4846320" cy="0"/>
          </a:xfrm>
          <a:prstGeom prst="line">
            <a:avLst/>
          </a:prstGeom>
          <a:ln w="6350">
            <a:solidFill>
              <a:srgbClr val="E6E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562856" y="5177790"/>
            <a:ext cx="128016" cy="128016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902098" y="5356098"/>
            <a:ext cx="128016" cy="128016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192877" y="5088636"/>
            <a:ext cx="128016" cy="128016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532120" y="5534405"/>
            <a:ext cx="128016" cy="128016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986015" y="4910327"/>
            <a:ext cx="128016" cy="128016"/>
          </a:xfrm>
          <a:prstGeom prst="ellipse">
            <a:avLst/>
          </a:prstGeom>
          <a:solidFill>
            <a:srgbClr val="338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73721" y="5088636"/>
            <a:ext cx="128016" cy="128016"/>
          </a:xfrm>
          <a:prstGeom prst="ellipse">
            <a:avLst/>
          </a:prstGeom>
          <a:solidFill>
            <a:srgbClr val="338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712963" y="5266944"/>
            <a:ext cx="128016" cy="128016"/>
          </a:xfrm>
          <a:prstGeom prst="ellipse">
            <a:avLst/>
          </a:prstGeom>
          <a:solidFill>
            <a:srgbClr val="338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59068" y="5801868"/>
            <a:ext cx="128016" cy="128016"/>
          </a:xfrm>
          <a:prstGeom prst="ellipse">
            <a:avLst/>
          </a:prstGeom>
          <a:solidFill>
            <a:srgbClr val="D6A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98310" y="5944514"/>
            <a:ext cx="128016" cy="128016"/>
          </a:xfrm>
          <a:prstGeom prst="ellipse">
            <a:avLst/>
          </a:prstGeom>
          <a:solidFill>
            <a:srgbClr val="D6A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89089" y="5766206"/>
            <a:ext cx="128016" cy="128016"/>
          </a:xfrm>
          <a:prstGeom prst="ellipse">
            <a:avLst/>
          </a:prstGeom>
          <a:solidFill>
            <a:srgbClr val="D6A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تمثيل الكلمات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>
                <a:solidFill>
                  <a:srgbClr val="182233"/>
                </a:solidFill>
                <a:latin typeface="Tajawal"/>
                <a:cs typeface="Tajawal"/>
              </a:rPr>
              <a:t>الكلمات المتشابهة تجلس قريبة من بعضها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2286000"/>
            <a:ext cx="9601200" cy="3657600"/>
          </a:xfrm>
          <a:prstGeom prst="roundRect">
            <a:avLst>
              <a:gd name="adj" fmla="val 4000"/>
            </a:avLst>
          </a:prstGeom>
          <a:solidFill>
            <a:srgbClr val="FBFAF6"/>
          </a:solidFill>
          <a:ln w="9525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6080760" y="2286000"/>
            <a:ext cx="0" cy="3657600"/>
          </a:xfrm>
          <a:prstGeom prst="line">
            <a:avLst/>
          </a:prstGeom>
          <a:ln w="6350">
            <a:solidFill>
              <a:srgbClr val="E6E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0160" y="4114800"/>
            <a:ext cx="9601200" cy="0"/>
          </a:xfrm>
          <a:prstGeom prst="line">
            <a:avLst/>
          </a:prstGeom>
          <a:ln w="6350">
            <a:solidFill>
              <a:srgbClr val="E6E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4439" y="5989320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214616" y="2606040"/>
            <a:ext cx="1371600" cy="585216"/>
          </a:xfrm>
          <a:prstGeom prst="roundRect">
            <a:avLst>
              <a:gd name="adj" fmla="val 45000"/>
            </a:avLst>
          </a:prstGeom>
          <a:solidFill>
            <a:srgbClr val="FB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14616" y="2606040"/>
            <a:ext cx="1371600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1">
                <a:solidFill>
                  <a:srgbClr val="EE5B4C"/>
                </a:solidFill>
                <a:latin typeface="Tajawal"/>
                <a:cs typeface="Tajawal"/>
              </a:rPr>
              <a:t>ملك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1976" y="2606040"/>
            <a:ext cx="1371600" cy="585216"/>
          </a:xfrm>
          <a:prstGeom prst="roundRect">
            <a:avLst>
              <a:gd name="adj" fmla="val 45000"/>
            </a:avLst>
          </a:prstGeom>
          <a:solidFill>
            <a:srgbClr val="FB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51976" y="2606040"/>
            <a:ext cx="1371600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1">
                <a:solidFill>
                  <a:srgbClr val="EE5B4C"/>
                </a:solidFill>
                <a:latin typeface="Tajawal"/>
                <a:cs typeface="Tajawal"/>
              </a:rPr>
              <a:t>ملكة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3429000"/>
            <a:ext cx="1371600" cy="585216"/>
          </a:xfrm>
          <a:prstGeom prst="roundRect">
            <a:avLst>
              <a:gd name="adj" fmla="val 45000"/>
            </a:avLst>
          </a:prstGeom>
          <a:solidFill>
            <a:srgbClr val="FB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3296" y="3429000"/>
            <a:ext cx="1371600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1">
                <a:solidFill>
                  <a:srgbClr val="EE5B4C"/>
                </a:solidFill>
                <a:latin typeface="Tajawal"/>
                <a:cs typeface="Tajawal"/>
              </a:rPr>
              <a:t>أمير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14616" y="4288536"/>
            <a:ext cx="1371600" cy="585216"/>
          </a:xfrm>
          <a:prstGeom prst="roundRect">
            <a:avLst>
              <a:gd name="adj" fmla="val 45000"/>
            </a:avLst>
          </a:prstGeom>
          <a:solidFill>
            <a:srgbClr val="DE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14616" y="4288536"/>
            <a:ext cx="1371600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1">
                <a:solidFill>
                  <a:srgbClr val="7B9E88"/>
                </a:solidFill>
                <a:latin typeface="Tajawal"/>
                <a:cs typeface="Tajawal"/>
              </a:rPr>
              <a:t>قطّة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4288536"/>
            <a:ext cx="1371600" cy="585216"/>
          </a:xfrm>
          <a:prstGeom prst="roundRect">
            <a:avLst>
              <a:gd name="adj" fmla="val 45000"/>
            </a:avLst>
          </a:prstGeom>
          <a:solidFill>
            <a:srgbClr val="DE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51976" y="4288536"/>
            <a:ext cx="1371600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1">
                <a:solidFill>
                  <a:srgbClr val="7B9E88"/>
                </a:solidFill>
                <a:latin typeface="Tajawal"/>
                <a:cs typeface="Tajawal"/>
              </a:rPr>
              <a:t>كلب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5111496"/>
            <a:ext cx="1371600" cy="585216"/>
          </a:xfrm>
          <a:prstGeom prst="roundRect">
            <a:avLst>
              <a:gd name="adj" fmla="val 45000"/>
            </a:avLst>
          </a:prstGeom>
          <a:solidFill>
            <a:srgbClr val="DE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83296" y="5111496"/>
            <a:ext cx="1371600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1">
                <a:solidFill>
                  <a:srgbClr val="7B9E88"/>
                </a:solidFill>
                <a:latin typeface="Tajawal"/>
                <a:cs typeface="Tajawal"/>
              </a:rPr>
              <a:t>أرنب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37943" y="2606040"/>
            <a:ext cx="1371600" cy="585216"/>
          </a:xfrm>
          <a:prstGeom prst="roundRect">
            <a:avLst>
              <a:gd name="adj" fmla="val 45000"/>
            </a:avLst>
          </a:prstGeom>
          <a:solidFill>
            <a:srgbClr val="D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37943" y="2606040"/>
            <a:ext cx="1371600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1">
                <a:solidFill>
                  <a:srgbClr val="338084"/>
                </a:solidFill>
                <a:latin typeface="Tajawal"/>
                <a:cs typeface="Tajawal"/>
              </a:rPr>
              <a:t>سيّارة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75304" y="2606040"/>
            <a:ext cx="1371600" cy="585216"/>
          </a:xfrm>
          <a:prstGeom prst="roundRect">
            <a:avLst>
              <a:gd name="adj" fmla="val 45000"/>
            </a:avLst>
          </a:prstGeom>
          <a:solidFill>
            <a:srgbClr val="D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75304" y="2606040"/>
            <a:ext cx="1371600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1">
                <a:solidFill>
                  <a:srgbClr val="338084"/>
                </a:solidFill>
                <a:latin typeface="Tajawal"/>
                <a:cs typeface="Tajawal"/>
              </a:rPr>
              <a:t>طائرة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06624" y="3429000"/>
            <a:ext cx="1371600" cy="585216"/>
          </a:xfrm>
          <a:prstGeom prst="roundRect">
            <a:avLst>
              <a:gd name="adj" fmla="val 45000"/>
            </a:avLst>
          </a:prstGeom>
          <a:solidFill>
            <a:srgbClr val="D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06624" y="3429000"/>
            <a:ext cx="1371600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1">
                <a:solidFill>
                  <a:srgbClr val="338084"/>
                </a:solidFill>
                <a:latin typeface="Tajawal"/>
                <a:cs typeface="Tajawal"/>
              </a:rPr>
              <a:t>قطار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37943" y="4288536"/>
            <a:ext cx="1371600" cy="585216"/>
          </a:xfrm>
          <a:prstGeom prst="roundRect">
            <a:avLst>
              <a:gd name="adj" fmla="val 45000"/>
            </a:avLst>
          </a:prstGeom>
          <a:solidFill>
            <a:srgbClr val="F6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37943" y="4288536"/>
            <a:ext cx="1371600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1">
                <a:solidFill>
                  <a:srgbClr val="D6A83F"/>
                </a:solidFill>
                <a:latin typeface="Tajawal"/>
                <a:cs typeface="Tajawal"/>
              </a:rPr>
              <a:t>تفّاحة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75304" y="4288536"/>
            <a:ext cx="1371600" cy="585216"/>
          </a:xfrm>
          <a:prstGeom prst="roundRect">
            <a:avLst>
              <a:gd name="adj" fmla="val 45000"/>
            </a:avLst>
          </a:prstGeom>
          <a:solidFill>
            <a:srgbClr val="F6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75304" y="4288536"/>
            <a:ext cx="1371600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1">
                <a:solidFill>
                  <a:srgbClr val="D6A83F"/>
                </a:solidFill>
                <a:latin typeface="Tajawal"/>
                <a:cs typeface="Tajawal"/>
              </a:rPr>
              <a:t>موزة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06624" y="5111496"/>
            <a:ext cx="1371600" cy="585216"/>
          </a:xfrm>
          <a:prstGeom prst="roundRect">
            <a:avLst>
              <a:gd name="adj" fmla="val 45000"/>
            </a:avLst>
          </a:prstGeom>
          <a:solidFill>
            <a:srgbClr val="F6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06624" y="5111496"/>
            <a:ext cx="1371600" cy="5852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1">
                <a:solidFill>
                  <a:srgbClr val="D6A83F"/>
                </a:solidFill>
                <a:latin typeface="Tajawal"/>
                <a:cs typeface="Tajawal"/>
              </a:rPr>
              <a:t>برتقال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126480"/>
            <a:ext cx="10881360" cy="2862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400" b="0" i="1" dirty="0" err="1">
                <a:solidFill>
                  <a:srgbClr val="4D5B73"/>
                </a:solidFill>
                <a:latin typeface="Tajawal"/>
                <a:cs typeface="Tajawal"/>
              </a:rPr>
              <a:t>كل</a:t>
            </a:r>
            <a:r>
              <a:rPr sz="1400" b="0" i="1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1400" b="0" i="1" dirty="0" err="1">
                <a:solidFill>
                  <a:srgbClr val="4D5B73"/>
                </a:solidFill>
                <a:latin typeface="Tajawal"/>
                <a:cs typeface="Tajawal"/>
              </a:rPr>
              <a:t>عائلة</a:t>
            </a:r>
            <a:r>
              <a:rPr sz="1400" b="0" i="1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1400" b="0" i="1" dirty="0" err="1">
                <a:solidFill>
                  <a:srgbClr val="4D5B73"/>
                </a:solidFill>
                <a:latin typeface="Tajawal"/>
                <a:cs typeface="Tajawal"/>
              </a:rPr>
              <a:t>كلمات</a:t>
            </a:r>
            <a:r>
              <a:rPr sz="1400" b="0" i="1" dirty="0">
                <a:solidFill>
                  <a:srgbClr val="4D5B73"/>
                </a:solidFill>
                <a:latin typeface="Tajawal"/>
                <a:cs typeface="Tajawal"/>
              </a:rPr>
              <a:t>، </a:t>
            </a:r>
            <a:r>
              <a:rPr sz="1400" b="0" i="1" dirty="0" err="1">
                <a:solidFill>
                  <a:srgbClr val="4D5B73"/>
                </a:solidFill>
                <a:latin typeface="Tajawal"/>
                <a:cs typeface="Tajawal"/>
              </a:rPr>
              <a:t>تتجمّع</a:t>
            </a:r>
            <a:r>
              <a:rPr sz="1400" b="0" i="1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1400" b="0" i="1" dirty="0" err="1">
                <a:solidFill>
                  <a:srgbClr val="4D5B73"/>
                </a:solidFill>
                <a:latin typeface="Tajawal"/>
                <a:cs typeface="Tajawal"/>
              </a:rPr>
              <a:t>في</a:t>
            </a:r>
            <a:r>
              <a:rPr sz="1400" b="0" i="1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lang="ar-SA" sz="1400" i="1" dirty="0">
                <a:solidFill>
                  <a:srgbClr val="4D5B73"/>
                </a:solidFill>
                <a:latin typeface="Tajawal"/>
                <a:cs typeface="Tajawal"/>
              </a:rPr>
              <a:t>بمكان لها</a:t>
            </a:r>
            <a:r>
              <a:rPr sz="1400" b="0" i="1" dirty="0">
                <a:solidFill>
                  <a:srgbClr val="4D5B73"/>
                </a:solidFill>
                <a:latin typeface="Tajawal"/>
                <a:cs typeface="Tajawal"/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C108C4-3BDF-110D-CFFB-1D5D8544B74E}"/>
              </a:ext>
            </a:extLst>
          </p:cNvPr>
          <p:cNvSpPr txBox="1"/>
          <p:nvPr/>
        </p:nvSpPr>
        <p:spPr>
          <a:xfrm>
            <a:off x="670560" y="1938528"/>
            <a:ext cx="10881360" cy="2862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lang="en-US" sz="1400" b="1" i="1" dirty="0">
                <a:solidFill>
                  <a:srgbClr val="4D5B73"/>
                </a:solidFill>
                <a:latin typeface="Tajawal"/>
                <a:cs typeface="Tajawal"/>
              </a:rPr>
              <a:t>y</a:t>
            </a:r>
            <a:endParaRPr sz="1400" b="1" i="1" dirty="0">
              <a:solidFill>
                <a:srgbClr val="4D5B73"/>
              </a:solidFill>
              <a:latin typeface="Tajawal"/>
              <a:cs typeface="Tajaw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5D13F5-06A2-F3C0-19D1-27CDDC9CD098}"/>
              </a:ext>
            </a:extLst>
          </p:cNvPr>
          <p:cNvSpPr txBox="1"/>
          <p:nvPr/>
        </p:nvSpPr>
        <p:spPr>
          <a:xfrm>
            <a:off x="5581227" y="3958793"/>
            <a:ext cx="10881360" cy="2862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lang="en-US" sz="1400" b="1" i="1" dirty="0">
                <a:solidFill>
                  <a:srgbClr val="4D5B73"/>
                </a:solidFill>
                <a:latin typeface="Tajawal"/>
                <a:cs typeface="Tajawal"/>
              </a:rPr>
              <a:t>x</a:t>
            </a:r>
            <a:endParaRPr sz="1400" b="1" i="1" dirty="0">
              <a:solidFill>
                <a:srgbClr val="4D5B73"/>
              </a:solidFill>
              <a:latin typeface="Tajawal"/>
              <a:cs typeface="Tajaw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السياق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66992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lang="ar-SA" sz="3800" b="1" i="0" dirty="0">
                <a:solidFill>
                  <a:srgbClr val="182233"/>
                </a:solidFill>
                <a:latin typeface="Tajawal"/>
                <a:cs typeface="Tajawal"/>
              </a:rPr>
              <a:t>اللغة شيء معقد ..</a:t>
            </a:r>
            <a:endParaRPr sz="3800" b="1" i="0" dirty="0">
              <a:solidFill>
                <a:srgbClr val="182233"/>
              </a:solidFill>
              <a:latin typeface="Tajawal"/>
              <a:cs typeface="Tajaw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3000" b="1" i="0" dirty="0" err="1">
                <a:solidFill>
                  <a:srgbClr val="182233"/>
                </a:solidFill>
                <a:latin typeface="Tajawal"/>
                <a:cs typeface="Tajawal"/>
              </a:rPr>
              <a:t>نفس</a:t>
            </a:r>
            <a:r>
              <a:rPr sz="30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3000" b="1" i="0" dirty="0" err="1">
                <a:solidFill>
                  <a:srgbClr val="182233"/>
                </a:solidFill>
                <a:latin typeface="Tajawal"/>
                <a:cs typeface="Tajawal"/>
              </a:rPr>
              <a:t>الكلمة</a:t>
            </a:r>
            <a:r>
              <a:rPr sz="3000" b="1" i="0" dirty="0">
                <a:solidFill>
                  <a:srgbClr val="182233"/>
                </a:solidFill>
                <a:latin typeface="Tajawal"/>
                <a:cs typeface="Tajawal"/>
              </a:rPr>
              <a:t>، </a:t>
            </a:r>
            <a:r>
              <a:rPr sz="3000" b="1" i="0" dirty="0" err="1">
                <a:solidFill>
                  <a:srgbClr val="182233"/>
                </a:solidFill>
                <a:latin typeface="Tajawal"/>
                <a:cs typeface="Tajawal"/>
              </a:rPr>
              <a:t>تحمل</a:t>
            </a:r>
            <a:r>
              <a:rPr sz="30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3000" b="1" i="0" dirty="0" err="1">
                <a:solidFill>
                  <a:srgbClr val="182233"/>
                </a:solidFill>
                <a:latin typeface="Tajawal"/>
                <a:cs typeface="Tajawal"/>
              </a:rPr>
              <a:t>معاني</a:t>
            </a:r>
            <a:r>
              <a:rPr sz="30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3000" b="1" i="0" dirty="0" err="1">
                <a:solidFill>
                  <a:srgbClr val="182233"/>
                </a:solidFill>
                <a:latin typeface="Tajawal"/>
                <a:cs typeface="Tajawal"/>
              </a:rPr>
              <a:t>مختلفة</a:t>
            </a:r>
            <a:r>
              <a:rPr sz="3000" b="1" i="0" dirty="0">
                <a:solidFill>
                  <a:srgbClr val="182233"/>
                </a:solidFill>
                <a:latin typeface="Tajawal"/>
                <a:cs typeface="Tajaw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8813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400" b="1" i="0">
                <a:solidFill>
                  <a:srgbClr val="EE5B4C"/>
                </a:solidFill>
                <a:latin typeface="Tajawal"/>
                <a:cs typeface="Tajawal"/>
              </a:rPr>
              <a:t>كيف يعرف النموذج المعنى الصحيح؟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8F9BAD"/>
                </a:solidFill>
                <a:latin typeface="Tajawal"/>
                <a:cs typeface="Tajawal"/>
              </a:rPr>
              <a:t>مثال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881360" cy="91255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2000" b="0" i="0" dirty="0">
                <a:solidFill>
                  <a:srgbClr val="4D5B73"/>
                </a:solidFill>
                <a:latin typeface="Tajawal"/>
                <a:cs typeface="Tajawal"/>
              </a:rPr>
              <a:t>كلمة عين:</a:t>
            </a:r>
          </a:p>
          <a:p>
            <a:pPr algn="r" rtl="1">
              <a:lnSpc>
                <a:spcPct val="150000"/>
              </a:lnSpc>
            </a:pPr>
            <a:r>
              <a:rPr lang="ar-SA" sz="2000" dirty="0">
                <a:solidFill>
                  <a:srgbClr val="4D5B73"/>
                </a:solidFill>
                <a:latin typeface="Tajawal"/>
                <a:cs typeface="Tajawal"/>
              </a:rPr>
              <a:t>"كل انسان له عينان" | "عطيته عين" | "رح للعين </a:t>
            </a:r>
            <a:r>
              <a:rPr lang="ar-SA" sz="2000" dirty="0" err="1">
                <a:solidFill>
                  <a:srgbClr val="4D5B73"/>
                </a:solidFill>
                <a:latin typeface="Tajawal"/>
                <a:cs typeface="Tajawal"/>
              </a:rPr>
              <a:t>للمياة</a:t>
            </a:r>
            <a:r>
              <a:rPr lang="ar-SA" sz="2000" dirty="0">
                <a:solidFill>
                  <a:srgbClr val="4D5B73"/>
                </a:solidFill>
                <a:latin typeface="Tajawal"/>
                <a:cs typeface="Tajawal"/>
              </a:rPr>
              <a:t>" | "عين الشيء" ..  </a:t>
            </a:r>
            <a:endParaRPr sz="2000" b="0" i="0" dirty="0">
              <a:solidFill>
                <a:srgbClr val="4D5B73"/>
              </a:solidFill>
              <a:latin typeface="Tajawal"/>
              <a:cs typeface="Tajaw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لغز Apple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4316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 dirty="0" err="1">
                <a:solidFill>
                  <a:srgbClr val="182233"/>
                </a:solidFill>
                <a:latin typeface="Tajawal"/>
                <a:cs typeface="Tajawal"/>
              </a:rPr>
              <a:t>وين</a:t>
            </a:r>
            <a:r>
              <a:rPr sz="3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3800" b="1" i="0" dirty="0" err="1">
                <a:solidFill>
                  <a:srgbClr val="182233"/>
                </a:solidFill>
                <a:latin typeface="Tajawal"/>
                <a:cs typeface="Tajawal"/>
              </a:rPr>
              <a:t>نحطّ</a:t>
            </a:r>
            <a:r>
              <a:rPr sz="3800" b="1" i="0" dirty="0">
                <a:solidFill>
                  <a:srgbClr val="182233"/>
                </a:solidFill>
                <a:latin typeface="Tajawal"/>
                <a:cs typeface="Tajawal"/>
              </a:rPr>
              <a:t> Apple؟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827445"/>
            <a:ext cx="9601200" cy="3749039"/>
          </a:xfrm>
          <a:prstGeom prst="roundRect">
            <a:avLst>
              <a:gd name="adj" fmla="val 4000"/>
            </a:avLst>
          </a:prstGeom>
          <a:solidFill>
            <a:srgbClr val="FBFAF6"/>
          </a:solidFill>
          <a:ln w="9525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6080760" y="1827445"/>
            <a:ext cx="0" cy="3749040"/>
          </a:xfrm>
          <a:prstGeom prst="line">
            <a:avLst/>
          </a:prstGeom>
          <a:ln w="6350">
            <a:solidFill>
              <a:srgbClr val="E6E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0160" y="3701964"/>
            <a:ext cx="9601200" cy="0"/>
          </a:xfrm>
          <a:prstGeom prst="line">
            <a:avLst/>
          </a:prstGeom>
          <a:ln w="6350">
            <a:solidFill>
              <a:srgbClr val="E6E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51860" y="2046900"/>
            <a:ext cx="1508760" cy="603504"/>
          </a:xfrm>
          <a:prstGeom prst="roundRect">
            <a:avLst>
              <a:gd name="adj" fmla="val 45000"/>
            </a:avLst>
          </a:prstGeom>
          <a:solidFill>
            <a:srgbClr val="D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51860" y="2207075"/>
            <a:ext cx="1508760" cy="28315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lang="ar-SA" sz="1600" b="1" dirty="0">
                <a:solidFill>
                  <a:srgbClr val="338084"/>
                </a:solidFill>
                <a:latin typeface="Tajawal"/>
                <a:cs typeface="Tajawal"/>
              </a:rPr>
              <a:t>مايكروسوفت</a:t>
            </a:r>
            <a:endParaRPr sz="1600" b="1" dirty="0">
              <a:solidFill>
                <a:srgbClr val="338084"/>
              </a:solidFill>
              <a:latin typeface="Tajawal"/>
              <a:cs typeface="Tajaw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326380" y="2531681"/>
            <a:ext cx="1508760" cy="603504"/>
          </a:xfrm>
          <a:prstGeom prst="roundRect">
            <a:avLst>
              <a:gd name="adj" fmla="val 45000"/>
            </a:avLst>
          </a:prstGeom>
          <a:solidFill>
            <a:srgbClr val="D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26380" y="2691856"/>
            <a:ext cx="1508760" cy="28315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lang="ar-SA" sz="1600" b="1" dirty="0">
                <a:solidFill>
                  <a:srgbClr val="338084"/>
                </a:solidFill>
                <a:latin typeface="Tajawal"/>
                <a:cs typeface="Tajawal"/>
              </a:rPr>
              <a:t>اندرويد</a:t>
            </a:r>
            <a:endParaRPr sz="1600" b="1" dirty="0">
              <a:solidFill>
                <a:srgbClr val="338084"/>
              </a:solidFill>
              <a:latin typeface="Tajawal"/>
              <a:cs typeface="Tajaw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200899" y="2046900"/>
            <a:ext cx="1508760" cy="603504"/>
          </a:xfrm>
          <a:prstGeom prst="roundRect">
            <a:avLst>
              <a:gd name="adj" fmla="val 45000"/>
            </a:avLst>
          </a:prstGeom>
          <a:solidFill>
            <a:srgbClr val="D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00899" y="2207075"/>
            <a:ext cx="1508760" cy="28315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lang="ar-SA" sz="1600" b="1" dirty="0">
                <a:solidFill>
                  <a:srgbClr val="338084"/>
                </a:solidFill>
                <a:latin typeface="Tajawal"/>
                <a:cs typeface="Tajawal"/>
              </a:rPr>
              <a:t>بلايستيشن</a:t>
            </a:r>
            <a:endParaRPr sz="1600" b="1" dirty="0">
              <a:solidFill>
                <a:srgbClr val="338084"/>
              </a:solidFill>
              <a:latin typeface="Tajawal"/>
              <a:cs typeface="Tajaw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451860" y="4449944"/>
            <a:ext cx="1508760" cy="603504"/>
          </a:xfrm>
          <a:prstGeom prst="roundRect">
            <a:avLst>
              <a:gd name="adj" fmla="val 45000"/>
            </a:avLst>
          </a:prstGeom>
          <a:solidFill>
            <a:srgbClr val="F6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1860" y="4449944"/>
            <a:ext cx="150876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600" b="1" dirty="0" err="1">
                <a:solidFill>
                  <a:srgbClr val="D6A83F"/>
                </a:solidFill>
                <a:latin typeface="Tajawal"/>
                <a:cs typeface="Tajawal"/>
              </a:rPr>
              <a:t>مانجو</a:t>
            </a:r>
            <a:endParaRPr sz="1600" b="1" dirty="0">
              <a:solidFill>
                <a:srgbClr val="D6A83F"/>
              </a:solidFill>
              <a:latin typeface="Tajawal"/>
              <a:cs typeface="Tajaw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326380" y="4611948"/>
            <a:ext cx="1508760" cy="603504"/>
          </a:xfrm>
          <a:prstGeom prst="roundRect">
            <a:avLst>
              <a:gd name="adj" fmla="val 45000"/>
            </a:avLst>
          </a:prstGeom>
          <a:solidFill>
            <a:srgbClr val="F6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26380" y="4615010"/>
            <a:ext cx="150876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600" b="1">
                <a:solidFill>
                  <a:srgbClr val="D6A83F"/>
                </a:solidFill>
                <a:latin typeface="Tajawal"/>
                <a:cs typeface="Tajawal"/>
              </a:rPr>
              <a:t>بطّيخ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0899" y="4449944"/>
            <a:ext cx="1508760" cy="603504"/>
          </a:xfrm>
          <a:prstGeom prst="roundRect">
            <a:avLst>
              <a:gd name="adj" fmla="val 45000"/>
            </a:avLst>
          </a:prstGeom>
          <a:solidFill>
            <a:srgbClr val="F6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00899" y="4449944"/>
            <a:ext cx="1508760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600" b="1">
                <a:solidFill>
                  <a:srgbClr val="D6A83F"/>
                </a:solidFill>
                <a:latin typeface="Tajawal"/>
                <a:cs typeface="Tajawal"/>
              </a:rPr>
              <a:t>فراولة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4920" y="5709227"/>
            <a:ext cx="1920240" cy="777240"/>
          </a:xfrm>
          <a:prstGeom prst="roundRect">
            <a:avLst>
              <a:gd name="adj" fmla="val 35000"/>
            </a:avLst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74920" y="5709226"/>
            <a:ext cx="192024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2400" b="1" i="0" dirty="0">
                <a:solidFill>
                  <a:srgbClr val="FFFFFF"/>
                </a:solidFill>
                <a:latin typeface="Tajawal"/>
                <a:cs typeface="Tajawal"/>
              </a:rPr>
              <a:t>Apple  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وقفة تجربة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>
                <a:solidFill>
                  <a:srgbClr val="182233"/>
                </a:solidFill>
                <a:latin typeface="Tajawal"/>
                <a:cs typeface="Tajawal"/>
              </a:rPr>
              <a:t>خلّونا نشوفها بأنفسنا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118737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بنفتح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الآن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OpenAI Tokenizer</a:t>
            </a:r>
            <a:r>
              <a:rPr lang="ar-SA" sz="2800" b="1" dirty="0">
                <a:solidFill>
                  <a:srgbClr val="182233"/>
                </a:solidFill>
                <a:latin typeface="Tajawal"/>
                <a:cs typeface="Tajawal"/>
              </a:rPr>
              <a:t>.</a:t>
            </a:r>
            <a:endParaRPr sz="2800" b="1" i="0" dirty="0">
              <a:solidFill>
                <a:srgbClr val="182233"/>
              </a:solidFill>
              <a:latin typeface="Tajawal"/>
              <a:cs typeface="Tajawal"/>
            </a:endParaRPr>
          </a:p>
          <a:p>
            <a:pPr algn="r" rtl="1">
              <a:lnSpc>
                <a:spcPct val="140000"/>
              </a:lnSpc>
            </a:pP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هذا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أول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شي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يسوّيهChatGPT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lang="ar-SA" sz="2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لرسالتك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572000"/>
            <a:ext cx="8503920" cy="1508760"/>
          </a:xfrm>
          <a:prstGeom prst="roundRect">
            <a:avLst>
              <a:gd name="adj" fmla="val 8000"/>
            </a:avLst>
          </a:prstGeom>
          <a:solidFill>
            <a:srgbClr val="FB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48840" y="5029200"/>
            <a:ext cx="73152" cy="594360"/>
          </a:xfrm>
          <a:prstGeom prst="roundRect">
            <a:avLst>
              <a:gd name="adj" fmla="val 40000"/>
            </a:avLst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31720" y="4846320"/>
            <a:ext cx="76809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1" i="0">
                <a:solidFill>
                  <a:srgbClr val="EE5B4C"/>
                </a:solidFill>
                <a:latin typeface="Tajawal"/>
                <a:cs typeface="Tajawal"/>
              </a:rPr>
              <a:t>تجربة حيّة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5257800"/>
            <a:ext cx="7680960" cy="35753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800" b="0" i="0" dirty="0" err="1">
                <a:solidFill>
                  <a:srgbClr val="182233"/>
                </a:solidFill>
                <a:latin typeface="Tajawal"/>
                <a:cs typeface="Tajawal"/>
              </a:rPr>
              <a:t>اكتب</a:t>
            </a:r>
            <a:r>
              <a:rPr sz="1800" b="0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1800" b="0" i="0" dirty="0" err="1">
                <a:solidFill>
                  <a:srgbClr val="182233"/>
                </a:solidFill>
                <a:latin typeface="Tajawal"/>
                <a:cs typeface="Tajawal"/>
              </a:rPr>
              <a:t>جملة</a:t>
            </a:r>
            <a:r>
              <a:rPr sz="1800" b="0" i="0" dirty="0">
                <a:solidFill>
                  <a:srgbClr val="182233"/>
                </a:solidFill>
                <a:latin typeface="Tajawal"/>
                <a:cs typeface="Tajawal"/>
              </a:rPr>
              <a:t>، </a:t>
            </a:r>
            <a:r>
              <a:rPr sz="1800" b="0" i="0" dirty="0" err="1">
                <a:solidFill>
                  <a:srgbClr val="182233"/>
                </a:solidFill>
                <a:latin typeface="Tajawal"/>
                <a:cs typeface="Tajawal"/>
              </a:rPr>
              <a:t>شف</a:t>
            </a:r>
            <a:r>
              <a:rPr sz="1800" b="0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1800" b="0" i="0" dirty="0" err="1">
                <a:solidFill>
                  <a:srgbClr val="182233"/>
                </a:solidFill>
                <a:latin typeface="Tajawal"/>
                <a:cs typeface="Tajawal"/>
              </a:rPr>
              <a:t>كيف</a:t>
            </a:r>
            <a:r>
              <a:rPr sz="1800" b="0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1800" b="0" i="0" dirty="0" err="1">
                <a:solidFill>
                  <a:srgbClr val="182233"/>
                </a:solidFill>
                <a:latin typeface="Tajawal"/>
                <a:cs typeface="Tajawal"/>
              </a:rPr>
              <a:t>تتقطّع</a:t>
            </a:r>
            <a:r>
              <a:rPr sz="1800" b="0" i="0" dirty="0">
                <a:solidFill>
                  <a:srgbClr val="182233"/>
                </a:solidFill>
                <a:latin typeface="Tajawal"/>
                <a:cs typeface="Tajawal"/>
              </a:rPr>
              <a:t>، </a:t>
            </a:r>
            <a:r>
              <a:rPr sz="1800" b="0" i="0" dirty="0" err="1">
                <a:solidFill>
                  <a:srgbClr val="182233"/>
                </a:solidFill>
                <a:latin typeface="Tajawal"/>
                <a:cs typeface="Tajawal"/>
              </a:rPr>
              <a:t>وكم</a:t>
            </a:r>
            <a:r>
              <a:rPr sz="1800" b="0" i="0" dirty="0">
                <a:solidFill>
                  <a:srgbClr val="182233"/>
                </a:solidFill>
                <a:latin typeface="Tajawal"/>
                <a:cs typeface="Tajawal"/>
              </a:rPr>
              <a:t> token</a:t>
            </a:r>
            <a:r>
              <a:rPr lang="ar-SA" sz="1800" b="0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1800" b="0" i="0" dirty="0" err="1">
                <a:solidFill>
                  <a:srgbClr val="182233"/>
                </a:solidFill>
                <a:latin typeface="Tajawal"/>
                <a:cs typeface="Tajawal"/>
              </a:rPr>
              <a:t>تصير</a:t>
            </a:r>
            <a:r>
              <a:rPr sz="1800" b="0" i="0" dirty="0">
                <a:solidFill>
                  <a:srgbClr val="182233"/>
                </a:solidFill>
                <a:latin typeface="Tajawal"/>
                <a:cs typeface="Tajawal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الخطوة الثانية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>
                <a:solidFill>
                  <a:srgbClr val="182233"/>
                </a:solidFill>
                <a:latin typeface="Tajawal"/>
                <a:cs typeface="Tajawal"/>
              </a:rPr>
              <a:t>الانتباه (Attention)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103515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lang="ar-SA" sz="2600" b="1" i="0" dirty="0">
                <a:solidFill>
                  <a:srgbClr val="182233"/>
                </a:solidFill>
                <a:latin typeface="Tajawal"/>
                <a:cs typeface="Tajawal"/>
              </a:rPr>
              <a:t>الحين قسمنا الكلمات </a:t>
            </a:r>
            <a:r>
              <a:rPr lang="ar-SA" sz="2600" b="1" i="0" dirty="0" err="1">
                <a:solidFill>
                  <a:srgbClr val="182233"/>
                </a:solidFill>
                <a:latin typeface="Tajawal"/>
                <a:cs typeface="Tajawal"/>
              </a:rPr>
              <a:t>لارقام</a:t>
            </a:r>
            <a:r>
              <a:rPr lang="ar-SA" sz="2600" b="1" dirty="0">
                <a:solidFill>
                  <a:srgbClr val="182233"/>
                </a:solidFill>
                <a:latin typeface="Tajawal"/>
                <a:cs typeface="Tajawal"/>
              </a:rPr>
              <a:t> ذكية،</a:t>
            </a:r>
          </a:p>
          <a:p>
            <a:pPr algn="r" rtl="1">
              <a:lnSpc>
                <a:spcPct val="130000"/>
              </a:lnSpc>
            </a:pPr>
            <a:r>
              <a:rPr lang="ar-SA" sz="2600" b="1" i="0" dirty="0">
                <a:solidFill>
                  <a:srgbClr val="182233"/>
                </a:solidFill>
                <a:latin typeface="Tajawal"/>
                <a:cs typeface="Tajawal"/>
              </a:rPr>
              <a:t>بس بعدها </a:t>
            </a:r>
            <a:r>
              <a:rPr lang="ar-SA" sz="2600" b="1" i="0" dirty="0" err="1">
                <a:solidFill>
                  <a:srgbClr val="182233"/>
                </a:solidFill>
                <a:latin typeface="Tajawal"/>
                <a:cs typeface="Tajawal"/>
              </a:rPr>
              <a:t>ايش</a:t>
            </a:r>
            <a:r>
              <a:rPr lang="ar-SA" sz="2600" b="1" i="0" dirty="0">
                <a:solidFill>
                  <a:srgbClr val="182233"/>
                </a:solidFill>
                <a:latin typeface="Tajawal"/>
                <a:cs typeface="Tajawal"/>
              </a:rPr>
              <a:t>؟ </a:t>
            </a:r>
            <a:endParaRPr sz="2600" b="1" i="0" dirty="0">
              <a:solidFill>
                <a:srgbClr val="182233"/>
              </a:solidFill>
              <a:latin typeface="Tajawal"/>
              <a:cs typeface="Tajaw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881360" cy="4288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الآن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،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النموذج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يحتاج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يفهم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العلاقات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بين</a:t>
            </a:r>
            <a:r>
              <a:rPr lang="ar-SA" sz="2200" b="0" i="0" dirty="0">
                <a:solidFill>
                  <a:srgbClr val="4D5B73"/>
                </a:solidFill>
                <a:latin typeface="Tajawal"/>
                <a:cs typeface="Tajawal"/>
              </a:rPr>
              <a:t> الكلمات، السياق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4846320"/>
            <a:ext cx="8869680" cy="1234440"/>
          </a:xfrm>
          <a:prstGeom prst="roundRect">
            <a:avLst>
              <a:gd name="adj" fmla="val 8000"/>
            </a:avLst>
          </a:prstGeom>
          <a:solidFill>
            <a:srgbClr val="D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965960" y="5074920"/>
            <a:ext cx="73152" cy="777240"/>
          </a:xfrm>
          <a:prstGeom prst="roundRect">
            <a:avLst>
              <a:gd name="adj" fmla="val 40000"/>
            </a:avLst>
          </a:prstGeom>
          <a:solidFill>
            <a:srgbClr val="338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48840" y="4937760"/>
            <a:ext cx="8229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338084"/>
                </a:solidFill>
                <a:latin typeface="Tajawal"/>
                <a:cs typeface="Tajawal"/>
              </a:rPr>
              <a:t>الحل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5303520"/>
            <a:ext cx="8229600" cy="35753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800" b="1" i="0" dirty="0" err="1">
                <a:solidFill>
                  <a:srgbClr val="182233"/>
                </a:solidFill>
                <a:latin typeface="Tajawal"/>
                <a:cs typeface="Tajawal"/>
              </a:rPr>
              <a:t>فكرة</a:t>
            </a:r>
            <a:r>
              <a:rPr sz="1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1800" b="1" i="0" dirty="0" err="1">
                <a:solidFill>
                  <a:srgbClr val="182233"/>
                </a:solidFill>
                <a:latin typeface="Tajawal"/>
                <a:cs typeface="Tajawal"/>
              </a:rPr>
              <a:t>اسمها</a:t>
            </a:r>
            <a:r>
              <a:rPr sz="1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lang="en-US" sz="1800" b="1" i="0" dirty="0">
                <a:solidFill>
                  <a:srgbClr val="182233"/>
                </a:solidFill>
                <a:latin typeface="Tajawal"/>
                <a:cs typeface="Tajawal"/>
              </a:rPr>
              <a:t>Attention</a:t>
            </a:r>
            <a:r>
              <a:rPr lang="ar-SA" sz="1800" b="1" i="0" dirty="0">
                <a:solidFill>
                  <a:srgbClr val="182233"/>
                </a:solidFill>
                <a:latin typeface="Tajawal"/>
                <a:cs typeface="Tajawal"/>
              </a:rPr>
              <a:t>: </a:t>
            </a:r>
            <a:r>
              <a:rPr sz="1800" b="1" i="0" dirty="0" err="1">
                <a:solidFill>
                  <a:srgbClr val="182233"/>
                </a:solidFill>
                <a:latin typeface="Tajawal"/>
                <a:cs typeface="Tajawal"/>
              </a:rPr>
              <a:t>كل</a:t>
            </a:r>
            <a:r>
              <a:rPr sz="1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1800" b="1" i="0" dirty="0" err="1">
                <a:solidFill>
                  <a:srgbClr val="182233"/>
                </a:solidFill>
                <a:latin typeface="Tajawal"/>
                <a:cs typeface="Tajawal"/>
              </a:rPr>
              <a:t>كلمة</a:t>
            </a:r>
            <a:r>
              <a:rPr sz="1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1800" b="1" i="0" dirty="0" err="1">
                <a:solidFill>
                  <a:srgbClr val="182233"/>
                </a:solidFill>
                <a:latin typeface="Tajawal"/>
                <a:cs typeface="Tajawal"/>
              </a:rPr>
              <a:t>تنتبه</a:t>
            </a:r>
            <a:r>
              <a:rPr sz="1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1800" b="1" i="0" dirty="0" err="1">
                <a:solidFill>
                  <a:srgbClr val="182233"/>
                </a:solidFill>
                <a:latin typeface="Tajawal"/>
                <a:cs typeface="Tajawal"/>
              </a:rPr>
              <a:t>للكلمات</a:t>
            </a:r>
            <a:r>
              <a:rPr sz="1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1800" b="1" i="0" dirty="0" err="1">
                <a:solidFill>
                  <a:srgbClr val="182233"/>
                </a:solidFill>
                <a:latin typeface="Tajawal"/>
                <a:cs typeface="Tajawal"/>
              </a:rPr>
              <a:t>المهمة</a:t>
            </a:r>
            <a:r>
              <a:rPr sz="1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1800" b="1" i="0" dirty="0" err="1">
                <a:solidFill>
                  <a:srgbClr val="182233"/>
                </a:solidFill>
                <a:latin typeface="Tajawal"/>
                <a:cs typeface="Tajawal"/>
              </a:rPr>
              <a:t>لها</a:t>
            </a:r>
            <a:r>
              <a:rPr sz="1800" b="1" i="0" dirty="0">
                <a:solidFill>
                  <a:srgbClr val="182233"/>
                </a:solidFill>
                <a:latin typeface="Tajawal"/>
                <a:cs typeface="Tajawal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كيف تشتغل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66992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 dirty="0" err="1">
                <a:solidFill>
                  <a:srgbClr val="182233"/>
                </a:solidFill>
                <a:latin typeface="Tajawal"/>
                <a:cs typeface="Tajawal"/>
              </a:rPr>
              <a:t>وش</a:t>
            </a:r>
            <a:r>
              <a:rPr sz="3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lang="ar-SA" sz="3800" b="1" i="0" dirty="0">
                <a:solidFill>
                  <a:srgbClr val="182233"/>
                </a:solidFill>
                <a:latin typeface="Tajawal"/>
                <a:cs typeface="Tajawal"/>
              </a:rPr>
              <a:t>ي</a:t>
            </a:r>
            <a:r>
              <a:rPr sz="3800" b="1" i="0" dirty="0" err="1">
                <a:solidFill>
                  <a:srgbClr val="182233"/>
                </a:solidFill>
                <a:latin typeface="Tajawal"/>
                <a:cs typeface="Tajawal"/>
              </a:rPr>
              <a:t>سوّي</a:t>
            </a:r>
            <a:r>
              <a:rPr sz="3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lang="ar-SA" sz="3800" b="1" i="0" dirty="0">
                <a:solidFill>
                  <a:srgbClr val="182233"/>
                </a:solidFill>
                <a:latin typeface="Tajawal"/>
                <a:cs typeface="Tajawal"/>
              </a:rPr>
              <a:t>الانتباه</a:t>
            </a:r>
            <a:r>
              <a:rPr sz="3800" b="1" i="0" dirty="0">
                <a:solidFill>
                  <a:srgbClr val="182233"/>
                </a:solidFill>
                <a:latin typeface="Tajawal"/>
                <a:cs typeface="Tajawal"/>
              </a:rPr>
              <a:t>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59087" y="4297680"/>
            <a:ext cx="1325880" cy="777240"/>
          </a:xfrm>
          <a:prstGeom prst="roundRect">
            <a:avLst>
              <a:gd name="adj" fmla="val 40000"/>
            </a:avLst>
          </a:prstGeom>
          <a:solidFill>
            <a:srgbClr val="F6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59087" y="4297680"/>
            <a:ext cx="132588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2000" b="1">
                <a:solidFill>
                  <a:srgbClr val="182233"/>
                </a:solidFill>
                <a:latin typeface="Tajawal"/>
                <a:cs typeface="Tajawal"/>
              </a:rPr>
              <a:t>اللعبة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8615" y="4297680"/>
            <a:ext cx="1325880" cy="7772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68615" y="4297680"/>
            <a:ext cx="132588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2000" b="0">
                <a:solidFill>
                  <a:srgbClr val="4D5B73"/>
                </a:solidFill>
                <a:latin typeface="Tajawal"/>
                <a:cs typeface="Tajawal"/>
              </a:rPr>
              <a:t>التي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4297680"/>
            <a:ext cx="1325880" cy="7772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78143" y="4297680"/>
            <a:ext cx="132588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2000" b="0">
                <a:solidFill>
                  <a:srgbClr val="4D5B73"/>
                </a:solidFill>
                <a:latin typeface="Tajawal"/>
                <a:cs typeface="Tajawal"/>
              </a:rPr>
              <a:t>لعبتها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7671" y="4297680"/>
            <a:ext cx="1325880" cy="7772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7671" y="4297680"/>
            <a:ext cx="132588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2000" b="0">
                <a:solidFill>
                  <a:srgbClr val="4D5B73"/>
                </a:solidFill>
                <a:latin typeface="Tajawal"/>
                <a:cs typeface="Tajawal"/>
              </a:rPr>
              <a:t>أمس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97199" y="4297680"/>
            <a:ext cx="1325880" cy="777240"/>
          </a:xfrm>
          <a:prstGeom prst="roundRect">
            <a:avLst>
              <a:gd name="adj" fmla="val 40000"/>
            </a:avLst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97199" y="4297680"/>
            <a:ext cx="132588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2000" b="1">
                <a:solidFill>
                  <a:srgbClr val="FFFFFF"/>
                </a:solidFill>
                <a:latin typeface="Tajawal"/>
                <a:cs typeface="Tajawal"/>
              </a:rPr>
              <a:t>كانت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6727" y="4297680"/>
            <a:ext cx="1325880" cy="777240"/>
          </a:xfrm>
          <a:prstGeom prst="roundRect">
            <a:avLst>
              <a:gd name="adj" fmla="val 40000"/>
            </a:avLst>
          </a:prstGeom>
          <a:solidFill>
            <a:srgbClr val="F6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06727" y="4297680"/>
            <a:ext cx="1325880" cy="7772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2000" b="1">
                <a:solidFill>
                  <a:srgbClr val="182233"/>
                </a:solidFill>
                <a:latin typeface="Tajawal"/>
                <a:cs typeface="Tajawal"/>
              </a:rPr>
              <a:t>ممتعة</a:t>
            </a:r>
          </a:p>
        </p:txBody>
      </p:sp>
      <p:sp>
        <p:nvSpPr>
          <p:cNvPr id="17" name="Freeform 16"/>
          <p:cNvSpPr/>
          <p:nvPr/>
        </p:nvSpPr>
        <p:spPr>
          <a:xfrm>
            <a:off x="3860139" y="3451860"/>
            <a:ext cx="5961888" cy="845820"/>
          </a:xfrm>
          <a:custGeom>
            <a:avLst/>
            <a:gdLst/>
            <a:ahLst/>
            <a:cxnLst/>
            <a:rect l="l" t="t" r="r" b="b"/>
            <a:pathLst>
              <a:path w="5961888" h="845820">
                <a:moveTo>
                  <a:pt x="0" y="845820"/>
                </a:moveTo>
                <a:lnTo>
                  <a:pt x="331216" y="668302"/>
                </a:lnTo>
                <a:lnTo>
                  <a:pt x="662432" y="511668"/>
                </a:lnTo>
                <a:lnTo>
                  <a:pt x="993648" y="375920"/>
                </a:lnTo>
                <a:lnTo>
                  <a:pt x="1324864" y="261055"/>
                </a:lnTo>
                <a:lnTo>
                  <a:pt x="1656080" y="167075"/>
                </a:lnTo>
                <a:lnTo>
                  <a:pt x="1987296" y="93980"/>
                </a:lnTo>
                <a:lnTo>
                  <a:pt x="2318512" y="41768"/>
                </a:lnTo>
                <a:lnTo>
                  <a:pt x="2649728" y="10442"/>
                </a:lnTo>
                <a:lnTo>
                  <a:pt x="2980944" y="0"/>
                </a:lnTo>
                <a:lnTo>
                  <a:pt x="3312160" y="10442"/>
                </a:lnTo>
                <a:lnTo>
                  <a:pt x="3643376" y="41768"/>
                </a:lnTo>
                <a:lnTo>
                  <a:pt x="3974592" y="93980"/>
                </a:lnTo>
                <a:lnTo>
                  <a:pt x="4305808" y="167075"/>
                </a:lnTo>
                <a:lnTo>
                  <a:pt x="4637024" y="261055"/>
                </a:lnTo>
                <a:lnTo>
                  <a:pt x="4968240" y="375920"/>
                </a:lnTo>
                <a:lnTo>
                  <a:pt x="5299456" y="511668"/>
                </a:lnTo>
                <a:lnTo>
                  <a:pt x="5630672" y="668302"/>
                </a:lnTo>
                <a:lnTo>
                  <a:pt x="5961888" y="845820"/>
                </a:lnTo>
              </a:path>
            </a:pathLst>
          </a:custGeom>
          <a:noFill/>
          <a:ln w="38100">
            <a:solidFill>
              <a:srgbClr val="EE5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reeform 17"/>
          <p:cNvSpPr/>
          <p:nvPr/>
        </p:nvSpPr>
        <p:spPr>
          <a:xfrm>
            <a:off x="2369667" y="3543300"/>
            <a:ext cx="1490472" cy="754380"/>
          </a:xfrm>
          <a:custGeom>
            <a:avLst/>
            <a:gdLst/>
            <a:ahLst/>
            <a:cxnLst/>
            <a:rect l="l" t="t" r="r" b="b"/>
            <a:pathLst>
              <a:path w="1490472" h="754380">
                <a:moveTo>
                  <a:pt x="1490472" y="754380"/>
                </a:moveTo>
                <a:lnTo>
                  <a:pt x="1407668" y="596053"/>
                </a:lnTo>
                <a:lnTo>
                  <a:pt x="1324864" y="456353"/>
                </a:lnTo>
                <a:lnTo>
                  <a:pt x="1242060" y="335280"/>
                </a:lnTo>
                <a:lnTo>
                  <a:pt x="1159256" y="232833"/>
                </a:lnTo>
                <a:lnTo>
                  <a:pt x="1076452" y="149013"/>
                </a:lnTo>
                <a:lnTo>
                  <a:pt x="993648" y="83820"/>
                </a:lnTo>
                <a:lnTo>
                  <a:pt x="910844" y="37253"/>
                </a:lnTo>
                <a:lnTo>
                  <a:pt x="828040" y="9313"/>
                </a:lnTo>
                <a:lnTo>
                  <a:pt x="745236" y="0"/>
                </a:lnTo>
                <a:lnTo>
                  <a:pt x="662432" y="9313"/>
                </a:lnTo>
                <a:lnTo>
                  <a:pt x="579628" y="37253"/>
                </a:lnTo>
                <a:lnTo>
                  <a:pt x="496824" y="83820"/>
                </a:lnTo>
                <a:lnTo>
                  <a:pt x="414020" y="149013"/>
                </a:lnTo>
                <a:lnTo>
                  <a:pt x="331216" y="232833"/>
                </a:lnTo>
                <a:lnTo>
                  <a:pt x="248412" y="335280"/>
                </a:lnTo>
                <a:lnTo>
                  <a:pt x="165608" y="456353"/>
                </a:lnTo>
                <a:lnTo>
                  <a:pt x="82804" y="596053"/>
                </a:lnTo>
                <a:lnTo>
                  <a:pt x="0" y="754380"/>
                </a:lnTo>
              </a:path>
            </a:pathLst>
          </a:custGeom>
          <a:noFill/>
          <a:ln w="25400">
            <a:solidFill>
              <a:srgbClr val="EE5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103120"/>
            <a:ext cx="10881360" cy="250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lang="ar-SA" sz="1200" b="1" i="0" dirty="0">
                <a:solidFill>
                  <a:srgbClr val="EE5B4C"/>
                </a:solidFill>
                <a:latin typeface="Tajawal"/>
                <a:cs typeface="Tajawal"/>
              </a:rPr>
              <a:t>الكلمة المركّز عليها حاليًا: كانت</a:t>
            </a:r>
            <a:endParaRPr sz="1200" b="1" i="0" dirty="0">
              <a:solidFill>
                <a:srgbClr val="EE5B4C"/>
              </a:solidFill>
              <a:latin typeface="Tajawal"/>
              <a:cs typeface="Tajaw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10881360" cy="2684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lang="ar-SA" sz="1300" b="0" i="1" dirty="0">
                <a:solidFill>
                  <a:srgbClr val="4D5B73"/>
                </a:solidFill>
                <a:latin typeface="Tajawal"/>
                <a:cs typeface="Tajawal"/>
              </a:rPr>
              <a:t>كل كلمة "تتنبه" للكلمات اللي لها علاقة معها بالجملة، سماكة الخطّ يعكس قوة الانتباه.</a:t>
            </a:r>
            <a:endParaRPr sz="1300" b="0" i="1" dirty="0">
              <a:solidFill>
                <a:srgbClr val="4D5B73"/>
              </a:solidFill>
              <a:latin typeface="Tajawal"/>
              <a:cs typeface="Tajaw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7639E4-047C-97A3-7A42-CCC1E0CDBCF1}"/>
              </a:ext>
            </a:extLst>
          </p:cNvPr>
          <p:cNvSpPr txBox="1"/>
          <p:nvPr/>
        </p:nvSpPr>
        <p:spPr>
          <a:xfrm>
            <a:off x="594360" y="5818371"/>
            <a:ext cx="10881360" cy="2684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lang="ar-SA" sz="1300" b="0" i="1" dirty="0">
                <a:solidFill>
                  <a:srgbClr val="4D5B73"/>
                </a:solidFill>
                <a:latin typeface="Tajawal"/>
                <a:cs typeface="Tajawal"/>
              </a:rPr>
              <a:t>كل ما الانتباه كان اكبر، كل ما رقم الكلمة يقترب الى رقم الكلمة المحددة.</a:t>
            </a:r>
            <a:endParaRPr sz="1300" b="0" i="1" dirty="0">
              <a:solidFill>
                <a:srgbClr val="4D5B73"/>
              </a:solidFill>
              <a:latin typeface="Tajawal"/>
              <a:cs typeface="Tajaw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لماذا تهم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>
                <a:solidFill>
                  <a:srgbClr val="182233"/>
                </a:solidFill>
                <a:latin typeface="Tajawal"/>
                <a:cs typeface="Tajawal"/>
              </a:rPr>
              <a:t>ليش هذي الفكرة غيّرت كل شي؟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118737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lang="ar-SA" sz="2800" b="1" i="0" dirty="0">
                <a:solidFill>
                  <a:srgbClr val="182233"/>
                </a:solidFill>
                <a:latin typeface="Tajawal"/>
                <a:cs typeface="Tajawal"/>
              </a:rPr>
              <a:t>عشان الـ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Attention، 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النموذج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يقرأ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الجملة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كاملةً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،</a:t>
            </a:r>
          </a:p>
          <a:p>
            <a:pPr algn="r" rtl="1">
              <a:lnSpc>
                <a:spcPct val="140000"/>
              </a:lnSpc>
            </a:pP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مو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كل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كلمة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لحالها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572000"/>
            <a:ext cx="8503920" cy="1554480"/>
          </a:xfrm>
          <a:prstGeom prst="roundRect">
            <a:avLst>
              <a:gd name="adj" fmla="val 10000"/>
            </a:avLst>
          </a:prstGeom>
          <a:solidFill>
            <a:srgbClr val="0E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48840" y="4754880"/>
            <a:ext cx="7863840" cy="250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ar-SA" sz="1200" b="1" i="0" dirty="0">
                <a:solidFill>
                  <a:srgbClr val="D6A83F"/>
                </a:solidFill>
                <a:latin typeface="Tajawal"/>
                <a:cs typeface="Tajawal"/>
              </a:rPr>
              <a:t>بحث </a:t>
            </a:r>
            <a:r>
              <a:rPr sz="1200" b="1" i="0" dirty="0">
                <a:solidFill>
                  <a:srgbClr val="D6A83F"/>
                </a:solidFill>
                <a:latin typeface="Tajawal"/>
                <a:cs typeface="Tajawal"/>
              </a:rPr>
              <a:t> 2017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5120640"/>
            <a:ext cx="786384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Tajawal"/>
                <a:cs typeface="Tajawal"/>
              </a:rPr>
              <a:t>Attention Is All You Need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الخطوة الثالثة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>
                <a:solidFill>
                  <a:srgbClr val="182233"/>
                </a:solidFill>
                <a:latin typeface="Tajawal"/>
                <a:cs typeface="Tajawal"/>
              </a:rPr>
              <a:t>كتابة الجواب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56797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السؤال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صار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مفهوم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881360" cy="46442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400" b="1" i="0" dirty="0" err="1">
                <a:solidFill>
                  <a:srgbClr val="EE5B4C"/>
                </a:solidFill>
                <a:latin typeface="Tajawal"/>
                <a:cs typeface="Tajawal"/>
              </a:rPr>
              <a:t>السؤال</a:t>
            </a:r>
            <a:r>
              <a:rPr sz="2400" b="1" i="0" dirty="0">
                <a:solidFill>
                  <a:srgbClr val="EE5B4C"/>
                </a:solidFill>
                <a:latin typeface="Tajawal"/>
                <a:cs typeface="Tajawal"/>
              </a:rPr>
              <a:t> </a:t>
            </a:r>
            <a:r>
              <a:rPr sz="2400" b="1" i="0" dirty="0" err="1">
                <a:solidFill>
                  <a:srgbClr val="EE5B4C"/>
                </a:solidFill>
                <a:latin typeface="Tajawal"/>
                <a:cs typeface="Tajawal"/>
              </a:rPr>
              <a:t>الآن</a:t>
            </a:r>
            <a:r>
              <a:rPr lang="ar-SA" sz="2400" b="1" i="0" dirty="0">
                <a:solidFill>
                  <a:srgbClr val="EE5B4C"/>
                </a:solidFill>
                <a:latin typeface="Tajawal"/>
                <a:cs typeface="Tajawal"/>
              </a:rPr>
              <a:t>:</a:t>
            </a:r>
            <a:r>
              <a:rPr sz="2400" b="1" i="0" dirty="0">
                <a:solidFill>
                  <a:srgbClr val="EE5B4C"/>
                </a:solidFill>
                <a:latin typeface="Tajawal"/>
                <a:cs typeface="Tajawal"/>
              </a:rPr>
              <a:t> </a:t>
            </a:r>
            <a:r>
              <a:rPr sz="2400" b="1" i="0" dirty="0" err="1">
                <a:solidFill>
                  <a:srgbClr val="EE5B4C"/>
                </a:solidFill>
                <a:latin typeface="Tajawal"/>
                <a:cs typeface="Tajawal"/>
              </a:rPr>
              <a:t>كيف</a:t>
            </a:r>
            <a:r>
              <a:rPr sz="2400" b="1" i="0" dirty="0">
                <a:solidFill>
                  <a:srgbClr val="EE5B4C"/>
                </a:solidFill>
                <a:latin typeface="Tajawal"/>
                <a:cs typeface="Tajawal"/>
              </a:rPr>
              <a:t> </a:t>
            </a:r>
            <a:r>
              <a:rPr sz="2400" b="1" i="0" dirty="0" err="1">
                <a:solidFill>
                  <a:srgbClr val="EE5B4C"/>
                </a:solidFill>
                <a:latin typeface="Tajawal"/>
                <a:cs typeface="Tajawal"/>
              </a:rPr>
              <a:t>يُكتب</a:t>
            </a:r>
            <a:r>
              <a:rPr sz="2400" b="1" i="0" dirty="0">
                <a:solidFill>
                  <a:srgbClr val="EE5B4C"/>
                </a:solidFill>
                <a:latin typeface="Tajawal"/>
                <a:cs typeface="Tajawal"/>
              </a:rPr>
              <a:t> </a:t>
            </a:r>
            <a:r>
              <a:rPr sz="2400" b="1" i="0" dirty="0" err="1">
                <a:solidFill>
                  <a:srgbClr val="EE5B4C"/>
                </a:solidFill>
                <a:latin typeface="Tajawal"/>
                <a:cs typeface="Tajawal"/>
              </a:rPr>
              <a:t>الجواب</a:t>
            </a:r>
            <a:r>
              <a:rPr sz="2400" b="1" i="0" dirty="0">
                <a:solidFill>
                  <a:srgbClr val="EE5B4C"/>
                </a:solidFill>
                <a:latin typeface="Tajawal"/>
                <a:cs typeface="Tajawal"/>
              </a:rPr>
              <a:t> </a:t>
            </a:r>
            <a:r>
              <a:rPr sz="2400" b="1" i="0" dirty="0" err="1">
                <a:solidFill>
                  <a:srgbClr val="EE5B4C"/>
                </a:solidFill>
                <a:latin typeface="Tajawal"/>
                <a:cs typeface="Tajawal"/>
              </a:rPr>
              <a:t>فعلياً</a:t>
            </a:r>
            <a:r>
              <a:rPr sz="2400" b="1" i="0" dirty="0">
                <a:solidFill>
                  <a:srgbClr val="EE5B4C"/>
                </a:solidFill>
                <a:latin typeface="Tajawal"/>
                <a:cs typeface="Tajawal"/>
              </a:rPr>
              <a:t>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881360" cy="42780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lang="ar-SA" sz="2000" b="0" i="1" dirty="0">
                <a:solidFill>
                  <a:srgbClr val="4D5B73"/>
                </a:solidFill>
                <a:latin typeface="Tajawal"/>
                <a:cs typeface="Tajawal"/>
              </a:rPr>
              <a:t>الـ</a:t>
            </a:r>
            <a:r>
              <a:rPr lang="en-US" sz="2000" b="0" i="1" dirty="0">
                <a:solidFill>
                  <a:srgbClr val="4D5B73"/>
                </a:solidFill>
                <a:latin typeface="Tajawal"/>
                <a:cs typeface="Tajawal"/>
              </a:rPr>
              <a:t>Ai</a:t>
            </a:r>
            <a:r>
              <a:rPr lang="ar-SA" sz="2000" b="0" i="1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1" dirty="0" err="1">
                <a:solidFill>
                  <a:srgbClr val="4D5B73"/>
                </a:solidFill>
                <a:latin typeface="Tajawal"/>
                <a:cs typeface="Tajawal"/>
              </a:rPr>
              <a:t>ما</a:t>
            </a:r>
            <a:r>
              <a:rPr sz="2000" b="0" i="1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1" dirty="0" err="1">
                <a:solidFill>
                  <a:srgbClr val="4D5B73"/>
                </a:solidFill>
                <a:latin typeface="Tajawal"/>
                <a:cs typeface="Tajawal"/>
              </a:rPr>
              <a:t>يكتبه</a:t>
            </a:r>
            <a:r>
              <a:rPr sz="2000" b="0" i="1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1" dirty="0" err="1">
                <a:solidFill>
                  <a:srgbClr val="4D5B73"/>
                </a:solidFill>
                <a:latin typeface="Tajawal"/>
                <a:cs typeface="Tajawal"/>
              </a:rPr>
              <a:t>دفعة</a:t>
            </a:r>
            <a:r>
              <a:rPr sz="2000" b="0" i="1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1" dirty="0" err="1">
                <a:solidFill>
                  <a:srgbClr val="4D5B73"/>
                </a:solidFill>
                <a:latin typeface="Tajawal"/>
                <a:cs typeface="Tajawal"/>
              </a:rPr>
              <a:t>واحدة</a:t>
            </a:r>
            <a:r>
              <a:rPr lang="ar-SA" sz="2000" b="0" i="1" dirty="0">
                <a:solidFill>
                  <a:srgbClr val="4D5B73"/>
                </a:solidFill>
                <a:latin typeface="Tajawal"/>
                <a:cs typeface="Tajawal"/>
              </a:rPr>
              <a:t>. </a:t>
            </a:r>
            <a:r>
              <a:rPr sz="2000" b="0" i="1" dirty="0" err="1">
                <a:solidFill>
                  <a:srgbClr val="4D5B73"/>
                </a:solidFill>
                <a:latin typeface="Tajawal"/>
                <a:cs typeface="Tajawal"/>
              </a:rPr>
              <a:t>يكتبه</a:t>
            </a:r>
            <a:r>
              <a:rPr sz="2000" b="0" i="1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1" dirty="0" err="1">
                <a:solidFill>
                  <a:srgbClr val="4D5B73"/>
                </a:solidFill>
                <a:latin typeface="Tajawal"/>
                <a:cs typeface="Tajawal"/>
              </a:rPr>
              <a:t>كلمة</a:t>
            </a:r>
            <a:r>
              <a:rPr sz="2000" b="0" i="1" dirty="0">
                <a:solidFill>
                  <a:srgbClr val="4D5B73"/>
                </a:solidFill>
                <a:latin typeface="Tajawal"/>
                <a:cs typeface="Tajawal"/>
              </a:rPr>
              <a:t>، </a:t>
            </a:r>
            <a:r>
              <a:rPr sz="2000" b="0" i="1" dirty="0" err="1">
                <a:solidFill>
                  <a:srgbClr val="4D5B73"/>
                </a:solidFill>
                <a:latin typeface="Tajawal"/>
                <a:cs typeface="Tajawal"/>
              </a:rPr>
              <a:t>كلمة</a:t>
            </a:r>
            <a:r>
              <a:rPr sz="2000" b="0" i="1" dirty="0">
                <a:solidFill>
                  <a:srgbClr val="4D5B73"/>
                </a:solidFill>
                <a:latin typeface="Tajawal"/>
                <a:cs typeface="Tajawal"/>
              </a:rPr>
              <a:t>، </a:t>
            </a:r>
            <a:r>
              <a:rPr sz="2000" b="0" i="1" dirty="0" err="1">
                <a:solidFill>
                  <a:srgbClr val="4D5B73"/>
                </a:solidFill>
                <a:latin typeface="Tajawal"/>
                <a:cs typeface="Tajawal"/>
              </a:rPr>
              <a:t>كلمة</a:t>
            </a:r>
            <a:r>
              <a:rPr sz="2000" b="0" i="1" dirty="0">
                <a:solidFill>
                  <a:srgbClr val="4D5B73"/>
                </a:solidFill>
                <a:latin typeface="Tajawal"/>
                <a:cs typeface="Tajawal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آليّة التوليد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>
                <a:solidFill>
                  <a:srgbClr val="182233"/>
                </a:solidFill>
                <a:latin typeface="Tajawal"/>
                <a:cs typeface="Tajawal"/>
              </a:rPr>
              <a:t>كلمة كلمة، ومو دفعة وحدة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15400" y="2240280"/>
            <a:ext cx="1417320" cy="548640"/>
          </a:xfrm>
          <a:prstGeom prst="roundRect">
            <a:avLst>
              <a:gd name="adj" fmla="val 40000"/>
            </a:avLst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15400" y="2240280"/>
            <a:ext cx="14173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jawal"/>
                <a:cs typeface="Tajawal"/>
              </a:rPr>
              <a:t>الذكاء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2240280"/>
            <a:ext cx="777240" cy="548640"/>
          </a:xfrm>
          <a:prstGeom prst="roundRect">
            <a:avLst>
              <a:gd name="adj" fmla="val 40000"/>
            </a:avLst>
          </a:prstGeom>
          <a:solidFill>
            <a:srgbClr val="FBE2DD"/>
          </a:solidFill>
          <a:ln w="19050">
            <a:solidFill>
              <a:srgbClr val="EE5B4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10144" y="2240280"/>
            <a:ext cx="7772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2200" b="1" i="0">
                <a:solidFill>
                  <a:srgbClr val="EE5B4C"/>
                </a:solidFill>
                <a:latin typeface="Tajawal"/>
                <a:cs typeface="Tajawal"/>
              </a:rPr>
              <a:t>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2313432"/>
            <a:ext cx="1371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1" i="0">
                <a:solidFill>
                  <a:srgbClr val="8F9BAD"/>
                </a:solidFill>
                <a:latin typeface="Tajawal"/>
                <a:cs typeface="Tajawal"/>
              </a:rPr>
              <a:t>خطوة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3108960"/>
            <a:ext cx="1417320" cy="5486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15400" y="3108960"/>
            <a:ext cx="14173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0">
                <a:solidFill>
                  <a:srgbClr val="182233"/>
                </a:solidFill>
                <a:latin typeface="Tajawal"/>
                <a:cs typeface="Tajawal"/>
              </a:rPr>
              <a:t>الذكاء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0064" y="3108960"/>
            <a:ext cx="1417320" cy="548640"/>
          </a:xfrm>
          <a:prstGeom prst="roundRect">
            <a:avLst>
              <a:gd name="adj" fmla="val 40000"/>
            </a:avLst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70064" y="3108960"/>
            <a:ext cx="14173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jawal"/>
                <a:cs typeface="Tajawal"/>
              </a:rPr>
              <a:t>الاصطناعي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64808" y="3108960"/>
            <a:ext cx="777240" cy="548640"/>
          </a:xfrm>
          <a:prstGeom prst="roundRect">
            <a:avLst>
              <a:gd name="adj" fmla="val 40000"/>
            </a:avLst>
          </a:prstGeom>
          <a:solidFill>
            <a:srgbClr val="FBE2DD"/>
          </a:solidFill>
          <a:ln w="19050">
            <a:solidFill>
              <a:srgbClr val="EE5B4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8" y="3108960"/>
            <a:ext cx="7772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2200" b="1" i="0">
                <a:solidFill>
                  <a:srgbClr val="EE5B4C"/>
                </a:solidFill>
                <a:latin typeface="Tajawal"/>
                <a:cs typeface="Tajawal"/>
              </a:rPr>
              <a:t>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182112"/>
            <a:ext cx="1371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1" i="0">
                <a:solidFill>
                  <a:srgbClr val="8F9BAD"/>
                </a:solidFill>
                <a:latin typeface="Tajawal"/>
                <a:cs typeface="Tajawal"/>
              </a:rPr>
              <a:t>خطوة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3977639"/>
            <a:ext cx="1417320" cy="5486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15400" y="3977639"/>
            <a:ext cx="14173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0">
                <a:solidFill>
                  <a:srgbClr val="182233"/>
                </a:solidFill>
                <a:latin typeface="Tajawal"/>
                <a:cs typeface="Tajawal"/>
              </a:rPr>
              <a:t>الذكاء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70064" y="3977639"/>
            <a:ext cx="1417320" cy="5486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70064" y="3977639"/>
            <a:ext cx="14173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0">
                <a:solidFill>
                  <a:srgbClr val="182233"/>
                </a:solidFill>
                <a:latin typeface="Tajawal"/>
                <a:cs typeface="Tajawal"/>
              </a:rPr>
              <a:t>الاصطناعي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24728" y="3977639"/>
            <a:ext cx="1417320" cy="548640"/>
          </a:xfrm>
          <a:prstGeom prst="roundRect">
            <a:avLst>
              <a:gd name="adj" fmla="val 40000"/>
            </a:avLst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24728" y="3977639"/>
            <a:ext cx="14173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jawal"/>
                <a:cs typeface="Tajawal"/>
              </a:rPr>
              <a:t>يفكّر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19472" y="3977639"/>
            <a:ext cx="777240" cy="548640"/>
          </a:xfrm>
          <a:prstGeom prst="roundRect">
            <a:avLst>
              <a:gd name="adj" fmla="val 40000"/>
            </a:avLst>
          </a:prstGeom>
          <a:solidFill>
            <a:srgbClr val="FBE2DD"/>
          </a:solidFill>
          <a:ln w="19050">
            <a:solidFill>
              <a:srgbClr val="EE5B4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9472" y="3977639"/>
            <a:ext cx="7772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2200" b="1" i="0">
                <a:solidFill>
                  <a:srgbClr val="EE5B4C"/>
                </a:solidFill>
                <a:latin typeface="Tajawal"/>
                <a:cs typeface="Tajawal"/>
              </a:rPr>
              <a:t>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4050791"/>
            <a:ext cx="1371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1" i="0">
                <a:solidFill>
                  <a:srgbClr val="8F9BAD"/>
                </a:solidFill>
                <a:latin typeface="Tajawal"/>
                <a:cs typeface="Tajawal"/>
              </a:rPr>
              <a:t>خطوة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4846320"/>
            <a:ext cx="1417320" cy="5486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15400" y="4846320"/>
            <a:ext cx="14173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0">
                <a:solidFill>
                  <a:srgbClr val="182233"/>
                </a:solidFill>
                <a:latin typeface="Tajawal"/>
                <a:cs typeface="Tajawal"/>
              </a:rPr>
              <a:t>الذكاء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70064" y="4846320"/>
            <a:ext cx="1417320" cy="5486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70064" y="4846320"/>
            <a:ext cx="14173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0">
                <a:solidFill>
                  <a:srgbClr val="182233"/>
                </a:solidFill>
                <a:latin typeface="Tajawal"/>
                <a:cs typeface="Tajawal"/>
              </a:rPr>
              <a:t>الاصطناعي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24728" y="4846320"/>
            <a:ext cx="1417320" cy="5486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24728" y="4846320"/>
            <a:ext cx="14173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0">
                <a:solidFill>
                  <a:srgbClr val="182233"/>
                </a:solidFill>
                <a:latin typeface="Tajawal"/>
                <a:cs typeface="Tajawal"/>
              </a:rPr>
              <a:t>يفكّر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79392" y="4846320"/>
            <a:ext cx="1417320" cy="548640"/>
          </a:xfrm>
          <a:prstGeom prst="roundRect">
            <a:avLst>
              <a:gd name="adj" fmla="val 40000"/>
            </a:avLst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79392" y="4846320"/>
            <a:ext cx="141732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jawal"/>
                <a:cs typeface="Tajawal"/>
              </a:rPr>
              <a:t>بطريقة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74136" y="4846320"/>
            <a:ext cx="777240" cy="548640"/>
          </a:xfrm>
          <a:prstGeom prst="roundRect">
            <a:avLst>
              <a:gd name="adj" fmla="val 40000"/>
            </a:avLst>
          </a:prstGeom>
          <a:solidFill>
            <a:srgbClr val="FBE2DD"/>
          </a:solidFill>
          <a:ln w="19050">
            <a:solidFill>
              <a:srgbClr val="EE5B4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74136" y="4846320"/>
            <a:ext cx="7772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2200" b="1" i="0">
                <a:solidFill>
                  <a:srgbClr val="EE5B4C"/>
                </a:solidFill>
                <a:latin typeface="Tajawal"/>
                <a:cs typeface="Tajawal"/>
              </a:rPr>
              <a:t>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4919472"/>
            <a:ext cx="1371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1" i="0">
                <a:solidFill>
                  <a:srgbClr val="8F9BAD"/>
                </a:solidFill>
                <a:latin typeface="Tajawal"/>
                <a:cs typeface="Tajawal"/>
              </a:rPr>
              <a:t>خطوة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400" b="0" i="1">
                <a:solidFill>
                  <a:srgbClr val="4D5B73"/>
                </a:solidFill>
                <a:latin typeface="Tajawal"/>
                <a:cs typeface="Tajawal"/>
              </a:rPr>
              <a:t>النموذج ما يعرف الكلمة الثالثة، قبل ما يكتب الثانية.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تكبير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>
                <a:solidFill>
                  <a:srgbClr val="182233"/>
                </a:solidFill>
                <a:latin typeface="Tajawal"/>
                <a:cs typeface="Tajawal"/>
              </a:rPr>
              <a:t>كيف يختار الكلمة التالية؟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3291840"/>
            <a:ext cx="1463040" cy="685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0" y="3291840"/>
            <a:ext cx="1463040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800" b="0">
                <a:solidFill>
                  <a:srgbClr val="182233"/>
                </a:solidFill>
                <a:latin typeface="Tajawal"/>
                <a:cs typeface="Tajawal"/>
              </a:rPr>
              <a:t>الذكاء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50207" y="3291840"/>
            <a:ext cx="1463040" cy="685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50207" y="3291840"/>
            <a:ext cx="1463040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800" b="0">
                <a:solidFill>
                  <a:srgbClr val="182233"/>
                </a:solidFill>
                <a:latin typeface="Tajawal"/>
                <a:cs typeface="Tajawal"/>
              </a:rPr>
              <a:t>الاصطناعي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22575" y="3291840"/>
            <a:ext cx="1463040" cy="685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22575" y="3291840"/>
            <a:ext cx="1463040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1800" b="0">
                <a:solidFill>
                  <a:srgbClr val="182233"/>
                </a:solidFill>
                <a:latin typeface="Tajawal"/>
                <a:cs typeface="Tajawal"/>
              </a:rPr>
              <a:t>يفكّر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3" y="3291840"/>
            <a:ext cx="1463040" cy="685800"/>
          </a:xfrm>
          <a:prstGeom prst="roundRect">
            <a:avLst>
              <a:gd name="adj" fmla="val 40000"/>
            </a:avLst>
          </a:prstGeom>
          <a:solidFill>
            <a:srgbClr val="FBE2DD"/>
          </a:solidFill>
          <a:ln w="19050">
            <a:solidFill>
              <a:srgbClr val="EE5B4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3" y="3291840"/>
            <a:ext cx="1463040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2600" b="1" i="0">
                <a:solidFill>
                  <a:srgbClr val="EE5B4C"/>
                </a:solidFill>
                <a:latin typeface="Tajawal"/>
                <a:cs typeface="Tajawal"/>
              </a:rPr>
              <a:t>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2286000"/>
            <a:ext cx="4023360" cy="3291840"/>
          </a:xfrm>
          <a:prstGeom prst="roundRect">
            <a:avLst>
              <a:gd name="adj" fmla="val 5000"/>
            </a:avLst>
          </a:prstGeom>
          <a:solidFill>
            <a:srgbClr val="FBFAF6"/>
          </a:solidFill>
          <a:ln w="9525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0" y="2514600"/>
            <a:ext cx="34747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 i="0">
                <a:solidFill>
                  <a:srgbClr val="8F9BAD"/>
                </a:solidFill>
                <a:latin typeface="Tajawal"/>
                <a:cs typeface="Tajawal"/>
              </a:rPr>
              <a:t>احتمالات الكلمة التالية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3182112"/>
            <a:ext cx="2560320" cy="201168"/>
          </a:xfrm>
          <a:prstGeom prst="roundRect">
            <a:avLst>
              <a:gd name="adj" fmla="val 30000"/>
            </a:avLst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961119" y="3182112"/>
            <a:ext cx="1181947" cy="201166"/>
          </a:xfrm>
          <a:prstGeom prst="roundRect">
            <a:avLst>
              <a:gd name="adj" fmla="val 30000"/>
            </a:avLst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9560" y="3017520"/>
            <a:ext cx="10058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 i="0">
                <a:solidFill>
                  <a:srgbClr val="EE5B4C"/>
                </a:solidFill>
                <a:latin typeface="Tajawal"/>
                <a:cs typeface="Tajawal"/>
              </a:rPr>
              <a:t>بطريقة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3157604"/>
            <a:ext cx="640080" cy="26847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 dirty="0">
                <a:solidFill>
                  <a:srgbClr val="EE5B4C"/>
                </a:solidFill>
                <a:latin typeface="Tajawal"/>
                <a:cs typeface="Tajawal"/>
              </a:rPr>
              <a:t>%</a:t>
            </a:r>
            <a:r>
              <a:rPr lang="ar-SA" sz="1300" b="1" i="0" dirty="0">
                <a:solidFill>
                  <a:srgbClr val="EE5B4C"/>
                </a:solidFill>
                <a:latin typeface="Tajawal"/>
                <a:cs typeface="Tajawal"/>
              </a:rPr>
              <a:t>40</a:t>
            </a:r>
            <a:endParaRPr sz="1300" b="1" i="0" dirty="0">
              <a:solidFill>
                <a:srgbClr val="EE5B4C"/>
              </a:solidFill>
              <a:latin typeface="Tajawal"/>
              <a:cs typeface="Tajaw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61120" y="3803903"/>
            <a:ext cx="2560320" cy="201168"/>
          </a:xfrm>
          <a:prstGeom prst="roundRect">
            <a:avLst>
              <a:gd name="adj" fmla="val 30000"/>
            </a:avLst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961120" y="3803903"/>
            <a:ext cx="908305" cy="173737"/>
          </a:xfrm>
          <a:prstGeom prst="roundRect">
            <a:avLst>
              <a:gd name="adj" fmla="val 30000"/>
            </a:avLst>
          </a:prstGeom>
          <a:solidFill>
            <a:srgbClr val="8F9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09560" y="3639311"/>
            <a:ext cx="10058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 i="0">
                <a:solidFill>
                  <a:srgbClr val="182233"/>
                </a:solidFill>
                <a:latin typeface="Tajawal"/>
                <a:cs typeface="Tajawal"/>
              </a:rPr>
              <a:t>كثيراً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3779395"/>
            <a:ext cx="640080" cy="26847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4D5B73"/>
                </a:solidFill>
                <a:latin typeface="Tajawal"/>
                <a:cs typeface="Tajawal"/>
              </a:rPr>
              <a:t>%</a:t>
            </a:r>
            <a:r>
              <a:rPr lang="ar-SA" sz="1300" b="0" i="0" dirty="0">
                <a:solidFill>
                  <a:srgbClr val="4D5B73"/>
                </a:solidFill>
                <a:latin typeface="Tajawal"/>
                <a:cs typeface="Tajawal"/>
              </a:rPr>
              <a:t>30</a:t>
            </a:r>
            <a:endParaRPr sz="1300" b="0" i="0" dirty="0">
              <a:solidFill>
                <a:srgbClr val="4D5B73"/>
              </a:solidFill>
              <a:latin typeface="Tajawal"/>
              <a:cs typeface="Tajawal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961120" y="4425696"/>
            <a:ext cx="2560320" cy="201168"/>
          </a:xfrm>
          <a:prstGeom prst="roundRect">
            <a:avLst>
              <a:gd name="adj" fmla="val 30000"/>
            </a:avLst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961120" y="4425696"/>
            <a:ext cx="594360" cy="201168"/>
          </a:xfrm>
          <a:prstGeom prst="roundRect">
            <a:avLst>
              <a:gd name="adj" fmla="val 30000"/>
            </a:avLst>
          </a:prstGeom>
          <a:solidFill>
            <a:srgbClr val="8F9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09560" y="4261104"/>
            <a:ext cx="10058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 i="0">
                <a:solidFill>
                  <a:srgbClr val="182233"/>
                </a:solidFill>
                <a:latin typeface="Tajawal"/>
                <a:cs typeface="Tajawal"/>
              </a:rPr>
              <a:t>بسرعة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4401188"/>
            <a:ext cx="640080" cy="26847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4D5B73"/>
                </a:solidFill>
                <a:latin typeface="Tajawal"/>
                <a:cs typeface="Tajawal"/>
              </a:rPr>
              <a:t>%</a:t>
            </a:r>
            <a:r>
              <a:rPr lang="ar-SA" sz="1300" dirty="0">
                <a:solidFill>
                  <a:srgbClr val="4D5B73"/>
                </a:solidFill>
                <a:latin typeface="Tajawal"/>
                <a:cs typeface="Tajawal"/>
              </a:rPr>
              <a:t>17</a:t>
            </a:r>
            <a:endParaRPr sz="1300" b="0" i="0" dirty="0">
              <a:solidFill>
                <a:srgbClr val="4D5B73"/>
              </a:solidFill>
              <a:latin typeface="Tajawal"/>
              <a:cs typeface="Tajawal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961120" y="5047488"/>
            <a:ext cx="2560320" cy="201168"/>
          </a:xfrm>
          <a:prstGeom prst="roundRect">
            <a:avLst>
              <a:gd name="adj" fmla="val 30000"/>
            </a:avLst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961120" y="5047488"/>
            <a:ext cx="445347" cy="201168"/>
          </a:xfrm>
          <a:prstGeom prst="roundRect">
            <a:avLst>
              <a:gd name="adj" fmla="val 30000"/>
            </a:avLst>
          </a:prstGeom>
          <a:solidFill>
            <a:srgbClr val="8F9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09560" y="4882896"/>
            <a:ext cx="10058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 i="0">
                <a:solidFill>
                  <a:srgbClr val="182233"/>
                </a:solidFill>
                <a:latin typeface="Tajawal"/>
                <a:cs typeface="Tajawal"/>
              </a:rPr>
              <a:t>دائماً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5022980"/>
            <a:ext cx="640080" cy="26847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4D5B73"/>
                </a:solidFill>
                <a:latin typeface="Tajawal"/>
                <a:cs typeface="Tajawal"/>
              </a:rPr>
              <a:t>%</a:t>
            </a:r>
            <a:r>
              <a:rPr lang="ar-SA" sz="1300" b="0" i="0" dirty="0">
                <a:solidFill>
                  <a:srgbClr val="4D5B73"/>
                </a:solidFill>
                <a:latin typeface="Tajawal"/>
                <a:cs typeface="Tajawal"/>
              </a:rPr>
              <a:t>12</a:t>
            </a:r>
            <a:endParaRPr sz="1300" b="0" i="0" dirty="0">
              <a:solidFill>
                <a:srgbClr val="4D5B73"/>
              </a:solidFill>
              <a:latin typeface="Tajawal"/>
              <a:cs typeface="Tajawal"/>
            </a:endParaRPr>
          </a:p>
        </p:txBody>
      </p:sp>
      <p:cxnSp>
        <p:nvCxnSpPr>
          <p:cNvPr id="31" name="Connector 30"/>
          <p:cNvCxnSpPr/>
          <p:nvPr/>
        </p:nvCxnSpPr>
        <p:spPr>
          <a:xfrm flipV="1">
            <a:off x="1426463" y="2651760"/>
            <a:ext cx="6620257" cy="640080"/>
          </a:xfrm>
          <a:prstGeom prst="line">
            <a:avLst/>
          </a:prstGeom>
          <a:ln w="15240">
            <a:solidFill>
              <a:srgbClr val="8F9B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5989320"/>
            <a:ext cx="10881360" cy="2862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400" b="0" i="1" dirty="0" err="1">
                <a:solidFill>
                  <a:srgbClr val="4D5B73"/>
                </a:solidFill>
                <a:latin typeface="Tajawal"/>
                <a:cs typeface="Tajawal"/>
              </a:rPr>
              <a:t>سؤال</a:t>
            </a:r>
            <a:r>
              <a:rPr sz="1400" b="0" i="1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1400" b="0" i="1" dirty="0" err="1">
                <a:solidFill>
                  <a:srgbClr val="4D5B73"/>
                </a:solidFill>
                <a:latin typeface="Tajawal"/>
                <a:cs typeface="Tajawal"/>
              </a:rPr>
              <a:t>جدّي</a:t>
            </a:r>
            <a:r>
              <a:rPr lang="ar-SA" sz="1400" b="0" i="1" dirty="0">
                <a:solidFill>
                  <a:srgbClr val="4D5B73"/>
                </a:solidFill>
                <a:latin typeface="Tajawal"/>
                <a:cs typeface="Tajawal"/>
              </a:rPr>
              <a:t>: </a:t>
            </a:r>
            <a:r>
              <a:rPr sz="1400" b="0" i="1" dirty="0" err="1">
                <a:solidFill>
                  <a:srgbClr val="4D5B73"/>
                </a:solidFill>
                <a:latin typeface="Tajawal"/>
                <a:cs typeface="Tajawal"/>
              </a:rPr>
              <a:t>لو</a:t>
            </a:r>
            <a:r>
              <a:rPr sz="1400" b="0" i="1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1400" b="0" i="1" dirty="0" err="1">
                <a:solidFill>
                  <a:srgbClr val="4D5B73"/>
                </a:solidFill>
                <a:latin typeface="Tajawal"/>
                <a:cs typeface="Tajawal"/>
              </a:rPr>
              <a:t>كنت</a:t>
            </a:r>
            <a:r>
              <a:rPr sz="1400" b="0" i="1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1400" b="0" i="1" dirty="0" err="1">
                <a:solidFill>
                  <a:srgbClr val="4D5B73"/>
                </a:solidFill>
                <a:latin typeface="Tajawal"/>
                <a:cs typeface="Tajawal"/>
              </a:rPr>
              <a:t>مكانه</a:t>
            </a:r>
            <a:r>
              <a:rPr sz="1400" b="0" i="1" dirty="0">
                <a:solidFill>
                  <a:srgbClr val="4D5B73"/>
                </a:solidFill>
                <a:latin typeface="Tajawal"/>
                <a:cs typeface="Tajawal"/>
              </a:rPr>
              <a:t>، </a:t>
            </a:r>
            <a:r>
              <a:rPr lang="ar-SA" sz="1400" b="0" i="1" dirty="0">
                <a:solidFill>
                  <a:srgbClr val="4D5B73"/>
                </a:solidFill>
                <a:latin typeface="Tajawal"/>
                <a:cs typeface="Tajawal"/>
              </a:rPr>
              <a:t>كيف تختار كلامك وانت ما عندك الا احتمالات</a:t>
            </a:r>
            <a:r>
              <a:rPr sz="1400" b="0" i="1" dirty="0">
                <a:solidFill>
                  <a:srgbClr val="4D5B73"/>
                </a:solidFill>
                <a:latin typeface="Tajawal"/>
                <a:cs typeface="Tajawal"/>
              </a:rPr>
              <a:t>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التدريب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>
                <a:solidFill>
                  <a:srgbClr val="182233"/>
                </a:solidFill>
                <a:latin typeface="Tajawal"/>
                <a:cs typeface="Tajawal"/>
              </a:rPr>
              <a:t>كيف تعلّم كل هذا؟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813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4400" b="1" i="0">
                <a:solidFill>
                  <a:srgbClr val="182233"/>
                </a:solidFill>
                <a:latin typeface="Tajawal"/>
                <a:cs typeface="Tajawal"/>
              </a:rPr>
              <a:t>بالتدريب.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881360" cy="1828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4400" b="1" i="0">
                <a:solidFill>
                  <a:srgbClr val="EE5B4C"/>
                </a:solidFill>
                <a:latin typeface="Tajawal"/>
                <a:cs typeface="Tajawal"/>
              </a:rPr>
              <a:t>كثير،</a:t>
            </a:r>
          </a:p>
          <a:p>
            <a:pPr algn="r" rtl="1">
              <a:lnSpc>
                <a:spcPct val="115000"/>
              </a:lnSpc>
            </a:pPr>
            <a:r>
              <a:rPr sz="4400" b="1" i="0">
                <a:solidFill>
                  <a:srgbClr val="EE5B4C"/>
                </a:solidFill>
                <a:latin typeface="Tajawal"/>
                <a:cs typeface="Tajawal"/>
              </a:rPr>
              <a:t>كثير،</a:t>
            </a:r>
          </a:p>
          <a:p>
            <a:pPr algn="r" rtl="1">
              <a:lnSpc>
                <a:spcPct val="115000"/>
              </a:lnSpc>
            </a:pPr>
            <a:r>
              <a:rPr sz="4400" b="1" i="0">
                <a:solidFill>
                  <a:srgbClr val="EE5B4C"/>
                </a:solidFill>
                <a:latin typeface="Tajawal"/>
                <a:cs typeface="Tajawal"/>
              </a:rPr>
              <a:t>كثير من التدريب.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دورة التدريب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>
                <a:solidFill>
                  <a:srgbClr val="182233"/>
                </a:solidFill>
                <a:latin typeface="Tajawal"/>
                <a:cs typeface="Tajawal"/>
              </a:rPr>
              <a:t>كيف يصير التدريب؟ نسخة مبسّطة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73087" y="3634740"/>
            <a:ext cx="1828800" cy="868680"/>
          </a:xfrm>
          <a:prstGeom prst="roundRect">
            <a:avLst>
              <a:gd name="adj" fmla="val 45000"/>
            </a:avLst>
          </a:prstGeom>
          <a:solidFill>
            <a:srgbClr val="FB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73087" y="3896725"/>
            <a:ext cx="1828800" cy="344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2000" b="1" dirty="0" err="1">
                <a:solidFill>
                  <a:srgbClr val="EE5B4C"/>
                </a:solidFill>
                <a:latin typeface="Tajawal"/>
                <a:cs typeface="Tajawal"/>
              </a:rPr>
              <a:t>يقرأ</a:t>
            </a:r>
            <a:r>
              <a:rPr lang="ar-SA" sz="2000" b="1" dirty="0">
                <a:solidFill>
                  <a:srgbClr val="EE5B4C"/>
                </a:solidFill>
                <a:latin typeface="Tajawal"/>
                <a:cs typeface="Tajawal"/>
              </a:rPr>
              <a:t> سؤال</a:t>
            </a:r>
            <a:endParaRPr sz="2000" b="1" dirty="0">
              <a:solidFill>
                <a:srgbClr val="EE5B4C"/>
              </a:solidFill>
              <a:latin typeface="Tajawal"/>
              <a:cs typeface="Tajaw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181447" y="5241798"/>
            <a:ext cx="1828800" cy="868680"/>
          </a:xfrm>
          <a:prstGeom prst="roundRect">
            <a:avLst>
              <a:gd name="adj" fmla="val 45000"/>
            </a:avLst>
          </a:prstGeom>
          <a:solidFill>
            <a:srgbClr val="D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81447" y="5503783"/>
            <a:ext cx="1828800" cy="344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2000" b="1" dirty="0" err="1">
                <a:solidFill>
                  <a:srgbClr val="338084"/>
                </a:solidFill>
                <a:latin typeface="Tajawal"/>
                <a:cs typeface="Tajawal"/>
              </a:rPr>
              <a:t>يردّ</a:t>
            </a:r>
            <a:r>
              <a:rPr lang="ar-SA" sz="2000" b="1" dirty="0">
                <a:solidFill>
                  <a:srgbClr val="338084"/>
                </a:solidFill>
                <a:latin typeface="Tajawal"/>
                <a:cs typeface="Tajawal"/>
              </a:rPr>
              <a:t> عليه</a:t>
            </a:r>
            <a:endParaRPr sz="2000" b="1" dirty="0">
              <a:solidFill>
                <a:srgbClr val="338084"/>
              </a:solidFill>
              <a:latin typeface="Tajawal"/>
              <a:cs typeface="Tajaw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89807" y="3634740"/>
            <a:ext cx="1828800" cy="868680"/>
          </a:xfrm>
          <a:prstGeom prst="roundRect">
            <a:avLst>
              <a:gd name="adj" fmla="val 45000"/>
            </a:avLst>
          </a:prstGeom>
          <a:solidFill>
            <a:srgbClr val="F6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89807" y="3896725"/>
            <a:ext cx="1828800" cy="344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2000" b="1" dirty="0" err="1">
                <a:solidFill>
                  <a:srgbClr val="D6A83F"/>
                </a:solidFill>
                <a:latin typeface="Tajawal"/>
                <a:cs typeface="Tajawal"/>
              </a:rPr>
              <a:t>يتعاقب</a:t>
            </a:r>
            <a:endParaRPr sz="2000" b="1" dirty="0">
              <a:solidFill>
                <a:srgbClr val="D6A83F"/>
              </a:solidFill>
              <a:latin typeface="Tajawal"/>
              <a:cs typeface="Tajaw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181447" y="2027681"/>
            <a:ext cx="1828800" cy="868680"/>
          </a:xfrm>
          <a:prstGeom prst="roundRect">
            <a:avLst>
              <a:gd name="adj" fmla="val 45000"/>
            </a:avLst>
          </a:prstGeom>
          <a:solidFill>
            <a:srgbClr val="DE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81447" y="2027681"/>
            <a:ext cx="182880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sz="2000" b="1">
                <a:solidFill>
                  <a:srgbClr val="7B9E88"/>
                </a:solidFill>
                <a:latin typeface="Tajawal"/>
                <a:cs typeface="Tajawal"/>
              </a:rPr>
              <a:t>يتحسّن</a:t>
            </a:r>
          </a:p>
        </p:txBody>
      </p:sp>
      <p:sp>
        <p:nvSpPr>
          <p:cNvPr id="13" name="Freeform 12"/>
          <p:cNvSpPr/>
          <p:nvPr/>
        </p:nvSpPr>
        <p:spPr>
          <a:xfrm>
            <a:off x="6886649" y="4844897"/>
            <a:ext cx="510053" cy="471745"/>
          </a:xfrm>
          <a:custGeom>
            <a:avLst/>
            <a:gdLst/>
            <a:ahLst/>
            <a:cxnLst/>
            <a:rect l="l" t="t" r="r" b="b"/>
            <a:pathLst>
              <a:path w="510053" h="471745">
                <a:moveTo>
                  <a:pt x="510053" y="0"/>
                </a:moveTo>
                <a:lnTo>
                  <a:pt x="492034" y="34104"/>
                </a:lnTo>
                <a:lnTo>
                  <a:pt x="472801" y="67279"/>
                </a:lnTo>
                <a:lnTo>
                  <a:pt x="452354" y="99526"/>
                </a:lnTo>
                <a:lnTo>
                  <a:pt x="430693" y="130843"/>
                </a:lnTo>
                <a:lnTo>
                  <a:pt x="407819" y="161231"/>
                </a:lnTo>
                <a:lnTo>
                  <a:pt x="383731" y="190691"/>
                </a:lnTo>
                <a:lnTo>
                  <a:pt x="358429" y="219221"/>
                </a:lnTo>
                <a:lnTo>
                  <a:pt x="331913" y="246823"/>
                </a:lnTo>
                <a:lnTo>
                  <a:pt x="304184" y="273495"/>
                </a:lnTo>
                <a:lnTo>
                  <a:pt x="275241" y="299239"/>
                </a:lnTo>
                <a:lnTo>
                  <a:pt x="245084" y="324054"/>
                </a:lnTo>
                <a:lnTo>
                  <a:pt x="213713" y="347939"/>
                </a:lnTo>
                <a:lnTo>
                  <a:pt x="181129" y="370896"/>
                </a:lnTo>
                <a:lnTo>
                  <a:pt x="147331" y="392924"/>
                </a:lnTo>
                <a:lnTo>
                  <a:pt x="112319" y="414023"/>
                </a:lnTo>
                <a:lnTo>
                  <a:pt x="76093" y="434192"/>
                </a:lnTo>
                <a:lnTo>
                  <a:pt x="38653" y="453433"/>
                </a:lnTo>
                <a:lnTo>
                  <a:pt x="0" y="471745"/>
                </a:lnTo>
              </a:path>
            </a:pathLst>
          </a:custGeom>
          <a:noFill/>
          <a:ln w="22860">
            <a:solidFill>
              <a:srgbClr val="8F9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4794992" y="4844897"/>
            <a:ext cx="510053" cy="471745"/>
          </a:xfrm>
          <a:custGeom>
            <a:avLst/>
            <a:gdLst/>
            <a:ahLst/>
            <a:cxnLst/>
            <a:rect l="l" t="t" r="r" b="b"/>
            <a:pathLst>
              <a:path w="510053" h="471745">
                <a:moveTo>
                  <a:pt x="510053" y="471745"/>
                </a:moveTo>
                <a:lnTo>
                  <a:pt x="471400" y="453433"/>
                </a:lnTo>
                <a:lnTo>
                  <a:pt x="433960" y="434192"/>
                </a:lnTo>
                <a:lnTo>
                  <a:pt x="397735" y="414023"/>
                </a:lnTo>
                <a:lnTo>
                  <a:pt x="362723" y="392924"/>
                </a:lnTo>
                <a:lnTo>
                  <a:pt x="328925" y="370896"/>
                </a:lnTo>
                <a:lnTo>
                  <a:pt x="296340" y="347939"/>
                </a:lnTo>
                <a:lnTo>
                  <a:pt x="264969" y="324054"/>
                </a:lnTo>
                <a:lnTo>
                  <a:pt x="234812" y="299239"/>
                </a:lnTo>
                <a:lnTo>
                  <a:pt x="205869" y="273495"/>
                </a:lnTo>
                <a:lnTo>
                  <a:pt x="178140" y="246823"/>
                </a:lnTo>
                <a:lnTo>
                  <a:pt x="151624" y="219221"/>
                </a:lnTo>
                <a:lnTo>
                  <a:pt x="126322" y="190691"/>
                </a:lnTo>
                <a:lnTo>
                  <a:pt x="102234" y="161231"/>
                </a:lnTo>
                <a:lnTo>
                  <a:pt x="79360" y="130843"/>
                </a:lnTo>
                <a:lnTo>
                  <a:pt x="57699" y="99526"/>
                </a:lnTo>
                <a:lnTo>
                  <a:pt x="37252" y="67279"/>
                </a:lnTo>
                <a:lnTo>
                  <a:pt x="18019" y="34104"/>
                </a:lnTo>
                <a:lnTo>
                  <a:pt x="0" y="0"/>
                </a:lnTo>
              </a:path>
            </a:pathLst>
          </a:custGeom>
          <a:noFill/>
          <a:ln w="22860">
            <a:solidFill>
              <a:srgbClr val="8F9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4794992" y="2821517"/>
            <a:ext cx="510053" cy="471745"/>
          </a:xfrm>
          <a:custGeom>
            <a:avLst/>
            <a:gdLst/>
            <a:ahLst/>
            <a:cxnLst/>
            <a:rect l="l" t="t" r="r" b="b"/>
            <a:pathLst>
              <a:path w="510053" h="471745">
                <a:moveTo>
                  <a:pt x="0" y="471745"/>
                </a:moveTo>
                <a:lnTo>
                  <a:pt x="18019" y="437641"/>
                </a:lnTo>
                <a:lnTo>
                  <a:pt x="37252" y="404466"/>
                </a:lnTo>
                <a:lnTo>
                  <a:pt x="57699" y="372219"/>
                </a:lnTo>
                <a:lnTo>
                  <a:pt x="79360" y="340902"/>
                </a:lnTo>
                <a:lnTo>
                  <a:pt x="102234" y="310514"/>
                </a:lnTo>
                <a:lnTo>
                  <a:pt x="126322" y="281054"/>
                </a:lnTo>
                <a:lnTo>
                  <a:pt x="151624" y="252524"/>
                </a:lnTo>
                <a:lnTo>
                  <a:pt x="178140" y="224922"/>
                </a:lnTo>
                <a:lnTo>
                  <a:pt x="205869" y="198250"/>
                </a:lnTo>
                <a:lnTo>
                  <a:pt x="234812" y="172506"/>
                </a:lnTo>
                <a:lnTo>
                  <a:pt x="264969" y="147691"/>
                </a:lnTo>
                <a:lnTo>
                  <a:pt x="296340" y="123806"/>
                </a:lnTo>
                <a:lnTo>
                  <a:pt x="328925" y="100849"/>
                </a:lnTo>
                <a:lnTo>
                  <a:pt x="362723" y="78821"/>
                </a:lnTo>
                <a:lnTo>
                  <a:pt x="397735" y="57722"/>
                </a:lnTo>
                <a:lnTo>
                  <a:pt x="433960" y="37553"/>
                </a:lnTo>
                <a:lnTo>
                  <a:pt x="471400" y="18312"/>
                </a:lnTo>
                <a:lnTo>
                  <a:pt x="510053" y="0"/>
                </a:lnTo>
              </a:path>
            </a:pathLst>
          </a:custGeom>
          <a:noFill/>
          <a:ln w="22860">
            <a:solidFill>
              <a:srgbClr val="8F9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6886649" y="2821517"/>
            <a:ext cx="510053" cy="471745"/>
          </a:xfrm>
          <a:custGeom>
            <a:avLst/>
            <a:gdLst/>
            <a:ahLst/>
            <a:cxnLst/>
            <a:rect l="l" t="t" r="r" b="b"/>
            <a:pathLst>
              <a:path w="510053" h="471745">
                <a:moveTo>
                  <a:pt x="0" y="0"/>
                </a:moveTo>
                <a:lnTo>
                  <a:pt x="38653" y="18312"/>
                </a:lnTo>
                <a:lnTo>
                  <a:pt x="76093" y="37553"/>
                </a:lnTo>
                <a:lnTo>
                  <a:pt x="112319" y="57722"/>
                </a:lnTo>
                <a:lnTo>
                  <a:pt x="147331" y="78821"/>
                </a:lnTo>
                <a:lnTo>
                  <a:pt x="181129" y="100849"/>
                </a:lnTo>
                <a:lnTo>
                  <a:pt x="213713" y="123806"/>
                </a:lnTo>
                <a:lnTo>
                  <a:pt x="245084" y="147691"/>
                </a:lnTo>
                <a:lnTo>
                  <a:pt x="275241" y="172506"/>
                </a:lnTo>
                <a:lnTo>
                  <a:pt x="304184" y="198250"/>
                </a:lnTo>
                <a:lnTo>
                  <a:pt x="331913" y="224922"/>
                </a:lnTo>
                <a:lnTo>
                  <a:pt x="358429" y="252524"/>
                </a:lnTo>
                <a:lnTo>
                  <a:pt x="383731" y="281054"/>
                </a:lnTo>
                <a:lnTo>
                  <a:pt x="407819" y="310514"/>
                </a:lnTo>
                <a:lnTo>
                  <a:pt x="430693" y="340902"/>
                </a:lnTo>
                <a:lnTo>
                  <a:pt x="452354" y="372219"/>
                </a:lnTo>
                <a:lnTo>
                  <a:pt x="472801" y="404466"/>
                </a:lnTo>
                <a:lnTo>
                  <a:pt x="492034" y="437641"/>
                </a:lnTo>
                <a:lnTo>
                  <a:pt x="510053" y="471745"/>
                </a:lnTo>
              </a:path>
            </a:pathLst>
          </a:custGeom>
          <a:noFill/>
          <a:ln w="22860">
            <a:solidFill>
              <a:srgbClr val="8F9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98567" y="3943725"/>
            <a:ext cx="2194560" cy="250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 i="1" dirty="0" err="1">
                <a:solidFill>
                  <a:srgbClr val="8F9BAD"/>
                </a:solidFill>
                <a:latin typeface="Tajawal"/>
                <a:cs typeface="Tajawal"/>
              </a:rPr>
              <a:t>تتكرّر</a:t>
            </a:r>
            <a:r>
              <a:rPr lang="ar-SA" sz="1200" b="0" i="1" dirty="0">
                <a:solidFill>
                  <a:srgbClr val="8F9BAD"/>
                </a:solidFill>
                <a:latin typeface="Tajawal"/>
                <a:cs typeface="Tajawal"/>
              </a:rPr>
              <a:t>، كثير..</a:t>
            </a:r>
            <a:endParaRPr sz="1200" b="0" i="1" dirty="0">
              <a:solidFill>
                <a:srgbClr val="8F9BAD"/>
              </a:solidFill>
              <a:latin typeface="Tajawal"/>
              <a:cs typeface="Tajaw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6189583"/>
            <a:ext cx="10881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 i="1" dirty="0" err="1">
                <a:solidFill>
                  <a:srgbClr val="4D5B73"/>
                </a:solidFill>
                <a:latin typeface="Tajawal"/>
                <a:cs typeface="Tajawal"/>
              </a:rPr>
              <a:t>نسخة</a:t>
            </a:r>
            <a:r>
              <a:rPr sz="1300" b="0" i="1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1300" b="0" i="1" dirty="0" err="1">
                <a:solidFill>
                  <a:srgbClr val="4D5B73"/>
                </a:solidFill>
                <a:latin typeface="Tajawal"/>
                <a:cs typeface="Tajawal"/>
              </a:rPr>
              <a:t>مبسّطة</a:t>
            </a:r>
            <a:r>
              <a:rPr sz="1300" b="0" i="1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1300" b="0" i="1" dirty="0" err="1">
                <a:solidFill>
                  <a:srgbClr val="4D5B73"/>
                </a:solidFill>
                <a:latin typeface="Tajawal"/>
                <a:cs typeface="Tajawal"/>
              </a:rPr>
              <a:t>جداً</a:t>
            </a:r>
            <a:r>
              <a:rPr sz="1300" b="0" i="1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1300" b="0" i="1" dirty="0" err="1">
                <a:solidFill>
                  <a:srgbClr val="4D5B73"/>
                </a:solidFill>
                <a:latin typeface="Tajawal"/>
                <a:cs typeface="Tajawal"/>
              </a:rPr>
              <a:t>من</a:t>
            </a:r>
            <a:r>
              <a:rPr sz="1300" b="0" i="1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1300" b="0" i="1" dirty="0" err="1">
                <a:solidFill>
                  <a:srgbClr val="4D5B73"/>
                </a:solidFill>
                <a:latin typeface="Tajawal"/>
                <a:cs typeface="Tajawal"/>
              </a:rPr>
              <a:t>العمليّة</a:t>
            </a:r>
            <a:r>
              <a:rPr sz="1300" b="0" i="1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1300" b="0" i="1" dirty="0" err="1">
                <a:solidFill>
                  <a:srgbClr val="4D5B73"/>
                </a:solidFill>
                <a:latin typeface="Tajawal"/>
                <a:cs typeface="Tajawal"/>
              </a:rPr>
              <a:t>الفعليّة</a:t>
            </a:r>
            <a:r>
              <a:rPr sz="1300" b="0" i="1" dirty="0">
                <a:solidFill>
                  <a:srgbClr val="4D5B73"/>
                </a:solidFill>
                <a:latin typeface="Tajawal"/>
                <a:cs typeface="Tajawal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كيف يتعلّم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>
                <a:solidFill>
                  <a:srgbClr val="182233"/>
                </a:solidFill>
                <a:latin typeface="Tajawal"/>
                <a:cs typeface="Tajawal"/>
              </a:rPr>
              <a:t>نمط، مو حفظ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800" b="1" i="0">
                <a:solidFill>
                  <a:srgbClr val="182233"/>
                </a:solidFill>
                <a:latin typeface="Tajawal"/>
                <a:cs typeface="Tajawal"/>
              </a:rPr>
              <a:t>النموذج ما يحفظ كلمات.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88136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800" b="1" i="0">
                <a:solidFill>
                  <a:srgbClr val="EE5B4C"/>
                </a:solidFill>
                <a:latin typeface="Tajawal"/>
                <a:cs typeface="Tajawal"/>
              </a:rPr>
              <a:t>يحسّ بنمط اللغة.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88136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000" b="0" i="1">
                <a:solidFill>
                  <a:srgbClr val="4D5B73"/>
                </a:solidFill>
                <a:latin typeface="Tajawal"/>
                <a:cs typeface="Tajawal"/>
              </a:rPr>
              <a:t>تماماً مثل ما تعلّمتم اللغة من السماع والقراءة،</a:t>
            </a:r>
          </a:p>
          <a:p>
            <a:pPr algn="r" rtl="1">
              <a:lnSpc>
                <a:spcPct val="150000"/>
              </a:lnSpc>
            </a:pPr>
            <a:r>
              <a:rPr sz="2000" b="0" i="1">
                <a:solidFill>
                  <a:srgbClr val="4D5B73"/>
                </a:solidFill>
                <a:latin typeface="Tajawal"/>
                <a:cs typeface="Tajawal"/>
              </a:rPr>
              <a:t>بس على نطاق هائل.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نظرة سريعة للوراء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>
                <a:solidFill>
                  <a:srgbClr val="182233"/>
                </a:solidFill>
                <a:latin typeface="Tajawal"/>
                <a:cs typeface="Tajawal"/>
              </a:rPr>
              <a:t>نماذج اللغة، مو فكرة جديدة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400" b="1" i="0">
                <a:solidFill>
                  <a:srgbClr val="182233"/>
                </a:solidFill>
                <a:latin typeface="Tajawal"/>
                <a:cs typeface="Tajawal"/>
              </a:rPr>
              <a:t>الباحثون يبنون نماذج لغة من عقود.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3474720"/>
            <a:ext cx="5166360" cy="237744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9525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018520" y="3840480"/>
            <a:ext cx="73152" cy="731520"/>
          </a:xfrm>
          <a:prstGeom prst="roundRect">
            <a:avLst>
              <a:gd name="adj" fmla="val 40000"/>
            </a:avLst>
          </a:prstGeom>
          <a:solidFill>
            <a:srgbClr val="8F9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3749039"/>
            <a:ext cx="42976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1" i="0">
                <a:solidFill>
                  <a:srgbClr val="8F9BAD"/>
                </a:solidFill>
                <a:latin typeface="Tajawal"/>
                <a:cs typeface="Tajawal"/>
              </a:rPr>
              <a:t>القديمة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4206240"/>
            <a:ext cx="42976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400" b="1" i="0">
                <a:solidFill>
                  <a:srgbClr val="182233"/>
                </a:solidFill>
                <a:latin typeface="Tajawal"/>
                <a:cs typeface="Tajawal"/>
              </a:rPr>
              <a:t>صغيرة وبسيطة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4892040"/>
            <a:ext cx="42976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00" b="0" i="0">
                <a:solidFill>
                  <a:srgbClr val="4D5B73"/>
                </a:solidFill>
                <a:latin typeface="Tajawal"/>
                <a:cs typeface="Tajawal"/>
              </a:rPr>
              <a:t>تتنبّأ بكلمة أو كلمتين.</a:t>
            </a:r>
          </a:p>
          <a:p>
            <a:pPr algn="r" rtl="1">
              <a:lnSpc>
                <a:spcPct val="145000"/>
              </a:lnSpc>
            </a:pPr>
            <a:r>
              <a:rPr sz="1500" b="0" i="0">
                <a:solidFill>
                  <a:srgbClr val="4D5B73"/>
                </a:solidFill>
                <a:latin typeface="Tajawal"/>
                <a:cs typeface="Tajawal"/>
              </a:rPr>
              <a:t>ذكاء محدود.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5166360" cy="2377440"/>
          </a:xfrm>
          <a:prstGeom prst="roundRect">
            <a:avLst>
              <a:gd name="adj" fmla="val 8000"/>
            </a:avLst>
          </a:prstGeom>
          <a:solidFill>
            <a:srgbClr val="FB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85232" y="3840480"/>
            <a:ext cx="73152" cy="731520"/>
          </a:xfrm>
          <a:prstGeom prst="roundRect">
            <a:avLst>
              <a:gd name="adj" fmla="val 40000"/>
            </a:avLst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749039"/>
            <a:ext cx="42976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1" i="0">
                <a:solidFill>
                  <a:srgbClr val="EE5B4C"/>
                </a:solidFill>
                <a:latin typeface="Tajawal"/>
                <a:cs typeface="Tajawal"/>
              </a:rPr>
              <a:t>الجديدة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42976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400" b="1" i="0">
                <a:solidFill>
                  <a:srgbClr val="182233"/>
                </a:solidFill>
                <a:latin typeface="Tajawal"/>
                <a:cs typeface="Tajawal"/>
              </a:rPr>
              <a:t>ضخمة وقادرة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429768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00" b="0" i="0">
                <a:solidFill>
                  <a:srgbClr val="4D5B73"/>
                </a:solidFill>
                <a:latin typeface="Tajawal"/>
                <a:cs typeface="Tajawal"/>
              </a:rPr>
              <a:t>تفهم سياقاً طويلاً.</a:t>
            </a:r>
          </a:p>
          <a:p>
            <a:pPr algn="r" rtl="1">
              <a:lnSpc>
                <a:spcPct val="145000"/>
              </a:lnSpc>
            </a:pPr>
            <a:r>
              <a:rPr sz="1500" b="0" i="0">
                <a:solidFill>
                  <a:srgbClr val="4D5B73"/>
                </a:solidFill>
                <a:latin typeface="Tajawal"/>
                <a:cs typeface="Tajawal"/>
              </a:rPr>
              <a:t>تكتب، تترجم، تبرمج.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 i="1">
                <a:solidFill>
                  <a:srgbClr val="8F9BAD"/>
                </a:solidFill>
                <a:latin typeface="Tajawal"/>
                <a:cs typeface="Tajawal"/>
              </a:rPr>
              <a:t>من الخمسينات إلى اليوم.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نموذج لغة بسيط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 dirty="0" err="1">
                <a:solidFill>
                  <a:srgbClr val="182233"/>
                </a:solidFill>
                <a:latin typeface="Tajawal"/>
                <a:cs typeface="Tajawal"/>
              </a:rPr>
              <a:t>نموذج</a:t>
            </a:r>
            <a:r>
              <a:rPr sz="3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3800" b="1" i="0" dirty="0" err="1">
                <a:solidFill>
                  <a:srgbClr val="182233"/>
                </a:solidFill>
                <a:latin typeface="Tajawal"/>
                <a:cs typeface="Tajawal"/>
              </a:rPr>
              <a:t>لغة</a:t>
            </a:r>
            <a:r>
              <a:rPr sz="3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3800" b="1" i="0" dirty="0" err="1">
                <a:solidFill>
                  <a:srgbClr val="182233"/>
                </a:solidFill>
                <a:latin typeface="Tajawal"/>
                <a:cs typeface="Tajawal"/>
              </a:rPr>
              <a:t>سيّء</a:t>
            </a:r>
            <a:r>
              <a:rPr sz="3800" b="1" i="0" dirty="0">
                <a:solidFill>
                  <a:srgbClr val="182233"/>
                </a:solidFill>
                <a:latin typeface="Tajawal"/>
                <a:cs typeface="Tajawal"/>
              </a:rPr>
              <a:t>؟ </a:t>
            </a:r>
            <a:r>
              <a:rPr sz="3800" b="1" i="0" dirty="0" err="1">
                <a:solidFill>
                  <a:srgbClr val="182233"/>
                </a:solidFill>
                <a:latin typeface="Tajawal"/>
                <a:cs typeface="Tajawal"/>
              </a:rPr>
              <a:t>نعرفه</a:t>
            </a:r>
            <a:r>
              <a:rPr sz="38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3800" b="1" i="0" dirty="0" err="1">
                <a:solidFill>
                  <a:srgbClr val="182233"/>
                </a:solidFill>
                <a:latin typeface="Tajawal"/>
                <a:cs typeface="Tajawal"/>
              </a:rPr>
              <a:t>كلّنا</a:t>
            </a:r>
            <a:endParaRPr sz="3800" b="1" i="0" dirty="0">
              <a:solidFill>
                <a:srgbClr val="182233"/>
              </a:solidFill>
              <a:latin typeface="Tajawal"/>
              <a:cs typeface="Tajaw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91255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اقتراحات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الكلمات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lang="ar-SA" sz="2000" b="0" i="0" dirty="0">
                <a:solidFill>
                  <a:srgbClr val="4D5B73"/>
                </a:solidFill>
                <a:latin typeface="Tajawal"/>
                <a:cs typeface="Tajawal"/>
              </a:rPr>
              <a:t>في </a:t>
            </a:r>
            <a:r>
              <a:rPr lang="en-US" sz="2000" b="0" i="0" dirty="0">
                <a:solidFill>
                  <a:srgbClr val="4D5B73"/>
                </a:solidFill>
                <a:latin typeface="Tajawal"/>
                <a:cs typeface="Tajawal"/>
              </a:rPr>
              <a:t>WhatsApp</a:t>
            </a:r>
            <a:endParaRPr sz="2000" b="0" i="0" dirty="0">
              <a:solidFill>
                <a:srgbClr val="4D5B73"/>
              </a:solidFill>
              <a:latin typeface="Tajawal"/>
              <a:cs typeface="Tajawal"/>
            </a:endParaRPr>
          </a:p>
          <a:p>
            <a:pPr algn="r" rtl="1">
              <a:lnSpc>
                <a:spcPct val="150000"/>
              </a:lnSpc>
            </a:pP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مثال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مثاليّ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على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نموذج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لغة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lang="ar-SA" sz="2000" b="0" i="0" dirty="0">
                <a:solidFill>
                  <a:srgbClr val="4D5B73"/>
                </a:solidFill>
                <a:latin typeface="Tajawal"/>
                <a:cs typeface="Tajawal"/>
              </a:rPr>
              <a:t>سيء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06797" y="3143012"/>
            <a:ext cx="3534878" cy="3166347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19050">
            <a:solidFill>
              <a:srgbClr val="8F9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77866" y="3334340"/>
            <a:ext cx="3348830" cy="2833046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EE5B4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91231" y="4331308"/>
            <a:ext cx="434109" cy="777700"/>
          </a:xfrm>
          <a:prstGeom prst="ellipse">
            <a:avLst/>
          </a:prstGeom>
          <a:solidFill>
            <a:srgbClr val="FB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06798" y="4363988"/>
            <a:ext cx="3534877" cy="5682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 i="0">
                <a:solidFill>
                  <a:srgbClr val="EE5B4C"/>
                </a:solidFill>
                <a:latin typeface="Tajawal"/>
                <a:cs typeface="Tajawal"/>
              </a:rPr>
              <a:t>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6794" y="5029465"/>
            <a:ext cx="3534881" cy="2862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400" b="1" i="0">
                <a:solidFill>
                  <a:srgbClr val="8F9BAD"/>
                </a:solidFill>
                <a:latin typeface="Tajawal"/>
                <a:cs typeface="Tajawal"/>
              </a:rPr>
              <a:t>مكان الصورة (مثال WhatsApp)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6800" y="5407969"/>
            <a:ext cx="3534875" cy="2328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00" b="0" i="1">
                <a:solidFill>
                  <a:srgbClr val="8F9BAD"/>
                </a:solidFill>
                <a:latin typeface="Tajawal"/>
                <a:cs typeface="Tajawal"/>
              </a:rPr>
              <a:t>بنضيف هنا لقطة لاقتراحات سخيفة.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3056" y="4067386"/>
            <a:ext cx="4238384" cy="21962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71103" y="4146782"/>
            <a:ext cx="3776015" cy="250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 dirty="0" err="1">
                <a:solidFill>
                  <a:srgbClr val="8F9BAD"/>
                </a:solidFill>
                <a:latin typeface="Tajawal"/>
                <a:cs typeface="Tajawal"/>
              </a:rPr>
              <a:t>بداية</a:t>
            </a:r>
            <a:r>
              <a:rPr sz="1200" b="1" i="0" dirty="0">
                <a:solidFill>
                  <a:srgbClr val="8F9BAD"/>
                </a:solidFill>
                <a:latin typeface="Tajawal"/>
                <a:cs typeface="Tajawal"/>
              </a:rPr>
              <a:t> </a:t>
            </a:r>
            <a:r>
              <a:rPr sz="1200" b="1" i="0" dirty="0" err="1">
                <a:solidFill>
                  <a:srgbClr val="8F9BAD"/>
                </a:solidFill>
                <a:latin typeface="Tajawal"/>
                <a:cs typeface="Tajawal"/>
              </a:rPr>
              <a:t>الجملة</a:t>
            </a:r>
            <a:endParaRPr sz="1200" b="1" i="0" dirty="0">
              <a:solidFill>
                <a:srgbClr val="8F9BAD"/>
              </a:solidFill>
              <a:latin typeface="Tajawal"/>
              <a:cs typeface="Tajaw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71103" y="4439205"/>
            <a:ext cx="3776015" cy="39318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1" i="0" dirty="0" err="1">
                <a:solidFill>
                  <a:srgbClr val="182233"/>
                </a:solidFill>
                <a:latin typeface="Tajawal"/>
                <a:cs typeface="Tajawal"/>
              </a:rPr>
              <a:t>أنا</a:t>
            </a:r>
            <a:r>
              <a:rPr sz="20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000" b="1" i="0" dirty="0" err="1">
                <a:solidFill>
                  <a:srgbClr val="182233"/>
                </a:solidFill>
                <a:latin typeface="Tajawal"/>
                <a:cs typeface="Tajawal"/>
              </a:rPr>
              <a:t>رايح</a:t>
            </a:r>
            <a:r>
              <a:rPr sz="20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000" b="1" i="0" dirty="0" err="1">
                <a:solidFill>
                  <a:srgbClr val="182233"/>
                </a:solidFill>
                <a:latin typeface="Tajawal"/>
                <a:cs typeface="Tajawal"/>
              </a:rPr>
              <a:t>إلى</a:t>
            </a:r>
            <a:r>
              <a:rPr sz="2000" b="1" i="0" dirty="0">
                <a:solidFill>
                  <a:srgbClr val="182233"/>
                </a:solidFill>
                <a:latin typeface="Tajawal"/>
                <a:cs typeface="Tajawal"/>
              </a:rPr>
              <a:t> 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67246" y="5200125"/>
            <a:ext cx="893573" cy="387215"/>
          </a:xfrm>
          <a:prstGeom prst="roundRect">
            <a:avLst>
              <a:gd name="adj" fmla="val 40000"/>
            </a:avLst>
          </a:prstGeom>
          <a:solidFill>
            <a:srgbClr val="FB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67248" y="5259849"/>
            <a:ext cx="893572" cy="26776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lang="ar-SA" sz="1500" b="1" dirty="0">
                <a:solidFill>
                  <a:srgbClr val="EE5B4C"/>
                </a:solidFill>
                <a:latin typeface="Tajawal"/>
                <a:cs typeface="Tajawal"/>
              </a:rPr>
              <a:t>يوم</a:t>
            </a:r>
            <a:endParaRPr sz="1500" b="1" dirty="0">
              <a:solidFill>
                <a:srgbClr val="EE5B4C"/>
              </a:solidFill>
              <a:latin typeface="Tajawal"/>
              <a:cs typeface="Tajaw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019230" y="5200125"/>
            <a:ext cx="893573" cy="387215"/>
          </a:xfrm>
          <a:prstGeom prst="roundRect">
            <a:avLst>
              <a:gd name="adj" fmla="val 40000"/>
            </a:avLst>
          </a:prstGeom>
          <a:solidFill>
            <a:srgbClr val="D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19232" y="5259849"/>
            <a:ext cx="893572" cy="26776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lang="ar-SA" sz="1500" b="1" dirty="0">
                <a:solidFill>
                  <a:srgbClr val="338084"/>
                </a:solidFill>
                <a:latin typeface="Tajawal"/>
                <a:cs typeface="Tajawal"/>
              </a:rPr>
              <a:t>الاجتماع</a:t>
            </a:r>
            <a:endParaRPr sz="1500" b="1" dirty="0">
              <a:solidFill>
                <a:srgbClr val="338084"/>
              </a:solidFill>
              <a:latin typeface="Tajawal"/>
              <a:cs typeface="Tajaw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771213" y="5200125"/>
            <a:ext cx="893573" cy="387215"/>
          </a:xfrm>
          <a:prstGeom prst="roundRect">
            <a:avLst>
              <a:gd name="adj" fmla="val 40000"/>
            </a:avLst>
          </a:prstGeom>
          <a:solidFill>
            <a:srgbClr val="F6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7771215" y="5259849"/>
            <a:ext cx="893572" cy="26776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/>
            <a:r>
              <a:rPr lang="ar-SA" sz="1500" b="1" dirty="0">
                <a:solidFill>
                  <a:srgbClr val="D6A83F"/>
                </a:solidFill>
                <a:latin typeface="Tajawal"/>
                <a:cs typeface="Tajawal"/>
              </a:rPr>
              <a:t>الآن</a:t>
            </a:r>
            <a:endParaRPr sz="1500" b="1" dirty="0">
              <a:solidFill>
                <a:srgbClr val="D6A83F"/>
              </a:solidFill>
              <a:latin typeface="Tajawal"/>
              <a:cs typeface="Tajaw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71103" y="5845862"/>
            <a:ext cx="3776015" cy="250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0" i="1">
                <a:solidFill>
                  <a:srgbClr val="8F9BAD"/>
                </a:solidFill>
                <a:latin typeface="Tajawal"/>
                <a:cs typeface="Tajawal"/>
              </a:rPr>
              <a:t>تخمين سطحيّ، بلا فهم.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64BF2AC-67CC-4D2E-31C9-4511FB4464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6" t="2600" r="394" b="41417"/>
          <a:stretch>
            <a:fillRect/>
          </a:stretch>
        </p:blipFill>
        <p:spPr>
          <a:xfrm>
            <a:off x="3086332" y="3334340"/>
            <a:ext cx="3335183" cy="283304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 i="0">
                <a:solidFill>
                  <a:srgbClr val="EE5B4C"/>
                </a:solidFill>
                <a:latin typeface="Tajawal"/>
                <a:cs typeface="Tajawal"/>
              </a:rPr>
              <a:t>السؤال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5800" b="1" i="0">
                <a:solidFill>
                  <a:srgbClr val="182233"/>
                </a:solidFill>
                <a:latin typeface="Tajawal"/>
                <a:cs typeface="Tajawal"/>
              </a:rPr>
              <a:t>طيّب، ليش فجأة</a:t>
            </a:r>
          </a:p>
          <a:p>
            <a:pPr algn="ctr" rtl="1">
              <a:lnSpc>
                <a:spcPct val="115000"/>
              </a:lnSpc>
            </a:pPr>
            <a:r>
              <a:rPr sz="5800" b="1" i="0">
                <a:solidFill>
                  <a:srgbClr val="182233"/>
                </a:solidFill>
                <a:latin typeface="Tajawal"/>
                <a:cs typeface="Tajawal"/>
              </a:rPr>
              <a:t>صاروا أذكياء؟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4288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lang="ar-SA" sz="2200" b="1" i="1" dirty="0">
                <a:solidFill>
                  <a:srgbClr val="EE5B4C"/>
                </a:solidFill>
                <a:latin typeface="Tajawal"/>
                <a:cs typeface="Tajawal"/>
              </a:rPr>
              <a:t>تخمين؟</a:t>
            </a:r>
            <a:endParaRPr sz="2200" b="1" i="1" dirty="0">
              <a:solidFill>
                <a:srgbClr val="EE5B4C"/>
              </a:solidFill>
              <a:latin typeface="Tajawal"/>
              <a:cs typeface="Tajaw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الجواب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34241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lang="ar-SA" sz="3800" b="1" dirty="0">
                <a:solidFill>
                  <a:srgbClr val="182233"/>
                </a:solidFill>
                <a:latin typeface="Tajawal"/>
                <a:cs typeface="Tajawal"/>
              </a:rPr>
              <a:t>السرّ: قوانين التوسّع </a:t>
            </a:r>
            <a:r>
              <a:rPr lang="en-US" sz="3800" b="1" dirty="0">
                <a:solidFill>
                  <a:srgbClr val="182233"/>
                </a:solidFill>
                <a:latin typeface="Tajawal"/>
                <a:cs typeface="Tajawal"/>
              </a:rPr>
              <a:t>(Scaling Laws)</a:t>
            </a:r>
          </a:p>
          <a:p>
            <a:pPr algn="r" rtl="1">
              <a:lnSpc>
                <a:spcPct val="115000"/>
              </a:lnSpc>
            </a:pPr>
            <a:r>
              <a:rPr lang="ar-SA" sz="3800" b="1" i="0" dirty="0">
                <a:solidFill>
                  <a:srgbClr val="182233"/>
                </a:solidFill>
                <a:latin typeface="Tajawal"/>
                <a:cs typeface="Tajawal"/>
              </a:rPr>
              <a:t>الوصفة السحرية!</a:t>
            </a:r>
            <a:endParaRPr sz="3800" b="1" i="0" dirty="0">
              <a:solidFill>
                <a:srgbClr val="182233"/>
              </a:solidFill>
              <a:latin typeface="Tajawal"/>
              <a:cs typeface="Tajaw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52347" y="2440515"/>
            <a:ext cx="3246120" cy="1554480"/>
          </a:xfrm>
          <a:prstGeom prst="roundRect">
            <a:avLst>
              <a:gd name="adj" fmla="val 8000"/>
            </a:avLst>
          </a:prstGeom>
          <a:solidFill>
            <a:srgbClr val="FB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26667" y="2714834"/>
            <a:ext cx="2697479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6667" y="3126315"/>
            <a:ext cx="2697479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200" b="1" i="0">
                <a:solidFill>
                  <a:srgbClr val="182233"/>
                </a:solidFill>
                <a:latin typeface="Tajawal"/>
                <a:cs typeface="Tajawal"/>
              </a:rPr>
              <a:t>كبّر النموذج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2787" y="2440515"/>
            <a:ext cx="3246120" cy="1554480"/>
          </a:xfrm>
          <a:prstGeom prst="roundRect">
            <a:avLst>
              <a:gd name="adj" fmla="val 8000"/>
            </a:avLst>
          </a:prstGeom>
          <a:solidFill>
            <a:srgbClr val="D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47107" y="2714834"/>
            <a:ext cx="2697479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1" i="0">
                <a:solidFill>
                  <a:srgbClr val="338084"/>
                </a:solidFill>
                <a:latin typeface="Tajawal"/>
                <a:cs typeface="Tajaw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7107" y="3126315"/>
            <a:ext cx="2697479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200" b="1" i="0">
                <a:solidFill>
                  <a:srgbClr val="182233"/>
                </a:solidFill>
                <a:latin typeface="Tajawal"/>
                <a:cs typeface="Tajawal"/>
              </a:rPr>
              <a:t>زِد البيانات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3227" y="2440515"/>
            <a:ext cx="3246120" cy="1554480"/>
          </a:xfrm>
          <a:prstGeom prst="roundRect">
            <a:avLst>
              <a:gd name="adj" fmla="val 8000"/>
            </a:avLst>
          </a:prstGeom>
          <a:solidFill>
            <a:srgbClr val="F6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67547" y="2714834"/>
            <a:ext cx="2697479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1" i="0">
                <a:solidFill>
                  <a:srgbClr val="D6A83F"/>
                </a:solidFill>
                <a:latin typeface="Tajawal"/>
                <a:cs typeface="Tajaw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7547" y="3126315"/>
            <a:ext cx="2697479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200" b="1" i="0">
                <a:solidFill>
                  <a:srgbClr val="182233"/>
                </a:solidFill>
                <a:latin typeface="Tajawal"/>
                <a:cs typeface="Tajawal"/>
              </a:rPr>
              <a:t>ضاعف الحوسبة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10881360" cy="4288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200" b="1" i="0" dirty="0" err="1">
                <a:solidFill>
                  <a:srgbClr val="182233"/>
                </a:solidFill>
                <a:latin typeface="Tajawal"/>
                <a:cs typeface="Tajawal"/>
              </a:rPr>
              <a:t>النتيجة</a:t>
            </a:r>
            <a:r>
              <a:rPr lang="ar-SA" sz="2200" b="1" i="0" dirty="0">
                <a:solidFill>
                  <a:srgbClr val="182233"/>
                </a:solidFill>
                <a:latin typeface="Tajawal"/>
                <a:cs typeface="Tajawal"/>
              </a:rPr>
              <a:t>:</a:t>
            </a:r>
            <a:r>
              <a:rPr sz="22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200" b="1" i="0" dirty="0" err="1">
                <a:solidFill>
                  <a:srgbClr val="182233"/>
                </a:solidFill>
                <a:latin typeface="Tajawal"/>
                <a:cs typeface="Tajawal"/>
              </a:rPr>
              <a:t>تتحسّن</a:t>
            </a:r>
            <a:r>
              <a:rPr sz="22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200" b="1" i="0" dirty="0" err="1">
                <a:solidFill>
                  <a:srgbClr val="182233"/>
                </a:solidFill>
                <a:latin typeface="Tajawal"/>
                <a:cs typeface="Tajawal"/>
              </a:rPr>
              <a:t>قدرات</a:t>
            </a:r>
            <a:r>
              <a:rPr sz="22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200" b="1" i="0" dirty="0" err="1">
                <a:solidFill>
                  <a:srgbClr val="182233"/>
                </a:solidFill>
                <a:latin typeface="Tajawal"/>
                <a:cs typeface="Tajawal"/>
              </a:rPr>
              <a:t>النموذج</a:t>
            </a:r>
            <a:r>
              <a:rPr sz="22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200" b="1" i="0" dirty="0" err="1">
                <a:solidFill>
                  <a:srgbClr val="182233"/>
                </a:solidFill>
                <a:latin typeface="Tajawal"/>
                <a:cs typeface="Tajawal"/>
              </a:rPr>
              <a:t>بشكل</a:t>
            </a:r>
            <a:r>
              <a:rPr sz="2200" b="1" i="0" dirty="0">
                <a:solidFill>
                  <a:srgbClr val="182233"/>
                </a:solidFill>
                <a:latin typeface="Tajawal"/>
                <a:cs typeface="Tajawal"/>
              </a:rPr>
              <a:t> </a:t>
            </a:r>
            <a:r>
              <a:rPr sz="2200" b="1" i="0" dirty="0" err="1">
                <a:solidFill>
                  <a:srgbClr val="182233"/>
                </a:solidFill>
                <a:latin typeface="Tajawal"/>
                <a:cs typeface="Tajawal"/>
              </a:rPr>
              <a:t>متوقَّع</a:t>
            </a:r>
            <a:r>
              <a:rPr sz="2200" b="1" i="0" dirty="0">
                <a:solidFill>
                  <a:srgbClr val="182233"/>
                </a:solidFill>
                <a:latin typeface="Tajawal"/>
                <a:cs typeface="Tajaw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0881360" cy="35753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800" b="1" i="0" dirty="0" err="1">
                <a:solidFill>
                  <a:srgbClr val="EE5B4C"/>
                </a:solidFill>
                <a:latin typeface="Tajawal"/>
                <a:cs typeface="Tajawal"/>
              </a:rPr>
              <a:t>مو</a:t>
            </a:r>
            <a:r>
              <a:rPr sz="1800" b="1" i="0" dirty="0">
                <a:solidFill>
                  <a:srgbClr val="EE5B4C"/>
                </a:solidFill>
                <a:latin typeface="Tajawal"/>
                <a:cs typeface="Tajawal"/>
              </a:rPr>
              <a:t> </a:t>
            </a:r>
            <a:r>
              <a:rPr sz="1800" b="1" i="0" dirty="0" err="1">
                <a:solidFill>
                  <a:srgbClr val="EE5B4C"/>
                </a:solidFill>
                <a:latin typeface="Tajawal"/>
                <a:cs typeface="Tajawal"/>
              </a:rPr>
              <a:t>خوارزميّة</a:t>
            </a:r>
            <a:r>
              <a:rPr sz="1800" b="1" i="0" dirty="0">
                <a:solidFill>
                  <a:srgbClr val="EE5B4C"/>
                </a:solidFill>
                <a:latin typeface="Tajawal"/>
                <a:cs typeface="Tajawal"/>
              </a:rPr>
              <a:t> </a:t>
            </a:r>
            <a:r>
              <a:rPr sz="1800" b="1" i="0" dirty="0" err="1">
                <a:solidFill>
                  <a:srgbClr val="EE5B4C"/>
                </a:solidFill>
                <a:latin typeface="Tajawal"/>
                <a:cs typeface="Tajawal"/>
              </a:rPr>
              <a:t>عبقريّة</a:t>
            </a:r>
            <a:r>
              <a:rPr sz="1800" b="1" i="0" dirty="0">
                <a:solidFill>
                  <a:srgbClr val="EE5B4C"/>
                </a:solidFill>
                <a:latin typeface="Tajawal"/>
                <a:cs typeface="Tajawal"/>
              </a:rPr>
              <a:t> </a:t>
            </a:r>
            <a:r>
              <a:rPr sz="1800" b="1" i="0" dirty="0" err="1">
                <a:solidFill>
                  <a:srgbClr val="EE5B4C"/>
                </a:solidFill>
                <a:latin typeface="Tajawal"/>
                <a:cs typeface="Tajawal"/>
              </a:rPr>
              <a:t>جديدة</a:t>
            </a:r>
            <a:r>
              <a:rPr lang="ar-SA" b="1" dirty="0">
                <a:solidFill>
                  <a:srgbClr val="EE5B4C"/>
                </a:solidFill>
                <a:latin typeface="Tajawal"/>
                <a:cs typeface="Tajawal"/>
              </a:rPr>
              <a:t>.</a:t>
            </a:r>
            <a:r>
              <a:rPr sz="1800" b="1" i="0" dirty="0">
                <a:solidFill>
                  <a:srgbClr val="EE5B4C"/>
                </a:solidFill>
                <a:latin typeface="Tajawal"/>
                <a:cs typeface="Tajawal"/>
              </a:rPr>
              <a:t> </a:t>
            </a:r>
            <a:r>
              <a:rPr sz="1800" b="1" i="0" dirty="0" err="1">
                <a:solidFill>
                  <a:srgbClr val="EE5B4C"/>
                </a:solidFill>
                <a:latin typeface="Tajawal"/>
                <a:cs typeface="Tajawal"/>
              </a:rPr>
              <a:t>حجم</a:t>
            </a:r>
            <a:r>
              <a:rPr sz="1800" b="1" i="0" dirty="0">
                <a:solidFill>
                  <a:srgbClr val="EE5B4C"/>
                </a:solidFill>
                <a:latin typeface="Tajawal"/>
                <a:cs typeface="Tajawal"/>
              </a:rPr>
              <a:t>، </a:t>
            </a:r>
            <a:r>
              <a:rPr lang="ar-SA" sz="1800" b="1" i="0" dirty="0">
                <a:solidFill>
                  <a:srgbClr val="EE5B4C"/>
                </a:solidFill>
                <a:latin typeface="Tajawal"/>
                <a:cs typeface="Tajawal"/>
              </a:rPr>
              <a:t>بس كبر الحجم</a:t>
            </a:r>
            <a:r>
              <a:rPr sz="1800" b="1" i="0" dirty="0">
                <a:solidFill>
                  <a:srgbClr val="EE5B4C"/>
                </a:solidFill>
                <a:latin typeface="Tajawal"/>
                <a:cs typeface="Tajaw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10881360" cy="2862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ar-SA" sz="1400" b="0" i="1" dirty="0">
                <a:solidFill>
                  <a:srgbClr val="4D5B73"/>
                </a:solidFill>
                <a:latin typeface="Tajawal"/>
                <a:cs typeface="Tajawal"/>
              </a:rPr>
              <a:t>بحث </a:t>
            </a:r>
            <a:r>
              <a:rPr lang="en-US" sz="1400" b="0" i="1" dirty="0">
                <a:solidFill>
                  <a:srgbClr val="4D5B73"/>
                </a:solidFill>
                <a:latin typeface="Tajawal"/>
                <a:cs typeface="Tajawal"/>
              </a:rPr>
              <a:t>Kaplan</a:t>
            </a:r>
            <a:r>
              <a:rPr lang="ar-SA" sz="1400" b="0" i="1" dirty="0">
                <a:solidFill>
                  <a:srgbClr val="4D5B73"/>
                </a:solidFill>
                <a:latin typeface="Tajawal"/>
                <a:cs typeface="Tajawal"/>
              </a:rPr>
              <a:t> وزملائه</a:t>
            </a:r>
            <a:r>
              <a:rPr lang="en-US" sz="1400" b="0" i="1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lang="ar-SA" sz="1400" b="0" i="1" dirty="0">
                <a:solidFill>
                  <a:srgbClr val="4D5B73"/>
                </a:solidFill>
                <a:latin typeface="Tajawal"/>
                <a:cs typeface="Tajawal"/>
              </a:rPr>
              <a:t>من </a:t>
            </a:r>
            <a:r>
              <a:rPr lang="en-US" sz="1400" b="0" i="1" dirty="0" err="1">
                <a:solidFill>
                  <a:srgbClr val="4D5B73"/>
                </a:solidFill>
                <a:latin typeface="Tajawal"/>
                <a:cs typeface="Tajawal"/>
              </a:rPr>
              <a:t>OpenAi</a:t>
            </a:r>
            <a:r>
              <a:rPr lang="ar-SA" sz="1400" b="0" i="1" dirty="0">
                <a:solidFill>
                  <a:srgbClr val="4D5B73"/>
                </a:solidFill>
                <a:latin typeface="Tajawal"/>
                <a:cs typeface="Tajawal"/>
              </a:rPr>
              <a:t> بـ2020 طرح هذا الموضوع لأول مرة.</a:t>
            </a:r>
            <a:endParaRPr sz="1400" b="0" i="1" dirty="0">
              <a:solidFill>
                <a:srgbClr val="4D5B73"/>
              </a:solidFill>
              <a:latin typeface="Tajawal"/>
              <a:cs typeface="Tajaw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حجم البيانات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>
                <a:solidFill>
                  <a:srgbClr val="182233"/>
                </a:solidFill>
                <a:latin typeface="Tajawal"/>
                <a:cs typeface="Tajawal"/>
              </a:rPr>
              <a:t>بيانات يصعب تخيّلها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كتب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،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صفحات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إنترنت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،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ويكيبيديا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كاملة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،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أبحاث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علميّة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، </a:t>
            </a:r>
            <a:r>
              <a:rPr sz="2200" b="0" i="0" dirty="0" err="1">
                <a:solidFill>
                  <a:srgbClr val="4D5B73"/>
                </a:solidFill>
                <a:latin typeface="Tajawal"/>
                <a:cs typeface="Tajawal"/>
              </a:rPr>
              <a:t>قواميس</a:t>
            </a:r>
            <a:r>
              <a:rPr sz="2200" b="0" i="0" dirty="0">
                <a:solidFill>
                  <a:srgbClr val="4D5B73"/>
                </a:solidFill>
                <a:latin typeface="Tajawal"/>
                <a:cs typeface="Tajaw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9418320" cy="2331720"/>
          </a:xfrm>
          <a:prstGeom prst="roundRect">
            <a:avLst>
              <a:gd name="adj" fmla="val 12000"/>
            </a:avLst>
          </a:prstGeom>
          <a:solidFill>
            <a:srgbClr val="0E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3840480"/>
            <a:ext cx="886968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0" b="1" i="0">
                <a:solidFill>
                  <a:srgbClr val="D6A83F"/>
                </a:solidFill>
                <a:latin typeface="Tajawal"/>
                <a:cs typeface="Tajawal"/>
              </a:rPr>
              <a:t>≈ 1,000,000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983480"/>
            <a:ext cx="88696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2200" b="1" i="0">
                <a:solidFill>
                  <a:srgbClr val="FFFFFF"/>
                </a:solidFill>
                <a:latin typeface="Tajawal"/>
                <a:cs typeface="Tajawal"/>
              </a:rPr>
              <a:t>كتاب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440680"/>
            <a:ext cx="8869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 i="1" dirty="0" err="1">
                <a:solidFill>
                  <a:srgbClr val="CFD6E2"/>
                </a:solidFill>
                <a:latin typeface="Tajawal"/>
                <a:cs typeface="Tajawal"/>
              </a:rPr>
              <a:t>هذا</a:t>
            </a:r>
            <a:r>
              <a:rPr sz="1300" b="0" i="1" dirty="0">
                <a:solidFill>
                  <a:srgbClr val="CFD6E2"/>
                </a:solidFill>
                <a:latin typeface="Tajawal"/>
                <a:cs typeface="Tajawal"/>
              </a:rPr>
              <a:t> </a:t>
            </a:r>
            <a:r>
              <a:rPr sz="1300" b="0" i="1" dirty="0" err="1">
                <a:solidFill>
                  <a:srgbClr val="CFD6E2"/>
                </a:solidFill>
                <a:latin typeface="Tajawal"/>
                <a:cs typeface="Tajawal"/>
              </a:rPr>
              <a:t>تقريباً</a:t>
            </a:r>
            <a:r>
              <a:rPr sz="1300" b="0" i="1" dirty="0">
                <a:solidFill>
                  <a:srgbClr val="CFD6E2"/>
                </a:solidFill>
                <a:latin typeface="Tajawal"/>
                <a:cs typeface="Tajawal"/>
              </a:rPr>
              <a:t> </a:t>
            </a:r>
            <a:r>
              <a:rPr sz="1300" b="0" i="1" dirty="0" err="1">
                <a:solidFill>
                  <a:srgbClr val="CFD6E2"/>
                </a:solidFill>
                <a:latin typeface="Tajawal"/>
                <a:cs typeface="Tajawal"/>
              </a:rPr>
              <a:t>حجم</a:t>
            </a:r>
            <a:r>
              <a:rPr sz="1300" b="0" i="1" dirty="0">
                <a:solidFill>
                  <a:srgbClr val="CFD6E2"/>
                </a:solidFill>
                <a:latin typeface="Tajawal"/>
                <a:cs typeface="Tajawal"/>
              </a:rPr>
              <a:t> </a:t>
            </a:r>
            <a:r>
              <a:rPr sz="1300" b="0" i="1" dirty="0" err="1">
                <a:solidFill>
                  <a:srgbClr val="CFD6E2"/>
                </a:solidFill>
                <a:latin typeface="Tajawal"/>
                <a:cs typeface="Tajawal"/>
              </a:rPr>
              <a:t>النص</a:t>
            </a:r>
            <a:r>
              <a:rPr sz="1300" b="0" i="1" dirty="0">
                <a:solidFill>
                  <a:srgbClr val="CFD6E2"/>
                </a:solidFill>
                <a:latin typeface="Tajawal"/>
                <a:cs typeface="Tajawal"/>
              </a:rPr>
              <a:t> </a:t>
            </a:r>
            <a:r>
              <a:rPr sz="1300" b="0" i="1" dirty="0" err="1">
                <a:solidFill>
                  <a:srgbClr val="CFD6E2"/>
                </a:solidFill>
                <a:latin typeface="Tajawal"/>
                <a:cs typeface="Tajawal"/>
              </a:rPr>
              <a:t>اللي</a:t>
            </a:r>
            <a:r>
              <a:rPr sz="1300" b="0" i="1" dirty="0">
                <a:solidFill>
                  <a:srgbClr val="CFD6E2"/>
                </a:solidFill>
                <a:latin typeface="Tajawal"/>
                <a:cs typeface="Tajawal"/>
              </a:rPr>
              <a:t> </a:t>
            </a:r>
            <a:r>
              <a:rPr sz="1300" b="0" i="1" dirty="0" err="1">
                <a:solidFill>
                  <a:srgbClr val="CFD6E2"/>
                </a:solidFill>
                <a:latin typeface="Tajawal"/>
                <a:cs typeface="Tajawal"/>
              </a:rPr>
              <a:t>درّب</a:t>
            </a:r>
            <a:r>
              <a:rPr sz="1300" b="0" i="1" dirty="0">
                <a:solidFill>
                  <a:srgbClr val="CFD6E2"/>
                </a:solidFill>
                <a:latin typeface="Tajawal"/>
                <a:cs typeface="Tajawal"/>
              </a:rPr>
              <a:t> </a:t>
            </a:r>
            <a:r>
              <a:rPr sz="1300" b="0" i="1" dirty="0" err="1">
                <a:solidFill>
                  <a:srgbClr val="CFD6E2"/>
                </a:solidFill>
                <a:latin typeface="Tajawal"/>
                <a:cs typeface="Tajawal"/>
              </a:rPr>
              <a:t>عليه</a:t>
            </a:r>
            <a:r>
              <a:rPr sz="1300" b="0" i="1" dirty="0">
                <a:solidFill>
                  <a:srgbClr val="CFD6E2"/>
                </a:solidFill>
                <a:latin typeface="Tajawal"/>
                <a:cs typeface="Tajawal"/>
              </a:rPr>
              <a:t> GPT-3.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04320" y="502920"/>
            <a:ext cx="164592" cy="164592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EE5B4C"/>
                </a:solidFill>
                <a:latin typeface="Tajawal"/>
                <a:cs typeface="Tajawal"/>
              </a:rPr>
              <a:t>تجربة عمليّة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>
                <a:solidFill>
                  <a:srgbClr val="182233"/>
                </a:solidFill>
                <a:latin typeface="Tajawal"/>
                <a:cs typeface="Tajawal"/>
              </a:rPr>
              <a:t>دورنا الآن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55181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800" b="1" i="0" dirty="0" err="1">
                <a:solidFill>
                  <a:srgbClr val="182233"/>
                </a:solidFill>
                <a:latin typeface="Tajawal"/>
                <a:cs typeface="Tajawal"/>
              </a:rPr>
              <a:t>بنفتح</a:t>
            </a:r>
            <a:r>
              <a:rPr sz="2800" b="1" i="0" dirty="0">
                <a:solidFill>
                  <a:srgbClr val="182233"/>
                </a:solidFill>
                <a:latin typeface="Tajawal"/>
                <a:cs typeface="Tajawal"/>
              </a:rPr>
              <a:t> Machine Learning for Kids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8813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ندرّب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نموذج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لغة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صغير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،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مع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بعض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،</a:t>
            </a:r>
          </a:p>
          <a:p>
            <a:pPr algn="r" rtl="1">
              <a:lnSpc>
                <a:spcPct val="150000"/>
              </a:lnSpc>
            </a:pP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علشان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تشوفون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كيف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تشتغل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العمليّة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 </a:t>
            </a:r>
            <a:r>
              <a:rPr sz="2000" b="0" i="0" dirty="0" err="1">
                <a:solidFill>
                  <a:srgbClr val="4D5B73"/>
                </a:solidFill>
                <a:latin typeface="Tajawal"/>
                <a:cs typeface="Tajawal"/>
              </a:rPr>
              <a:t>كاملةً</a:t>
            </a:r>
            <a:r>
              <a:rPr sz="2000" b="0" i="0" dirty="0">
                <a:solidFill>
                  <a:srgbClr val="4D5B73"/>
                </a:solidFill>
                <a:latin typeface="Tajawal"/>
                <a:cs typeface="Tajaw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5349240"/>
            <a:ext cx="4937760" cy="868680"/>
          </a:xfrm>
          <a:prstGeom prst="roundRect">
            <a:avLst>
              <a:gd name="adj" fmla="val 50000"/>
            </a:avLst>
          </a:prstGeom>
          <a:solidFill>
            <a:srgbClr val="FB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0" y="5349240"/>
            <a:ext cx="493776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800" b="1" i="0">
                <a:solidFill>
                  <a:srgbClr val="EE5B4C"/>
                </a:solidFill>
                <a:latin typeface="Tajawal"/>
                <a:cs typeface="Tajawal"/>
              </a:rPr>
              <a:t>تجربة حيّة على المتصفّح</a:t>
            </a:r>
          </a:p>
        </p:txBody>
      </p:sp>
      <p:sp>
        <p:nvSpPr>
          <p:cNvPr id="9" name="Oval 8"/>
          <p:cNvSpPr/>
          <p:nvPr/>
        </p:nvSpPr>
        <p:spPr>
          <a:xfrm>
            <a:off x="10058400" y="5486400"/>
            <a:ext cx="594360" cy="594360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0" y="5458968"/>
            <a:ext cx="59436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 dirty="0">
                <a:solidFill>
                  <a:srgbClr val="FFFFFF"/>
                </a:solidFill>
                <a:latin typeface="Tajawal"/>
                <a:cs typeface="Tajawal"/>
              </a:rPr>
              <a:t>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 i="0">
                <a:solidFill>
                  <a:srgbClr val="D6A83F"/>
                </a:solidFill>
                <a:latin typeface="Tajawal"/>
                <a:cs typeface="Tajawal"/>
              </a:rPr>
              <a:t>النهاية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881360" cy="1828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sz="12000" b="1" i="0">
                <a:solidFill>
                  <a:srgbClr val="FFFFFF"/>
                </a:solidFill>
                <a:latin typeface="Tajawal"/>
                <a:cs typeface="Tajawal"/>
              </a:rPr>
              <a:t>أسئلة؟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10881360" cy="4288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2200" b="0" i="1" dirty="0" err="1">
                <a:solidFill>
                  <a:srgbClr val="CFD6E2"/>
                </a:solidFill>
                <a:latin typeface="Tajawal"/>
                <a:cs typeface="Tajawal"/>
              </a:rPr>
              <a:t>كل</a:t>
            </a:r>
            <a:r>
              <a:rPr sz="2200" b="0" i="1" dirty="0">
                <a:solidFill>
                  <a:srgbClr val="CFD6E2"/>
                </a:solidFill>
                <a:latin typeface="Tajawal"/>
                <a:cs typeface="Tajawal"/>
              </a:rPr>
              <a:t> </a:t>
            </a:r>
            <a:r>
              <a:rPr sz="2200" b="0" i="1" dirty="0" err="1">
                <a:solidFill>
                  <a:srgbClr val="CFD6E2"/>
                </a:solidFill>
                <a:latin typeface="Tajawal"/>
                <a:cs typeface="Tajawal"/>
              </a:rPr>
              <a:t>سؤال</a:t>
            </a:r>
            <a:r>
              <a:rPr sz="2200" b="0" i="1" dirty="0">
                <a:solidFill>
                  <a:srgbClr val="CFD6E2"/>
                </a:solidFill>
                <a:latin typeface="Tajawal"/>
                <a:cs typeface="Tajawal"/>
              </a:rPr>
              <a:t>، </a:t>
            </a:r>
            <a:r>
              <a:rPr sz="2200" b="0" i="1" dirty="0" err="1">
                <a:solidFill>
                  <a:srgbClr val="CFD6E2"/>
                </a:solidFill>
                <a:latin typeface="Tajawal"/>
                <a:cs typeface="Tajawal"/>
              </a:rPr>
              <a:t>مرحَّب</a:t>
            </a:r>
            <a:r>
              <a:rPr sz="2200" b="0" i="1" dirty="0">
                <a:solidFill>
                  <a:srgbClr val="CFD6E2"/>
                </a:solidFill>
                <a:latin typeface="Tajawal"/>
                <a:cs typeface="Tajawal"/>
              </a:rPr>
              <a:t> </a:t>
            </a:r>
            <a:r>
              <a:rPr sz="2200" b="0" i="1" dirty="0" err="1">
                <a:solidFill>
                  <a:srgbClr val="CFD6E2"/>
                </a:solidFill>
                <a:latin typeface="Tajawal"/>
                <a:cs typeface="Tajawal"/>
              </a:rPr>
              <a:t>فيه</a:t>
            </a:r>
            <a:r>
              <a:rPr lang="ar-SA" sz="2200" b="0" i="1" dirty="0">
                <a:solidFill>
                  <a:srgbClr val="CFD6E2"/>
                </a:solidFill>
                <a:latin typeface="Tajawal"/>
                <a:cs typeface="Tajawal"/>
              </a:rPr>
              <a:t>!</a:t>
            </a:r>
            <a:endParaRPr sz="2200" b="0" i="1" dirty="0">
              <a:solidFill>
                <a:srgbClr val="CFD6E2"/>
              </a:solidFill>
              <a:latin typeface="Tajawal"/>
              <a:cs typeface="Tajawal"/>
            </a:endParaRPr>
          </a:p>
        </p:txBody>
      </p:sp>
      <p:sp>
        <p:nvSpPr>
          <p:cNvPr id="5" name="Oval 4"/>
          <p:cNvSpPr/>
          <p:nvPr/>
        </p:nvSpPr>
        <p:spPr>
          <a:xfrm>
            <a:off x="5986119" y="6126480"/>
            <a:ext cx="219456" cy="219456"/>
          </a:xfrm>
          <a:prstGeom prst="ellipse">
            <a:avLst/>
          </a:prstGeom>
          <a:solidFill>
            <a:srgbClr val="EE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926</Words>
  <Application>Microsoft Office PowerPoint</Application>
  <PresentationFormat>Widescreen</PresentationFormat>
  <Paragraphs>246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Tajawal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MUHANNAD ABFULLAH ALI ALHUMAIDI</cp:lastModifiedBy>
  <cp:revision>2</cp:revision>
  <dcterms:created xsi:type="dcterms:W3CDTF">2013-01-27T09:14:16Z</dcterms:created>
  <dcterms:modified xsi:type="dcterms:W3CDTF">2026-05-18T09:07:14Z</dcterms:modified>
  <cp:category/>
</cp:coreProperties>
</file>