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6" r:id="rId5"/>
    <p:sldId id="260" r:id="rId6"/>
    <p:sldId id="279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87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97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0E1A-E9E9-F66C-9BDB-8A347F32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39438-9D0D-020F-9D4B-7E56BEF11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92185-0FCE-43DB-6C3C-231FDB9D5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6AB8A-B538-8F09-5B6E-1489824D5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5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53B8-4B84-7F9D-B63C-D9F7BC08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6C3A2-56D6-345C-352C-58930BD4C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48DD6-2F71-94D3-9438-BE62D79B0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D1286-68B5-6F03-1B42-971EAA483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03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C77C-CD04-0F9D-51AD-A3074861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A52B7-9943-E242-5F3B-248864D0C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F8E69-2B8B-58D5-744F-49EBF25E0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38AF9-57C2-F0CB-E3A8-005FB052E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4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914400" y="914400"/>
            <a:ext cx="548640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4F46E5">
              <a:alpha val="4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875520" y="5029200"/>
            <a:ext cx="3657600" cy="365760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657600" y="1463040"/>
            <a:ext cx="4572000" cy="45720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محاضرة الذكاء الاصطناعي</a:t>
            </a:r>
            <a:r>
              <a:rPr lang="en-US" altLang="en-US" sz="1600" b="1" dirty="0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2 </a:t>
            </a:r>
            <a:endParaRPr lang="ar-SA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8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وراء الكواليس</a:t>
            </a:r>
            <a:endParaRPr lang="ar-SA" sz="84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54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 تعلم الآلات</a:t>
            </a:r>
            <a:endParaRPr lang="ar-SA" sz="540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ظواهر تحدث اثناء تدريب الذكاء الاصطناعي • البيانات • التعميم</a:t>
            </a:r>
            <a:endParaRPr lang="ar-SA" sz="1800" dirty="0"/>
          </a:p>
        </p:txBody>
      </p:sp>
      <p:sp>
        <p:nvSpPr>
          <p:cNvPr id="10" name="Shape 7"/>
          <p:cNvSpPr/>
          <p:nvPr/>
        </p:nvSpPr>
        <p:spPr>
          <a:xfrm>
            <a:off x="5440680" y="5486400"/>
            <a:ext cx="137160" cy="1371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Shape 8"/>
          <p:cNvSpPr/>
          <p:nvPr/>
        </p:nvSpPr>
        <p:spPr>
          <a:xfrm>
            <a:off x="6016752" y="5486400"/>
            <a:ext cx="137160" cy="1371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5486400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7607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خريطة محاضرة اليوم !</a:t>
            </a:r>
            <a:endParaRPr lang="ar-SA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وش </a:t>
            </a:r>
            <a:r>
              <a:rPr lang="ar-SA" altLang="en-US" sz="1800" dirty="0" err="1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بنتعلم</a:t>
            </a: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اليوم؟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560320"/>
            <a:ext cx="2697480" cy="182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29718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الإفراط في التدريب</a:t>
            </a:r>
            <a:endParaRPr lang="ar-SA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لمن الـ </a:t>
            </a:r>
            <a:r>
              <a:rPr lang="en-US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يحفظ ما يفهم ..</a:t>
            </a:r>
          </a:p>
          <a:p>
            <a:pPr marL="0" indent="0" algn="r" rtl="1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&lt;Overfitting&gt;</a:t>
            </a:r>
            <a:endParaRPr lang="ar-SA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5603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2560320"/>
            <a:ext cx="26974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212080" y="29718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971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الانحياز في البيانات</a:t>
            </a:r>
            <a:endParaRPr lang="ar-SA" sz="1700" dirty="0"/>
          </a:p>
        </p:txBody>
      </p:sp>
      <p:sp>
        <p:nvSpPr>
          <p:cNvPr id="17" name="Text 13"/>
          <p:cNvSpPr/>
          <p:nvPr/>
        </p:nvSpPr>
        <p:spPr>
          <a:xfrm>
            <a:off x="347472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لمن الـ</a:t>
            </a:r>
            <a:r>
              <a:rPr lang="en-US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يصير .. </a:t>
            </a:r>
            <a:r>
              <a:rPr lang="ar-SA" altLang="en-US" sz="1200" dirty="0" err="1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عادل ؟</a:t>
            </a:r>
            <a:endParaRPr lang="ar-SA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25603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2560320"/>
            <a:ext cx="269748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6"/>
          <p:cNvSpPr/>
          <p:nvPr/>
        </p:nvSpPr>
        <p:spPr>
          <a:xfrm>
            <a:off x="8046720" y="297180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7180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الـ</a:t>
            </a:r>
            <a:r>
              <a:rPr lang="en-US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حقنا كويس؟</a:t>
            </a:r>
            <a:endParaRPr lang="ar-SA" sz="1700" dirty="0"/>
          </a:p>
        </p:txBody>
      </p:sp>
      <p:sp>
        <p:nvSpPr>
          <p:cNvPr id="24" name="Text 19"/>
          <p:cNvSpPr/>
          <p:nvPr/>
        </p:nvSpPr>
        <p:spPr>
          <a:xfrm>
            <a:off x="630936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نعرف اذا نموذجنا جيد؟ </a:t>
            </a:r>
          </a:p>
          <a:p>
            <a:pPr marL="0" indent="0" algn="r" rtl="1">
              <a:buNone/>
            </a:pPr>
            <a:r>
              <a:rPr lang="ar-SA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يكفي تدريبه وبس؟</a:t>
            </a:r>
            <a:endParaRPr lang="ar-SA" sz="1200" dirty="0"/>
          </a:p>
        </p:txBody>
      </p:sp>
      <p:sp>
        <p:nvSpPr>
          <p:cNvPr id="25" name="Shape 20"/>
          <p:cNvSpPr/>
          <p:nvPr/>
        </p:nvSpPr>
        <p:spPr>
          <a:xfrm>
            <a:off x="8961120" y="25603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61120" y="2560320"/>
            <a:ext cx="2697480" cy="1828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2"/>
          <p:cNvSpPr/>
          <p:nvPr/>
        </p:nvSpPr>
        <p:spPr>
          <a:xfrm>
            <a:off x="10881360" y="297180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8" name="Text 23"/>
          <p:cNvSpPr/>
          <p:nvPr/>
        </p:nvSpPr>
        <p:spPr>
          <a:xfrm>
            <a:off x="108813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14400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SA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البيانات: الوقود</a:t>
            </a:r>
            <a:endParaRPr lang="ar-SA" sz="1700" dirty="0"/>
          </a:p>
        </p:txBody>
      </p:sp>
      <p:sp>
        <p:nvSpPr>
          <p:cNvPr id="31" name="Text 25"/>
          <p:cNvSpPr/>
          <p:nvPr/>
        </p:nvSpPr>
        <p:spPr>
          <a:xfrm>
            <a:off x="914400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البيانات، البيانات، البيانات </a:t>
            </a:r>
          </a:p>
          <a:p>
            <a:pPr marL="0" indent="0" algn="r" rtl="1">
              <a:buNone/>
            </a:pPr>
            <a:endParaRPr lang="ar-SA" sz="1200" dirty="0"/>
          </a:p>
        </p:txBody>
      </p:sp>
      <p:sp>
        <p:nvSpPr>
          <p:cNvPr id="33" name="Shape 27"/>
          <p:cNvSpPr/>
          <p:nvPr/>
        </p:nvSpPr>
        <p:spPr>
          <a:xfrm>
            <a:off x="3291840" y="2560320"/>
            <a:ext cx="2697480" cy="19778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28"/>
          <p:cNvSpPr/>
          <p:nvPr/>
        </p:nvSpPr>
        <p:spPr>
          <a:xfrm>
            <a:off x="5212080" y="2970807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dirty="0"/>
          </a:p>
          <a:p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967824"/>
            <a:ext cx="502920" cy="502920"/>
          </a:xfrm>
          <a:prstGeom prst="rect">
            <a:avLst/>
          </a:prstGeom>
        </p:spPr>
      </p:pic>
      <p:sp>
        <p:nvSpPr>
          <p:cNvPr id="55" name="Text 1">
            <a:extLst>
              <a:ext uri="{FF2B5EF4-FFF2-40B4-BE49-F238E27FC236}">
                <a16:creationId xmlns:a16="http://schemas.microsoft.com/office/drawing/2014/main" id="{E76A43A8-CDAE-4E21-6003-BC56574B6C0A}"/>
              </a:ext>
            </a:extLst>
          </p:cNvPr>
          <p:cNvSpPr/>
          <p:nvPr/>
        </p:nvSpPr>
        <p:spPr>
          <a:xfrm>
            <a:off x="609600" y="6201355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وغيره عن التعلم، البيانات بالعالم الحقيقي، وتجارب عملية !</a:t>
            </a:r>
            <a:endParaRPr lang="ar-SA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75120" y="9144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4572000" y="2377440"/>
            <a:ext cx="73152" cy="210312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مختبر الـ</a:t>
            </a:r>
            <a:r>
              <a:rPr lang="en-US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| التجربة الأولى</a:t>
            </a:r>
            <a:endParaRPr lang="ar-SA" sz="1800" dirty="0"/>
          </a:p>
        </p:txBody>
      </p:sp>
      <p:sp>
        <p:nvSpPr>
          <p:cNvPr id="6" name="Text 3"/>
          <p:cNvSpPr/>
          <p:nvPr/>
        </p:nvSpPr>
        <p:spPr>
          <a:xfrm>
            <a:off x="4846320" y="2926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الإفراط في التعلم</a:t>
            </a:r>
            <a:endParaRPr lang="ar-SA" sz="5400" dirty="0"/>
          </a:p>
        </p:txBody>
      </p:sp>
      <p:sp>
        <p:nvSpPr>
          <p:cNvPr id="7" name="Text 4"/>
          <p:cNvSpPr/>
          <p:nvPr/>
        </p:nvSpPr>
        <p:spPr>
          <a:xfrm>
            <a:off x="484632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846320" y="4480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ar-SA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486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نرجع لمثال سيري!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4718304" y="1371600"/>
            <a:ext cx="2743200" cy="274320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75504" y="1828800"/>
            <a:ext cx="1828800" cy="1828800"/>
          </a:xfrm>
          <a:prstGeom prst="ellipse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2860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8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بنعلّم</a:t>
            </a:r>
            <a:r>
              <a:rPr lang="ar-SA" alt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الآلة كلمة:</a:t>
            </a:r>
            <a:endParaRPr lang="ar-SA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"يا سيري"</a:t>
            </a:r>
            <a:endParaRPr lang="ar-SA" sz="5600" dirty="0"/>
          </a:p>
        </p:txBody>
      </p:sp>
      <p:sp>
        <p:nvSpPr>
          <p:cNvPr id="8" name="Text 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بس بفرق بسيــــــــــــــــــــــــــــط ..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الإفراط في التعلم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تجربة عملية: Teachable Machine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نجرب ندرب مرة ثانية، بس بفرق بسيط ..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22860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286000"/>
            <a:ext cx="3474720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65176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47472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نسخ ولصق</a:t>
            </a:r>
            <a:endParaRPr lang="ar-SA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4937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ندرّب الـ</a:t>
            </a:r>
            <a:r>
              <a:rPr lang="en-US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على نفس الصوت بتكرار بدال ما نجيب أصوات زيادة</a:t>
            </a:r>
            <a:endParaRPr lang="ar-SA" sz="1200" dirty="0"/>
          </a:p>
        </p:txBody>
      </p:sp>
      <p:sp>
        <p:nvSpPr>
          <p:cNvPr id="13" name="Shape 10"/>
          <p:cNvSpPr/>
          <p:nvPr/>
        </p:nvSpPr>
        <p:spPr>
          <a:xfrm rot="5400000">
            <a:off x="3950208" y="3749040"/>
            <a:ext cx="320040" cy="27432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22860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400" y="2286000"/>
            <a:ext cx="347472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5760720" y="26517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47472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النموذج يتدرّب</a:t>
            </a:r>
            <a:endParaRPr lang="ar-SA" sz="2000" dirty="0"/>
          </a:p>
        </p:txBody>
      </p:sp>
      <p:sp>
        <p:nvSpPr>
          <p:cNvPr id="20" name="Text 16"/>
          <p:cNvSpPr/>
          <p:nvPr/>
        </p:nvSpPr>
        <p:spPr>
          <a:xfrm>
            <a:off x="4617720" y="4937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التدريب زي تدريب اول</a:t>
            </a:r>
            <a:endParaRPr lang="ar-SA" sz="1200" dirty="0"/>
          </a:p>
        </p:txBody>
      </p:sp>
      <p:sp>
        <p:nvSpPr>
          <p:cNvPr id="21" name="Shape 17"/>
          <p:cNvSpPr/>
          <p:nvPr/>
        </p:nvSpPr>
        <p:spPr>
          <a:xfrm rot="5400000">
            <a:off x="7882128" y="3749040"/>
            <a:ext cx="320040" cy="27432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75320" y="22860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8275320" y="2286000"/>
            <a:ext cx="3474720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0"/>
          <p:cNvSpPr/>
          <p:nvPr/>
        </p:nvSpPr>
        <p:spPr>
          <a:xfrm>
            <a:off x="9692640" y="265176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1"/>
          <p:cNvSpPr/>
          <p:nvPr/>
        </p:nvSpPr>
        <p:spPr>
          <a:xfrm>
            <a:off x="9692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8458200" y="38176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8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</a:t>
            </a:r>
            <a:endParaRPr lang="ar-SA" sz="8800" dirty="0"/>
          </a:p>
        </p:txBody>
      </p:sp>
      <p:sp>
        <p:nvSpPr>
          <p:cNvPr id="28" name="Text 23"/>
          <p:cNvSpPr/>
          <p:nvPr/>
        </p:nvSpPr>
        <p:spPr>
          <a:xfrm>
            <a:off x="8549640" y="4937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endParaRPr lang="ar-SA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89A7-CDE1-35A9-690C-71C0C7FB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EAA939-9045-7C25-B950-215A2D10E35C}"/>
              </a:ext>
            </a:extLst>
          </p:cNvPr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D4D302-C9C9-4D85-D43F-31F3727FC536}"/>
              </a:ext>
            </a:extLst>
          </p:cNvPr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الإفراط في التعلم</a:t>
            </a:r>
            <a:endParaRPr lang="ar-SA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8A683E-FD82-EF31-FF85-0985074CCB16}"/>
              </a:ext>
            </a:extLst>
          </p:cNvPr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تجربة عملية: Teachable Machine</a:t>
            </a:r>
            <a:endParaRPr lang="ar-SA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2AD495-F5EF-DFC2-F5D2-6810CC0855EE}"/>
              </a:ext>
            </a:extLst>
          </p:cNvPr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نجرب ندرب مرة ثانية، بس بفرق بسيط ..</a:t>
            </a:r>
            <a:endParaRPr lang="ar-SA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6B49B77-4064-B3D1-D09A-4DC95149093E}"/>
              </a:ext>
            </a:extLst>
          </p:cNvPr>
          <p:cNvSpPr/>
          <p:nvPr/>
        </p:nvSpPr>
        <p:spPr>
          <a:xfrm>
            <a:off x="411480" y="22860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2C2E6D-F6E7-11C5-E842-12798105C2EF}"/>
              </a:ext>
            </a:extLst>
          </p:cNvPr>
          <p:cNvSpPr/>
          <p:nvPr/>
        </p:nvSpPr>
        <p:spPr>
          <a:xfrm>
            <a:off x="411480" y="2286000"/>
            <a:ext cx="3474720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9123FD0-E63F-143B-806E-376CFFCCAF49}"/>
              </a:ext>
            </a:extLst>
          </p:cNvPr>
          <p:cNvSpPr/>
          <p:nvPr/>
        </p:nvSpPr>
        <p:spPr>
          <a:xfrm>
            <a:off x="1828800" y="265176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D53DBD-EA99-C820-B740-7836EF15F812}"/>
              </a:ext>
            </a:extLst>
          </p:cNvPr>
          <p:cNvSpPr/>
          <p:nvPr/>
        </p:nvSpPr>
        <p:spPr>
          <a:xfrm>
            <a:off x="18288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6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18ABD03-5367-9EE4-8BEE-20E64C62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474720"/>
            <a:ext cx="914400" cy="91440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C31CE70E-33A9-D5D7-4823-4F2DC209AC14}"/>
              </a:ext>
            </a:extLst>
          </p:cNvPr>
          <p:cNvSpPr/>
          <p:nvPr/>
        </p:nvSpPr>
        <p:spPr>
          <a:xfrm>
            <a:off x="59436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نسخ ولصق</a:t>
            </a:r>
            <a:endParaRPr lang="ar-SA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72DBA0C-9A69-6A07-F218-FC8DD932D3AF}"/>
              </a:ext>
            </a:extLst>
          </p:cNvPr>
          <p:cNvSpPr/>
          <p:nvPr/>
        </p:nvSpPr>
        <p:spPr>
          <a:xfrm>
            <a:off x="685800" y="4937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ندرّب الـ</a:t>
            </a:r>
            <a:r>
              <a:rPr lang="en-US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على نفس الصوت بتكرار بدال ما نجيب أصوات زيادة</a:t>
            </a:r>
            <a:endParaRPr lang="ar-SA" sz="12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8AEF828-EA5A-B983-6E13-05052B9BE005}"/>
              </a:ext>
            </a:extLst>
          </p:cNvPr>
          <p:cNvSpPr/>
          <p:nvPr/>
        </p:nvSpPr>
        <p:spPr>
          <a:xfrm rot="5400000">
            <a:off x="3950208" y="3749040"/>
            <a:ext cx="320040" cy="27432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89BCC0D-3C0C-1DBE-631E-F4E9B734A9B9}"/>
              </a:ext>
            </a:extLst>
          </p:cNvPr>
          <p:cNvSpPr/>
          <p:nvPr/>
        </p:nvSpPr>
        <p:spPr>
          <a:xfrm>
            <a:off x="4343400" y="22860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4E19E41-9790-0491-3FB6-81BC9C3CAC7B}"/>
              </a:ext>
            </a:extLst>
          </p:cNvPr>
          <p:cNvSpPr/>
          <p:nvPr/>
        </p:nvSpPr>
        <p:spPr>
          <a:xfrm>
            <a:off x="4343400" y="2286000"/>
            <a:ext cx="347472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DF8DC7C-116E-CEC1-3C20-FF35562C8D2E}"/>
              </a:ext>
            </a:extLst>
          </p:cNvPr>
          <p:cNvSpPr/>
          <p:nvPr/>
        </p:nvSpPr>
        <p:spPr>
          <a:xfrm>
            <a:off x="5760720" y="26517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29FC9C2-935B-DC4D-E947-28C3E4900EF1}"/>
              </a:ext>
            </a:extLst>
          </p:cNvPr>
          <p:cNvSpPr/>
          <p:nvPr/>
        </p:nvSpPr>
        <p:spPr>
          <a:xfrm>
            <a:off x="57607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6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A51ACDAF-0E36-2C8D-9850-DB8ACFE5B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474720"/>
            <a:ext cx="914400" cy="91440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2FEB7137-7273-B46C-219D-7EAB69D47A84}"/>
              </a:ext>
            </a:extLst>
          </p:cNvPr>
          <p:cNvSpPr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النموذج يتدرّب</a:t>
            </a:r>
            <a:endParaRPr lang="ar-SA" sz="2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A246F45-1CAB-8229-C1CF-A8B3B5FECC75}"/>
              </a:ext>
            </a:extLst>
          </p:cNvPr>
          <p:cNvSpPr/>
          <p:nvPr/>
        </p:nvSpPr>
        <p:spPr>
          <a:xfrm>
            <a:off x="4617720" y="4937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التدريب زي تدريب اول</a:t>
            </a:r>
            <a:endParaRPr lang="ar-SA" sz="12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9635E48B-1CE9-7AB6-6AE8-3A1101056944}"/>
              </a:ext>
            </a:extLst>
          </p:cNvPr>
          <p:cNvSpPr/>
          <p:nvPr/>
        </p:nvSpPr>
        <p:spPr>
          <a:xfrm rot="5400000">
            <a:off x="7882128" y="3749040"/>
            <a:ext cx="320040" cy="27432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6462AD2-21B3-BF80-EA51-8B282AD3A75E}"/>
              </a:ext>
            </a:extLst>
          </p:cNvPr>
          <p:cNvSpPr/>
          <p:nvPr/>
        </p:nvSpPr>
        <p:spPr>
          <a:xfrm>
            <a:off x="8275320" y="22860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E99A2137-4982-9F88-FE74-FA90767ABC27}"/>
              </a:ext>
            </a:extLst>
          </p:cNvPr>
          <p:cNvSpPr/>
          <p:nvPr/>
        </p:nvSpPr>
        <p:spPr>
          <a:xfrm>
            <a:off x="8275320" y="2286000"/>
            <a:ext cx="3474720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129F2BD0-FDC9-A7DF-13AF-A7DA7A2A24B0}"/>
              </a:ext>
            </a:extLst>
          </p:cNvPr>
          <p:cNvSpPr/>
          <p:nvPr/>
        </p:nvSpPr>
        <p:spPr>
          <a:xfrm>
            <a:off x="9692640" y="265176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9F29758-93DA-068D-D0E4-3BBCC90006F0}"/>
              </a:ext>
            </a:extLst>
          </p:cNvPr>
          <p:cNvSpPr/>
          <p:nvPr/>
        </p:nvSpPr>
        <p:spPr>
          <a:xfrm>
            <a:off x="9692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82A76F11-4558-458F-0CC8-4F7A456AA443}"/>
              </a:ext>
            </a:extLst>
          </p:cNvPr>
          <p:cNvSpPr/>
          <p:nvPr/>
        </p:nvSpPr>
        <p:spPr>
          <a:xfrm>
            <a:off x="8458200" y="38176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8800" dirty="0"/>
              <a:t>X</a:t>
            </a:r>
            <a:endParaRPr lang="ar-SA" sz="88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2786706C-0C39-3DD6-7794-4288E45F1312}"/>
              </a:ext>
            </a:extLst>
          </p:cNvPr>
          <p:cNvSpPr/>
          <p:nvPr/>
        </p:nvSpPr>
        <p:spPr>
          <a:xfrm>
            <a:off x="8549640" y="4937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endParaRPr lang="ar-SA" sz="12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0F9BD780-D1A5-09AC-4103-77B32BBFB19C}"/>
              </a:ext>
            </a:extLst>
          </p:cNvPr>
          <p:cNvSpPr/>
          <p:nvPr/>
        </p:nvSpPr>
        <p:spPr>
          <a:xfrm>
            <a:off x="6096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اللي صار اسمه ظاهرة ال</a:t>
            </a:r>
            <a:r>
              <a:rPr lang="ar-SA" altLang="en-US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ـ</a:t>
            </a:r>
            <a:r>
              <a:rPr lang="en-US" altLang="en-US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</a:t>
            </a:r>
            <a:r>
              <a:rPr lang="ar-SA" altLang="en-US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، </a:t>
            </a:r>
            <a:r>
              <a:rPr lang="ar-SA" altLang="en-US" dirty="0" err="1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بس تجي من النسخ واللصق، لها أسباب عدّة ..</a:t>
            </a: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46075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الإفراط في التعلم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الحفظ الأعمى مقابل الفهم الحقيقي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2194560"/>
            <a:ext cx="53949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0" y="2194560"/>
            <a:ext cx="5394960" cy="914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3774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377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التعميم</a:t>
            </a:r>
            <a:endParaRPr lang="ar-SA" sz="3000" dirty="0"/>
          </a:p>
        </p:txBody>
      </p:sp>
      <p:sp>
        <p:nvSpPr>
          <p:cNvPr id="10" name="Text 7"/>
          <p:cNvSpPr/>
          <p:nvPr/>
        </p:nvSpPr>
        <p:spPr>
          <a:xfrm>
            <a:off x="658368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3611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لمن الـ</a:t>
            </a:r>
            <a:r>
              <a:rPr lang="en-US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يعضل، يتعلم على شيء ويفهم اللي زيه حتى لو ما شافه !</a:t>
            </a:r>
            <a:endParaRPr lang="ar-SA" sz="1700" dirty="0"/>
          </a:p>
        </p:txBody>
      </p:sp>
      <p:sp>
        <p:nvSpPr>
          <p:cNvPr id="12" name="Text 9"/>
          <p:cNvSpPr/>
          <p:nvPr/>
        </p:nvSpPr>
        <p:spPr>
          <a:xfrm>
            <a:off x="6583680" y="4572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يتعلم على وجيه قطط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اذا شاف قطة ما قد شافها قبل، يعرف انها قطة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الطالب اللي يفهم ويحل أي سؤال</a:t>
            </a:r>
            <a:endParaRPr lang="ar-SA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53949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194560"/>
            <a:ext cx="5394960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7744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" y="2377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الحفظ</a:t>
            </a:r>
            <a:endParaRPr lang="ar-SA" sz="3000" dirty="0"/>
          </a:p>
        </p:txBody>
      </p:sp>
      <p:sp>
        <p:nvSpPr>
          <p:cNvPr id="17" name="Text 13"/>
          <p:cNvSpPr/>
          <p:nvPr/>
        </p:nvSpPr>
        <p:spPr>
          <a:xfrm>
            <a:off x="73152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Memorization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1520" y="3611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لمن الـ</a:t>
            </a:r>
            <a:r>
              <a:rPr lang="en-US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يحفظ، </a:t>
            </a:r>
            <a:r>
              <a:rPr lang="ar-SA" altLang="en-US" sz="17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17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فاهم البيانات، يجاوب من حفظه عشان يتفادى العقاب</a:t>
            </a:r>
            <a:endParaRPr lang="ar-SA" sz="1700" dirty="0"/>
          </a:p>
        </p:txBody>
      </p:sp>
      <p:sp>
        <p:nvSpPr>
          <p:cNvPr id="19" name="Text 15"/>
          <p:cNvSpPr/>
          <p:nvPr/>
        </p:nvSpPr>
        <p:spPr>
          <a:xfrm>
            <a:off x="731520" y="4572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يتعلم على وجيه القطط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يجاوب صح بس على الوجيه حقتنا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اذا </a:t>
            </a:r>
            <a:r>
              <a:rPr lang="ar-SA" altLang="en-US" sz="15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وريناه</a:t>
            </a: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قطط جديدة ما يعرفهم</a:t>
            </a:r>
            <a:r>
              <a:rPr lang="en-US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..</a:t>
            </a:r>
            <a:endParaRPr lang="ar-SA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589520" y="9144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961120" y="822960"/>
            <a:ext cx="2743200" cy="36576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1"/>
          <p:cNvSpPr/>
          <p:nvPr/>
        </p:nvSpPr>
        <p:spPr>
          <a:xfrm>
            <a:off x="896112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الخلاصة الذهبية</a:t>
            </a:r>
            <a:endParaRPr lang="ar-SA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الـ</a:t>
            </a:r>
            <a:r>
              <a:rPr lang="en-US" alt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ما فهم البيانات…</a:t>
            </a:r>
            <a:endParaRPr lang="ar-SA" sz="50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0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حفظها بس.</a:t>
            </a:r>
            <a:endParaRPr lang="ar-SA" sz="5000" dirty="0"/>
          </a:p>
        </p:txBody>
      </p:sp>
      <p:sp>
        <p:nvSpPr>
          <p:cNvPr id="7" name="Shape 4"/>
          <p:cNvSpPr/>
          <p:nvPr/>
        </p:nvSpPr>
        <p:spPr>
          <a:xfrm>
            <a:off x="8503920" y="4297680"/>
            <a:ext cx="292608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480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spcAft>
                <a:spcPts val="800"/>
              </a:spcAft>
              <a:buNone/>
            </a:pPr>
            <a:r>
              <a:rPr lang="ar-SA" altLang="en-US" sz="22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الهدف من الذكاء الاصطناعي هو استخراج الأنماط، لا تخزين الإجابات.</a:t>
            </a:r>
            <a:endParaRPr lang="ar-SA" sz="220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altLang="en-US" sz="22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 نموذج يحفظ ولا يعمم، هو نموذج لم يتعلم شيئاً.</a:t>
            </a:r>
            <a:endParaRPr lang="ar-SA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0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75120" y="9144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4572000" y="2194560"/>
            <a:ext cx="73152" cy="24688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مختبر الـ</a:t>
            </a:r>
            <a:r>
              <a:rPr lang="en-US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| التجربة الثانية</a:t>
            </a:r>
            <a:endParaRPr lang="ar-SA" sz="1800" dirty="0"/>
          </a:p>
        </p:txBody>
      </p:sp>
      <p:sp>
        <p:nvSpPr>
          <p:cNvPr id="6" name="Text 3"/>
          <p:cNvSpPr/>
          <p:nvPr/>
        </p:nvSpPr>
        <p:spPr>
          <a:xfrm>
            <a:off x="4846320" y="2606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الانحياز في الذكاء الاصطناعي</a:t>
            </a:r>
            <a:endParaRPr lang="ar-SA" sz="3600" dirty="0"/>
          </a:p>
        </p:txBody>
      </p:sp>
      <p:sp>
        <p:nvSpPr>
          <p:cNvPr id="7" name="Text 4"/>
          <p:cNvSpPr/>
          <p:nvPr/>
        </p:nvSpPr>
        <p:spPr>
          <a:xfrm>
            <a:off x="4846320" y="3246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Bias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486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الانحياز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تجربة 2: مصنّف شخصيات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نبغى </a:t>
            </a:r>
            <a:r>
              <a:rPr lang="en-US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يصنّف لنا شخصيات خياليّة، هل هي بنت او ولد؟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22860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394960" cy="822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فئة: الأولاد</a:t>
            </a:r>
            <a:endParaRPr lang="ar-SA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3291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658368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صورة تدريبية</a:t>
            </a:r>
            <a:endParaRPr lang="ar-SA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141464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33488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525512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717536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9560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1584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8293608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485632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677656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0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9061704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3728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445752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9637776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507492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7141464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7333488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7525512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7717536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7909560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01584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8293608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8485632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6" name="Shape 34"/>
          <p:cNvSpPr/>
          <p:nvPr/>
        </p:nvSpPr>
        <p:spPr>
          <a:xfrm>
            <a:off x="8677656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7" name="Shape 35"/>
          <p:cNvSpPr/>
          <p:nvPr/>
        </p:nvSpPr>
        <p:spPr>
          <a:xfrm>
            <a:off x="8869680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8" name="Shape 36"/>
          <p:cNvSpPr/>
          <p:nvPr/>
        </p:nvSpPr>
        <p:spPr>
          <a:xfrm>
            <a:off x="9061704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9" name="Shape 37"/>
          <p:cNvSpPr/>
          <p:nvPr/>
        </p:nvSpPr>
        <p:spPr>
          <a:xfrm>
            <a:off x="9253728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Shape 38"/>
          <p:cNvSpPr/>
          <p:nvPr/>
        </p:nvSpPr>
        <p:spPr>
          <a:xfrm>
            <a:off x="9445752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Shape 39"/>
          <p:cNvSpPr/>
          <p:nvPr/>
        </p:nvSpPr>
        <p:spPr>
          <a:xfrm>
            <a:off x="9637776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2" name="Shape 40"/>
          <p:cNvSpPr/>
          <p:nvPr/>
        </p:nvSpPr>
        <p:spPr>
          <a:xfrm>
            <a:off x="9829800" y="52669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3" name="Shape 41"/>
          <p:cNvSpPr/>
          <p:nvPr/>
        </p:nvSpPr>
        <p:spPr>
          <a:xfrm>
            <a:off x="6949440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4" name="Shape 42"/>
          <p:cNvSpPr/>
          <p:nvPr/>
        </p:nvSpPr>
        <p:spPr>
          <a:xfrm>
            <a:off x="7141464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5" name="Shape 43"/>
          <p:cNvSpPr/>
          <p:nvPr/>
        </p:nvSpPr>
        <p:spPr>
          <a:xfrm>
            <a:off x="7333488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6" name="Shape 44"/>
          <p:cNvSpPr/>
          <p:nvPr/>
        </p:nvSpPr>
        <p:spPr>
          <a:xfrm>
            <a:off x="7525512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Shape 45"/>
          <p:cNvSpPr/>
          <p:nvPr/>
        </p:nvSpPr>
        <p:spPr>
          <a:xfrm>
            <a:off x="7717536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8" name="Shape 46"/>
          <p:cNvSpPr/>
          <p:nvPr/>
        </p:nvSpPr>
        <p:spPr>
          <a:xfrm>
            <a:off x="7909560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9" name="Shape 47"/>
          <p:cNvSpPr/>
          <p:nvPr/>
        </p:nvSpPr>
        <p:spPr>
          <a:xfrm>
            <a:off x="8101584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0" name="Shape 48"/>
          <p:cNvSpPr/>
          <p:nvPr/>
        </p:nvSpPr>
        <p:spPr>
          <a:xfrm>
            <a:off x="8293608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1" name="Shape 49"/>
          <p:cNvSpPr/>
          <p:nvPr/>
        </p:nvSpPr>
        <p:spPr>
          <a:xfrm>
            <a:off x="8485632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2" name="Shape 50"/>
          <p:cNvSpPr/>
          <p:nvPr/>
        </p:nvSpPr>
        <p:spPr>
          <a:xfrm>
            <a:off x="8677656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3" name="Shape 51"/>
          <p:cNvSpPr/>
          <p:nvPr/>
        </p:nvSpPr>
        <p:spPr>
          <a:xfrm>
            <a:off x="8869680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4" name="Shape 52"/>
          <p:cNvSpPr/>
          <p:nvPr/>
        </p:nvSpPr>
        <p:spPr>
          <a:xfrm>
            <a:off x="9061704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9253728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6" name="Shape 54"/>
          <p:cNvSpPr/>
          <p:nvPr/>
        </p:nvSpPr>
        <p:spPr>
          <a:xfrm>
            <a:off x="9445752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7" name="Shape 55"/>
          <p:cNvSpPr/>
          <p:nvPr/>
        </p:nvSpPr>
        <p:spPr>
          <a:xfrm>
            <a:off x="9637776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8" name="Shape 56"/>
          <p:cNvSpPr/>
          <p:nvPr/>
        </p:nvSpPr>
        <p:spPr>
          <a:xfrm>
            <a:off x="9829800" y="545896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9" name="Shape 57"/>
          <p:cNvSpPr/>
          <p:nvPr/>
        </p:nvSpPr>
        <p:spPr>
          <a:xfrm>
            <a:off x="6949440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0" name="Shape 58"/>
          <p:cNvSpPr/>
          <p:nvPr/>
        </p:nvSpPr>
        <p:spPr>
          <a:xfrm>
            <a:off x="7141464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1" name="Shape 59"/>
          <p:cNvSpPr/>
          <p:nvPr/>
        </p:nvSpPr>
        <p:spPr>
          <a:xfrm>
            <a:off x="7333488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2" name="Shape 60"/>
          <p:cNvSpPr/>
          <p:nvPr/>
        </p:nvSpPr>
        <p:spPr>
          <a:xfrm>
            <a:off x="7525512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3" name="Shape 61"/>
          <p:cNvSpPr/>
          <p:nvPr/>
        </p:nvSpPr>
        <p:spPr>
          <a:xfrm>
            <a:off x="7717536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4" name="Shape 62"/>
          <p:cNvSpPr/>
          <p:nvPr/>
        </p:nvSpPr>
        <p:spPr>
          <a:xfrm>
            <a:off x="7909560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5" name="Shape 63"/>
          <p:cNvSpPr/>
          <p:nvPr/>
        </p:nvSpPr>
        <p:spPr>
          <a:xfrm>
            <a:off x="8101584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6" name="Shape 64"/>
          <p:cNvSpPr/>
          <p:nvPr/>
        </p:nvSpPr>
        <p:spPr>
          <a:xfrm>
            <a:off x="8293608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7" name="Shape 65"/>
          <p:cNvSpPr/>
          <p:nvPr/>
        </p:nvSpPr>
        <p:spPr>
          <a:xfrm>
            <a:off x="8485632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8" name="Shape 66"/>
          <p:cNvSpPr/>
          <p:nvPr/>
        </p:nvSpPr>
        <p:spPr>
          <a:xfrm>
            <a:off x="8677656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9" name="Shape 67"/>
          <p:cNvSpPr/>
          <p:nvPr/>
        </p:nvSpPr>
        <p:spPr>
          <a:xfrm>
            <a:off x="8869680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0" name="Shape 68"/>
          <p:cNvSpPr/>
          <p:nvPr/>
        </p:nvSpPr>
        <p:spPr>
          <a:xfrm>
            <a:off x="9061704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1" name="Shape 69"/>
          <p:cNvSpPr/>
          <p:nvPr/>
        </p:nvSpPr>
        <p:spPr>
          <a:xfrm>
            <a:off x="9253728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2" name="Shape 70"/>
          <p:cNvSpPr/>
          <p:nvPr/>
        </p:nvSpPr>
        <p:spPr>
          <a:xfrm>
            <a:off x="9445752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3" name="Shape 71"/>
          <p:cNvSpPr/>
          <p:nvPr/>
        </p:nvSpPr>
        <p:spPr>
          <a:xfrm>
            <a:off x="9637776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4" name="Shape 72"/>
          <p:cNvSpPr/>
          <p:nvPr/>
        </p:nvSpPr>
        <p:spPr>
          <a:xfrm>
            <a:off x="9829800" y="56509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5" name="Text 73"/>
          <p:cNvSpPr/>
          <p:nvPr/>
        </p:nvSpPr>
        <p:spPr>
          <a:xfrm>
            <a:off x="6583680" y="5943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i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"كثيرة"</a:t>
            </a:r>
            <a:endParaRPr lang="ar-SA" sz="1300" dirty="0"/>
          </a:p>
        </p:txBody>
      </p:sp>
      <p:sp>
        <p:nvSpPr>
          <p:cNvPr id="76" name="Shape 74"/>
          <p:cNvSpPr/>
          <p:nvPr/>
        </p:nvSpPr>
        <p:spPr>
          <a:xfrm>
            <a:off x="457200" y="22860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57200" y="2286000"/>
            <a:ext cx="539496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فئة: البنات</a:t>
            </a:r>
            <a:endParaRPr lang="ar-SA" sz="2200" dirty="0"/>
          </a:p>
        </p:txBody>
      </p:sp>
      <p:sp>
        <p:nvSpPr>
          <p:cNvPr id="79" name="Text 77"/>
          <p:cNvSpPr/>
          <p:nvPr/>
        </p:nvSpPr>
        <p:spPr>
          <a:xfrm>
            <a:off x="731520" y="3291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EC48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0" dirty="0"/>
          </a:p>
        </p:txBody>
      </p:sp>
      <p:sp>
        <p:nvSpPr>
          <p:cNvPr id="80" name="Text 78"/>
          <p:cNvSpPr/>
          <p:nvPr/>
        </p:nvSpPr>
        <p:spPr>
          <a:xfrm>
            <a:off x="73152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 تدريبية</a:t>
            </a:r>
            <a:endParaRPr lang="ar-SA" sz="1600" dirty="0"/>
          </a:p>
        </p:txBody>
      </p:sp>
      <p:sp>
        <p:nvSpPr>
          <p:cNvPr id="81" name="Shape 79"/>
          <p:cNvSpPr/>
          <p:nvPr/>
        </p:nvSpPr>
        <p:spPr>
          <a:xfrm>
            <a:off x="2194560" y="530352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2" name="Shape 80"/>
          <p:cNvSpPr/>
          <p:nvPr/>
        </p:nvSpPr>
        <p:spPr>
          <a:xfrm>
            <a:off x="2926080" y="530352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3" name="Shape 81"/>
          <p:cNvSpPr/>
          <p:nvPr/>
        </p:nvSpPr>
        <p:spPr>
          <a:xfrm>
            <a:off x="3657600" y="530352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4" name="Text 82"/>
          <p:cNvSpPr/>
          <p:nvPr/>
        </p:nvSpPr>
        <p:spPr>
          <a:xfrm>
            <a:off x="731520" y="5852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i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"قليلة"</a:t>
            </a:r>
            <a:endParaRPr lang="ar-SA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الانحياز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النتيجة: النموذج غير عادل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3037398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وش صار؟</a:t>
            </a:r>
            <a:endParaRPr lang="ar-SA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النموذج صنّف</a:t>
            </a:r>
            <a:endParaRPr lang="ar-SA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000" b="1" dirty="0">
                <a:solidFill>
                  <a:srgbClr val="EC48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كلّ شيء كأنه ولد!</a:t>
            </a:r>
            <a:endParaRPr lang="ar-SA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1371600" cy="27432"/>
          </a:xfrm>
          <a:prstGeom prst="rect">
            <a:avLst/>
          </a:prstGeom>
          <a:solidFill>
            <a:srgbClr val="FACC1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3367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233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i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غير متوازنة = نموذج منحاز</a:t>
            </a:r>
            <a:endParaRPr lang="ar-SA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كيف؟</a:t>
            </a:r>
            <a:endParaRPr lang="ar-SA" sz="2200" dirty="0"/>
          </a:p>
        </p:txBody>
      </p:sp>
      <p:sp>
        <p:nvSpPr>
          <p:cNvPr id="19" name="Shape 15"/>
          <p:cNvSpPr/>
          <p:nvPr/>
        </p:nvSpPr>
        <p:spPr>
          <a:xfrm>
            <a:off x="6217920" y="228600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631168" y="2286000"/>
            <a:ext cx="73152" cy="1188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345635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9672" y="2368495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النموذج يتعلم ما يراه</a:t>
            </a:r>
            <a:endParaRPr lang="ar-SA" sz="1700" dirty="0"/>
          </a:p>
        </p:txBody>
      </p:sp>
      <p:sp>
        <p:nvSpPr>
          <p:cNvPr id="23" name="Text 18"/>
          <p:cNvSpPr/>
          <p:nvPr/>
        </p:nvSpPr>
        <p:spPr>
          <a:xfrm>
            <a:off x="6400800" y="2908190"/>
            <a:ext cx="5120640" cy="29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اذا عطيناه عالم منحاز، </a:t>
            </a:r>
            <a:r>
              <a:rPr lang="ar-SA" altLang="en-US" sz="13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بيتعلم</a:t>
            </a:r>
            <a:r>
              <a:rPr lang="ar-SA" altLang="en-US" sz="13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انحيازنا</a:t>
            </a:r>
            <a:endParaRPr lang="ar-SA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75120" y="9144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4572000" y="2377440"/>
            <a:ext cx="73152" cy="210312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الفصل الثالث</a:t>
            </a:r>
            <a:endParaRPr lang="ar-SA" sz="1800" dirty="0"/>
          </a:p>
        </p:txBody>
      </p:sp>
      <p:sp>
        <p:nvSpPr>
          <p:cNvPr id="6" name="Text 3"/>
          <p:cNvSpPr/>
          <p:nvPr/>
        </p:nvSpPr>
        <p:spPr>
          <a:xfrm>
            <a:off x="4846320" y="2926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نُقيِّم النموذج؟</a:t>
            </a:r>
            <a:endParaRPr lang="ar-SA" sz="5000" dirty="0"/>
          </a:p>
        </p:txBody>
      </p:sp>
      <p:sp>
        <p:nvSpPr>
          <p:cNvPr id="7" name="Text 4"/>
          <p:cNvSpPr/>
          <p:nvPr/>
        </p:nvSpPr>
        <p:spPr>
          <a:xfrm>
            <a:off x="484632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 Evaluation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846320" y="4480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الدراسة شيء، والامتحان شيء آخر تماماً</a:t>
            </a:r>
            <a:endParaRPr lang="ar-SA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486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التقييم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اقتراحات؟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0B14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سؤال: التدريب لحاله طلع ما يكفي لنتائج جيدة، كيف نعرف اذا الـ</a:t>
            </a:r>
            <a:r>
              <a:rPr lang="en-US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صار ممتاز؟</a:t>
            </a:r>
            <a:endParaRPr lang="ar-SA" sz="2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58B8326-1077-1707-73E6-299505BB772C}"/>
              </a:ext>
            </a:extLst>
          </p:cNvPr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الجواب بسيط ..</a:t>
            </a:r>
            <a:endParaRPr lang="ar-SA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1242-A217-6E6D-3785-A2B142C7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A0E0F1-9407-0945-8557-33AA48E79AAB}"/>
              </a:ext>
            </a:extLst>
          </p:cNvPr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3D04EB-97F2-4799-F4B4-AE2CE35EF698}"/>
              </a:ext>
            </a:extLst>
          </p:cNvPr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التقييم</a:t>
            </a:r>
            <a:endParaRPr lang="ar-SA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5994BE-B319-B7B5-7DCF-E282A753F3D5}"/>
              </a:ext>
            </a:extLst>
          </p:cNvPr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نظام المدرسة: مذاكرة </a:t>
            </a:r>
            <a:r>
              <a:rPr lang="en-US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VS</a:t>
            </a: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الاختبار</a:t>
            </a:r>
            <a:endParaRPr lang="ar-SA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D17F2C-D1BE-6C27-1AE8-14F93EF4F1F0}"/>
              </a:ext>
            </a:extLst>
          </p:cNvPr>
          <p:cNvSpPr/>
          <p:nvPr/>
        </p:nvSpPr>
        <p:spPr>
          <a:xfrm>
            <a:off x="457200" y="164592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0B1437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B3CD40-2D2D-3A5D-DD12-C26621CC24D0}"/>
              </a:ext>
            </a:extLst>
          </p:cNvPr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الجواب: نقسم البيانات قسمين ! قسم للمذاكرة وقسم للاختبار</a:t>
            </a:r>
            <a:endParaRPr lang="ar-SA" sz="2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AEE481-03F5-59D5-9904-B7B9B4D4B868}"/>
              </a:ext>
            </a:extLst>
          </p:cNvPr>
          <p:cNvSpPr/>
          <p:nvPr/>
        </p:nvSpPr>
        <p:spPr>
          <a:xfrm>
            <a:off x="6126480" y="2743200"/>
            <a:ext cx="5577840" cy="3029447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7957A1BE-52A5-DAFD-8901-DCA3BD8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017520"/>
            <a:ext cx="731520" cy="73152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C73BBD45-D2B0-3D16-2038-FB6068E0CA94}"/>
              </a:ext>
            </a:extLst>
          </p:cNvPr>
          <p:cNvSpPr/>
          <p:nvPr/>
        </p:nvSpPr>
        <p:spPr>
          <a:xfrm>
            <a:off x="640080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الاختبار</a:t>
            </a:r>
            <a:endParaRPr lang="ar-SA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EA5B73E-8C3A-774D-4C65-911A07E558CE}"/>
              </a:ext>
            </a:extLst>
          </p:cNvPr>
          <p:cNvSpPr/>
          <p:nvPr/>
        </p:nvSpPr>
        <p:spPr>
          <a:xfrm>
            <a:off x="640080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اختبار</a:t>
            </a:r>
            <a:endParaRPr lang="ar-SA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2BDE821-DAED-5ED9-CBEF-A5CC1BDCCF8F}"/>
              </a:ext>
            </a:extLst>
          </p:cNvPr>
          <p:cNvSpPr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Set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0CA88D7-7678-DA76-26AB-87E0C210F29F}"/>
              </a:ext>
            </a:extLst>
          </p:cNvPr>
          <p:cNvSpPr/>
          <p:nvPr/>
        </p:nvSpPr>
        <p:spPr>
          <a:xfrm>
            <a:off x="6400800" y="43891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</a:t>
            </a:r>
            <a:r>
              <a:rPr lang="ar-SA" altLang="en-US" sz="15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ماقد</a:t>
            </a: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شافها قبل، نختبره عليها !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نمررها كلها عليه، هل هو فاهم ولا حافظ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sz="15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مامن</a:t>
            </a:r>
            <a:r>
              <a:rPr lang="ar-SA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غش :)</a:t>
            </a:r>
            <a:endParaRPr lang="ar-SA" sz="15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EC390F3-5C18-9104-40A9-71F351C81E68}"/>
              </a:ext>
            </a:extLst>
          </p:cNvPr>
          <p:cNvSpPr/>
          <p:nvPr/>
        </p:nvSpPr>
        <p:spPr>
          <a:xfrm>
            <a:off x="457200" y="2743200"/>
            <a:ext cx="5577840" cy="3029447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4E5CC89B-2751-DFA1-9C16-7D6363F46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017520"/>
            <a:ext cx="731520" cy="7315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5F500587-C512-7C75-A5B5-E956D476F69B}"/>
              </a:ext>
            </a:extLst>
          </p:cNvPr>
          <p:cNvSpPr/>
          <p:nvPr/>
        </p:nvSpPr>
        <p:spPr>
          <a:xfrm>
            <a:off x="73152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المذاكرة</a:t>
            </a:r>
            <a:endParaRPr lang="ar-SA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995CF7A-A9C3-8ACB-94A0-6F82F6AE3078}"/>
              </a:ext>
            </a:extLst>
          </p:cNvPr>
          <p:cNvSpPr/>
          <p:nvPr/>
        </p:nvSpPr>
        <p:spPr>
          <a:xfrm>
            <a:off x="73152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تدريب</a:t>
            </a:r>
            <a:endParaRPr lang="ar-SA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1BB2C6A-D062-CEB1-2D42-94B1036C17B4}"/>
              </a:ext>
            </a:extLst>
          </p:cNvPr>
          <p:cNvSpPr/>
          <p:nvPr/>
        </p:nvSpPr>
        <p:spPr>
          <a:xfrm>
            <a:off x="73152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Set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B2F2EC0-079E-01A6-ECFF-38B8CECB77AB}"/>
              </a:ext>
            </a:extLst>
          </p:cNvPr>
          <p:cNvSpPr/>
          <p:nvPr/>
        </p:nvSpPr>
        <p:spPr>
          <a:xfrm>
            <a:off x="731520" y="43891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 اللي ندرب فيها الـ</a:t>
            </a:r>
            <a:r>
              <a:rPr lang="en-US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SA" altLang="en-US" sz="15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يتعلم عليها </a:t>
            </a:r>
            <a:endParaRPr lang="ar-SA" sz="1500" dirty="0"/>
          </a:p>
        </p:txBody>
      </p:sp>
    </p:spTree>
    <p:extLst>
      <p:ext uri="{BB962C8B-B14F-4D97-AF65-F5344CB8AC3E}">
        <p14:creationId xmlns:p14="http://schemas.microsoft.com/office/powerpoint/2010/main" val="345405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التقييم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تقسيم البيانات: التدريب والاختبار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عن شكل القسمة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8558784" cy="10972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9290304" y="2377440"/>
            <a:ext cx="2139696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8558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التدريب • 80٪</a:t>
            </a:r>
            <a:endParaRPr lang="ar-SA" sz="2800" dirty="0"/>
          </a:p>
        </p:txBody>
      </p:sp>
      <p:sp>
        <p:nvSpPr>
          <p:cNvPr id="9" name="Text 7"/>
          <p:cNvSpPr/>
          <p:nvPr/>
        </p:nvSpPr>
        <p:spPr>
          <a:xfrm>
            <a:off x="9290304" y="23774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الاختبار • 20٪</a:t>
            </a:r>
            <a:endParaRPr lang="ar-SA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8558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90304" y="19202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Set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4023360"/>
            <a:ext cx="55778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0" y="4297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43434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الاختبار</a:t>
            </a:r>
            <a:endParaRPr lang="ar-SA" sz="2000" dirty="0"/>
          </a:p>
        </p:txBody>
      </p:sp>
      <p:sp>
        <p:nvSpPr>
          <p:cNvPr id="16" name="Text 13"/>
          <p:cNvSpPr/>
          <p:nvPr/>
        </p:nvSpPr>
        <p:spPr>
          <a:xfrm>
            <a:off x="6400800" y="4937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ما نوريها </a:t>
            </a:r>
            <a:r>
              <a:rPr lang="ar-SA" altLang="en-US" sz="14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لل</a:t>
            </a: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ـ</a:t>
            </a:r>
            <a:r>
              <a:rPr lang="en-US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ابد الا لمن يخلص تدريب (مذاكرة)</a:t>
            </a:r>
            <a:endParaRPr lang="ar-SA" sz="1400" dirty="0"/>
          </a:p>
          <a:p>
            <a:pPr marL="0" indent="0" algn="r" rtl="1">
              <a:buNone/>
            </a:pPr>
            <a:endParaRPr lang="ar-SA" sz="14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هذا هو الاختبار الحقيقي،</a:t>
            </a:r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اذا فشل هنا يعني كان حافظ (او </a:t>
            </a:r>
            <a:r>
              <a:rPr lang="ar-SA" altLang="en-US" sz="14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مذاكر أصلا)</a:t>
            </a:r>
            <a:endParaRPr lang="ar-SA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5778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12080" y="429768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التدريب</a:t>
            </a:r>
            <a:endParaRPr lang="ar-SA" sz="2000" dirty="0"/>
          </a:p>
        </p:txBody>
      </p:sp>
      <p:sp>
        <p:nvSpPr>
          <p:cNvPr id="21" name="Text 17"/>
          <p:cNvSpPr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الجزء الذي نوريه الـ</a:t>
            </a:r>
            <a:r>
              <a:rPr lang="en-US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، هنا يحاول يفهم ويتعلم (يذاكر)</a:t>
            </a:r>
            <a:endParaRPr lang="ar-SA" sz="1400" dirty="0"/>
          </a:p>
          <a:p>
            <a:pPr marL="0" indent="0" algn="r" rtl="1">
              <a:buNone/>
            </a:pPr>
            <a:endParaRPr lang="ar-SA" sz="1400" dirty="0"/>
          </a:p>
          <a:p>
            <a:pPr marL="0" indent="0" algn="r" rtl="1">
              <a:buNone/>
            </a:pPr>
            <a:r>
              <a:rPr lang="ar-SA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وقت التدريب هو الوقت الوحيد اللي مسموح له بالتعلم، بعدها معد يتغير النموذج</a:t>
            </a:r>
            <a:endParaRPr lang="ar-SA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التقييم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الدقة العالية ≠ نموذج ناجح 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1737360"/>
            <a:ext cx="8503920" cy="1005840"/>
          </a:xfrm>
          <a:prstGeom prst="roundRect">
            <a:avLst>
              <a:gd name="adj" fmla="val 13636"/>
            </a:avLst>
          </a:prstGeom>
          <a:solidFill>
            <a:srgbClr val="0B1437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7373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32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دقة 85٪ بالاختبار </a:t>
            </a:r>
            <a:r>
              <a:rPr lang="ar-SA" alt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≠  </a:t>
            </a:r>
            <a:r>
              <a:rPr lang="ar-SA" altLang="en-US" sz="3200" b="1" dirty="0">
                <a:solidFill>
                  <a:srgbClr val="EC48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دقة 85% بالواقع</a:t>
            </a:r>
            <a:endParaRPr lang="ar-SA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حتى بعد تقسيم البيانات إلى تدريب واختبار، يظل فيه إشكالية (أحيانا) …</a:t>
            </a:r>
            <a:endParaRPr lang="ar-SA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8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بياناتك </a:t>
            </a:r>
            <a:r>
              <a:rPr lang="ar-SA" altLang="en-US" sz="2800" b="1" dirty="0" err="1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28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شرط تمثّل العالم الحقيقي</a:t>
            </a:r>
            <a:endParaRPr lang="ar-SA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43891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4389120"/>
            <a:ext cx="73152" cy="210312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663440"/>
            <a:ext cx="59436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العالم كبيــــــــــــر</a:t>
            </a:r>
            <a:endParaRPr lang="ar-SA" sz="1800" dirty="0"/>
          </a:p>
        </p:txBody>
      </p:sp>
      <p:sp>
        <p:nvSpPr>
          <p:cNvPr id="13" name="Text 10"/>
          <p:cNvSpPr/>
          <p:nvPr/>
        </p:nvSpPr>
        <p:spPr>
          <a:xfrm>
            <a:off x="594360" y="5394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بياناتك لا يمكن أن تغطي كل احتمال</a:t>
            </a:r>
            <a:endParaRPr lang="ar-SA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3891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51960" y="4389120"/>
            <a:ext cx="73152" cy="21031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66344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628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الظروف تتغير</a:t>
            </a:r>
            <a:endParaRPr lang="ar-SA" sz="1800" dirty="0"/>
          </a:p>
        </p:txBody>
      </p:sp>
      <p:sp>
        <p:nvSpPr>
          <p:cNvPr id="18" name="Text 14"/>
          <p:cNvSpPr/>
          <p:nvPr/>
        </p:nvSpPr>
        <p:spPr>
          <a:xfrm>
            <a:off x="4526280" y="5394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أصوات بالخلفية، أجهزة مكسّرة، لهجات مختلفة، أجواء مختلفة…</a:t>
            </a:r>
            <a:endParaRPr lang="ar-SA" sz="1400" dirty="0"/>
          </a:p>
        </p:txBody>
      </p:sp>
      <p:sp>
        <p:nvSpPr>
          <p:cNvPr id="19" name="Shape 15"/>
          <p:cNvSpPr/>
          <p:nvPr/>
        </p:nvSpPr>
        <p:spPr>
          <a:xfrm>
            <a:off x="8183880" y="43891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83880" y="4389120"/>
            <a:ext cx="73152" cy="210312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466344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5820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المستخدمون مفاجآت</a:t>
            </a:r>
            <a:endParaRPr lang="ar-SA" sz="1800" dirty="0"/>
          </a:p>
        </p:txBody>
      </p:sp>
      <p:sp>
        <p:nvSpPr>
          <p:cNvPr id="23" name="Text 18"/>
          <p:cNvSpPr/>
          <p:nvPr/>
        </p:nvSpPr>
        <p:spPr>
          <a:xfrm>
            <a:off x="8458200" y="5394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البشر يفعلون أشياء ما تتوقعها</a:t>
            </a:r>
            <a:endParaRPr lang="ar-SA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التقييم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مثال: نموذج سيري حقنا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نموذج تعرّف على الكلمات بدقة 98٪… في المختبر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6126480" y="228600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2286000"/>
            <a:ext cx="55778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المختبر</a:t>
            </a:r>
            <a:endParaRPr lang="ar-SA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20040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98٪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دقة على بيانات الاختبار</a:t>
            </a:r>
            <a:endParaRPr lang="ar-SA" sz="1400" dirty="0"/>
          </a:p>
        </p:txBody>
      </p:sp>
      <p:sp>
        <p:nvSpPr>
          <p:cNvPr id="12" name="Text 9"/>
          <p:cNvSpPr/>
          <p:nvPr/>
        </p:nvSpPr>
        <p:spPr>
          <a:xfrm>
            <a:off x="6583680" y="5394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400"/>
              </a:spcAft>
              <a:buSzPct val="100000"/>
              <a:buChar char="●"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غرفة هادئة</a:t>
            </a:r>
            <a:endParaRPr lang="ar-SA" sz="1400" dirty="0"/>
          </a:p>
          <a:p>
            <a:pPr marL="342900" indent="-342900" algn="r" rtl="1">
              <a:spcAft>
                <a:spcPts val="400"/>
              </a:spcAft>
              <a:buSzPct val="100000"/>
              <a:buChar char="●"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ميكروفون احترافي</a:t>
            </a:r>
            <a:endParaRPr lang="ar-SA" sz="1400" dirty="0"/>
          </a:p>
          <a:p>
            <a:pPr marL="342900" indent="-342900" algn="r" rtl="1">
              <a:spcAft>
                <a:spcPts val="400"/>
              </a:spcAft>
              <a:buSzPct val="100000"/>
              <a:buChar char="●"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صوت ولهجة واحدة</a:t>
            </a:r>
            <a:endParaRPr lang="ar-SA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286000"/>
            <a:ext cx="55778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الشارع</a:t>
            </a:r>
            <a:endParaRPr lang="ar-SA" sz="2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20040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42٪</a:t>
            </a:r>
            <a:endParaRPr lang="en-US" sz="6000" dirty="0"/>
          </a:p>
        </p:txBody>
      </p:sp>
      <p:sp>
        <p:nvSpPr>
          <p:cNvPr id="18" name="Text 14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دقة عند التطبيق الفعلي</a:t>
            </a:r>
            <a:endParaRPr lang="ar-SA" sz="1400" dirty="0"/>
          </a:p>
        </p:txBody>
      </p:sp>
      <p:sp>
        <p:nvSpPr>
          <p:cNvPr id="19" name="Text 15"/>
          <p:cNvSpPr/>
          <p:nvPr/>
        </p:nvSpPr>
        <p:spPr>
          <a:xfrm>
            <a:off x="914400" y="5394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400"/>
              </a:spcAft>
              <a:buSzPct val="100000"/>
              <a:buChar char="●"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ازعاج ويمكن صياح أطفال وأصوات خلفية</a:t>
            </a:r>
            <a:endParaRPr lang="ar-SA" sz="1400" dirty="0"/>
          </a:p>
          <a:p>
            <a:pPr marL="342900" indent="-342900" algn="r" rtl="1">
              <a:spcAft>
                <a:spcPts val="400"/>
              </a:spcAft>
              <a:buSzPct val="100000"/>
              <a:buChar char="●"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ميكروفونات جوالات، بعضها مكسره او تغبش</a:t>
            </a:r>
            <a:endParaRPr lang="ar-SA" sz="1400" dirty="0"/>
          </a:p>
          <a:p>
            <a:pPr marL="342900" indent="-342900" algn="r" rtl="1">
              <a:spcAft>
                <a:spcPts val="400"/>
              </a:spcAft>
              <a:buSzPct val="100000"/>
              <a:buChar char="●"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لهجات مختلفة واصوات مختلفة</a:t>
            </a:r>
            <a:endParaRPr lang="ar-SA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75120" y="9144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4572000" y="2377440"/>
            <a:ext cx="73152" cy="210312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الفصل الرابع</a:t>
            </a:r>
            <a:endParaRPr lang="ar-SA" sz="1800" dirty="0"/>
          </a:p>
        </p:txBody>
      </p:sp>
      <p:sp>
        <p:nvSpPr>
          <p:cNvPr id="6" name="Text 3"/>
          <p:cNvSpPr/>
          <p:nvPr/>
        </p:nvSpPr>
        <p:spPr>
          <a:xfrm>
            <a:off x="4846320" y="2926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البيانات: وقود الذكاء</a:t>
            </a:r>
            <a:endParaRPr lang="ar-SA" sz="4800" dirty="0"/>
          </a:p>
        </p:txBody>
      </p:sp>
      <p:sp>
        <p:nvSpPr>
          <p:cNvPr id="7" name="Text 4"/>
          <p:cNvSpPr/>
          <p:nvPr/>
        </p:nvSpPr>
        <p:spPr>
          <a:xfrm>
            <a:off x="484632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846320" y="4480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 </a:t>
            </a:r>
            <a:r>
              <a:rPr lang="ar-SA" altLang="en-US" sz="1700" dirty="0" err="1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</a:t>
            </a:r>
            <a:r>
              <a:rPr lang="ar-SA" altLang="en-US" sz="17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ar-SA" altLang="en-US" sz="1700" dirty="0" err="1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</a:t>
            </a:r>
            <a:endParaRPr lang="ar-SA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486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القاعدة الذهبية بالذكاء </a:t>
            </a:r>
            <a:r>
              <a:rPr lang="ar-SA" altLang="en-US" sz="3600" b="1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الإصطناعي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0332720" cy="1280160"/>
          </a:xfrm>
          <a:prstGeom prst="roundRect">
            <a:avLst>
              <a:gd name="adj" fmla="val 10714"/>
            </a:avLst>
          </a:prstGeom>
          <a:solidFill>
            <a:srgbClr val="0B14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3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جيدة </a:t>
            </a:r>
            <a:r>
              <a:rPr lang="ar-SA" alt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= </a:t>
            </a:r>
            <a:r>
              <a:rPr lang="ar-SA" altLang="en-US" sz="32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نموذج جيد</a:t>
            </a:r>
            <a:endParaRPr lang="ar-SA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Garbage In = Garbage Out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3200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70332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سيئة</a:t>
            </a:r>
            <a:endParaRPr lang="ar-SA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ناقصة، منحازة، مكررة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1783080" y="5623560"/>
            <a:ext cx="109728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5669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 rot="5400000">
            <a:off x="4050792" y="4617720"/>
            <a:ext cx="320040" cy="27432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0560" y="3383280"/>
            <a:ext cx="3200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703320"/>
            <a:ext cx="822960" cy="8229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344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 نموذج</a:t>
            </a:r>
            <a:endParaRPr lang="ar-SA" sz="2000" dirty="0"/>
          </a:p>
        </p:txBody>
      </p:sp>
      <p:sp>
        <p:nvSpPr>
          <p:cNvPr id="18" name="Text 14"/>
          <p:cNvSpPr/>
          <p:nvPr/>
        </p:nvSpPr>
        <p:spPr>
          <a:xfrm>
            <a:off x="4663440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حتى لو كان متطوراً</a:t>
            </a:r>
            <a:endParaRPr lang="ar-SA" sz="1400" dirty="0"/>
          </a:p>
        </p:txBody>
      </p:sp>
      <p:sp>
        <p:nvSpPr>
          <p:cNvPr id="19" name="Shape 15"/>
          <p:cNvSpPr/>
          <p:nvPr/>
        </p:nvSpPr>
        <p:spPr>
          <a:xfrm>
            <a:off x="5532120" y="5623560"/>
            <a:ext cx="109728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6"/>
          <p:cNvSpPr/>
          <p:nvPr/>
        </p:nvSpPr>
        <p:spPr>
          <a:xfrm>
            <a:off x="4663440" y="5669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 rot="5400000">
            <a:off x="7799832" y="4617720"/>
            <a:ext cx="320040" cy="27432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0" y="3383280"/>
            <a:ext cx="3200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703320"/>
            <a:ext cx="822960" cy="8229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1248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 err="1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نتايج</a:t>
            </a:r>
            <a:r>
              <a:rPr lang="ar-SA" altLang="en-US" sz="2000" b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سيئة</a:t>
            </a:r>
            <a:endParaRPr lang="ar-SA" sz="2000" dirty="0"/>
          </a:p>
        </p:txBody>
      </p:sp>
      <p:sp>
        <p:nvSpPr>
          <p:cNvPr id="25" name="Text 20"/>
          <p:cNvSpPr/>
          <p:nvPr/>
        </p:nvSpPr>
        <p:spPr>
          <a:xfrm>
            <a:off x="8412480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أخطاء، </a:t>
            </a:r>
            <a:r>
              <a:rPr lang="ar-SA" altLang="en-US" sz="14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انحيازات</a:t>
            </a: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، فشل</a:t>
            </a:r>
            <a:endParaRPr lang="ar-SA" sz="1400" dirty="0"/>
          </a:p>
        </p:txBody>
      </p:sp>
      <p:sp>
        <p:nvSpPr>
          <p:cNvPr id="26" name="Shape 21"/>
          <p:cNvSpPr/>
          <p:nvPr/>
        </p:nvSpPr>
        <p:spPr>
          <a:xfrm>
            <a:off x="9281160" y="5623560"/>
            <a:ext cx="109728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2"/>
          <p:cNvSpPr/>
          <p:nvPr/>
        </p:nvSpPr>
        <p:spPr>
          <a:xfrm>
            <a:off x="8412480" y="5669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لكن… البيانات </a:t>
            </a:r>
            <a:r>
              <a:rPr lang="ar-SA" altLang="en-US" sz="3600" b="1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دائماً متاحة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تحديات لتجميع بيانات بالواقع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228600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76888" y="2286000"/>
            <a:ext cx="73152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0" y="2651760"/>
            <a:ext cx="685800" cy="6858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7432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قليلة</a:t>
            </a:r>
            <a:endParaRPr lang="ar-SA" sz="2000" dirty="0"/>
          </a:p>
        </p:txBody>
      </p:sp>
      <p:sp>
        <p:nvSpPr>
          <p:cNvPr id="11" name="Text 8"/>
          <p:cNvSpPr/>
          <p:nvPr/>
        </p:nvSpPr>
        <p:spPr>
          <a:xfrm>
            <a:off x="6446520" y="3368371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مجالات نادرة مثل أمراض غير شائعة أو لغات قليلة الاستخدام، الأمثلة شحيحة جداً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411480" y="228600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16168" y="2286000"/>
            <a:ext cx="73152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0" y="2651760"/>
            <a:ext cx="685800" cy="68580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مكلفة</a:t>
            </a:r>
            <a:endParaRPr lang="ar-SA" sz="2000" dirty="0"/>
          </a:p>
        </p:txBody>
      </p:sp>
      <p:sp>
        <p:nvSpPr>
          <p:cNvPr id="17" name="Text 13"/>
          <p:cNvSpPr/>
          <p:nvPr/>
        </p:nvSpPr>
        <p:spPr>
          <a:xfrm>
            <a:off x="685800" y="3383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تجميع البيانات وتصنيفها يتطلب وقتاً وأشخاصاً وأموالاً كثيرة</a:t>
            </a:r>
            <a:endParaRPr lang="ar-SA" sz="1400" dirty="0"/>
          </a:p>
        </p:txBody>
      </p:sp>
      <p:sp>
        <p:nvSpPr>
          <p:cNvPr id="18" name="Shape 14"/>
          <p:cNvSpPr/>
          <p:nvPr/>
        </p:nvSpPr>
        <p:spPr>
          <a:xfrm>
            <a:off x="6172200" y="457200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676888" y="4572000"/>
            <a:ext cx="73152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10789920" y="4937760"/>
            <a:ext cx="685800" cy="6858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50292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4937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خاصة</a:t>
            </a:r>
            <a:endParaRPr lang="ar-SA" sz="2000" dirty="0"/>
          </a:p>
        </p:txBody>
      </p:sp>
      <p:sp>
        <p:nvSpPr>
          <p:cNvPr id="23" name="Text 18"/>
          <p:cNvSpPr/>
          <p:nvPr/>
        </p:nvSpPr>
        <p:spPr>
          <a:xfrm>
            <a:off x="6446520" y="5715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السجلات الطبية والمالية محمية قانونياً وأخلاقياً، ما يمديك توصل لها</a:t>
            </a:r>
            <a:endParaRPr lang="ar-SA" sz="1400" dirty="0"/>
          </a:p>
        </p:txBody>
      </p:sp>
      <p:sp>
        <p:nvSpPr>
          <p:cNvPr id="24" name="Shape 19"/>
          <p:cNvSpPr/>
          <p:nvPr/>
        </p:nvSpPr>
        <p:spPr>
          <a:xfrm>
            <a:off x="411480" y="457200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16168" y="4572000"/>
            <a:ext cx="73152" cy="21031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Shape 21"/>
          <p:cNvSpPr/>
          <p:nvPr/>
        </p:nvSpPr>
        <p:spPr>
          <a:xfrm>
            <a:off x="5029200" y="4937760"/>
            <a:ext cx="685800" cy="6858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50292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" y="4937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متحيّزة</a:t>
            </a:r>
            <a:endParaRPr lang="ar-SA" sz="2000" dirty="0"/>
          </a:p>
        </p:txBody>
      </p:sp>
      <p:sp>
        <p:nvSpPr>
          <p:cNvPr id="29" name="Text 23"/>
          <p:cNvSpPr/>
          <p:nvPr/>
        </p:nvSpPr>
        <p:spPr>
          <a:xfrm>
            <a:off x="685800" y="5669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 الموجودة ممكن تعكس </a:t>
            </a:r>
            <a:r>
              <a:rPr lang="ar-SA" altLang="en-US" sz="1400" dirty="0" err="1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انحيزات</a:t>
            </a:r>
            <a:r>
              <a:rPr lang="ar-SA" altLang="en-US" sz="14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تاريخية أو اجتماعية</a:t>
            </a:r>
            <a:endParaRPr lang="ar-SA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جولة في Kaggle: مكان البيانات الحقيقية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منصة عالمية يلتقي فيها علماء البيانات حول العالم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47120" cy="118872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811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+مليون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مستخدم نشط حول العالم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3259836" y="2468880"/>
            <a:ext cx="18288" cy="640080"/>
          </a:xfrm>
          <a:prstGeom prst="rect">
            <a:avLst/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68980" y="2286000"/>
            <a:ext cx="2811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+450k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60420" y="29260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مجموعة بيانات عامة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6071616" y="2468880"/>
            <a:ext cx="18288" cy="640080"/>
          </a:xfrm>
          <a:prstGeom prst="rect">
            <a:avLst/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286000"/>
            <a:ext cx="2811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آلاف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9260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المسابقات والجوائز المالية</a:t>
            </a:r>
            <a:endParaRPr lang="ar-SA" sz="1300" dirty="0"/>
          </a:p>
        </p:txBody>
      </p:sp>
      <p:sp>
        <p:nvSpPr>
          <p:cNvPr id="15" name="Shape 13"/>
          <p:cNvSpPr/>
          <p:nvPr/>
        </p:nvSpPr>
        <p:spPr>
          <a:xfrm>
            <a:off x="8883396" y="2468880"/>
            <a:ext cx="18288" cy="640080"/>
          </a:xfrm>
          <a:prstGeom prst="rect">
            <a:avLst/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892540" y="2286000"/>
            <a:ext cx="2811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+مليار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83980" y="29260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تشغيلات برمجية مشتركة</a:t>
            </a:r>
            <a:endParaRPr lang="ar-SA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0" y="402336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11480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9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حقيقية</a:t>
            </a:r>
            <a:endParaRPr lang="ar-SA" sz="1900" dirty="0"/>
          </a:p>
        </p:txBody>
      </p:sp>
      <p:sp>
        <p:nvSpPr>
          <p:cNvPr id="22" name="Text 19"/>
          <p:cNvSpPr/>
          <p:nvPr/>
        </p:nvSpPr>
        <p:spPr>
          <a:xfrm>
            <a:off x="640080" y="5486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شركات وحكومات: تشخيص طبي، أسعار، صور أقمار صناعية، طقس، نصوص…</a:t>
            </a:r>
            <a:endParaRPr lang="ar-SA" sz="1300" dirty="0"/>
          </a:p>
        </p:txBody>
      </p:sp>
      <p:sp>
        <p:nvSpPr>
          <p:cNvPr id="23" name="Shape 20"/>
          <p:cNvSpPr/>
          <p:nvPr/>
        </p:nvSpPr>
        <p:spPr>
          <a:xfrm>
            <a:off x="4251960" y="36576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15000" y="4023360"/>
            <a:ext cx="731520" cy="731520"/>
          </a:xfrm>
          <a:prstGeom prst="ellipse">
            <a:avLst/>
          </a:prstGeom>
          <a:solidFill>
            <a:srgbClr val="FACC15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114800"/>
            <a:ext cx="548640" cy="5486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43484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9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مسابقات عالمية</a:t>
            </a:r>
            <a:endParaRPr lang="ar-SA" sz="1900" dirty="0"/>
          </a:p>
        </p:txBody>
      </p:sp>
      <p:sp>
        <p:nvSpPr>
          <p:cNvPr id="27" name="Text 23"/>
          <p:cNvSpPr/>
          <p:nvPr/>
        </p:nvSpPr>
        <p:spPr>
          <a:xfrm>
            <a:off x="4526280" y="5486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تحدّيات مع جوائز مالية. ترى نفسك في تصنيف عالمي مع أكبر العقول</a:t>
            </a:r>
            <a:endParaRPr lang="ar-SA" sz="1300" dirty="0"/>
          </a:p>
        </p:txBody>
      </p:sp>
      <p:sp>
        <p:nvSpPr>
          <p:cNvPr id="28" name="Shape 24"/>
          <p:cNvSpPr/>
          <p:nvPr/>
        </p:nvSpPr>
        <p:spPr>
          <a:xfrm>
            <a:off x="8138160" y="36576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601200" y="40233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114800"/>
            <a:ext cx="548640" cy="5486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2104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9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تعلم من الكود</a:t>
            </a:r>
            <a:endParaRPr lang="ar-SA" sz="1900" dirty="0"/>
          </a:p>
        </p:txBody>
      </p:sp>
      <p:sp>
        <p:nvSpPr>
          <p:cNvPr id="32" name="Text 27"/>
          <p:cNvSpPr/>
          <p:nvPr/>
        </p:nvSpPr>
        <p:spPr>
          <a:xfrm>
            <a:off x="8412480" y="5486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مشاركة تستطيع أن ترى كودها، تشغّلها، وتعدّل عليها مباشرة في المتصفح</a:t>
            </a:r>
            <a:endParaRPr lang="ar-SA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75120" y="9144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4572000" y="2194560"/>
            <a:ext cx="73152" cy="24688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الفصل الخامس</a:t>
            </a:r>
            <a:endParaRPr lang="ar-SA" sz="1800" dirty="0"/>
          </a:p>
        </p:txBody>
      </p:sp>
      <p:sp>
        <p:nvSpPr>
          <p:cNvPr id="6" name="Text 3"/>
          <p:cNvSpPr/>
          <p:nvPr/>
        </p:nvSpPr>
        <p:spPr>
          <a:xfrm>
            <a:off x="4846320" y="2606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مجالات الذكاء الاصطناعي</a:t>
            </a:r>
            <a:endParaRPr lang="ar-SA" sz="3600" dirty="0"/>
          </a:p>
        </p:txBody>
      </p:sp>
      <p:sp>
        <p:nvSpPr>
          <p:cNvPr id="7" name="Text 4"/>
          <p:cNvSpPr/>
          <p:nvPr/>
        </p:nvSpPr>
        <p:spPr>
          <a:xfrm>
            <a:off x="484632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Fields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4632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النص، الرؤية، واتخاذ القرار</a:t>
            </a:r>
            <a:endParaRPr lang="ar-SA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486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المجالات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معالجة اللغة الطبيعية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solidFill>
            <a:srgbClr val="0B14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031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2103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NLP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8096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3611880"/>
            <a:ext cx="1371600" cy="2743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8404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يعرف</a:t>
            </a:r>
            <a:r>
              <a:rPr lang="en-US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ChatGPT </a:t>
            </a: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الفرق بين</a:t>
            </a:r>
          </a:p>
          <a:p>
            <a:pPr marL="0" indent="0" algn="r" rtl="1">
              <a:buNone/>
            </a:pP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"فلان بارد" و "انا بارد الحين" مثلا؟</a:t>
            </a:r>
          </a:p>
          <a:p>
            <a:pPr marL="0" indent="0" algn="r" rtl="1">
              <a:buNone/>
            </a:pPr>
            <a:endParaRPr lang="ar-SA" sz="1700" dirty="0">
              <a:solidFill>
                <a:srgbClr val="FFFFFF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r" rtl="1">
              <a:buNone/>
            </a:pPr>
            <a:r>
              <a:rPr lang="ar-SA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معالجة اللغة الطبيعية هو المجال المتخصص بتعليم الـ</a:t>
            </a: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الكلام الطبيعي اليومي للبشر</a:t>
            </a:r>
            <a:endParaRPr lang="ar-SA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أمثلة لها؟</a:t>
            </a:r>
            <a:endParaRPr lang="ar-SA" sz="2200" dirty="0"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67728" y="237744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2537460"/>
            <a:ext cx="548640" cy="5486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60146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المساعدات الذكية</a:t>
            </a:r>
            <a:endParaRPr lang="ar-SA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Siri، Google Assistant، Alexa</a:t>
            </a:r>
            <a:endParaRPr lang="ar-SA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33756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67728" y="333756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6263640" y="3497580"/>
            <a:ext cx="548640" cy="5486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56158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النماذج اللغوية الكبيرة</a:t>
            </a:r>
            <a:endParaRPr lang="ar-SA" sz="1600" dirty="0"/>
          </a:p>
        </p:txBody>
      </p:sp>
      <p:sp>
        <p:nvSpPr>
          <p:cNvPr id="23" name="Text 18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ChatGPT، Claude، Gemini وغيرها</a:t>
            </a:r>
            <a:endParaRPr lang="ar-SA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429768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67728" y="429768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1"/>
          <p:cNvSpPr/>
          <p:nvPr/>
        </p:nvSpPr>
        <p:spPr>
          <a:xfrm>
            <a:off x="6263640" y="4457700"/>
            <a:ext cx="548640" cy="5486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52170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الترجمة الآلية</a:t>
            </a:r>
            <a:endParaRPr lang="ar-SA" sz="1600" dirty="0"/>
          </a:p>
        </p:txBody>
      </p:sp>
      <p:sp>
        <p:nvSpPr>
          <p:cNvPr id="29" name="Text 23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ترجمة فورية بين اللغات</a:t>
            </a:r>
            <a:endParaRPr lang="ar-SA" sz="1300" dirty="0"/>
          </a:p>
        </p:txBody>
      </p:sp>
      <p:sp>
        <p:nvSpPr>
          <p:cNvPr id="30" name="Shape 24"/>
          <p:cNvSpPr/>
          <p:nvPr/>
        </p:nvSpPr>
        <p:spPr>
          <a:xfrm>
            <a:off x="457200" y="525780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67728" y="525780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26"/>
          <p:cNvSpPr/>
          <p:nvPr/>
        </p:nvSpPr>
        <p:spPr>
          <a:xfrm>
            <a:off x="6263640" y="5417820"/>
            <a:ext cx="548640" cy="5486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5481828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008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البحث الذكي</a:t>
            </a:r>
            <a:endParaRPr lang="ar-SA" sz="1600" dirty="0"/>
          </a:p>
        </p:txBody>
      </p:sp>
      <p:sp>
        <p:nvSpPr>
          <p:cNvPr id="35" name="Text 28"/>
          <p:cNvSpPr/>
          <p:nvPr/>
        </p:nvSpPr>
        <p:spPr>
          <a:xfrm>
            <a:off x="6400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محركات البحث تفهم قصدك </a:t>
            </a:r>
            <a:r>
              <a:rPr lang="ar-SA" altLang="en-US" sz="1300" dirty="0" err="1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الكلمات السادة</a:t>
            </a:r>
            <a:endParaRPr lang="ar-SA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المجالات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الرؤية الحاسوبية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solidFill>
            <a:srgbClr val="0B14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031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2103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8096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3611880"/>
            <a:ext cx="13716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8404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</a:t>
            </a:r>
            <a:r>
              <a:rPr lang="en-US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ChatGPT</a:t>
            </a: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يعرف يفهم الصور؟ اذا صورنا صورة عشوائية </a:t>
            </a:r>
            <a:r>
              <a:rPr lang="ar-SA" altLang="en-US" sz="1700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يوصفها</a:t>
            </a: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وبدقة عالية ويعطيك تعليمات عليها اذا سألته حتى !</a:t>
            </a:r>
          </a:p>
          <a:p>
            <a:pPr marL="0" indent="0" algn="r" rtl="1">
              <a:buNone/>
            </a:pPr>
            <a:endParaRPr lang="ar-SA" altLang="en-US" sz="1700" dirty="0">
              <a:solidFill>
                <a:srgbClr val="FFFFFF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r" rtl="1">
              <a:buNone/>
            </a:pP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المجال المختص لتعليم الـ</a:t>
            </a:r>
            <a:r>
              <a:rPr lang="en-US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(والكمبيوتر) الرؤية هو الرؤية الحاسوبية، يشمل تصنيّف الصور الى صنعها !</a:t>
            </a:r>
          </a:p>
          <a:p>
            <a:pPr marL="0" indent="0" algn="r" rtl="1">
              <a:buNone/>
            </a:pPr>
            <a:endParaRPr lang="ar-SA" sz="1700" dirty="0">
              <a:solidFill>
                <a:srgbClr val="FFFFFF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SA" altLang="en-US" sz="2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أمثلة لها؟</a:t>
            </a:r>
            <a:endParaRPr lang="ar-SA" sz="2200" dirty="0"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67728" y="237744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253746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60146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التعرف على الوجه</a:t>
            </a:r>
            <a:endParaRPr lang="ar-SA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فتح الجوال، الكاميرات الذكية</a:t>
            </a:r>
            <a:endParaRPr lang="ar-SA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33756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67728" y="333756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6"/>
          <p:cNvSpPr/>
          <p:nvPr/>
        </p:nvSpPr>
        <p:spPr>
          <a:xfrm>
            <a:off x="6263640" y="349758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56158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السيارات ذاتية القيادة</a:t>
            </a:r>
            <a:endParaRPr lang="ar-SA" sz="1600" dirty="0"/>
          </a:p>
        </p:txBody>
      </p:sp>
      <p:sp>
        <p:nvSpPr>
          <p:cNvPr id="23" name="Text 18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تستخدم الرؤية لفهم الطريق</a:t>
            </a:r>
            <a:endParaRPr lang="ar-SA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429768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6967728" y="429768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1"/>
          <p:cNvSpPr/>
          <p:nvPr/>
        </p:nvSpPr>
        <p:spPr>
          <a:xfrm>
            <a:off x="6263640" y="445770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452170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صناعة الصور</a:t>
            </a:r>
            <a:r>
              <a:rPr lang="en-US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والمقاطع</a:t>
            </a:r>
            <a:endParaRPr lang="ar-SA" sz="1600" dirty="0"/>
          </a:p>
        </p:txBody>
      </p:sp>
      <p:sp>
        <p:nvSpPr>
          <p:cNvPr id="29" name="Text 23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توم </a:t>
            </a:r>
            <a:r>
              <a:rPr lang="ar-SA" altLang="en-US" sz="1300" dirty="0" err="1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توم</a:t>
            </a: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ساهور، مقاطع الـ</a:t>
            </a:r>
            <a:r>
              <a:rPr lang="en-US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ar-SA" altLang="en-US" sz="1300" dirty="0" err="1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الاستهبالية</a:t>
            </a:r>
            <a:endParaRPr lang="ar-SA" sz="1300" dirty="0"/>
          </a:p>
        </p:txBody>
      </p:sp>
      <p:sp>
        <p:nvSpPr>
          <p:cNvPr id="30" name="Shape 24"/>
          <p:cNvSpPr/>
          <p:nvPr/>
        </p:nvSpPr>
        <p:spPr>
          <a:xfrm>
            <a:off x="457200" y="525780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67728" y="525780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Shape 26"/>
          <p:cNvSpPr/>
          <p:nvPr/>
        </p:nvSpPr>
        <p:spPr>
          <a:xfrm>
            <a:off x="6263640" y="541782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5481828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008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فلاتر الكاميرا</a:t>
            </a:r>
            <a:endParaRPr lang="ar-SA" sz="1600" dirty="0"/>
          </a:p>
        </p:txBody>
      </p:sp>
      <p:sp>
        <p:nvSpPr>
          <p:cNvPr id="35" name="Text 28"/>
          <p:cNvSpPr/>
          <p:nvPr/>
        </p:nvSpPr>
        <p:spPr>
          <a:xfrm>
            <a:off x="6400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سناب شات، إنستغرام، تيك توك</a:t>
            </a:r>
            <a:endParaRPr lang="ar-SA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المجالات</a:t>
            </a:r>
            <a:endParaRPr lang="ar-SA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التعلم بالتعزيز</a:t>
            </a:r>
            <a:endParaRPr lang="ar-SA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solidFill>
            <a:srgbClr val="0B14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031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2103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C48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8096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3611880"/>
            <a:ext cx="1371600" cy="274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8404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نخلي الـ</a:t>
            </a:r>
            <a:r>
              <a:rPr lang="en-US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يتعلم من بيئته، يحوس ويطلع سلسلة أفعال </a:t>
            </a:r>
            <a:r>
              <a:rPr lang="ar-SA" altLang="en-US" sz="1700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كويسة</a:t>
            </a: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؟</a:t>
            </a:r>
          </a:p>
          <a:p>
            <a:pPr marL="0" indent="0" algn="r" rtl="1">
              <a:buNone/>
            </a:pPr>
            <a:endParaRPr lang="ar-SA" altLang="en-US" sz="1700" dirty="0">
              <a:solidFill>
                <a:srgbClr val="FFFFFF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r" rtl="1">
              <a:buNone/>
            </a:pPr>
            <a:r>
              <a:rPr lang="ar-SA" alt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النموذج يتعلّم عبر التجربة والخطأ: يحاول، يفشل، يكافأ على القرارات الصحيحة، ويصير أذكى مع الزمن.</a:t>
            </a:r>
            <a:endParaRPr lang="ar-SA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SA" altLang="en-US" sz="2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أمثلة لها؟</a:t>
            </a:r>
            <a:endParaRPr lang="ar-SA" sz="2200" dirty="0"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67728" y="2377440"/>
            <a:ext cx="73152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253746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60146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الألعاب</a:t>
            </a:r>
            <a:endParaRPr lang="ar-SA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لمن تلعب مع كمبيوتر وفجأة يتعود على حركاتك 💀</a:t>
            </a:r>
            <a:endParaRPr lang="ar-SA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33756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67728" y="3337560"/>
            <a:ext cx="73152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Shape 16"/>
          <p:cNvSpPr/>
          <p:nvPr/>
        </p:nvSpPr>
        <p:spPr>
          <a:xfrm>
            <a:off x="6263640" y="349758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56158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الروبوتات</a:t>
            </a:r>
            <a:endParaRPr lang="ar-SA" sz="1600" dirty="0"/>
          </a:p>
        </p:txBody>
      </p:sp>
      <p:sp>
        <p:nvSpPr>
          <p:cNvPr id="23" name="Text 18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تتعلم المشي او جدران غرفتك عشان ما يصقع ..</a:t>
            </a:r>
            <a:endParaRPr lang="ar-SA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429768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67728" y="4297680"/>
            <a:ext cx="73152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Shape 21"/>
          <p:cNvSpPr/>
          <p:nvPr/>
        </p:nvSpPr>
        <p:spPr>
          <a:xfrm>
            <a:off x="6263640" y="445770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452170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النماذج اللغوية الكبيرة</a:t>
            </a:r>
            <a:endParaRPr lang="ar-SA" sz="1600" dirty="0"/>
          </a:p>
        </p:txBody>
      </p:sp>
      <p:sp>
        <p:nvSpPr>
          <p:cNvPr id="29" name="Text 23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ChatGPT</a:t>
            </a: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يتعلم من المستخدمين ويتطور مع الوقت (بعد التدريب)</a:t>
            </a:r>
            <a:endParaRPr lang="ar-SA" sz="1300" dirty="0"/>
          </a:p>
        </p:txBody>
      </p:sp>
      <p:sp>
        <p:nvSpPr>
          <p:cNvPr id="30" name="Shape 24"/>
          <p:cNvSpPr/>
          <p:nvPr/>
        </p:nvSpPr>
        <p:spPr>
          <a:xfrm>
            <a:off x="457200" y="5257800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67728" y="5257800"/>
            <a:ext cx="73152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Shape 26"/>
          <p:cNvSpPr/>
          <p:nvPr/>
        </p:nvSpPr>
        <p:spPr>
          <a:xfrm>
            <a:off x="6263640" y="541782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5481828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008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التداول المالي</a:t>
            </a:r>
            <a:endParaRPr lang="ar-SA" sz="1600" dirty="0"/>
          </a:p>
        </p:txBody>
      </p:sp>
      <p:sp>
        <p:nvSpPr>
          <p:cNvPr id="35" name="Text 28"/>
          <p:cNvSpPr/>
          <p:nvPr/>
        </p:nvSpPr>
        <p:spPr>
          <a:xfrm>
            <a:off x="6400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يتعلم مع الوقت متى يبيع ومتى يشتري</a:t>
            </a:r>
            <a:endParaRPr lang="ar-SA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914400" y="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589520" y="914400"/>
            <a:ext cx="5486400" cy="5486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09160" y="640080"/>
            <a:ext cx="2743200" cy="45720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47091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اللي </a:t>
            </a:r>
            <a:r>
              <a:rPr lang="ar-SA" altLang="en-US" sz="1600" b="1" dirty="0" err="1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غطيناه</a:t>
            </a:r>
            <a:r>
              <a:rPr lang="ar-SA" altLang="en-US" sz="1600" b="1" dirty="0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اليوم</a:t>
            </a:r>
            <a:endParaRPr lang="ar-SA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الخلاصة</a:t>
            </a:r>
            <a:endParaRPr lang="ar-SA" sz="5000" dirty="0"/>
          </a:p>
        </p:txBody>
      </p:sp>
      <p:sp>
        <p:nvSpPr>
          <p:cNvPr id="7" name="Shape 3"/>
          <p:cNvSpPr/>
          <p:nvPr/>
        </p:nvSpPr>
        <p:spPr>
          <a:xfrm>
            <a:off x="411480" y="2286000"/>
            <a:ext cx="3657600" cy="1554480"/>
          </a:xfrm>
          <a:prstGeom prst="rect">
            <a:avLst/>
          </a:prstGeom>
          <a:solidFill>
            <a:srgbClr val="1A1F4D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أحيانا الـ</a:t>
            </a:r>
            <a:r>
              <a:rPr lang="en-US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بس يحفظ ..</a:t>
            </a:r>
          </a:p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&lt;overfitting&gt;</a:t>
            </a:r>
            <a:endParaRPr lang="ar-SA" sz="1600" dirty="0"/>
          </a:p>
        </p:txBody>
      </p:sp>
      <p:sp>
        <p:nvSpPr>
          <p:cNvPr id="10" name="Shape 6"/>
          <p:cNvSpPr/>
          <p:nvPr/>
        </p:nvSpPr>
        <p:spPr>
          <a:xfrm>
            <a:off x="4251960" y="2286000"/>
            <a:ext cx="3657600" cy="1554480"/>
          </a:xfrm>
          <a:prstGeom prst="rect">
            <a:avLst/>
          </a:prstGeom>
          <a:solidFill>
            <a:srgbClr val="1A1F4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3484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منحازة = نموذج منحاز</a:t>
            </a:r>
            <a:endParaRPr lang="ar-SA" sz="1600" dirty="0"/>
          </a:p>
        </p:txBody>
      </p:sp>
      <p:sp>
        <p:nvSpPr>
          <p:cNvPr id="13" name="Shape 9"/>
          <p:cNvSpPr/>
          <p:nvPr/>
        </p:nvSpPr>
        <p:spPr>
          <a:xfrm>
            <a:off x="8092440" y="2286000"/>
            <a:ext cx="3657600" cy="1554480"/>
          </a:xfrm>
          <a:prstGeom prst="rect">
            <a:avLst/>
          </a:prstGeom>
          <a:solidFill>
            <a:srgbClr val="1A1F4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7532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36676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نقسم البيانات: تدريب واختبار</a:t>
            </a:r>
          </a:p>
          <a:p>
            <a:pPr marL="0" indent="0" algn="r" rtl="1">
              <a:buNone/>
            </a:pPr>
            <a:r>
              <a:rPr lang="ar-SA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عشان نعرف نقيّم النموذج</a:t>
            </a:r>
            <a:endParaRPr lang="ar-SA" sz="1600" dirty="0"/>
          </a:p>
        </p:txBody>
      </p:sp>
      <p:sp>
        <p:nvSpPr>
          <p:cNvPr id="16" name="Shape 12"/>
          <p:cNvSpPr/>
          <p:nvPr/>
        </p:nvSpPr>
        <p:spPr>
          <a:xfrm>
            <a:off x="411480" y="4023360"/>
            <a:ext cx="3657600" cy="1554480"/>
          </a:xfrm>
          <a:prstGeom prst="rect">
            <a:avLst/>
          </a:prstGeom>
          <a:solidFill>
            <a:srgbClr val="1A1F4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EC48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580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الدقة العالية </a:t>
            </a:r>
            <a:r>
              <a:rPr lang="ar-SA" altLang="en-US" sz="1600" b="1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</a:t>
            </a: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كل شيء</a:t>
            </a:r>
          </a:p>
          <a:p>
            <a:pPr marL="0" indent="0" algn="r" rtl="1">
              <a:buNone/>
            </a:pPr>
            <a:r>
              <a:rPr lang="ar-SA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(بس غالبا شغلك طيب)</a:t>
            </a:r>
            <a:endParaRPr lang="ar-SA" sz="1600" dirty="0"/>
          </a:p>
        </p:txBody>
      </p:sp>
      <p:sp>
        <p:nvSpPr>
          <p:cNvPr id="19" name="Shape 15"/>
          <p:cNvSpPr/>
          <p:nvPr/>
        </p:nvSpPr>
        <p:spPr>
          <a:xfrm>
            <a:off x="4251960" y="4023360"/>
            <a:ext cx="3657600" cy="1554480"/>
          </a:xfrm>
          <a:prstGeom prst="rect">
            <a:avLst/>
          </a:prstGeom>
          <a:solidFill>
            <a:srgbClr val="1A1F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2628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 اهم من الشغل على الـ</a:t>
            </a:r>
            <a:r>
              <a:rPr lang="en-US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نفسه</a:t>
            </a:r>
            <a:endParaRPr lang="ar-SA" sz="1600" dirty="0"/>
          </a:p>
        </p:txBody>
      </p:sp>
      <p:sp>
        <p:nvSpPr>
          <p:cNvPr id="22" name="Shape 18"/>
          <p:cNvSpPr/>
          <p:nvPr/>
        </p:nvSpPr>
        <p:spPr>
          <a:xfrm>
            <a:off x="8092440" y="4023360"/>
            <a:ext cx="3657600" cy="1554480"/>
          </a:xfrm>
          <a:prstGeom prst="rect">
            <a:avLst/>
          </a:prstGeom>
          <a:solidFill>
            <a:srgbClr val="1A1F4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7532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ACC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36676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مجالات </a:t>
            </a:r>
            <a:r>
              <a:rPr lang="ar-SA" altLang="en-US" sz="1600" b="1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لل</a:t>
            </a:r>
            <a:r>
              <a:rPr lang="ar-SA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ـ</a:t>
            </a:r>
            <a:r>
              <a:rPr lang="en-US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endParaRPr lang="ar-SA" sz="1600" dirty="0"/>
          </a:p>
        </p:txBody>
      </p:sp>
      <p:sp>
        <p:nvSpPr>
          <p:cNvPr id="25" name="Text 21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endParaRPr lang="ar-SA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91326-E3DE-B878-4C86-2050851A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99E4B90-60BA-496A-8636-FF7588E734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-114300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2851538-FF19-B776-758E-D43ECD1A8B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400800" y="1523953"/>
            <a:ext cx="5486400" cy="54864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8C26CF83-FEB7-D825-C5EE-EBB2C4550421}"/>
              </a:ext>
            </a:extLst>
          </p:cNvPr>
          <p:cNvSpPr/>
          <p:nvPr/>
        </p:nvSpPr>
        <p:spPr>
          <a:xfrm>
            <a:off x="4709160" y="640080"/>
            <a:ext cx="2743200" cy="45720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A29ACD3-08F0-C582-B334-16483B224D4B}"/>
              </a:ext>
            </a:extLst>
          </p:cNvPr>
          <p:cNvSpPr/>
          <p:nvPr/>
        </p:nvSpPr>
        <p:spPr>
          <a:xfrm>
            <a:off x="47091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600" b="1" dirty="0">
                <a:solidFill>
                  <a:srgbClr val="0B14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هذي محاضرة اليوم !</a:t>
            </a:r>
            <a:endParaRPr lang="ar-SA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4AB52C3-7181-9AC6-EA79-AA6CE8EE9E6C}"/>
              </a:ext>
            </a:extLst>
          </p:cNvPr>
          <p:cNvSpPr/>
          <p:nvPr/>
        </p:nvSpPr>
        <p:spPr>
          <a:xfrm>
            <a:off x="457200" y="30861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 سؤال؟</a:t>
            </a:r>
            <a:endParaRPr lang="ar-SA" sz="54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C08957D-09BD-641C-CE88-F7FE28E83121}"/>
              </a:ext>
            </a:extLst>
          </p:cNvPr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endParaRPr lang="ar-SA" sz="20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B05DB8A6-A625-016B-880B-2FC70E01861C}"/>
              </a:ext>
            </a:extLst>
          </p:cNvPr>
          <p:cNvSpPr/>
          <p:nvPr/>
        </p:nvSpPr>
        <p:spPr>
          <a:xfrm>
            <a:off x="854198" y="403855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 سؤال مرحب فيه !</a:t>
            </a:r>
            <a:endParaRPr lang="ar-SA" sz="1700" dirty="0"/>
          </a:p>
        </p:txBody>
      </p:sp>
    </p:spTree>
    <p:extLst>
      <p:ext uri="{BB962C8B-B14F-4D97-AF65-F5344CB8AC3E}">
        <p14:creationId xmlns:p14="http://schemas.microsoft.com/office/powerpoint/2010/main" val="84672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1275</Words>
  <Application>Microsoft Office PowerPoint</Application>
  <PresentationFormat>Widescreen</PresentationFormat>
  <Paragraphs>305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وراء الكواليس: كيف تتعلم الآلات؟</dc:title>
  <dc:subject>PptxGenJS Presentation</dc:subject>
  <dc:creator>AI Curriculum</dc:creator>
  <cp:lastModifiedBy>MUHANNAD ABFULLAH ALI ALHUMAIDI</cp:lastModifiedBy>
  <cp:revision>4</cp:revision>
  <dcterms:created xsi:type="dcterms:W3CDTF">2026-05-13T14:46:52Z</dcterms:created>
  <dcterms:modified xsi:type="dcterms:W3CDTF">2026-05-13T16:26:05Z</dcterms:modified>
</cp:coreProperties>
</file>