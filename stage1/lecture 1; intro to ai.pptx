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59" r:id="rId4"/>
    <p:sldId id="261" r:id="rId5"/>
    <p:sldId id="262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17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892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microsoft.com/office/2007/relationships/hdphoto" Target="../media/hdphoto2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4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microsoft.com/office/2007/relationships/hdphoto" Target="../media/hdphoto6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microsoft.com/office/2007/relationships/hdphoto" Target="../media/hdphoto5.wdp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microsoft.com/office/2007/relationships/hdphoto" Target="../media/hdphoto8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microsoft.com/office/2007/relationships/hdphoto" Target="../media/hdphoto7.wdp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microsoft.com/office/2007/relationships/hdphoto" Target="../media/hdphoto10.wd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microsoft.com/office/2007/relationships/hdphoto" Target="../media/hdphoto9.wdp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microsoft.com/office/2007/relationships/hdphoto" Target="../media/hdphoto12.wd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microsoft.com/office/2007/relationships/hdphoto" Target="../media/hdphoto11.wdp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microsoft.com/office/2007/relationships/hdphoto" Target="../media/hdphoto14.wd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microsoft.com/office/2007/relationships/hdphoto" Target="../media/hdphoto13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microsoft.com/office/2007/relationships/hdphoto" Target="../media/hdphoto16.wd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microsoft.com/office/2007/relationships/hdphoto" Target="../media/hdphoto15.wdp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microsoft.com/office/2007/relationships/hdphoto" Target="../media/hdphoto18.wd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microsoft.com/office/2007/relationships/hdphoto" Target="../media/hdphoto17.wdp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microsoft.com/office/2007/relationships/hdphoto" Target="../media/hdphoto20.wd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microsoft.com/office/2007/relationships/hdphoto" Target="../media/hdphoto19.wdp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E9456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15600" y="-914400"/>
            <a:ext cx="2743200" cy="2743200"/>
          </a:xfrm>
          <a:prstGeom prst="ellipse">
            <a:avLst/>
          </a:prstGeom>
          <a:solidFill>
            <a:srgbClr val="FFD93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0F346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97280" y="3200400"/>
            <a:ext cx="64008" cy="6400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155680" y="2286000"/>
            <a:ext cx="82296" cy="82296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822960"/>
            <a:ext cx="1828800" cy="1828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27432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الذكاء الاصطناعي</a:t>
            </a:r>
            <a:endParaRPr lang="ar-SA" sz="6400" dirty="0"/>
          </a:p>
        </p:txBody>
      </p:sp>
      <p:sp>
        <p:nvSpPr>
          <p:cNvPr id="15" name="Text 12"/>
          <p:cNvSpPr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4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العالم المخفي حولينا</a:t>
            </a:r>
            <a:endParaRPr lang="ar-SA" sz="4400" dirty="0"/>
          </a:p>
        </p:txBody>
      </p:sp>
      <p:sp>
        <p:nvSpPr>
          <p:cNvPr id="16" name="Shape 13"/>
          <p:cNvSpPr/>
          <p:nvPr/>
        </p:nvSpPr>
        <p:spPr>
          <a:xfrm>
            <a:off x="5029200" y="4846320"/>
            <a:ext cx="2103120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مقدمة عن الذكاء الاصطناعي</a:t>
            </a:r>
            <a:endParaRPr lang="ar-SA" sz="2200" dirty="0"/>
          </a:p>
        </p:txBody>
      </p:sp>
      <p:sp>
        <p:nvSpPr>
          <p:cNvPr id="18" name="Text 1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400" dirty="0">
                <a:solidFill>
                  <a:srgbClr val="8B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تاريخ وندرّب نموذج ذكاء اصطناعي مع بعض</a:t>
            </a:r>
            <a:endParaRPr lang="ar-SA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2"/>
          <p:cNvSpPr/>
          <p:nvPr/>
        </p:nvSpPr>
        <p:spPr>
          <a:xfrm>
            <a:off x="1595230" y="2651760"/>
            <a:ext cx="864108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خريطة رحلتنا اليوم</a:t>
            </a:r>
            <a:endParaRPr lang="ar-SA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800" i="1" dirty="0">
                <a:solidFill>
                  <a:srgbClr val="8B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٤ محطات تغيّر نظرتك للذكاء الاصطناعي</a:t>
            </a:r>
            <a:endParaRPr lang="ar-SA" sz="1800" dirty="0"/>
          </a:p>
        </p:txBody>
      </p:sp>
      <p:sp>
        <p:nvSpPr>
          <p:cNvPr id="4" name="Shape 2"/>
          <p:cNvSpPr/>
          <p:nvPr/>
        </p:nvSpPr>
        <p:spPr>
          <a:xfrm>
            <a:off x="1160890" y="2103120"/>
            <a:ext cx="1097280" cy="1097280"/>
          </a:xfrm>
          <a:prstGeom prst="ellipse">
            <a:avLst/>
          </a:prstGeom>
          <a:solidFill>
            <a:srgbClr val="E94560"/>
          </a:solidFill>
          <a:ln w="381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6089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37930" y="3566160"/>
            <a:ext cx="2743200" cy="1673749"/>
          </a:xfrm>
          <a:prstGeom prst="roundRect">
            <a:avLst>
              <a:gd name="adj" fmla="val 5000"/>
            </a:avLst>
          </a:prstGeom>
          <a:solidFill>
            <a:srgbClr val="F4F4F8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37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sz="2000" b="1" dirty="0">
                <a:solidFill>
                  <a:srgbClr val="E94560"/>
                </a:solidFill>
                <a:latin typeface="Calibri" pitchFamily="34" charset="0"/>
              </a:rPr>
              <a:t>"الـ</a:t>
            </a:r>
            <a:r>
              <a:rPr lang="en-US" sz="2000" b="1" dirty="0">
                <a:solidFill>
                  <a:srgbClr val="E94560"/>
                </a:solidFill>
                <a:latin typeface="Calibri" pitchFamily="34" charset="0"/>
              </a:rPr>
              <a:t>Ai</a:t>
            </a:r>
            <a:r>
              <a:rPr lang="ar-SA" sz="2000" b="1" dirty="0">
                <a:solidFill>
                  <a:srgbClr val="E94560"/>
                </a:solidFill>
                <a:latin typeface="Calibri" pitchFamily="34" charset="0"/>
              </a:rPr>
              <a:t> يعني </a:t>
            </a:r>
            <a:r>
              <a:rPr lang="en-US" sz="2000" b="1" dirty="0">
                <a:solidFill>
                  <a:srgbClr val="E94560"/>
                </a:solidFill>
                <a:latin typeface="Calibri" pitchFamily="34" charset="0"/>
              </a:rPr>
              <a:t>ChatGPT</a:t>
            </a:r>
            <a:r>
              <a:rPr lang="ar-SA" sz="2000" b="1" dirty="0">
                <a:solidFill>
                  <a:srgbClr val="E94560"/>
                </a:solidFill>
                <a:latin typeface="Calibri" pitchFamily="34" charset="0"/>
              </a:rPr>
              <a:t>"</a:t>
            </a:r>
            <a:endParaRPr lang="ar-SA" sz="2000" dirty="0"/>
          </a:p>
        </p:txBody>
      </p:sp>
      <p:sp>
        <p:nvSpPr>
          <p:cNvPr id="8" name="Text 6"/>
          <p:cNvSpPr/>
          <p:nvPr/>
        </p:nvSpPr>
        <p:spPr>
          <a:xfrm>
            <a:off x="429370" y="4389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وشو الذكاء الاصطناعي </a:t>
            </a:r>
          </a:p>
          <a:p>
            <a:pPr marL="0" indent="0" algn="ctr" rtl="1">
              <a:buNone/>
            </a:pPr>
            <a:r>
              <a:rPr lang="ar-SA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 وش فرقه عن البرمجة العادية؟</a:t>
            </a:r>
          </a:p>
        </p:txBody>
      </p:sp>
      <p:sp>
        <p:nvSpPr>
          <p:cNvPr id="9" name="Shape 7"/>
          <p:cNvSpPr/>
          <p:nvPr/>
        </p:nvSpPr>
        <p:spPr>
          <a:xfrm>
            <a:off x="4086970" y="2103120"/>
            <a:ext cx="1097280" cy="1097280"/>
          </a:xfrm>
          <a:prstGeom prst="ellipse">
            <a:avLst/>
          </a:prstGeom>
          <a:solidFill>
            <a:srgbClr val="0F3460"/>
          </a:solidFill>
          <a:ln w="381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8697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264010" y="3566160"/>
            <a:ext cx="2743200" cy="1673749"/>
          </a:xfrm>
          <a:prstGeom prst="roundRect">
            <a:avLst>
              <a:gd name="adj" fmla="val 5000"/>
            </a:avLst>
          </a:prstGeom>
          <a:solidFill>
            <a:srgbClr val="F4F4F8"/>
          </a:solidFill>
          <a:ln w="254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545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الذكاء المخفي</a:t>
            </a:r>
            <a:endParaRPr lang="ar-SA" sz="2000" dirty="0"/>
          </a:p>
        </p:txBody>
      </p:sp>
      <p:sp>
        <p:nvSpPr>
          <p:cNvPr id="13" name="Text 11"/>
          <p:cNvSpPr/>
          <p:nvPr/>
        </p:nvSpPr>
        <p:spPr>
          <a:xfrm>
            <a:off x="3355450" y="4389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أمثلة </a:t>
            </a:r>
            <a:r>
              <a:rPr lang="ar-SA" altLang="en-US" sz="15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</a:t>
            </a:r>
            <a:r>
              <a:rPr lang="ar-SA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ـ</a:t>
            </a:r>
            <a:r>
              <a:rPr lang="en-US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ar-SA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بحياتنا الطبيعية دون ما ندري</a:t>
            </a:r>
            <a:endParaRPr lang="ar-SA" sz="1500" dirty="0"/>
          </a:p>
        </p:txBody>
      </p:sp>
      <p:sp>
        <p:nvSpPr>
          <p:cNvPr id="14" name="Shape 12"/>
          <p:cNvSpPr/>
          <p:nvPr/>
        </p:nvSpPr>
        <p:spPr>
          <a:xfrm>
            <a:off x="7013050" y="2103120"/>
            <a:ext cx="1097280" cy="1097280"/>
          </a:xfrm>
          <a:prstGeom prst="ellipse">
            <a:avLst/>
          </a:prstGeom>
          <a:solidFill>
            <a:srgbClr val="FFD93D"/>
          </a:solidFill>
          <a:ln w="381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1305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6190090" y="3566160"/>
            <a:ext cx="2743200" cy="1673748"/>
          </a:xfrm>
          <a:prstGeom prst="roundRect">
            <a:avLst>
              <a:gd name="adj" fmla="val 5000"/>
            </a:avLst>
          </a:prstGeom>
          <a:solidFill>
            <a:srgbClr val="F4F4F8"/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153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تعليم الآلة</a:t>
            </a:r>
            <a:endParaRPr lang="ar-SA" sz="2000" dirty="0"/>
          </a:p>
        </p:txBody>
      </p:sp>
      <p:sp>
        <p:nvSpPr>
          <p:cNvPr id="18" name="Text 16"/>
          <p:cNvSpPr/>
          <p:nvPr/>
        </p:nvSpPr>
        <p:spPr>
          <a:xfrm>
            <a:off x="6281530" y="4389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بس الحين الـ</a:t>
            </a:r>
            <a:r>
              <a:rPr lang="en-US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ar-SA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يتعلم؟</a:t>
            </a:r>
            <a:endParaRPr lang="ar-SA" sz="1500" dirty="0"/>
          </a:p>
        </p:txBody>
      </p:sp>
      <p:sp>
        <p:nvSpPr>
          <p:cNvPr id="19" name="Shape 17"/>
          <p:cNvSpPr/>
          <p:nvPr/>
        </p:nvSpPr>
        <p:spPr>
          <a:xfrm>
            <a:off x="9939130" y="2103120"/>
            <a:ext cx="1097280" cy="1097280"/>
          </a:xfrm>
          <a:prstGeom prst="ellipse">
            <a:avLst/>
          </a:prstGeom>
          <a:solidFill>
            <a:srgbClr val="1A1A2E"/>
          </a:solidFill>
          <a:ln w="381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39130" y="21031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٤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9116170" y="3566160"/>
            <a:ext cx="2743200" cy="1673749"/>
          </a:xfrm>
          <a:prstGeom prst="roundRect">
            <a:avLst>
              <a:gd name="adj" fmla="val 5000"/>
            </a:avLst>
          </a:prstGeom>
          <a:solidFill>
            <a:srgbClr val="F4F4F8"/>
          </a:solidFill>
          <a:ln w="254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07610" y="3749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عملية</a:t>
            </a:r>
            <a:endParaRPr lang="ar-SA" sz="2000" dirty="0"/>
          </a:p>
        </p:txBody>
      </p:sp>
      <p:sp>
        <p:nvSpPr>
          <p:cNvPr id="23" name="Text 21"/>
          <p:cNvSpPr/>
          <p:nvPr/>
        </p:nvSpPr>
        <p:spPr>
          <a:xfrm>
            <a:off x="9207610" y="4389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ar-SA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نسوي </a:t>
            </a:r>
            <a:r>
              <a:rPr lang="en-US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ar-SA" alt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مع بعض !</a:t>
            </a:r>
            <a:endParaRPr lang="ar-SA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64008" cy="6400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55680" y="2286000"/>
            <a:ext cx="82296" cy="82296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بكــل بســاطة</a:t>
            </a:r>
            <a:endParaRPr lang="ar-SA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≠ كل الذكاء الاصطناعي</a:t>
            </a:r>
            <a:endParaRPr lang="ar-SA" sz="4800" dirty="0"/>
          </a:p>
        </p:txBody>
      </p:sp>
      <p:sp>
        <p:nvSpPr>
          <p:cNvPr id="12" name="Shape 10"/>
          <p:cNvSpPr/>
          <p:nvPr/>
        </p:nvSpPr>
        <p:spPr>
          <a:xfrm>
            <a:off x="3803904" y="2926080"/>
            <a:ext cx="4572000" cy="3200400"/>
          </a:xfrm>
          <a:prstGeom prst="ellipse">
            <a:avLst/>
          </a:prstGeom>
          <a:solidFill>
            <a:srgbClr val="E94560">
              <a:alpha val="20000"/>
            </a:srgbClr>
          </a:solidFill>
          <a:ln w="38100">
            <a:solidFill>
              <a:srgbClr val="E945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03904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عالم الذكاء الاصطناعي</a:t>
            </a:r>
            <a:endParaRPr lang="ar-SA" sz="1800" dirty="0"/>
          </a:p>
        </p:txBody>
      </p:sp>
      <p:sp>
        <p:nvSpPr>
          <p:cNvPr id="14" name="Shape 12"/>
          <p:cNvSpPr/>
          <p:nvPr/>
        </p:nvSpPr>
        <p:spPr>
          <a:xfrm>
            <a:off x="5685812" y="4451413"/>
            <a:ext cx="820376" cy="689130"/>
          </a:xfrm>
          <a:prstGeom prst="ellipse">
            <a:avLst/>
          </a:pr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04104" y="4114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58" y="452165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هذا جزء صغير فقط!</a:t>
            </a:r>
            <a:endParaRPr lang="ar-SA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البرمجة العادية</a:t>
            </a:r>
            <a:endParaRPr lang="ar-SA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"إذا... فاعمل"</a:t>
            </a:r>
            <a:endParaRPr lang="ar-SA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2286000"/>
            <a:ext cx="7589520" cy="2926080"/>
          </a:xfrm>
          <a:prstGeom prst="roundRect">
            <a:avLst>
              <a:gd name="adj" fmla="val 4688"/>
            </a:avLst>
          </a:prstGeom>
          <a:solidFill>
            <a:srgbClr val="0F0E17"/>
          </a:solidFill>
          <a:ln/>
          <a:effectLst>
            <a:outerShdw blurRad="1905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0" y="2468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8B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ar-SA" sz="1600" i="1" dirty="0">
                <a:solidFill>
                  <a:srgbClr val="8B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i="1" dirty="0">
                <a:solidFill>
                  <a:srgbClr val="8B8B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مثال بسيط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2926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SA" altLang="en-US" sz="2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إذا </a:t>
            </a:r>
            <a:r>
              <a:rPr lang="ar-SA" alt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(تم ضغط الزر) {</a:t>
            </a:r>
            <a:endParaRPr lang="ar-SA" sz="2200" dirty="0"/>
          </a:p>
        </p:txBody>
      </p:sp>
      <p:sp>
        <p:nvSpPr>
          <p:cNvPr id="7" name="Text 5"/>
          <p:cNvSpPr/>
          <p:nvPr/>
        </p:nvSpPr>
        <p:spPr>
          <a:xfrm>
            <a:off x="2560320" y="33832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dirty="0">
                <a:solidFill>
                  <a:srgbClr val="16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شغّل المقطع 🎵</a:t>
            </a:r>
            <a:endParaRPr lang="ar-SA" sz="2200" dirty="0"/>
          </a:p>
        </p:txBody>
      </p:sp>
      <p:sp>
        <p:nvSpPr>
          <p:cNvPr id="8" name="Text 6"/>
          <p:cNvSpPr/>
          <p:nvPr/>
        </p:nvSpPr>
        <p:spPr>
          <a:xfrm>
            <a:off x="2560320" y="3840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وإلا </a:t>
            </a:r>
            <a:r>
              <a:rPr lang="ar-SA" altLang="en-US" sz="2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ar-SA" sz="2200" dirty="0"/>
          </a:p>
        </p:txBody>
      </p:sp>
      <p:sp>
        <p:nvSpPr>
          <p:cNvPr id="9" name="Text 7"/>
          <p:cNvSpPr/>
          <p:nvPr/>
        </p:nvSpPr>
        <p:spPr>
          <a:xfrm>
            <a:off x="2560320" y="4297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dirty="0">
                <a:solidFill>
                  <a:srgbClr val="16E2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لا تسوي شيء🔇</a:t>
            </a:r>
            <a:endParaRPr lang="ar-SA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4754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dirty="0">
                <a:solidFill>
                  <a:srgbClr val="FFFFFF"/>
                </a:solidFill>
                <a:latin typeface="Consolas" pitchFamily="34" charset="0"/>
              </a:rPr>
              <a:t>{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الكمبيوتر يتبع الأوامر حرفياً – زي الوصفة</a:t>
            </a:r>
            <a:endParaRPr lang="ar-SA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الذكاء الاصطناعي</a:t>
            </a:r>
            <a:endParaRPr lang="ar-SA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"تعلَّمْ من الأمثلة!"</a:t>
            </a:r>
            <a:endParaRPr lang="ar-SA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3200400"/>
          </a:xfrm>
          <a:prstGeom prst="roundRect">
            <a:avLst>
              <a:gd name="adj" fmla="val 4286"/>
            </a:avLst>
          </a:prstGeom>
          <a:solidFill>
            <a:srgbClr val="F4F4F8"/>
          </a:solidFill>
          <a:ln w="254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البرمجة العادية</a:t>
            </a:r>
            <a:endParaRPr lang="ar-SA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160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نعطي اوامر ←  يتصرف بشكل أعمى</a:t>
            </a:r>
            <a:endParaRPr lang="ar-SA" sz="1600" b="1" dirty="0"/>
          </a:p>
        </p:txBody>
      </p:sp>
      <p:sp>
        <p:nvSpPr>
          <p:cNvPr id="8" name="Text 6"/>
          <p:cNvSpPr/>
          <p:nvPr/>
        </p:nvSpPr>
        <p:spPr>
          <a:xfrm>
            <a:off x="2788920" y="372916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6200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نتيجة</a:t>
            </a:r>
            <a:endParaRPr lang="ar-SA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rgbClr val="8B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مثال: "احسب 1+1" ← 2  </a:t>
            </a:r>
            <a:endParaRPr lang="ar-SA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5212080" cy="3200400"/>
          </a:xfrm>
          <a:prstGeom prst="roundRect">
            <a:avLst>
              <a:gd name="adj" fmla="val 4286"/>
            </a:avLst>
          </a:prstGeom>
          <a:solidFill>
            <a:srgbClr val="1A1A2E"/>
          </a:solidFill>
          <a:ln w="25400">
            <a:solidFill>
              <a:srgbClr val="E94560"/>
            </a:solidFill>
            <a:prstDash val="solid"/>
          </a:ln>
          <a:effectLst>
            <a:outerShdw blurRad="254000" dist="50800" dir="5400000" algn="bl" rotWithShape="0">
              <a:srgbClr val="E9456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الذكاء الاصطناعي</a:t>
            </a:r>
            <a:endParaRPr lang="ar-SA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نعطي أمثلة ←  يستنتج كيف يتصرف</a:t>
            </a:r>
            <a:endParaRPr lang="ar-SA" sz="1600" b="1" dirty="0"/>
          </a:p>
        </p:txBody>
      </p:sp>
      <p:sp>
        <p:nvSpPr>
          <p:cNvPr id="14" name="Text 12"/>
          <p:cNvSpPr/>
          <p:nvPr/>
        </p:nvSpPr>
        <p:spPr>
          <a:xfrm>
            <a:off x="6492240" y="3749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يعرف شكل القط</a:t>
            </a:r>
            <a:endParaRPr lang="ar-SA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3749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41832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صور كثيرة لقطط</a:t>
            </a:r>
            <a:endParaRPr lang="ar-SA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4754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14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بدون ما نقول له "للقطة شوارب" مثلا</a:t>
            </a:r>
            <a:endParaRPr lang="ar-SA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الفرق الجوهري: AI يكتشف الأنماط بنفسه!</a:t>
            </a:r>
            <a:endParaRPr lang="ar-SA" sz="20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FE349EA4-270D-CB75-8C71-27CD51D5FB58}"/>
              </a:ext>
            </a:extLst>
          </p:cNvPr>
          <p:cNvSpPr/>
          <p:nvPr/>
        </p:nvSpPr>
        <p:spPr>
          <a:xfrm>
            <a:off x="3703320" y="3721211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</a:t>
            </a:r>
            <a:endParaRPr lang="ar-SA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الصورة الكاملة</a:t>
            </a:r>
            <a:endParaRPr lang="ar-SA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0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استعمالات للذكاء الاصطناعي</a:t>
            </a:r>
            <a:endParaRPr lang="ar-SA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11247120" cy="0"/>
          </a:xfrm>
          <a:prstGeom prst="line">
            <a:avLst/>
          </a:prstGeom>
          <a:noFill/>
          <a:ln w="38100">
            <a:solidFill>
              <a:srgbClr val="0F34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7212" y="1739348"/>
            <a:ext cx="2107096" cy="1369612"/>
          </a:xfrm>
          <a:prstGeom prst="ellipse">
            <a:avLst/>
          </a:pr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0" y="2057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• Gemini • Claude</a:t>
            </a:r>
            <a:endParaRPr lang="ar-SA" sz="1300" dirty="0"/>
          </a:p>
        </p:txBody>
      </p:sp>
      <p:sp>
        <p:nvSpPr>
          <p:cNvPr id="7" name="Text 5"/>
          <p:cNvSpPr/>
          <p:nvPr/>
        </p:nvSpPr>
        <p:spPr>
          <a:xfrm>
            <a:off x="5181600" y="2394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7589520" cy="2965834"/>
          </a:xfrm>
          <a:prstGeom prst="roundRect">
            <a:avLst>
              <a:gd name="adj" fmla="val 8108"/>
            </a:avLst>
          </a:prstGeom>
          <a:solidFill>
            <a:srgbClr val="0F346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0664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التوصيات</a:t>
            </a:r>
            <a:endParaRPr lang="ar-SA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الخرائط</a:t>
            </a:r>
            <a:endParaRPr lang="ar-SA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الكاميرات</a:t>
            </a:r>
            <a:endParaRPr lang="ar-SA" sz="1800" dirty="0"/>
          </a:p>
        </p:txBody>
      </p:sp>
      <p:sp>
        <p:nvSpPr>
          <p:cNvPr id="12" name="Text 10"/>
          <p:cNvSpPr/>
          <p:nvPr/>
        </p:nvSpPr>
        <p:spPr>
          <a:xfrm>
            <a:off x="740664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القيادة الذاتية</a:t>
            </a:r>
            <a:endParaRPr lang="ar-SA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الأمن</a:t>
            </a:r>
            <a:endParaRPr lang="ar-SA" sz="1800" dirty="0"/>
          </a:p>
        </p:txBody>
      </p:sp>
      <p:sp>
        <p:nvSpPr>
          <p:cNvPr id="14" name="Text 12"/>
          <p:cNvSpPr/>
          <p:nvPr/>
        </p:nvSpPr>
        <p:spPr>
          <a:xfrm>
            <a:off x="246888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الطب</a:t>
            </a:r>
            <a:endParaRPr lang="ar-SA" sz="1800" dirty="0"/>
          </a:p>
        </p:txBody>
      </p:sp>
      <p:sp>
        <p:nvSpPr>
          <p:cNvPr id="15" name="Text 13"/>
          <p:cNvSpPr/>
          <p:nvPr/>
        </p:nvSpPr>
        <p:spPr>
          <a:xfrm>
            <a:off x="740664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الألعاب</a:t>
            </a:r>
            <a:endParaRPr lang="ar-SA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التوصيل</a:t>
            </a:r>
            <a:endParaRPr lang="ar-SA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5394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الترجمة</a:t>
            </a:r>
            <a:endParaRPr lang="ar-SA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المشهور للناس</a:t>
            </a:r>
            <a:endParaRPr lang="ar-SA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العالم الخفي</a:t>
            </a:r>
            <a:endParaRPr lang="ar-S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64008" cy="6400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55680" y="2286000"/>
            <a:ext cx="82296" cy="82296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4" y="1188720"/>
            <a:ext cx="1828800" cy="1828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3832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البحث عن الذكاء المخفي ..</a:t>
            </a:r>
            <a:endParaRPr lang="ar-SA" sz="4800" dirty="0"/>
          </a:p>
        </p:txBody>
      </p:sp>
      <p:sp>
        <p:nvSpPr>
          <p:cNvPr id="12" name="Text 9"/>
          <p:cNvSpPr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24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الـ AI موجود فكل مكان</a:t>
            </a:r>
            <a:endParaRPr lang="ar-SA" sz="2400" dirty="0"/>
          </a:p>
        </p:txBody>
      </p:sp>
      <p:sp>
        <p:nvSpPr>
          <p:cNvPr id="13" name="Text 10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خلونا </a:t>
            </a:r>
            <a:r>
              <a:rPr lang="ar-SA" altLang="en-US" sz="2000" b="1" dirty="0" err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ناخذ</a:t>
            </a:r>
            <a:r>
              <a:rPr lang="ar-SA" alt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أمثلة</a:t>
            </a:r>
            <a:endParaRPr lang="ar-SA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E9456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82880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</a:t>
            </a:r>
            <a:endParaRPr lang="ar-SA" sz="52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جوالك يميّزك من بين ٧ مليار شخص!</a:t>
            </a:r>
            <a:endParaRPr lang="ar-SA" sz="2600" dirty="0"/>
          </a:p>
        </p:txBody>
      </p:sp>
      <p:sp>
        <p:nvSpPr>
          <p:cNvPr id="13" name="Text 10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1600" dirty="0">
                <a:solidFill>
                  <a:srgbClr val="8B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متخصّص بالتعرف على ملامح وجهك</a:t>
            </a:r>
            <a:endParaRPr lang="ar-SA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16E2F5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صفحة "لك" في TikTok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16E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يعرف الفيديو اللي بيعجبك بالضبط؟</a:t>
            </a:r>
            <a:endParaRPr lang="ar-SA" sz="2600" dirty="0"/>
          </a:p>
        </p:txBody>
      </p:sp>
      <p:sp>
        <p:nvSpPr>
          <p:cNvPr id="13" name="Text 10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600" dirty="0">
                <a:solidFill>
                  <a:srgbClr val="8B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خوارزمية تتعلم منك كل ثانية</a:t>
            </a:r>
            <a:endParaRPr lang="ar-SA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0F346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خرائط </a:t>
            </a:r>
            <a:r>
              <a:rPr lang="ar-SA" alt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احيانا الطريق الأطول مسافة يكون أسرع..</a:t>
            </a:r>
            <a:endParaRPr lang="ar-SA" sz="2600" dirty="0"/>
          </a:p>
        </p:txBody>
      </p:sp>
      <p:sp>
        <p:nvSpPr>
          <p:cNvPr id="13" name="Text 10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1600" dirty="0">
                <a:solidFill>
                  <a:srgbClr val="8B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تنبؤ ذكي بالزحمة</a:t>
            </a:r>
            <a:r>
              <a:rPr lang="en-US" altLang="en-US" sz="1600" b="1" dirty="0">
                <a:solidFill>
                  <a:srgbClr val="8B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r>
              <a:rPr lang="en-US" altLang="en-US" sz="1600" dirty="0">
                <a:solidFill>
                  <a:srgbClr val="8B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SA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1A1A2E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دوركم الآن!</a:t>
            </a:r>
            <a:endParaRPr lang="ar-SA" sz="4400" dirty="0"/>
          </a:p>
        </p:txBody>
      </p:sp>
      <p:sp>
        <p:nvSpPr>
          <p:cNvPr id="6" name="Shape 3"/>
          <p:cNvSpPr/>
          <p:nvPr/>
        </p:nvSpPr>
        <p:spPr>
          <a:xfrm>
            <a:off x="2286000" y="2926080"/>
            <a:ext cx="7589520" cy="14630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254000" dist="635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286000" y="292608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6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فيه أمثلة ثانية؟</a:t>
            </a:r>
            <a:endParaRPr lang="ar-SA" sz="60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وين موجود الـ</a:t>
            </a:r>
            <a:r>
              <a:rPr lang="en-US" alt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ar-SA" alt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بحياتنا بس ما قد سميناه </a:t>
            </a:r>
            <a:r>
              <a:rPr lang="en-US" alt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ar-SA" alt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</a:t>
            </a:r>
            <a:endParaRPr lang="ar-SA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ar-SA" altLang="en-US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جربوا </a:t>
            </a:r>
            <a:r>
              <a:rPr lang="ar-SA" altLang="en-US" sz="18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حتى لو ما تعرفون إذا </a:t>
            </a:r>
            <a:r>
              <a:rPr lang="en-US" altLang="en-US" sz="18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ar-SA" altLang="en-US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يعتبر“</a:t>
            </a:r>
            <a:r>
              <a:rPr lang="en-US" altLang="en-US" sz="18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</a:t>
            </a:r>
            <a:r>
              <a:rPr lang="ar-SA" altLang="en-US" sz="18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او لا  </a:t>
            </a:r>
            <a:endParaRPr lang="ar-SA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64008" cy="6400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55680" y="2286000"/>
            <a:ext cx="82296" cy="82296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64592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9260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الجولة السريعة ⚡</a:t>
            </a:r>
            <a:endParaRPr lang="ar-SA" sz="5000" dirty="0"/>
          </a:p>
        </p:txBody>
      </p:sp>
      <p:sp>
        <p:nvSpPr>
          <p:cNvPr id="12" name="Text 9"/>
          <p:cNvSpPr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١٠ أمثلة</a:t>
            </a:r>
            <a:endParaRPr lang="ar-SA" sz="2800" dirty="0"/>
          </a:p>
        </p:txBody>
      </p:sp>
      <p:sp>
        <p:nvSpPr>
          <p:cNvPr id="13" name="Text 10"/>
          <p:cNvSpPr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استعدوا...</a:t>
            </a:r>
            <a:endParaRPr lang="ar-SA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I People: Announcing the next evolution of gaming AI NPCs | GoodAI">
            <a:extLst>
              <a:ext uri="{FF2B5EF4-FFF2-40B4-BE49-F238E27FC236}">
                <a16:creationId xmlns:a16="http://schemas.microsoft.com/office/drawing/2014/main" id="{61A95BA1-1BCA-6C58-34EE-A4BBA3E98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56943"/>
            <a:ext cx="4036291" cy="227041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193495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شخصيات الكمبيوتر بالألعاب (NPCs)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يتحركون وكأن عندهم مخ صغير !</a:t>
            </a:r>
            <a:endParaRPr lang="ar-SA" sz="2600" dirty="0"/>
          </a:p>
        </p:txBody>
      </p:sp>
      <p:pic>
        <p:nvPicPr>
          <p:cNvPr id="2052" name="Picture 4" descr="15 Best Video Game NPCs Ever | Den of Geek">
            <a:extLst>
              <a:ext uri="{FF2B5EF4-FFF2-40B4-BE49-F238E27FC236}">
                <a16:creationId xmlns:a16="http://schemas.microsoft.com/office/drawing/2014/main" id="{7CBA8F30-EF82-6E54-CD10-A74F27DCE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308" y="982621"/>
            <a:ext cx="3793329" cy="2819057"/>
          </a:xfrm>
          <a:prstGeom prst="rect">
            <a:avLst/>
          </a:prstGeom>
          <a:noFill/>
          <a:effectLst>
            <a:softEdge rad="457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810392" y="4048483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16E2F5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844703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 pages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16E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ar-SA" altLang="en-US" sz="2600" i="1" dirty="0" err="1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</a:t>
            </a: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بس تيك توك، </a:t>
            </a:r>
            <a:r>
              <a:rPr lang="ar-SA" altLang="en-US" sz="2600" i="1" dirty="0" err="1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انستقرام</a:t>
            </a: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او تويتر أيضا</a:t>
            </a:r>
            <a:endParaRPr lang="ar-SA" sz="2600" dirty="0"/>
          </a:p>
        </p:txBody>
      </p:sp>
      <p:pic>
        <p:nvPicPr>
          <p:cNvPr id="3074" name="Picture 2" descr="How to Get on the TikTok For You Page? | 10 tips to try in 2023">
            <a:extLst>
              <a:ext uri="{FF2B5EF4-FFF2-40B4-BE49-F238E27FC236}">
                <a16:creationId xmlns:a16="http://schemas.microsoft.com/office/drawing/2014/main" id="{AB3D074F-BC59-7CF5-517F-4605062DE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6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566" y="552190"/>
            <a:ext cx="2130933" cy="4005932"/>
          </a:xfrm>
          <a:prstGeom prst="rect">
            <a:avLst/>
          </a:prstGeom>
          <a:noFill/>
          <a:effectLst>
            <a:softEdge rad="2921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For You Page (@fyp) • Instagram photos and videos">
            <a:extLst>
              <a:ext uri="{FF2B5EF4-FFF2-40B4-BE49-F238E27FC236}">
                <a16:creationId xmlns:a16="http://schemas.microsoft.com/office/drawing/2014/main" id="{700E0E8C-EE07-98EA-54FC-B54AC23D1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4309" y="1305877"/>
            <a:ext cx="2143125" cy="2143125"/>
          </a:xfrm>
          <a:prstGeom prst="rect">
            <a:avLst/>
          </a:prstGeom>
          <a:noFill/>
          <a:effectLst>
            <a:softEdge rad="190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184371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فيه طلبات كثيرة، موصلين كثير، وين نبدأ ولمين؟</a:t>
            </a:r>
          </a:p>
          <a:p>
            <a:pPr marL="0" indent="0" algn="ctr">
              <a:buNone/>
            </a:pPr>
            <a:r>
              <a:rPr lang="en-US" sz="2600" i="1" dirty="0">
                <a:solidFill>
                  <a:srgbClr val="FFD93D"/>
                </a:solidFill>
                <a:latin typeface="Calibri" pitchFamily="34" charset="0"/>
              </a:rPr>
              <a:t>&lt;Traveling salesman problem&gt;</a:t>
            </a:r>
            <a:endParaRPr lang="ar-SA" sz="2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9AEACD-8651-DC57-ABD5-059CFA0E5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8000"/>
                    </a14:imgEffect>
                    <a14:imgEffect>
                      <a14:brightnessContrast brigh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20" y="1329423"/>
            <a:ext cx="3389838" cy="2465337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4102" name="Picture 6" descr="Just Passing Through">
            <a:extLst>
              <a:ext uri="{FF2B5EF4-FFF2-40B4-BE49-F238E27FC236}">
                <a16:creationId xmlns:a16="http://schemas.microsoft.com/office/drawing/2014/main" id="{E744E659-C689-4F59-548C-89F55EE8C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520" y="1329423"/>
            <a:ext cx="4295807" cy="2183245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61927" y="6491316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E9456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فلاتر Snapchat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يلحق وجهك بالفلتر..؟</a:t>
            </a:r>
            <a:endParaRPr lang="ar-SA" sz="2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431014-86F6-256A-AB7D-BD38B0B592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54000" contrast="-1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384" y="640080"/>
            <a:ext cx="3130388" cy="4521193"/>
          </a:xfrm>
          <a:prstGeom prst="rect">
            <a:avLst/>
          </a:prstGeom>
          <a:effectLst>
            <a:softEdge rad="4445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DB1864-2D73-B363-CD43-C2D59EA679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61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44748" y="772153"/>
            <a:ext cx="2796497" cy="4389120"/>
          </a:xfrm>
          <a:prstGeom prst="rect">
            <a:avLst/>
          </a:prstGeom>
          <a:effectLst>
            <a:softEdge rad="635000"/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52291" y="6490393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99964" y="4761992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E9456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كاميرا جوالك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sz="2600" i="1" dirty="0">
                <a:solidFill>
                  <a:srgbClr val="FFD93D"/>
                </a:solidFill>
                <a:latin typeface="Calibri" pitchFamily="34" charset="0"/>
              </a:rPr>
              <a:t>يسوي فوكس بنفسه، يغير الإضاءة من نفسه..</a:t>
            </a:r>
            <a:endParaRPr lang="ar-SA" sz="2600" dirty="0"/>
          </a:p>
        </p:txBody>
      </p:sp>
      <p:pic>
        <p:nvPicPr>
          <p:cNvPr id="5122" name="Picture 2" descr="The Future Of Smartphone Cameras Is AI">
            <a:extLst>
              <a:ext uri="{FF2B5EF4-FFF2-40B4-BE49-F238E27FC236}">
                <a16:creationId xmlns:a16="http://schemas.microsoft.com/office/drawing/2014/main" id="{8B9F670F-D2CD-3A11-F4A4-A6571A41A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1" y="1405266"/>
            <a:ext cx="4070095" cy="2575607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No supply pangs for smartphone camera resolution yet: Report - The Siasat  Daily – Archive">
            <a:extLst>
              <a:ext uri="{FF2B5EF4-FFF2-40B4-BE49-F238E27FC236}">
                <a16:creationId xmlns:a16="http://schemas.microsoft.com/office/drawing/2014/main" id="{8AB53B6E-ADBA-1009-3D41-982611D9B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37000" contrast="2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784" y="1124712"/>
            <a:ext cx="3633216" cy="2724912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ساهر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كاميرة تشوف لوحتك وتقرأه</a:t>
            </a:r>
            <a:endParaRPr lang="ar-SA" sz="2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EB5CE4-8859-4FAF-43C7-2922C3B96E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8000" contrast="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3542" y="1114508"/>
            <a:ext cx="4388150" cy="2725972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6148" name="Picture 4" descr="هل زادت مخالفات المرور بعد تطبيق &quot;ساهر&quot;؟">
            <a:extLst>
              <a:ext uri="{FF2B5EF4-FFF2-40B4-BE49-F238E27FC236}">
                <a16:creationId xmlns:a16="http://schemas.microsoft.com/office/drawing/2014/main" id="{5DE651E4-A29B-0465-6325-CBDF7A7B1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51000" contrast="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787" y="1325880"/>
            <a:ext cx="4281671" cy="2404872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Configure Microsoft Word's Spell Check and Autocorrect | Laptop Mag">
            <a:extLst>
              <a:ext uri="{FF2B5EF4-FFF2-40B4-BE49-F238E27FC236}">
                <a16:creationId xmlns:a16="http://schemas.microsoft.com/office/drawing/2014/main" id="{10AF9E64-53E3-1839-8E63-F360C637F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3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37" y="1505793"/>
            <a:ext cx="3955267" cy="19894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457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16E2F5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التدقيق الإملائي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16E2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يعرف إنك اخطئت، ويعطيك اقتراحات إصلاح !</a:t>
            </a:r>
            <a:endParaRPr lang="ar-SA" sz="2600" dirty="0"/>
          </a:p>
        </p:txBody>
      </p:sp>
      <p:pic>
        <p:nvPicPr>
          <p:cNvPr id="1028" name="Picture 4" descr="Spell Checker">
            <a:extLst>
              <a:ext uri="{FF2B5EF4-FFF2-40B4-BE49-F238E27FC236}">
                <a16:creationId xmlns:a16="http://schemas.microsoft.com/office/drawing/2014/main" id="{B962FE72-67D0-5469-EFEB-5AD77B3EF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868" y="1414353"/>
            <a:ext cx="3977153" cy="2169356"/>
          </a:xfrm>
          <a:prstGeom prst="rect">
            <a:avLst/>
          </a:prstGeom>
          <a:noFill/>
          <a:effectLst>
            <a:softEdge rad="723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57169" y="5532392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FFD93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أشخاص قد تعرفهم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كيف عرف؟؟!!"</a:t>
            </a:r>
            <a:endParaRPr lang="ar-SA" sz="2600" dirty="0"/>
          </a:p>
        </p:txBody>
      </p:sp>
      <p:pic>
        <p:nvPicPr>
          <p:cNvPr id="7170" name="Picture 2" descr="People you may know : r/TikTok">
            <a:extLst>
              <a:ext uri="{FF2B5EF4-FFF2-40B4-BE49-F238E27FC236}">
                <a16:creationId xmlns:a16="http://schemas.microsoft.com/office/drawing/2014/main" id="{260B9CD7-AC64-1DD7-FE20-0C78C7A3E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6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67" y="599362"/>
            <a:ext cx="3369137" cy="3574443"/>
          </a:xfrm>
          <a:prstGeom prst="rect">
            <a:avLst/>
          </a:prstGeom>
          <a:noFill/>
          <a:effectLst>
            <a:softEdge rad="4572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why are these accounts popping up in my people you may know. it's driving  me crazy 😭 : r/facebook">
            <a:extLst>
              <a:ext uri="{FF2B5EF4-FFF2-40B4-BE49-F238E27FC236}">
                <a16:creationId xmlns:a16="http://schemas.microsoft.com/office/drawing/2014/main" id="{64DE3652-DA75-0F2D-83F8-7F2AAE9B2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8000" contras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355" y="329184"/>
            <a:ext cx="1901190" cy="4114800"/>
          </a:xfrm>
          <a:prstGeom prst="rect">
            <a:avLst/>
          </a:prstGeom>
          <a:noFill/>
          <a:effectLst>
            <a:softEdge rad="444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E9456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السيارات ذاتية القيادة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تشوف، تفكر، تقرر... دون سائق!</a:t>
            </a:r>
            <a:endParaRPr lang="ar-SA" sz="2600" dirty="0"/>
          </a:p>
        </p:txBody>
      </p:sp>
      <p:pic>
        <p:nvPicPr>
          <p:cNvPr id="8194" name="Picture 2" descr="5 Top Self-Driving Car Manufacturers | Wagner Reese, LLP">
            <a:extLst>
              <a:ext uri="{FF2B5EF4-FFF2-40B4-BE49-F238E27FC236}">
                <a16:creationId xmlns:a16="http://schemas.microsoft.com/office/drawing/2014/main" id="{60B68DA4-AB3E-D4C1-D7B4-85450BAB0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1" y="1153085"/>
            <a:ext cx="3589482" cy="2458795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Self-Driving Cars &amp; Pedestrian Safety">
            <a:extLst>
              <a:ext uri="{FF2B5EF4-FFF2-40B4-BE49-F238E27FC236}">
                <a16:creationId xmlns:a16="http://schemas.microsoft.com/office/drawing/2014/main" id="{395C5F79-D944-B373-72F2-454D9B68F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688" y="1289113"/>
            <a:ext cx="3868352" cy="2176653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18304" y="1005840"/>
            <a:ext cx="2743200" cy="2743200"/>
          </a:xfrm>
          <a:prstGeom prst="ellipse">
            <a:avLst/>
          </a:prstGeom>
          <a:solidFill>
            <a:srgbClr val="1A1A2E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92024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233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أعداء الألعاب</a:t>
            </a:r>
            <a:endParaRPr lang="ar-SA" sz="5200" dirty="0"/>
          </a:p>
        </p:txBody>
      </p:sp>
      <p:sp>
        <p:nvSpPr>
          <p:cNvPr id="11" name="Shape 8"/>
          <p:cNvSpPr/>
          <p:nvPr/>
        </p:nvSpPr>
        <p:spPr>
          <a:xfrm>
            <a:off x="5029200" y="4937760"/>
            <a:ext cx="2103120" cy="0"/>
          </a:xfrm>
          <a:prstGeom prst="line">
            <a:avLst/>
          </a:prstGeom>
          <a:noFill/>
          <a:ln w="508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26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العدو في FIFA يتطور كل سنة؟</a:t>
            </a:r>
            <a:endParaRPr lang="ar-SA" sz="2600" dirty="0"/>
          </a:p>
        </p:txBody>
      </p:sp>
      <p:pic>
        <p:nvPicPr>
          <p:cNvPr id="9218" name="Picture 2" descr="10 Best Video Game Enemies of All Time (That Aren't Bosses)">
            <a:extLst>
              <a:ext uri="{FF2B5EF4-FFF2-40B4-BE49-F238E27FC236}">
                <a16:creationId xmlns:a16="http://schemas.microsoft.com/office/drawing/2014/main" id="{8ACD01ED-0708-7919-5EF4-28BB07452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5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170" y="1330945"/>
            <a:ext cx="3720870" cy="2092989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EA SPORTS FC 26_20260412173623">
            <a:extLst>
              <a:ext uri="{FF2B5EF4-FFF2-40B4-BE49-F238E27FC236}">
                <a16:creationId xmlns:a16="http://schemas.microsoft.com/office/drawing/2014/main" id="{6BF4747D-01E2-4F23-3C93-CC608B3DF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5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16" y="1243792"/>
            <a:ext cx="4331855" cy="2436668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هبد:</a:t>
            </a:r>
            <a:endParaRPr lang="ar-SA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F4F4F8"/>
          </a:solidFill>
          <a:ln w="381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146304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3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ar-SA" alt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الذكاء الاصطناعي طلع في 2022</a:t>
            </a:r>
            <a:endParaRPr lang="ar-SA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الحقيقة 👇</a:t>
            </a:r>
            <a:endParaRPr lang="ar-SA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3566160"/>
            <a:ext cx="9418320" cy="13716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  <a:effectLst>
            <a:outerShdw blurRad="1905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356616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3600" b="1" dirty="0">
                <a:solidFill>
                  <a:srgbClr val="1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ar-SA" alt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عمره أكثر من </a:t>
            </a:r>
            <a:r>
              <a:rPr lang="ar-SA" altLang="en-US" sz="3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٧٥ سنة!</a:t>
            </a:r>
            <a:endParaRPr lang="ar-SA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4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خلونا نشوف الجدول الزمني... 🕰️</a:t>
            </a:r>
            <a:endParaRPr lang="ar-SA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رحلة الـ</a:t>
            </a:r>
            <a:r>
              <a:rPr lang="en-US" alt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ar-SA" alt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عبر الزمن</a:t>
            </a:r>
            <a:endParaRPr lang="ar-SA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3429000"/>
            <a:ext cx="10698480" cy="0"/>
          </a:xfrm>
          <a:prstGeom prst="line">
            <a:avLst/>
          </a:prstGeom>
          <a:noFill/>
          <a:ln w="508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08760" y="3246120"/>
            <a:ext cx="365760" cy="365760"/>
          </a:xfrm>
          <a:prstGeom prst="ellipse">
            <a:avLst/>
          </a:prstGeom>
          <a:solidFill>
            <a:srgbClr val="E9456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531622"/>
            <a:ext cx="1920240" cy="1485898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/>
          <a:effectLst>
            <a:outerShdw blurRad="1270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033545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سؤال </a:t>
            </a:r>
            <a:r>
              <a:rPr lang="en-US" alt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</a:t>
            </a:r>
            <a:endParaRPr lang="ar-SA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99305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ar-SA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"هل تستطيع الآلات أن تفكر؟"</a:t>
            </a:r>
            <a:endParaRPr lang="ar-SA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3017520"/>
            <a:ext cx="0" cy="36576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3246120"/>
            <a:ext cx="365760" cy="365760"/>
          </a:xfrm>
          <a:prstGeom prst="ellipse">
            <a:avLst/>
          </a:prstGeom>
          <a:solidFill>
            <a:srgbClr val="E9456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28843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60320" y="4297680"/>
            <a:ext cx="1920240" cy="1417319"/>
          </a:xfrm>
          <a:prstGeom prst="roundRect">
            <a:avLst>
              <a:gd name="adj" fmla="val 5263"/>
            </a:avLst>
          </a:prstGeom>
          <a:solidFill>
            <a:srgbClr val="0F3460"/>
          </a:solidFill>
          <a:ln/>
          <a:effectLst>
            <a:outerShdw blurRad="1270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0" y="448453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06040" y="4896015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البداية</a:t>
            </a:r>
            <a:endParaRPr lang="ar-SA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5261775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مصطلح AI يولد رسمياً</a:t>
            </a:r>
            <a:endParaRPr lang="ar-SA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3611880"/>
            <a:ext cx="0" cy="64008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66360" y="3246120"/>
            <a:ext cx="365760" cy="365760"/>
          </a:xfrm>
          <a:prstGeom prst="ellipse">
            <a:avLst/>
          </a:prstGeom>
          <a:solidFill>
            <a:srgbClr val="E9456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89120" y="1531621"/>
            <a:ext cx="1920240" cy="1485899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/>
          <a:effectLst>
            <a:outerShdw blurRad="1270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0" y="17105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♟️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434840" y="20345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</a:t>
            </a:r>
            <a:endParaRPr lang="ar-SA" sz="1600" dirty="0"/>
          </a:p>
        </p:txBody>
      </p:sp>
      <p:sp>
        <p:nvSpPr>
          <p:cNvPr id="23" name="Text 21"/>
          <p:cNvSpPr/>
          <p:nvPr/>
        </p:nvSpPr>
        <p:spPr>
          <a:xfrm>
            <a:off x="4434840" y="24003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ar-SA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يهزم بطل العالم في الشطرنج</a:t>
            </a:r>
            <a:endParaRPr lang="ar-SA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3017520"/>
            <a:ext cx="0" cy="36576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95160" y="3246120"/>
            <a:ext cx="365760" cy="365760"/>
          </a:xfrm>
          <a:prstGeom prst="ellipse">
            <a:avLst/>
          </a:prstGeom>
          <a:solidFill>
            <a:srgbClr val="E9456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75120" y="2926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17920" y="4297679"/>
            <a:ext cx="1920240" cy="1417313"/>
          </a:xfrm>
          <a:prstGeom prst="roundRect">
            <a:avLst>
              <a:gd name="adj" fmla="val 5263"/>
            </a:avLst>
          </a:prstGeom>
          <a:solidFill>
            <a:srgbClr val="0F3460"/>
          </a:solidFill>
          <a:ln/>
          <a:effectLst>
            <a:outerShdw blurRad="1270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17920" y="4491491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63640" y="4831411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</a:t>
            </a:r>
            <a:endParaRPr lang="ar-SA" sz="1600" dirty="0"/>
          </a:p>
        </p:txBody>
      </p:sp>
      <p:sp>
        <p:nvSpPr>
          <p:cNvPr id="30" name="Text 28"/>
          <p:cNvSpPr/>
          <p:nvPr/>
        </p:nvSpPr>
        <p:spPr>
          <a:xfrm>
            <a:off x="6263640" y="5197171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يفوز في برنامج Jeopardy</a:t>
            </a:r>
            <a:endParaRPr lang="ar-SA" sz="1100" dirty="0"/>
          </a:p>
        </p:txBody>
      </p:sp>
      <p:sp>
        <p:nvSpPr>
          <p:cNvPr id="31" name="Shape 29"/>
          <p:cNvSpPr/>
          <p:nvPr/>
        </p:nvSpPr>
        <p:spPr>
          <a:xfrm>
            <a:off x="7178040" y="3611880"/>
            <a:ext cx="0" cy="64008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823960" y="3246120"/>
            <a:ext cx="365760" cy="365760"/>
          </a:xfrm>
          <a:prstGeom prst="ellipse">
            <a:avLst/>
          </a:prstGeom>
          <a:solidFill>
            <a:srgbClr val="E9456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03920" y="3749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046720" y="1531622"/>
            <a:ext cx="1920240" cy="1485898"/>
          </a:xfrm>
          <a:prstGeom prst="roundRect">
            <a:avLst>
              <a:gd name="adj" fmla="val 5263"/>
            </a:avLst>
          </a:prstGeom>
          <a:solidFill>
            <a:srgbClr val="1A1A2E"/>
          </a:solidFill>
          <a:ln/>
          <a:effectLst>
            <a:outerShdw blurRad="1270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04672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092440" y="20762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</a:t>
            </a:r>
            <a:endParaRPr lang="ar-SA" sz="1600" dirty="0"/>
          </a:p>
        </p:txBody>
      </p:sp>
      <p:sp>
        <p:nvSpPr>
          <p:cNvPr id="37" name="Text 35"/>
          <p:cNvSpPr/>
          <p:nvPr/>
        </p:nvSpPr>
        <p:spPr>
          <a:xfrm>
            <a:off x="8092440" y="244204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يهزم بطل العالم في لعبة </a:t>
            </a:r>
            <a:r>
              <a:rPr lang="ar-SA" alt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ar-SA" sz="1100" dirty="0"/>
          </a:p>
        </p:txBody>
      </p:sp>
      <p:sp>
        <p:nvSpPr>
          <p:cNvPr id="38" name="Shape 36"/>
          <p:cNvSpPr/>
          <p:nvPr/>
        </p:nvSpPr>
        <p:spPr>
          <a:xfrm>
            <a:off x="9006840" y="3017520"/>
            <a:ext cx="0" cy="36576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652760" y="3246120"/>
            <a:ext cx="365760" cy="365760"/>
          </a:xfrm>
          <a:prstGeom prst="ellipse">
            <a:avLst/>
          </a:prstGeom>
          <a:solidFill>
            <a:srgbClr val="E9456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332720" y="28843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875520" y="4297680"/>
            <a:ext cx="1920240" cy="1417320"/>
          </a:xfrm>
          <a:prstGeom prst="roundRect">
            <a:avLst>
              <a:gd name="adj" fmla="val 5263"/>
            </a:avLst>
          </a:prstGeom>
          <a:solidFill>
            <a:srgbClr val="0F3460"/>
          </a:solidFill>
          <a:ln/>
          <a:effectLst>
            <a:outerShdw blurRad="1270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875520" y="4439811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92124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ar-SA" sz="1600" dirty="0"/>
          </a:p>
        </p:txBody>
      </p:sp>
      <p:sp>
        <p:nvSpPr>
          <p:cNvPr id="44" name="Text 42"/>
          <p:cNvSpPr/>
          <p:nvPr/>
        </p:nvSpPr>
        <p:spPr>
          <a:xfrm>
            <a:off x="9921240" y="5166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ar-SA" alt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١٠٠ مليون مستخدم في شهرين!</a:t>
            </a:r>
          </a:p>
          <a:p>
            <a:pPr algn="ctr">
              <a:lnSpc>
                <a:spcPct val="150000"/>
              </a:lnSpc>
            </a:pPr>
            <a:r>
              <a:rPr lang="ar-SA" alt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الكل صار يعرفه</a:t>
            </a:r>
          </a:p>
        </p:txBody>
      </p:sp>
      <p:sp>
        <p:nvSpPr>
          <p:cNvPr id="45" name="Shape 43"/>
          <p:cNvSpPr/>
          <p:nvPr/>
        </p:nvSpPr>
        <p:spPr>
          <a:xfrm>
            <a:off x="10835640" y="3611880"/>
            <a:ext cx="0" cy="64008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80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٧٥ سنة من العمل قبل لحظة الانفجار!</a:t>
            </a:r>
            <a:endParaRPr lang="ar-SA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64008" cy="6400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55680" y="2286000"/>
            <a:ext cx="82296" cy="82296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914400"/>
            <a:ext cx="1828800" cy="1828800"/>
          </a:xfrm>
          <a:prstGeom prst="ellipse">
            <a:avLst/>
          </a:prstGeom>
          <a:solidFill>
            <a:srgbClr val="E945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0" y="4114800"/>
            <a:ext cx="2286000" cy="2286000"/>
          </a:xfrm>
          <a:prstGeom prst="ellipse">
            <a:avLst/>
          </a:prstGeom>
          <a:solidFill>
            <a:srgbClr val="FFD93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السؤال الأهم</a:t>
            </a:r>
            <a:endParaRPr lang="ar-SA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ليش انفجر الـ AI</a:t>
            </a:r>
            <a:endParaRPr lang="ar-SA" sz="52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تحديداً في 2022؟ 💥</a:t>
            </a:r>
            <a:endParaRPr lang="ar-SA" sz="5200" dirty="0"/>
          </a:p>
        </p:txBody>
      </p:sp>
      <p:sp>
        <p:nvSpPr>
          <p:cNvPr id="15" name="Shape 13"/>
          <p:cNvSpPr/>
          <p:nvPr/>
        </p:nvSpPr>
        <p:spPr>
          <a:xfrm>
            <a:off x="2743200" y="4206240"/>
            <a:ext cx="6675120" cy="1371600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D93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0" y="420624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مين يحاول يجاوب؟</a:t>
            </a:r>
          </a:p>
          <a:p>
            <a:pPr marL="0" indent="0" algn="ctr" rtl="1">
              <a:buNone/>
            </a:pPr>
            <a:r>
              <a:rPr lang="ar-SA" dirty="0">
                <a:solidFill>
                  <a:srgbClr val="FFFFFF"/>
                </a:solidFill>
                <a:latin typeface="Calibri" pitchFamily="34" charset="0"/>
              </a:rPr>
              <a:t>ليه </a:t>
            </a:r>
            <a:r>
              <a:rPr lang="ar-SA" dirty="0" err="1">
                <a:solidFill>
                  <a:srgbClr val="FFFFFF"/>
                </a:solidFill>
                <a:latin typeface="Calibri" pitchFamily="34" charset="0"/>
              </a:rPr>
              <a:t>مو</a:t>
            </a:r>
            <a:r>
              <a:rPr lang="ar-SA" dirty="0">
                <a:solidFill>
                  <a:srgbClr val="FFFFFF"/>
                </a:solidFill>
                <a:latin typeface="Calibri" pitchFamily="34" charset="0"/>
              </a:rPr>
              <a:t> من الثمانينات عندنا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</a:rPr>
              <a:t>ChatGPT</a:t>
            </a:r>
            <a:r>
              <a:rPr lang="ar-SA" dirty="0">
                <a:solidFill>
                  <a:srgbClr val="FFFFFF"/>
                </a:solidFill>
                <a:latin typeface="Calibri" pitchFamily="34" charset="0"/>
              </a:rPr>
              <a:t>؟</a:t>
            </a:r>
            <a:endParaRPr lang="ar-SA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600" i="1" dirty="0">
                <a:solidFill>
                  <a:srgbClr val="8B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(الإجابة في الشريحة الجاية!)</a:t>
            </a:r>
            <a:endParaRPr lang="ar-SA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الوصفة السحرية لانفجار سنة 2022</a:t>
            </a:r>
            <a:endParaRPr lang="ar-SA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800" i="1" dirty="0">
                <a:solidFill>
                  <a:srgbClr val="8B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ثلاثة عناصر اجتمعت في وقت واحد</a:t>
            </a:r>
            <a:endParaRPr lang="ar-SA" sz="1800" dirty="0"/>
          </a:p>
        </p:txBody>
      </p:sp>
      <p:sp>
        <p:nvSpPr>
          <p:cNvPr id="4" name="Shape 2"/>
          <p:cNvSpPr/>
          <p:nvPr/>
        </p:nvSpPr>
        <p:spPr>
          <a:xfrm>
            <a:off x="623455" y="1737360"/>
            <a:ext cx="3325091" cy="3931920"/>
          </a:xfrm>
          <a:prstGeom prst="roundRect">
            <a:avLst>
              <a:gd name="adj" fmla="val 3750"/>
            </a:avLst>
          </a:prstGeom>
          <a:solidFill>
            <a:srgbClr val="E94560"/>
          </a:solidFill>
          <a:ln/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95055" y="1874520"/>
            <a:ext cx="581891" cy="640080"/>
          </a:xfrm>
          <a:prstGeom prst="ellipse">
            <a:avLst/>
          </a:pr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95055" y="1874520"/>
            <a:ext cx="5818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364" y="2739044"/>
            <a:ext cx="831273" cy="831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6582" y="3749040"/>
            <a:ext cx="3158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البيانات</a:t>
            </a:r>
            <a:endParaRPr lang="ar-SA" sz="2200" dirty="0"/>
          </a:p>
        </p:txBody>
      </p:sp>
      <p:sp>
        <p:nvSpPr>
          <p:cNvPr id="9" name="Text 6"/>
          <p:cNvSpPr/>
          <p:nvPr/>
        </p:nvSpPr>
        <p:spPr>
          <a:xfrm>
            <a:off x="706582" y="4206240"/>
            <a:ext cx="3158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6582" y="4663440"/>
            <a:ext cx="3158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الإنترنت صار عملاق!</a:t>
            </a:r>
            <a:endParaRPr lang="ar-SA" sz="1400" dirty="0"/>
          </a:p>
        </p:txBody>
      </p:sp>
      <p:sp>
        <p:nvSpPr>
          <p:cNvPr id="11" name="Text 8"/>
          <p:cNvSpPr/>
          <p:nvPr/>
        </p:nvSpPr>
        <p:spPr>
          <a:xfrm>
            <a:off x="706582" y="5029200"/>
            <a:ext cx="3158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تريليونات الكلمات والصور</a:t>
            </a:r>
            <a:endParaRPr lang="ar-SA" sz="1200" dirty="0"/>
          </a:p>
        </p:txBody>
      </p:sp>
      <p:sp>
        <p:nvSpPr>
          <p:cNvPr id="12" name="Shape 9"/>
          <p:cNvSpPr/>
          <p:nvPr/>
        </p:nvSpPr>
        <p:spPr>
          <a:xfrm>
            <a:off x="4527943" y="1737360"/>
            <a:ext cx="3325091" cy="3931920"/>
          </a:xfrm>
          <a:prstGeom prst="roundRect">
            <a:avLst>
              <a:gd name="adj" fmla="val 3750"/>
            </a:avLst>
          </a:prstGeom>
          <a:solidFill>
            <a:srgbClr val="0F3460"/>
          </a:solidFill>
          <a:ln/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99543" y="1874520"/>
            <a:ext cx="581891" cy="640080"/>
          </a:xfrm>
          <a:prstGeom prst="ellipse">
            <a:avLst/>
          </a:pr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99543" y="1874520"/>
            <a:ext cx="5818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</a:t>
            </a:r>
            <a:endParaRPr lang="en-US" sz="2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852" y="2739044"/>
            <a:ext cx="831273" cy="83127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1070" y="3749040"/>
            <a:ext cx="3158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القوة الحاسوبية</a:t>
            </a:r>
            <a:endParaRPr lang="ar-SA" sz="2200" dirty="0"/>
          </a:p>
        </p:txBody>
      </p:sp>
      <p:sp>
        <p:nvSpPr>
          <p:cNvPr id="17" name="Text 13"/>
          <p:cNvSpPr/>
          <p:nvPr/>
        </p:nvSpPr>
        <p:spPr>
          <a:xfrm>
            <a:off x="4611070" y="4206240"/>
            <a:ext cx="3158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611070" y="4663440"/>
            <a:ext cx="3158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كروت الشاشة والمعالجات</a:t>
            </a:r>
            <a:endParaRPr lang="ar-SA" sz="1400" dirty="0"/>
          </a:p>
        </p:txBody>
      </p:sp>
      <p:sp>
        <p:nvSpPr>
          <p:cNvPr id="19" name="Text 15"/>
          <p:cNvSpPr/>
          <p:nvPr/>
        </p:nvSpPr>
        <p:spPr>
          <a:xfrm>
            <a:off x="4611070" y="5029200"/>
            <a:ext cx="3158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أقوى ٢٠٠ مرة من قبل</a:t>
            </a:r>
            <a:endParaRPr lang="ar-SA" sz="1200" dirty="0"/>
          </a:p>
        </p:txBody>
      </p:sp>
      <p:sp>
        <p:nvSpPr>
          <p:cNvPr id="20" name="Shape 16"/>
          <p:cNvSpPr/>
          <p:nvPr/>
        </p:nvSpPr>
        <p:spPr>
          <a:xfrm>
            <a:off x="8432431" y="1737360"/>
            <a:ext cx="3325091" cy="3931920"/>
          </a:xfrm>
          <a:prstGeom prst="roundRect">
            <a:avLst>
              <a:gd name="adj" fmla="val 3750"/>
            </a:avLst>
          </a:prstGeom>
          <a:solidFill>
            <a:srgbClr val="1A1A2E"/>
          </a:solidFill>
          <a:ln/>
          <a:effectLst>
            <a:outerShdw blurRad="152400" dist="508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804031" y="1874520"/>
            <a:ext cx="581891" cy="640080"/>
          </a:xfrm>
          <a:prstGeom prst="ellipse">
            <a:avLst/>
          </a:prstGeom>
          <a:solidFill>
            <a:srgbClr val="FFD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9804031" y="1874520"/>
            <a:ext cx="5818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</a:t>
            </a:r>
            <a:endParaRPr lang="en-US" sz="2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9340" y="2739044"/>
            <a:ext cx="831273" cy="83127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15558" y="3749040"/>
            <a:ext cx="31588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اختراق تقني</a:t>
            </a:r>
            <a:endParaRPr lang="ar-SA" sz="2200" dirty="0"/>
          </a:p>
        </p:txBody>
      </p:sp>
      <p:sp>
        <p:nvSpPr>
          <p:cNvPr id="25" name="Text 20"/>
          <p:cNvSpPr/>
          <p:nvPr/>
        </p:nvSpPr>
        <p:spPr>
          <a:xfrm>
            <a:off x="8515558" y="4206240"/>
            <a:ext cx="3158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515558" y="4663440"/>
            <a:ext cx="3158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اختراعات تقنية كثيرة..</a:t>
            </a:r>
            <a:endParaRPr lang="ar-SA" sz="1400" dirty="0"/>
          </a:p>
        </p:txBody>
      </p:sp>
      <p:sp>
        <p:nvSpPr>
          <p:cNvPr id="27" name="Text 22"/>
          <p:cNvSpPr/>
          <p:nvPr/>
        </p:nvSpPr>
        <p:spPr>
          <a:xfrm>
            <a:off x="8515558" y="5029200"/>
            <a:ext cx="31588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بالخصوص الـ</a:t>
            </a:r>
            <a:r>
              <a:rPr lang="en-US" alt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(2017)</a:t>
            </a:r>
            <a:endParaRPr lang="ar-SA" sz="1200" dirty="0"/>
          </a:p>
        </p:txBody>
      </p:sp>
      <p:sp>
        <p:nvSpPr>
          <p:cNvPr id="28" name="Text 23"/>
          <p:cNvSpPr/>
          <p:nvPr/>
        </p:nvSpPr>
        <p:spPr>
          <a:xfrm>
            <a:off x="968433" y="5943600"/>
            <a:ext cx="10224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+  Compute  +  Transformers  =  </a:t>
            </a: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64008" cy="6400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55680" y="2286000"/>
            <a:ext cx="82296" cy="82296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09728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السؤال الكبير</a:t>
            </a:r>
            <a:endParaRPr lang="ar-SA" sz="2400" dirty="0"/>
          </a:p>
        </p:txBody>
      </p:sp>
      <p:sp>
        <p:nvSpPr>
          <p:cNvPr id="12" name="Text 9"/>
          <p:cNvSpPr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نُعلِّم الآلة؟</a:t>
            </a:r>
            <a:endParaRPr lang="ar-SA" sz="6400" dirty="0"/>
          </a:p>
        </p:txBody>
      </p:sp>
      <p:sp>
        <p:nvSpPr>
          <p:cNvPr id="13" name="Shape 10"/>
          <p:cNvSpPr/>
          <p:nvPr/>
        </p:nvSpPr>
        <p:spPr>
          <a:xfrm>
            <a:off x="5029200" y="4297680"/>
            <a:ext cx="2103120" cy="0"/>
          </a:xfrm>
          <a:prstGeom prst="line">
            <a:avLst/>
          </a:prstGeom>
          <a:noFill/>
          <a:ln w="508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بنفس طريقة تعليم الأطفال... تقريباً!</a:t>
            </a:r>
            <a:endParaRPr lang="ar-SA" sz="2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ar-SA" alt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تعليم طفل </a:t>
            </a:r>
            <a:r>
              <a:rPr lang="ar-SA" altLang="en-US" sz="36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r>
              <a:rPr lang="ar-SA" alt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تعليم الـ</a:t>
            </a:r>
            <a:r>
              <a:rPr lang="en-US" alt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ar-SA" alt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SA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8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نبي نعلمهم شكل </a:t>
            </a:r>
            <a:r>
              <a:rPr lang="ar-SA" altLang="en-US" sz="1800" i="1" dirty="0" err="1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القطوة</a:t>
            </a:r>
            <a:r>
              <a:rPr lang="ar-SA" altLang="en-US" sz="18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ar-SA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97680"/>
          </a:xfrm>
          <a:prstGeom prst="roundRect">
            <a:avLst>
              <a:gd name="adj" fmla="val 3191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الطفل</a:t>
            </a:r>
            <a:endParaRPr lang="ar-SA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alt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يشوف قطط كثيرة</a:t>
            </a:r>
            <a:endParaRPr lang="ar-SA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alt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الأهل يقولون: "قطة!"</a:t>
            </a:r>
            <a:endParaRPr lang="ar-SA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alt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يخطئ ويتعلم</a:t>
            </a:r>
            <a:endParaRPr lang="ar-SA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alt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التجربة = المعلم</a:t>
            </a:r>
            <a:endParaRPr lang="ar-SA" sz="18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212080" cy="4297680"/>
          </a:xfrm>
          <a:prstGeom prst="roundRect">
            <a:avLst>
              <a:gd name="adj" fmla="val 3191"/>
            </a:avLst>
          </a:prstGeom>
          <a:solidFill>
            <a:srgbClr val="1A1A2E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الآلة</a:t>
            </a:r>
            <a:endParaRPr lang="ar-SA" sz="2600" dirty="0"/>
          </a:p>
        </p:txBody>
      </p:sp>
      <p:sp>
        <p:nvSpPr>
          <p:cNvPr id="12" name="Text 10"/>
          <p:cNvSpPr/>
          <p:nvPr/>
        </p:nvSpPr>
        <p:spPr>
          <a:xfrm>
            <a:off x="6492240" y="25603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alt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يشوف الاف صور لقطط</a:t>
            </a:r>
            <a:endParaRPr lang="ar-SA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337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alt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حنا نحط اسم قطط على الصور</a:t>
            </a:r>
            <a:endParaRPr lang="ar-SA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alt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يخطئ، ونعلمه لين يتعلم</a:t>
            </a:r>
            <a:endParaRPr lang="ar-SA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892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alt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البيانات = المعلم</a:t>
            </a:r>
            <a:endParaRPr lang="ar-SA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البيانات = خبرة الآلة!</a:t>
            </a:r>
            <a:endParaRPr lang="ar-SA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945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D93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A1A2E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عملية:</a:t>
            </a:r>
            <a:endParaRPr lang="ar-SA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ar-SA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Teachable Machine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ar-SA" altLang="en-US" sz="28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موقع لتدريب النماذج من</a:t>
            </a:r>
            <a:r>
              <a:rPr lang="en-US" altLang="en-US" sz="28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SA" altLang="en-US" sz="2800" i="1" dirty="0" err="1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r>
              <a:rPr lang="en-US" altLang="en-US" sz="28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ar-SA" sz="2800" dirty="0"/>
          </a:p>
        </p:txBody>
      </p:sp>
      <p:sp>
        <p:nvSpPr>
          <p:cNvPr id="8" name="Shape 6"/>
          <p:cNvSpPr/>
          <p:nvPr/>
        </p:nvSpPr>
        <p:spPr>
          <a:xfrm>
            <a:off x="1371600" y="4114800"/>
            <a:ext cx="274320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4160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بدون كود</a:t>
            </a:r>
            <a:endParaRPr lang="ar-SA" sz="2000" dirty="0"/>
          </a:p>
        </p:txBody>
      </p:sp>
      <p:sp>
        <p:nvSpPr>
          <p:cNvPr id="11" name="Shape 9"/>
          <p:cNvSpPr/>
          <p:nvPr/>
        </p:nvSpPr>
        <p:spPr>
          <a:xfrm>
            <a:off x="4846320" y="4114800"/>
            <a:ext cx="274320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4160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B017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</a:t>
            </a:r>
            <a:endParaRPr lang="en-US" sz="2800" dirty="0">
              <a:solidFill>
                <a:srgbClr val="B0171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مجاناً</a:t>
            </a:r>
            <a:endParaRPr lang="ar-SA" sz="2000" dirty="0"/>
          </a:p>
        </p:txBody>
      </p:sp>
      <p:sp>
        <p:nvSpPr>
          <p:cNvPr id="14" name="Shape 12"/>
          <p:cNvSpPr/>
          <p:nvPr/>
        </p:nvSpPr>
        <p:spPr>
          <a:xfrm>
            <a:off x="8321040" y="4114800"/>
            <a:ext cx="274320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1040" y="4206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4000" b="1" dirty="0"/>
          </a:p>
        </p:txBody>
      </p:sp>
      <p:sp>
        <p:nvSpPr>
          <p:cNvPr id="16" name="Text 14"/>
          <p:cNvSpPr/>
          <p:nvPr/>
        </p:nvSpPr>
        <p:spPr>
          <a:xfrm>
            <a:off x="8321040" y="4709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ar-SA" alt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سريع !</a:t>
            </a:r>
            <a:endParaRPr lang="ar-SA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مهمّة اليوم</a:t>
            </a:r>
            <a:endParaRPr lang="ar-SA" sz="2200" dirty="0"/>
          </a:p>
        </p:txBody>
      </p:sp>
      <p:sp>
        <p:nvSpPr>
          <p:cNvPr id="3" name="Shape 1"/>
          <p:cNvSpPr/>
          <p:nvPr/>
        </p:nvSpPr>
        <p:spPr>
          <a:xfrm>
            <a:off x="4718304" y="1371600"/>
            <a:ext cx="2743200" cy="2743200"/>
          </a:xfrm>
          <a:prstGeom prst="ellipse">
            <a:avLst/>
          </a:prstGeom>
          <a:solidFill>
            <a:srgbClr val="E9456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175504" y="1828800"/>
            <a:ext cx="1828800" cy="1828800"/>
          </a:xfrm>
          <a:prstGeom prst="ellipse">
            <a:avLst/>
          </a:prstGeom>
          <a:solidFill>
            <a:srgbClr val="E9456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2860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نُعلِّم الآلة كلمة:</a:t>
            </a:r>
            <a:endParaRPr lang="ar-SA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5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"يا سيري!"</a:t>
            </a:r>
            <a:endParaRPr lang="ar-SA" sz="5600" dirty="0"/>
          </a:p>
        </p:txBody>
      </p:sp>
      <p:sp>
        <p:nvSpPr>
          <p:cNvPr id="8" name="Text 5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8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هل نقدر نخلي الآلة تميّز "يا سيري" بين الكلام الطبيعي الان؟</a:t>
            </a:r>
            <a:endParaRPr lang="ar-SA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٤ خطوات فقط!</a:t>
            </a:r>
            <a:endParaRPr lang="ar-SA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8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برمجة. لا تعقيد. متعة بحتة!</a:t>
            </a:r>
            <a:endParaRPr lang="ar-SA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E94560"/>
          </a:solidFill>
          <a:ln/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876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87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5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نسجّل</a:t>
            </a:r>
            <a:endParaRPr lang="ar-SA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"يا سيري"</a:t>
            </a:r>
            <a:endParaRPr lang="ar-SA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200" i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(المرحلة الأولى: تجميع البيانات)</a:t>
            </a:r>
            <a:endParaRPr lang="ar-SA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/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8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56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نسجّل</a:t>
            </a:r>
            <a:endParaRPr lang="ar-SA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4434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أصوات غير "يا سيري" </a:t>
            </a:r>
          </a:p>
          <a:p>
            <a:pPr marL="0" indent="0" algn="ctr">
              <a:buNone/>
            </a:pPr>
            <a:r>
              <a:rPr lang="ar-SA" sz="1400" b="1" dirty="0">
                <a:solidFill>
                  <a:srgbClr val="FFFFFF"/>
                </a:solidFill>
                <a:latin typeface="Calibri" pitchFamily="34" charset="0"/>
              </a:rPr>
              <a:t>عشان يميّز بينهم</a:t>
            </a:r>
            <a:endParaRPr lang="ar-SA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200" i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(المرحلة الأولى: تجميع البيانات)</a:t>
            </a:r>
            <a:endParaRPr lang="ar-SA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1A1A2E"/>
          </a:solidFill>
          <a:ln/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6092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609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936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56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ندرّب</a:t>
            </a:r>
            <a:endParaRPr lang="ar-SA" sz="2400" dirty="0"/>
          </a:p>
        </p:txBody>
      </p:sp>
      <p:sp>
        <p:nvSpPr>
          <p:cNvPr id="23" name="Text 21"/>
          <p:cNvSpPr/>
          <p:nvPr/>
        </p:nvSpPr>
        <p:spPr>
          <a:xfrm>
            <a:off x="6400800" y="4434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نضغط زر التدريب</a:t>
            </a:r>
            <a:endParaRPr lang="ar-SA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200" i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(المرحلة الثانية: التدريب)</a:t>
            </a:r>
            <a:endParaRPr lang="ar-SA" sz="1200" dirty="0"/>
          </a:p>
        </p:txBody>
      </p:sp>
      <p:sp>
        <p:nvSpPr>
          <p:cNvPr id="25" name="Shape 23"/>
          <p:cNvSpPr/>
          <p:nvPr/>
        </p:nvSpPr>
        <p:spPr>
          <a:xfrm>
            <a:off x="9235440" y="1828800"/>
            <a:ext cx="2743200" cy="4297680"/>
          </a:xfrm>
          <a:prstGeom prst="roundRect">
            <a:avLst>
              <a:gd name="adj" fmla="val 5000"/>
            </a:avLst>
          </a:prstGeom>
          <a:solidFill>
            <a:srgbClr val="FFD93D"/>
          </a:solidFill>
          <a:ln/>
          <a:effectLst>
            <a:outerShdw blurRad="1524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287000" y="2011680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2870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٤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23544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56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932688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نجرّبه!</a:t>
            </a:r>
            <a:endParaRPr lang="ar-SA" sz="2400" dirty="0"/>
          </a:p>
        </p:txBody>
      </p:sp>
      <p:sp>
        <p:nvSpPr>
          <p:cNvPr id="30" name="Text 28"/>
          <p:cNvSpPr/>
          <p:nvPr/>
        </p:nvSpPr>
        <p:spPr>
          <a:xfrm>
            <a:off x="9326880" y="4434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نتكلّم ونشوف النتيجة</a:t>
            </a:r>
            <a:endParaRPr lang="ar-SA" sz="1400" dirty="0"/>
          </a:p>
        </p:txBody>
      </p:sp>
      <p:sp>
        <p:nvSpPr>
          <p:cNvPr id="31" name="Text 29"/>
          <p:cNvSpPr/>
          <p:nvPr/>
        </p:nvSpPr>
        <p:spPr>
          <a:xfrm>
            <a:off x="9326880" y="5303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الـنموذج اكتمل !</a:t>
            </a:r>
            <a:endParaRPr lang="ar-SA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600" b="1" dirty="0">
                <a:solidFill>
                  <a:srgbClr val="8B8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ندرب اول نموذج ذكاء اصطناعي لنا !</a:t>
            </a:r>
            <a:endParaRPr lang="ar-SA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64008" cy="6400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55680" y="2286000"/>
            <a:ext cx="82296" cy="82296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91440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؟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1005840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؟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6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؟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10515600" y="5029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؟</a:t>
            </a:r>
            <a:endParaRPr lang="en-US" sz="4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645920"/>
            <a:ext cx="914400" cy="9144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ar-SA" alt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وقت الأسئلة! 🎤</a:t>
            </a:r>
            <a:endParaRPr lang="ar-SA" sz="5600" dirty="0"/>
          </a:p>
        </p:txBody>
      </p:sp>
      <p:sp>
        <p:nvSpPr>
          <p:cNvPr id="16" name="Text 13"/>
          <p:cNvSpPr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4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فيه شيء اسمه سؤال غبي ..</a:t>
            </a:r>
            <a:endParaRPr lang="ar-SA" sz="2400" dirty="0"/>
          </a:p>
        </p:txBody>
      </p:sp>
      <p:sp>
        <p:nvSpPr>
          <p:cNvPr id="17" name="Text 14"/>
          <p:cNvSpPr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 أسئلة محيّرة...</a:t>
            </a:r>
            <a:endParaRPr lang="ar-SA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أسئلة محيرة شوي... </a:t>
            </a:r>
            <a:endParaRPr lang="ar-SA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6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فيه إجابة صحيح وغلط بهذي المواضيع -</a:t>
            </a:r>
            <a:endParaRPr lang="ar-SA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4F8"/>
          </a:solidFill>
          <a:ln w="381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789920" y="1920240"/>
            <a:ext cx="731520" cy="73152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37360" y="16916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 الـ AI مستقبلًا صار يدرّس أحسن من المعلم - هل نلغي المعلمين عشان نضمن اعلى جودة تعليم للجيل القادم؟</a:t>
            </a:r>
            <a:endParaRPr lang="ar-SA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4F8"/>
          </a:solidFill>
          <a:ln w="381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789920" y="3474720"/>
            <a:ext cx="731520" cy="731520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737360" y="32461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خوارزمية AI رفضت طلب توظيف بسبب تحيّز. من المسؤول: المبرمج؟ الشركة؟ الـ AI؟</a:t>
            </a:r>
            <a:endParaRPr lang="ar-SA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4F8"/>
          </a:solidFill>
          <a:ln w="381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789920" y="5029200"/>
            <a:ext cx="731520" cy="731520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78992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737360" y="480060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alt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 ١٠ سنين، أي وظيفة تتوقع تختفي؟ وأي وظيفة جديدة بتظهر؟</a:t>
            </a:r>
            <a:endParaRPr lang="ar-SA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👂 من يبدأ النقاش؟</a:t>
            </a:r>
            <a:endParaRPr lang="ar-SA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0" y="6400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217920"/>
            <a:ext cx="109728" cy="10972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0" y="5943600"/>
            <a:ext cx="91440" cy="9144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3840480"/>
            <a:ext cx="73152" cy="73152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64008" cy="64008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55680" y="2286000"/>
            <a:ext cx="82296" cy="82296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9456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FFD93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0" y="-914400"/>
            <a:ext cx="2743200" cy="2743200"/>
          </a:xfrm>
          <a:prstGeom prst="ellipse">
            <a:avLst/>
          </a:prstGeom>
          <a:solidFill>
            <a:srgbClr val="16E2F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731520"/>
            <a:ext cx="914400" cy="914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1920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44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متعة الإبداع تنتظرك! 🚀</a:t>
            </a:r>
            <a:endParaRPr lang="ar-SA" sz="4400" dirty="0"/>
          </a:p>
        </p:txBody>
      </p:sp>
      <p:sp>
        <p:nvSpPr>
          <p:cNvPr id="15" name="Text 12"/>
          <p:cNvSpPr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أنت ممكن تبني</a:t>
            </a:r>
            <a:endParaRPr lang="ar-SA" sz="3600" dirty="0"/>
          </a:p>
        </p:txBody>
      </p:sp>
      <p:sp>
        <p:nvSpPr>
          <p:cNvPr id="16" name="Text 13"/>
          <p:cNvSpPr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ar-SA" altLang="en-US" sz="6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الجاي AI الـ</a:t>
            </a:r>
            <a:endParaRPr lang="ar-SA" sz="6000" dirty="0"/>
          </a:p>
        </p:txBody>
      </p:sp>
      <p:sp>
        <p:nvSpPr>
          <p:cNvPr id="17" name="Shape 14"/>
          <p:cNvSpPr/>
          <p:nvPr/>
        </p:nvSpPr>
        <p:spPr>
          <a:xfrm>
            <a:off x="4572000" y="4754880"/>
            <a:ext cx="3017520" cy="0"/>
          </a:xfrm>
          <a:prstGeom prst="line">
            <a:avLst/>
          </a:prstGeom>
          <a:noFill/>
          <a:ln w="381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صغير  •  جرّب  •  اكسر  •  ابنِ مرة ثانية</a:t>
            </a:r>
            <a:endParaRPr lang="ar-SA" sz="2000" dirty="0"/>
          </a:p>
        </p:txBody>
      </p:sp>
      <p:sp>
        <p:nvSpPr>
          <p:cNvPr id="19" name="Text 16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alt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شكراً لكم! 🙌</a:t>
            </a:r>
            <a:endParaRPr lang="ar-SA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928</Words>
  <Application>Microsoft Office PowerPoint</Application>
  <PresentationFormat>Widescreen</PresentationFormat>
  <Paragraphs>269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الذكاء الاصطناعي: العالم المخفي حولينا</dc:title>
  <dc:subject>PptxGenJS Presentation</dc:subject>
  <dc:creator>STEM Curriculum</dc:creator>
  <cp:lastModifiedBy>MUHANNAD ABFULLAH ALI ALHUMAIDI</cp:lastModifiedBy>
  <cp:revision>3</cp:revision>
  <dcterms:created xsi:type="dcterms:W3CDTF">2026-05-11T06:57:08Z</dcterms:created>
  <dcterms:modified xsi:type="dcterms:W3CDTF">2026-05-11T09:29:17Z</dcterms:modified>
</cp:coreProperties>
</file>