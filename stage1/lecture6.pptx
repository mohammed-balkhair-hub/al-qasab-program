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6" r:id="rId30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7" autoAdjust="0"/>
    <p:restoredTop sz="90029" autoAdjust="0"/>
  </p:normalViewPr>
  <p:slideViewPr>
    <p:cSldViewPr snapToGrid="0" snapToObjects="1">
      <p:cViewPr varScale="1">
        <p:scale>
          <a:sx n="108" d="100"/>
          <a:sy n="108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دقة التدريب</c:v>
                </c:pt>
              </c:strCache>
            </c:strRef>
          </c:tx>
          <c:spPr>
            <a:ln w="40640" cap="flat">
              <a:solidFill>
                <a:srgbClr val="00D9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D9FF"/>
              </a:solidFill>
              <a:ln w="9525" cap="flat">
                <a:solidFill>
                  <a:srgbClr val="00D9FF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55</c:v>
                </c:pt>
                <c:pt idx="1">
                  <c:v>68</c:v>
                </c:pt>
                <c:pt idx="2">
                  <c:v>78</c:v>
                </c:pt>
                <c:pt idx="3">
                  <c:v>86</c:v>
                </c:pt>
                <c:pt idx="4">
                  <c:v>92</c:v>
                </c:pt>
                <c:pt idx="5">
                  <c:v>96</c:v>
                </c:pt>
                <c:pt idx="6">
                  <c:v>98</c:v>
                </c:pt>
                <c:pt idx="7">
                  <c:v>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E97-4C38-9D3F-0CD8DF7545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دقة الواقع</c:v>
                </c:pt>
              </c:strCache>
            </c:strRef>
          </c:tx>
          <c:spPr>
            <a:ln w="40640" cap="flat">
              <a:solidFill>
                <a:srgbClr val="FF2D7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2D7B"/>
              </a:solidFill>
              <a:ln w="9525" cap="flat">
                <a:solidFill>
                  <a:srgbClr val="FF2D7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54</c:v>
                </c:pt>
                <c:pt idx="1">
                  <c:v>66</c:v>
                </c:pt>
                <c:pt idx="2">
                  <c:v>75</c:v>
                </c:pt>
                <c:pt idx="3">
                  <c:v>82</c:v>
                </c:pt>
                <c:pt idx="4">
                  <c:v>84</c:v>
                </c:pt>
                <c:pt idx="5">
                  <c:v>80</c:v>
                </c:pt>
                <c:pt idx="6">
                  <c:v>72</c:v>
                </c:pt>
                <c:pt idx="7">
                  <c:v>63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E97-4C38-9D3F-0CD8DF7545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6350" cap="flat">
              <a:solidFill>
                <a:srgbClr val="E3E3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Tajaw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AF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1A1E33"/>
              </a:solidFill>
              <a:latin typeface="Tajawal"/>
              <a:cs typeface="Tajawal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AFAF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التعلّم الآلي التقليدي</c:v>
                </c:pt>
              </c:strCache>
            </c:strRef>
          </c:tx>
          <c:spPr>
            <a:ln w="43180" cap="flat">
              <a:solidFill>
                <a:srgbClr val="00D9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D9FF"/>
              </a:solidFill>
              <a:ln w="9525" cap="flat">
                <a:solidFill>
                  <a:srgbClr val="00D9FF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40</c:v>
                </c:pt>
                <c:pt idx="2">
                  <c:v>55</c:v>
                </c:pt>
                <c:pt idx="3">
                  <c:v>65</c:v>
                </c:pt>
                <c:pt idx="4">
                  <c:v>71</c:v>
                </c:pt>
                <c:pt idx="5">
                  <c:v>74</c:v>
                </c:pt>
                <c:pt idx="6">
                  <c:v>75</c:v>
                </c:pt>
                <c:pt idx="7">
                  <c:v>76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132-4228-955C-E18DFB6D92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التعلّم العميق</c:v>
                </c:pt>
              </c:strCache>
            </c:strRef>
          </c:tx>
          <c:spPr>
            <a:ln w="43180" cap="flat">
              <a:solidFill>
                <a:srgbClr val="8B5C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</c:v>
                </c:pt>
                <c:pt idx="1">
                  <c:v>22</c:v>
                </c:pt>
                <c:pt idx="2">
                  <c:v>38</c:v>
                </c:pt>
                <c:pt idx="3">
                  <c:v>54</c:v>
                </c:pt>
                <c:pt idx="4">
                  <c:v>68</c:v>
                </c:pt>
                <c:pt idx="5">
                  <c:v>80</c:v>
                </c:pt>
                <c:pt idx="6">
                  <c:v>90</c:v>
                </c:pt>
                <c:pt idx="7">
                  <c:v>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132-4228-955C-E18DFB6D92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3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Tajawal"/>
                  </a:defRPr>
                </a:pPr>
                <a:r>
                  <a:rPr lang="ar-SA" sz="1100" b="0" i="0" u="none" strike="noStrike">
                    <a:solidFill>
                      <a:srgbClr val="6B7280"/>
                    </a:solidFill>
                    <a:latin typeface="Tajawal"/>
                  </a:rPr>
                  <a:t>الأداء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Tajaw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AF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E33"/>
              </a:solidFill>
              <a:latin typeface="Tajawal"/>
              <a:cs typeface="Tajawal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AFA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332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194560"/>
            <a:ext cx="6217920" cy="6217920"/>
          </a:xfrm>
          <a:prstGeom prst="ellipse">
            <a:avLst/>
          </a:prstGeom>
          <a:solidFill>
            <a:srgbClr val="151A3D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3840480"/>
            <a:ext cx="4023360" cy="4023360"/>
          </a:xfrm>
          <a:prstGeom prst="ellipse">
            <a:avLst/>
          </a:prstGeom>
          <a:solidFill>
            <a:srgbClr val="10183C"/>
          </a:solidFill>
          <a:ln/>
        </p:spPr>
      </p:sp>
      <p:sp>
        <p:nvSpPr>
          <p:cNvPr id="5" name="Shape 3"/>
          <p:cNvSpPr/>
          <p:nvPr/>
        </p:nvSpPr>
        <p:spPr>
          <a:xfrm>
            <a:off x="11402568" y="1554480"/>
            <a:ext cx="118872" cy="118872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6" name="Shape 4"/>
          <p:cNvSpPr/>
          <p:nvPr/>
        </p:nvSpPr>
        <p:spPr>
          <a:xfrm>
            <a:off x="11402568" y="1773936"/>
            <a:ext cx="118872" cy="1188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11402568" y="1993392"/>
            <a:ext cx="118872" cy="11887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40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FF2D7B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المحاضرة السادسة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8A8FA8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مدخل إلى الذكاء الاصطناعي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7600" dirty="0">
                <a:solidFill>
                  <a:srgbClr val="F2F3FA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الواقع الاصطناعي</a:t>
            </a:r>
            <a:endParaRPr lang="en-US" sz="76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400" kern="0" spc="400" dirty="0">
                <a:solidFill>
                  <a:srgbClr val="FF2D7B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Synthetic Reality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4800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7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نربط فيها كل اللي تعلّمناه، ونفتح بابين جديدين نطلّ منهم على مستقبل الآلة.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989320"/>
            <a:ext cx="2011680" cy="0"/>
          </a:xfrm>
          <a:prstGeom prst="line">
            <a:avLst/>
          </a:prstGeom>
          <a:noFill/>
          <a:ln w="31750">
            <a:solidFill>
              <a:srgbClr val="FF2D7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2743200"/>
            <a:ext cx="5943600" cy="5943600"/>
          </a:xfrm>
          <a:prstGeom prst="ellipse">
            <a:avLst/>
          </a:prstGeom>
          <a:solidFill>
            <a:srgbClr val="151A3D"/>
          </a:solidFill>
          <a:ln/>
        </p:spPr>
      </p:sp>
      <p:sp>
        <p:nvSpPr>
          <p:cNvPr id="3" name="Text 1"/>
          <p:cNvSpPr/>
          <p:nvPr/>
        </p:nvSpPr>
        <p:spPr>
          <a:xfrm>
            <a:off x="521208" y="640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00D9FF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نظرة إلى الوراء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1402568" y="653796"/>
            <a:ext cx="118872" cy="11887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5852160" y="155448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3000" dirty="0">
                <a:solidFill>
                  <a:srgbClr val="00D9FF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٥</a:t>
            </a:r>
            <a:endParaRPr lang="en-US" sz="230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460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محاضرات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خمس محاضرات، وفكرةٌ وحدة مترابطة وصّلتنا لين هنا.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526280"/>
            <a:ext cx="1828800" cy="0"/>
          </a:xfrm>
          <a:prstGeom prst="line">
            <a:avLst/>
          </a:prstGeom>
          <a:noFill/>
          <a:ln w="31750">
            <a:solidFill>
              <a:srgbClr val="00D9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00D9FF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من القاعدة إلى المثال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800"/>
              </a:lnSpc>
              <a:buNone/>
            </a:pPr>
            <a:r>
              <a:rPr lang="en-US" sz="35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البرمجة التقليدية مقابل التعلّم الآلي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40080" y="17556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550" dirty="0">
                <a:solidFill>
                  <a:srgbClr val="6B7280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الطريقان يصلان إلى الحل، لكن من يكتب الخطوات يختلف تمامًا.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355080" y="2514600"/>
            <a:ext cx="5166360" cy="3383280"/>
          </a:xfrm>
          <a:prstGeom prst="roundRect">
            <a:avLst>
              <a:gd name="adj" fmla="val 2703"/>
            </a:avLst>
          </a:prstGeom>
          <a:solidFill>
            <a:srgbClr val="EEEEE8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9144" y="2514600"/>
            <a:ext cx="82296" cy="33832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6720840" y="28986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3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البرمجة التقليدية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720840" y="356616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ar-SA" sz="16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الانسان يكتب كل قاعدة بنفسه "اذا صار الحدث هذا، سوي الفعل هذا".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720840" y="50292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6B7280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إن  ⟵  إذًا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5166360" cy="3383280"/>
          </a:xfrm>
          <a:prstGeom prst="roundRect">
            <a:avLst>
              <a:gd name="adj" fmla="val 2703"/>
            </a:avLst>
          </a:prstGeom>
          <a:solidFill>
            <a:srgbClr val="0A0E27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14600"/>
            <a:ext cx="82296" cy="33832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8986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300" dirty="0">
                <a:solidFill>
                  <a:srgbClr val="00D9FF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التعلّم الآلي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05840" y="356616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650" dirty="0">
                <a:solidFill>
                  <a:srgbClr val="F2F3F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نُعطي الآلة أمثلة كثيرة، فتكتشف الأنماط بنفسها دون أن نملي عليها القواعد.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5840" y="50292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8A8FA8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أمثلة  ⟵  نمط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00D9FF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لماذا الآن؟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800"/>
              </a:lnSpc>
              <a:buNone/>
            </a:pPr>
            <a:r>
              <a:rPr lang="en-US" sz="35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ثلاث ركائز التقى وجودها معًا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40080" y="17556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550" dirty="0">
                <a:solidFill>
                  <a:srgbClr val="6B7280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انفجر الذكاء الاصطناعي الحديث حين اجتمعت الركائز الثلاث في الوقت نفسه.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092440" y="2697480"/>
            <a:ext cx="3429000" cy="3154680"/>
          </a:xfrm>
          <a:prstGeom prst="roundRect">
            <a:avLst>
              <a:gd name="adj" fmla="val 2899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92440" y="2697480"/>
            <a:ext cx="3429000" cy="82296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Shape 5"/>
          <p:cNvSpPr/>
          <p:nvPr/>
        </p:nvSpPr>
        <p:spPr>
          <a:xfrm>
            <a:off x="10469880" y="3108960"/>
            <a:ext cx="713232" cy="713232"/>
          </a:xfrm>
          <a:prstGeom prst="ellipse">
            <a:avLst/>
          </a:prstGeom>
          <a:solidFill>
            <a:srgbClr val="E6FB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326440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0" y="4069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0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البيانات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412480" y="46177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كميات هائلة من النصوص والصور صارت متاحة كي تتعلّم منها الآلة.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370832" y="2697480"/>
            <a:ext cx="3429000" cy="3154680"/>
          </a:xfrm>
          <a:prstGeom prst="roundRect">
            <a:avLst>
              <a:gd name="adj" fmla="val 2899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70832" y="2697480"/>
            <a:ext cx="3429000" cy="82296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748272" y="3108960"/>
            <a:ext cx="713232" cy="713232"/>
          </a:xfrm>
          <a:prstGeom prst="ellipse">
            <a:avLst/>
          </a:prstGeom>
          <a:solidFill>
            <a:srgbClr val="E6FBF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326440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90872" y="4069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0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القدرة الحوسبية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690872" y="46177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معالجات رسومية قوية تدرّب النماذج الضخمة في وقت معقول.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649224" y="2697480"/>
            <a:ext cx="3429000" cy="3154680"/>
          </a:xfrm>
          <a:prstGeom prst="roundRect">
            <a:avLst>
              <a:gd name="adj" fmla="val 2899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9224" y="2697480"/>
            <a:ext cx="3429000" cy="82296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9" name="Shape 15"/>
          <p:cNvSpPr/>
          <p:nvPr/>
        </p:nvSpPr>
        <p:spPr>
          <a:xfrm>
            <a:off x="3026664" y="3108960"/>
            <a:ext cx="713232" cy="713232"/>
          </a:xfrm>
          <a:prstGeom prst="ellipse">
            <a:avLst/>
          </a:prstGeom>
          <a:solidFill>
            <a:srgbClr val="E6FBF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1256" y="326440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9264" y="4069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20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التقدم التقني (النماذج)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969264" y="46177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تصميم </a:t>
            </a:r>
            <a:r>
              <a:rPr lang="en-US" sz="1450" dirty="0" err="1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الـTransformer</a:t>
            </a:r>
            <a:r>
              <a:rPr lang="en-US" sz="14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ar-SA" sz="14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en-US" sz="1450" dirty="0" err="1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الذكي</a:t>
            </a:r>
            <a:r>
              <a:rPr lang="en-US" sz="14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ar-SA" sz="14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مثلاً </a:t>
            </a:r>
            <a:r>
              <a:rPr lang="en-US" sz="1450" dirty="0" err="1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يفهم</a:t>
            </a:r>
            <a:r>
              <a:rPr lang="en-US" sz="14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السياق ويعالج الكلمات دفعةً واحدة.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10E098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هدفٌ وفخّ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800"/>
              </a:lnSpc>
              <a:buNone/>
            </a:pPr>
            <a:r>
              <a:rPr lang="en-US" sz="35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التعميم مقابل الحفظ الصمّ</a:t>
            </a:r>
            <a:endParaRPr lang="en-US" sz="3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2286000"/>
          <a:ext cx="61264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521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250" dirty="0">
                <a:solidFill>
                  <a:srgbClr val="6B7280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كلما ازداد الحفظ، تتباعد الواقعية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1439144" y="2331720"/>
            <a:ext cx="82296" cy="1005840"/>
          </a:xfrm>
          <a:prstGeom prst="rect">
            <a:avLst/>
          </a:prstGeom>
          <a:solidFill>
            <a:srgbClr val="10E098"/>
          </a:solidFill>
          <a:ln/>
        </p:spPr>
      </p:sp>
      <p:sp>
        <p:nvSpPr>
          <p:cNvPr id="7" name="Text 4"/>
          <p:cNvSpPr/>
          <p:nvPr/>
        </p:nvSpPr>
        <p:spPr>
          <a:xfrm>
            <a:off x="7223760" y="23317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10E098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التعميم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223760" y="275234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 ينجح النموذج على بياناتٍ جديدة لم يرها من قبل. هذا هو الهدف.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439144" y="3611880"/>
            <a:ext cx="82296" cy="100584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0" y="3611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FF2D7B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الإفراط </a:t>
            </a:r>
            <a:r>
              <a:rPr lang="en-US" sz="1800" dirty="0" err="1">
                <a:solidFill>
                  <a:srgbClr val="FF2D7B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في</a:t>
            </a:r>
            <a:r>
              <a:rPr lang="en-US" sz="1800" dirty="0">
                <a:solidFill>
                  <a:srgbClr val="FF2D7B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</a:t>
            </a:r>
            <a:r>
              <a:rPr lang="ar-SA" sz="1800" dirty="0">
                <a:solidFill>
                  <a:srgbClr val="FF2D7B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التعلم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223760" y="403250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 يحفظ </a:t>
            </a:r>
            <a:r>
              <a:rPr lang="en-US" sz="1400" dirty="0" err="1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التفاصيل</a:t>
            </a:r>
            <a:r>
              <a:rPr lang="en-US" sz="140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ar-SA" sz="140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والحالات النادرة والشاذة بالبيانات</a:t>
            </a:r>
            <a:r>
              <a:rPr lang="en-US" sz="140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عن ظهر قلب، فيفشل في الواقع.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1439144" y="4892040"/>
            <a:ext cx="82296" cy="10058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Text 10"/>
          <p:cNvSpPr/>
          <p:nvPr/>
        </p:nvSpPr>
        <p:spPr>
          <a:xfrm>
            <a:off x="7223760" y="4892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00D9FF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تقسيم البيانات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223760" y="531266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٨٠٪ للتدريب و٢٠٪ </a:t>
            </a:r>
            <a:r>
              <a:rPr lang="en-US" sz="1400" dirty="0" err="1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للاختبار</a:t>
            </a:r>
            <a:r>
              <a:rPr lang="ar-SA" sz="140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مثلاً</a:t>
            </a:r>
            <a:r>
              <a:rPr lang="en-US" sz="140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، حتى نكشف الحفظ مبكرًا.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FF2D7B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حين تخدعنا البيانات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ts val="3800"/>
              </a:lnSpc>
            </a:pPr>
            <a:r>
              <a:rPr lang="en-US" sz="3200" dirty="0" err="1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التحيّز</a:t>
            </a:r>
            <a:r>
              <a:rPr lang="en-US" sz="32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</a:t>
            </a:r>
            <a:r>
              <a:rPr lang="en-US" sz="3200" dirty="0" err="1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ومبدأ</a:t>
            </a:r>
            <a:r>
              <a:rPr lang="en-US" sz="32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» </a:t>
            </a:r>
            <a:r>
              <a:rPr lang="en-US" sz="3200" dirty="0" err="1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مدخلات</a:t>
            </a:r>
            <a:r>
              <a:rPr lang="en-US" sz="32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رديئة، </a:t>
            </a:r>
            <a:r>
              <a:rPr lang="en-US" sz="3200" dirty="0" err="1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مخرجات</a:t>
            </a:r>
            <a:r>
              <a:rPr lang="en-US" sz="32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</a:t>
            </a:r>
            <a:r>
              <a:rPr lang="en-US" sz="3200" dirty="0" err="1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رديئة</a:t>
            </a:r>
            <a:r>
              <a:rPr lang="en-US" sz="32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55080" y="2697480"/>
            <a:ext cx="5166360" cy="3200400"/>
          </a:xfrm>
          <a:prstGeom prst="roundRect">
            <a:avLst>
              <a:gd name="adj" fmla="val 2857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0" y="3154680"/>
            <a:ext cx="685800" cy="685800"/>
          </a:xfrm>
          <a:prstGeom prst="ellipse">
            <a:avLst/>
          </a:prstGeom>
          <a:solidFill>
            <a:srgbClr val="FFE6F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048" y="330098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20840" y="40233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200" dirty="0">
                <a:solidFill>
                  <a:srgbClr val="FF2D7B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التحيّز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720840" y="461772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500"/>
              </a:lnSpc>
              <a:buNone/>
            </a:pPr>
            <a:r>
              <a:rPr lang="en-US" sz="160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بياناتٌ منحازة أو غير متوازنة تُنتج نموذجًا غير عادل، يكرّر ظلم الماضي ويوسّعه.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5166360" cy="3200400"/>
          </a:xfrm>
          <a:prstGeom prst="roundRect">
            <a:avLst>
              <a:gd name="adj" fmla="val 2857"/>
            </a:avLst>
          </a:prstGeom>
          <a:solidFill>
            <a:srgbClr val="0A0E27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3154680"/>
            <a:ext cx="685800" cy="685800"/>
          </a:xfrm>
          <a:prstGeom prst="ellipse">
            <a:avLst/>
          </a:prstGeom>
          <a:solidFill>
            <a:srgbClr val="2A143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30098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40233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200" dirty="0">
                <a:solidFill>
                  <a:srgbClr val="FF2D7B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الجودة أولًا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005840" y="461772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500"/>
              </a:lnSpc>
              <a:buNone/>
            </a:pPr>
            <a:r>
              <a:rPr lang="en-US" sz="1600" dirty="0">
                <a:solidFill>
                  <a:srgbClr val="F2F3F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توجد بنيةٌ ذكية تنقذ بياناتٍ سيئة. المدخل الرديء يعطيك مخرجًا رديئًا مهما فعلت.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8B5CF6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أين يعمل الذكاء الاصطناعي؟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800"/>
              </a:lnSpc>
              <a:buNone/>
            </a:pPr>
            <a:r>
              <a:rPr lang="en-US" sz="35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ثلاثة ميادين كبرى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092440" y="2331720"/>
            <a:ext cx="3429000" cy="3611880"/>
          </a:xfrm>
          <a:prstGeom prst="roundRect">
            <a:avLst>
              <a:gd name="adj" fmla="val 2667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78440" y="2834640"/>
            <a:ext cx="822960" cy="822960"/>
          </a:xfrm>
          <a:prstGeom prst="ellipse">
            <a:avLst/>
          </a:prstGeom>
          <a:solidFill>
            <a:srgbClr val="F0EB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4" y="3008376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3931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9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معالجة اللغة الطبيعية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412480" y="452628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فهم النصوص وتوليدها، مثل المساعد الذي تكتب له سؤالك.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70832" y="2331720"/>
            <a:ext cx="3429000" cy="3611880"/>
          </a:xfrm>
          <a:prstGeom prst="roundRect">
            <a:avLst>
              <a:gd name="adj" fmla="val 2667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56832" y="2834640"/>
            <a:ext cx="822960" cy="822960"/>
          </a:xfrm>
          <a:prstGeom prst="ellipse">
            <a:avLst/>
          </a:prstGeom>
          <a:solidFill>
            <a:srgbClr val="F0EBF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3008376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3931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9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الرؤية الحاسوبية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90872" y="452628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فهم الصور والفيديو، مثل تمييز الوجوه في كاميرا هاتفك.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49224" y="2331720"/>
            <a:ext cx="3429000" cy="3611880"/>
          </a:xfrm>
          <a:prstGeom prst="roundRect">
            <a:avLst>
              <a:gd name="adj" fmla="val 2667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935224" y="2834640"/>
            <a:ext cx="822960" cy="822960"/>
          </a:xfrm>
          <a:prstGeom prst="ellipse">
            <a:avLst/>
          </a:prstGeom>
          <a:solidFill>
            <a:srgbClr val="F0EBF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3008376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9264" y="3931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9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التعلّم المعزّز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969264" y="452628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وكيلٌ يتعلّم بالتجربة عبر المكافأة والعقوبة، فيتقن لعبةً بمحاولاتٍ متكرّرة.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3108960"/>
            <a:ext cx="6858000" cy="6858000"/>
          </a:xfrm>
          <a:prstGeom prst="ellipse">
            <a:avLst/>
          </a:prstGeom>
          <a:solidFill>
            <a:srgbClr val="151A3D"/>
          </a:solidFill>
          <a:ln/>
        </p:spPr>
      </p:sp>
      <p:sp>
        <p:nvSpPr>
          <p:cNvPr id="3" name="Text 1"/>
          <p:cNvSpPr/>
          <p:nvPr/>
        </p:nvSpPr>
        <p:spPr>
          <a:xfrm>
            <a:off x="521208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FF2D7B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القفزة الكبرى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1402568" y="882396"/>
            <a:ext cx="118872" cy="118872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6000"/>
              </a:lnSpc>
              <a:buNone/>
            </a:pPr>
            <a:r>
              <a:rPr lang="en-US" sz="5200" dirty="0">
                <a:solidFill>
                  <a:srgbClr val="F2F3FA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من التعرّف على الأشياء إلى صناعتها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0" y="416052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ts val="3200"/>
              </a:lnSpc>
            </a:pPr>
            <a:r>
              <a:rPr lang="en-US" sz="21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النماذج اللغوية </a:t>
            </a:r>
            <a:r>
              <a:rPr lang="en-US" sz="2100" dirty="0" err="1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لا</a:t>
            </a:r>
            <a:r>
              <a:rPr lang="en-US" sz="21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 » </a:t>
            </a:r>
            <a:r>
              <a:rPr lang="en-US" sz="2100" dirty="0" err="1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تفكّر</a:t>
            </a:r>
            <a:r>
              <a:rPr lang="en-US" sz="21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« </a:t>
            </a:r>
            <a:r>
              <a:rPr lang="ar-SA" sz="21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 </a:t>
            </a:r>
            <a:r>
              <a:rPr lang="en-US" sz="2100" dirty="0" err="1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حقًّا</a:t>
            </a:r>
            <a:r>
              <a:rPr lang="en-US" sz="21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. إنها تتنبّأ بالكلمة الأرجح، رمزًا تلو الآخر، اعتمادًا على الإحصاء لا على الفهم.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09760" y="5852160"/>
            <a:ext cx="2011680" cy="0"/>
          </a:xfrm>
          <a:prstGeom prst="line">
            <a:avLst/>
          </a:prstGeom>
          <a:noFill/>
          <a:ln w="31750">
            <a:solidFill>
              <a:srgbClr val="FF2D7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8B5CF6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ماذا يحدث داخل النموذج؟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800"/>
              </a:lnSpc>
              <a:buNone/>
            </a:pPr>
            <a:r>
              <a:rPr lang="en-US" sz="35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كيف يقرأ النموذج رسالتك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9034272" y="2788920"/>
            <a:ext cx="2487168" cy="2286000"/>
          </a:xfrm>
          <a:prstGeom prst="roundRect">
            <a:avLst>
              <a:gd name="adj" fmla="val 4000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34272" y="2788920"/>
            <a:ext cx="2487168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9308592" y="30449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400" dirty="0">
                <a:solidFill>
                  <a:srgbClr val="DCD2FB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٠١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08592" y="36576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65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الإدخال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08592" y="4270248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رسالتك كما كتبتها بالضبط.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04504" y="3826412"/>
            <a:ext cx="548640" cy="211015"/>
          </a:xfrm>
          <a:prstGeom prst="leftArrow">
            <a:avLst/>
          </a:prstGeom>
          <a:solidFill>
            <a:srgbClr val="8B5CF6"/>
          </a:solidFill>
          <a:ln/>
        </p:spPr>
      </p:sp>
      <p:sp>
        <p:nvSpPr>
          <p:cNvPr id="10" name="Shape 8"/>
          <p:cNvSpPr/>
          <p:nvPr/>
        </p:nvSpPr>
        <p:spPr>
          <a:xfrm>
            <a:off x="6236208" y="2788920"/>
            <a:ext cx="2487168" cy="2286000"/>
          </a:xfrm>
          <a:prstGeom prst="roundRect">
            <a:avLst>
              <a:gd name="adj" fmla="val 4000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36208" y="2788920"/>
            <a:ext cx="2487168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6510528" y="30449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400" dirty="0">
                <a:solidFill>
                  <a:srgbClr val="DCD2FB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٠٢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10528" y="36576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65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التقطيع إلى وحدات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510528" y="4270248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تقسيم النص إلى قطعٍ صغيرة.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06440" y="3826412"/>
            <a:ext cx="548640" cy="211015"/>
          </a:xfrm>
          <a:prstGeom prst="leftArrow">
            <a:avLst/>
          </a:prstGeom>
          <a:solidFill>
            <a:srgbClr val="8B5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144" y="2788920"/>
            <a:ext cx="2487168" cy="2286000"/>
          </a:xfrm>
          <a:prstGeom prst="roundRect">
            <a:avLst>
              <a:gd name="adj" fmla="val 4000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38144" y="2788920"/>
            <a:ext cx="2487168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3712464" y="30449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400" dirty="0">
                <a:solidFill>
                  <a:srgbClr val="DCD2FB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٠٣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712464" y="36576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65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تضمين الكلمات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3712464" y="4270248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تحويل كل وحدة إلى أرقامٍ تحمل معناها.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008376" y="3826412"/>
            <a:ext cx="548640" cy="211015"/>
          </a:xfrm>
          <a:prstGeom prst="leftArrow">
            <a:avLst/>
          </a:prstGeom>
          <a:solidFill>
            <a:srgbClr val="8B5CF6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2788920"/>
            <a:ext cx="2487168" cy="2286000"/>
          </a:xfrm>
          <a:prstGeom prst="roundRect">
            <a:avLst>
              <a:gd name="adj" fmla="val 4000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2788920"/>
            <a:ext cx="2487168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0449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400" dirty="0">
                <a:solidFill>
                  <a:srgbClr val="DCD2FB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٠٤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4400" y="36576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65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آلية الانتباه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14400" y="4270248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وحدة تنظر إلى الجملة كاملة لتضبط المعنى.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450" dirty="0">
                <a:solidFill>
                  <a:srgbClr val="8B5CF6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الانتباه هو ما يجعل كل كلمة تفهم نفسها في سياق بقية الجملة.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8B5CF6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كيف يولّد، وأين يخطئ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800"/>
              </a:lnSpc>
              <a:buNone/>
            </a:pPr>
            <a:r>
              <a:rPr lang="en-US" sz="35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التوليد المتسلسل والهلوسة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11439144" y="2423160"/>
            <a:ext cx="82296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0" y="23774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8B5CF6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التوليد المتسلسل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75120" y="2788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4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يتنبّأ بالرمز الأرجح، ثم يكرّر العملية كلمةً بعد كلمة حتى تكتمل الإجابة.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1439144" y="3794760"/>
            <a:ext cx="82296" cy="91440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3749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FF2D7B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الهلوسة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4160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4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 يطابق الأنماط لا الحقيقة، قد يخطئ بثقةٍ تامة ويبدو مقنعًا وهو مخطئ.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5897880" cy="3657600"/>
          </a:xfrm>
          <a:prstGeom prst="roundRect">
            <a:avLst>
              <a:gd name="adj" fmla="val 2500"/>
            </a:avLst>
          </a:prstGeom>
          <a:solidFill>
            <a:srgbClr val="EEEEE8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26060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600" dirty="0" err="1">
                <a:solidFill>
                  <a:srgbClr val="1A1E33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عاصمة</a:t>
            </a:r>
            <a:r>
              <a:rPr lang="en-US" sz="1600" dirty="0">
                <a:solidFill>
                  <a:srgbClr val="1A1E33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 </a:t>
            </a:r>
            <a:r>
              <a:rPr lang="en-US" sz="1600" dirty="0" err="1">
                <a:solidFill>
                  <a:srgbClr val="1A1E33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فرنسا</a:t>
            </a:r>
            <a:r>
              <a:rPr lang="en-US" sz="1600" dirty="0">
                <a:solidFill>
                  <a:srgbClr val="1A1E33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 </a:t>
            </a:r>
            <a:r>
              <a:rPr lang="en-US" sz="1600" dirty="0" err="1">
                <a:solidFill>
                  <a:srgbClr val="1A1E33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هي</a:t>
            </a:r>
            <a:r>
              <a:rPr lang="en-US" sz="1600" dirty="0">
                <a:solidFill>
                  <a:srgbClr val="1A1E33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 </a:t>
            </a:r>
            <a:r>
              <a:rPr lang="ar-SA" sz="1600" dirty="0">
                <a:solidFill>
                  <a:srgbClr val="1A1E33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...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0632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احتمال الرمز التالي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35387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E33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باريس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88720" y="3575304"/>
            <a:ext cx="3749040" cy="237744"/>
          </a:xfrm>
          <a:prstGeom prst="rect">
            <a:avLst/>
          </a:prstGeom>
          <a:solidFill>
            <a:srgbClr val="E3E3DC"/>
          </a:solidFill>
          <a:ln/>
        </p:spPr>
      </p:sp>
      <p:sp>
        <p:nvSpPr>
          <p:cNvPr id="15" name="Shape 13"/>
          <p:cNvSpPr/>
          <p:nvPr/>
        </p:nvSpPr>
        <p:spPr>
          <a:xfrm>
            <a:off x="1488643" y="3575304"/>
            <a:ext cx="3449117" cy="2377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5295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en-US" sz="1200" dirty="0">
                <a:solidFill>
                  <a:srgbClr val="6B7280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٪92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40873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E33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ليون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88720" y="4123944"/>
            <a:ext cx="3749040" cy="237744"/>
          </a:xfrm>
          <a:prstGeom prst="rect">
            <a:avLst/>
          </a:prstGeom>
          <a:solidFill>
            <a:srgbClr val="E3E3DC"/>
          </a:solidFill>
          <a:ln/>
        </p:spPr>
      </p:sp>
      <p:sp>
        <p:nvSpPr>
          <p:cNvPr id="19" name="Shape 17"/>
          <p:cNvSpPr/>
          <p:nvPr/>
        </p:nvSpPr>
        <p:spPr>
          <a:xfrm>
            <a:off x="4787798" y="4123944"/>
            <a:ext cx="149962" cy="23774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0782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en-US" sz="1200" dirty="0">
                <a:solidFill>
                  <a:srgbClr val="6B7280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٪4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4636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E33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نيس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88720" y="4672584"/>
            <a:ext cx="3749040" cy="237744"/>
          </a:xfrm>
          <a:prstGeom prst="rect">
            <a:avLst/>
          </a:prstGeom>
          <a:solidFill>
            <a:srgbClr val="E3E3DC"/>
          </a:solidFill>
          <a:ln/>
        </p:spPr>
      </p:sp>
      <p:sp>
        <p:nvSpPr>
          <p:cNvPr id="23" name="Shape 21"/>
          <p:cNvSpPr/>
          <p:nvPr/>
        </p:nvSpPr>
        <p:spPr>
          <a:xfrm>
            <a:off x="4862779" y="4672584"/>
            <a:ext cx="74981" cy="23774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6268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en-US" sz="1200" dirty="0">
                <a:solidFill>
                  <a:srgbClr val="6B7280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٪2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51846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E33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مرسيليا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188720" y="5221224"/>
            <a:ext cx="3749040" cy="237744"/>
          </a:xfrm>
          <a:prstGeom prst="rect">
            <a:avLst/>
          </a:prstGeom>
          <a:solidFill>
            <a:srgbClr val="E3E3DC"/>
          </a:solidFill>
          <a:ln/>
        </p:spPr>
      </p:sp>
      <p:sp>
        <p:nvSpPr>
          <p:cNvPr id="27" name="Shape 25"/>
          <p:cNvSpPr/>
          <p:nvPr/>
        </p:nvSpPr>
        <p:spPr>
          <a:xfrm>
            <a:off x="4862779" y="5221224"/>
            <a:ext cx="74981" cy="23774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5175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en-US" sz="1200" dirty="0">
                <a:solidFill>
                  <a:srgbClr val="6B7280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٪2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10E098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كيف تطلب بذكاء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800"/>
              </a:lnSpc>
              <a:buNone/>
            </a:pPr>
            <a:r>
              <a:rPr lang="en-US" sz="35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هندسة الـPrompt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355080" y="1993392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0E098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إطار RCTF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75420" y="2331720"/>
            <a:ext cx="2446020" cy="1298448"/>
          </a:xfrm>
          <a:prstGeom prst="roundRect">
            <a:avLst>
              <a:gd name="adj" fmla="val 6338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75420" y="2331720"/>
            <a:ext cx="64008" cy="1298448"/>
          </a:xfrm>
          <a:prstGeom prst="rect">
            <a:avLst/>
          </a:prstGeom>
          <a:solidFill>
            <a:srgbClr val="10E09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53288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31452" y="2514600"/>
            <a:ext cx="1531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الدور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31452" y="2990088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تريده أن يكون؟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55080" y="2331720"/>
            <a:ext cx="2446020" cy="1298448"/>
          </a:xfrm>
          <a:prstGeom prst="roundRect">
            <a:avLst>
              <a:gd name="adj" fmla="val 6338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2331720"/>
            <a:ext cx="64008" cy="1298448"/>
          </a:xfrm>
          <a:prstGeom prst="rect">
            <a:avLst/>
          </a:prstGeom>
          <a:solidFill>
            <a:srgbClr val="10E09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180" y="253288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11112" y="2514600"/>
            <a:ext cx="1531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السياق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11112" y="2990088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الخلفية المهمة؟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9075420" y="3886200"/>
            <a:ext cx="2446020" cy="1298448"/>
          </a:xfrm>
          <a:prstGeom prst="roundRect">
            <a:avLst>
              <a:gd name="adj" fmla="val 6338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075420" y="3886200"/>
            <a:ext cx="64008" cy="1298448"/>
          </a:xfrm>
          <a:prstGeom prst="rect">
            <a:avLst/>
          </a:prstGeom>
          <a:solidFill>
            <a:srgbClr val="10E09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408736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31452" y="4069080"/>
            <a:ext cx="1531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المهمة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9331452" y="4544568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المطلوب بالضبط؟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55080" y="3886200"/>
            <a:ext cx="2446020" cy="1298448"/>
          </a:xfrm>
          <a:prstGeom prst="roundRect">
            <a:avLst>
              <a:gd name="adj" fmla="val 6338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355080" y="3886200"/>
            <a:ext cx="64008" cy="1298448"/>
          </a:xfrm>
          <a:prstGeom prst="rect">
            <a:avLst/>
          </a:prstGeom>
          <a:solidFill>
            <a:srgbClr val="10E098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8180" y="408736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11112" y="4069080"/>
            <a:ext cx="1531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الصيغة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611112" y="4544568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كيف تريد الإجابة؟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2331720"/>
            <a:ext cx="5394960" cy="1627632"/>
          </a:xfrm>
          <a:prstGeom prst="roundRect">
            <a:avLst>
              <a:gd name="adj" fmla="val 5618"/>
            </a:avLst>
          </a:prstGeom>
          <a:solidFill>
            <a:srgbClr val="0A0E27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248656" y="2788920"/>
            <a:ext cx="658368" cy="658368"/>
          </a:xfrm>
          <a:prstGeom prst="ellipse">
            <a:avLst/>
          </a:prstGeom>
          <a:solidFill>
            <a:srgbClr val="0D2A20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0" y="2935224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26243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10E098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سلسلة التفكير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1005840" y="31089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400" dirty="0">
                <a:solidFill>
                  <a:srgbClr val="F2F3F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منه </a:t>
            </a:r>
            <a:r>
              <a:rPr lang="en-US" sz="1400" dirty="0" err="1">
                <a:solidFill>
                  <a:srgbClr val="F2F3F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</a:t>
            </a:r>
            <a:r>
              <a:rPr lang="en-US" sz="1400" dirty="0">
                <a:solidFill>
                  <a:srgbClr val="F2F3F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ar-SA" sz="1400" dirty="0">
                <a:solidFill>
                  <a:srgbClr val="F2F3F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</a:t>
            </a:r>
            <a:r>
              <a:rPr lang="en-US" sz="1400" dirty="0" err="1">
                <a:solidFill>
                  <a:srgbClr val="F2F3F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يفكّر</a:t>
            </a:r>
            <a:r>
              <a:rPr lang="en-US" sz="1400" dirty="0">
                <a:solidFill>
                  <a:srgbClr val="F2F3F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en-US" sz="1400" dirty="0" err="1">
                <a:solidFill>
                  <a:srgbClr val="F2F3F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خطوةً</a:t>
            </a:r>
            <a:r>
              <a:rPr lang="en-US" sz="1400" dirty="0">
                <a:solidFill>
                  <a:srgbClr val="F2F3F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en-US" sz="1400" dirty="0" err="1">
                <a:solidFill>
                  <a:srgbClr val="F2F3F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خطوة</a:t>
            </a:r>
            <a:r>
              <a:rPr lang="ar-SA" sz="1400" dirty="0">
                <a:solidFill>
                  <a:srgbClr val="F2F3F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</a:t>
            </a:r>
            <a:r>
              <a:rPr lang="en-US" sz="1400" dirty="0">
                <a:solidFill>
                  <a:srgbClr val="F2F3F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للوصول إلى إجاباتٍ أدقّ.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640080" y="4142232"/>
            <a:ext cx="5394960" cy="1627632"/>
          </a:xfrm>
          <a:prstGeom prst="roundRect">
            <a:avLst>
              <a:gd name="adj" fmla="val 5618"/>
            </a:avLst>
          </a:prstGeom>
          <a:solidFill>
            <a:srgbClr val="0A0E27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246348" y="4599432"/>
            <a:ext cx="658368" cy="658368"/>
          </a:xfrm>
          <a:prstGeom prst="ellipse">
            <a:avLst/>
          </a:prstGeom>
          <a:solidFill>
            <a:srgbClr val="0D2A20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2652" y="4745736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05840" y="4434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10E098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الـMeta Prompting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1005840" y="49194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400" dirty="0">
                <a:solidFill>
                  <a:srgbClr val="F2F3F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خلّ الذكاء الاصطناعي نفسه يحسّن لك الـprompt لمهمةٍ ثانية.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8567928" y="-1828800"/>
            <a:ext cx="5669280" cy="5669280"/>
          </a:xfrm>
          <a:prstGeom prst="ellipse">
            <a:avLst/>
          </a:prstGeom>
          <a:solidFill>
            <a:srgbClr val="151A3D"/>
          </a:solidFill>
          <a:ln/>
        </p:spPr>
      </p:sp>
      <p:sp>
        <p:nvSpPr>
          <p:cNvPr id="4" name="Text 2"/>
          <p:cNvSpPr/>
          <p:nvPr/>
        </p:nvSpPr>
        <p:spPr>
          <a:xfrm>
            <a:off x="521208" y="1371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8B5CF6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الجزء الأول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402568" y="1385316"/>
            <a:ext cx="118872" cy="1188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5800" dirty="0">
                <a:solidFill>
                  <a:srgbClr val="F2F3FA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التعلّم الآلي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5800" dirty="0">
                <a:solidFill>
                  <a:srgbClr val="8B5CF6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مقابل التعلّم العميق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9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قريبان، لا متنافسان. أحدهما يسكن داخل الآخر.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00D9FF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العائلة الأوسع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800"/>
              </a:lnSpc>
              <a:buNone/>
            </a:pPr>
            <a:r>
              <a:rPr lang="en-US" sz="35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ما هو التعلّم الآلي؟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40080" y="17556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550" dirty="0">
                <a:solidFill>
                  <a:srgbClr val="6B7280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طرقٌ تتعلّم الأنماط من البيانات بدل أن نبرمجها يدويًا، قاعدةً قاعدة.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172200" y="25146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16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غالبًا يعمل على بياناتٍ </a:t>
            </a:r>
            <a:r>
              <a:rPr lang="en-US" sz="1650" dirty="0" err="1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منظّمة</a:t>
            </a:r>
            <a:r>
              <a:rPr lang="en-US" sz="16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en-US" sz="1650" dirty="0" err="1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جداول</a:t>
            </a:r>
            <a:r>
              <a:rPr lang="en-US" sz="16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en-US" sz="1650" dirty="0" err="1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وأرقام</a:t>
            </a:r>
            <a:r>
              <a:rPr lang="en-US" sz="16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، ويكفيه حاسوبٌ عادي دون عتادٍ خاص.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1439144" y="2542032"/>
            <a:ext cx="82296" cy="10972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00D9FF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من يومك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2706624"/>
            <a:ext cx="548640" cy="548640"/>
          </a:xfrm>
          <a:prstGeom prst="ellipse">
            <a:avLst/>
          </a:prstGeom>
          <a:solidFill>
            <a:srgbClr val="E6FBFF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2825496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5528" y="26700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مرشّح الرسائل المزعجة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5528" y="30723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يتعلّم تمييز المزعج من المفيد.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694176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83480" y="3931920"/>
            <a:ext cx="548640" cy="548640"/>
          </a:xfrm>
          <a:prstGeom prst="ellipse">
            <a:avLst/>
          </a:prstGeom>
          <a:solidFill>
            <a:srgbClr val="E6FBFF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405079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95528" y="38953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اقتراحات المقاطع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95528" y="4297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يرشّح لك ما يناسب ذوقك.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0080" y="4919472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983480" y="5157216"/>
            <a:ext cx="548640" cy="548640"/>
          </a:xfrm>
          <a:prstGeom prst="ellipse">
            <a:avLst/>
          </a:prstGeom>
          <a:solidFill>
            <a:srgbClr val="E6FBF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352" y="5276088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5528" y="5120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تنبيه الاحتيال البنكي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95528" y="55229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يرصد العملية غير المعتادة.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8B5CF6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تحت المظلّة نفسها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800"/>
              </a:lnSpc>
              <a:buNone/>
            </a:pPr>
            <a:r>
              <a:rPr lang="en-US" sz="35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ما هو التعلّم العميق؟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40080" y="17556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550" dirty="0">
                <a:solidFill>
                  <a:srgbClr val="6B7280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فرعٌ من التعلّم الآلي مبنيٌّ على شبكاتٍ عصبية بطبقاتٍ كثيرة متراكمة.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218238" y="26060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800"/>
              </a:lnSpc>
              <a:buNone/>
            </a:pPr>
            <a:r>
              <a:rPr lang="en-US" sz="16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الطبقات تكتشف الخصائص بنفسها من البيانات الخام: بكسلات، صوت، نص. وهو ما يشغّل أنظمة الصور والصوت واللغة الحديثة.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1439144" y="2633472"/>
            <a:ext cx="82296" cy="1737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3520440"/>
            <a:ext cx="1348740" cy="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822960" y="2990088"/>
            <a:ext cx="1348422" cy="530352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520440"/>
            <a:ext cx="1348740" cy="41148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520440"/>
            <a:ext cx="1348740" cy="82296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520440"/>
            <a:ext cx="1348740" cy="123444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931920"/>
            <a:ext cx="1348740" cy="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931920"/>
            <a:ext cx="1348740" cy="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822960" y="3072384"/>
            <a:ext cx="1348422" cy="859536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31920"/>
            <a:ext cx="1348740" cy="41148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931920"/>
            <a:ext cx="1348740" cy="82296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343400"/>
            <a:ext cx="1348740" cy="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822960" y="3968496"/>
            <a:ext cx="1248474" cy="374904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822960" y="3520440"/>
            <a:ext cx="1348740" cy="82296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822960" y="3108960"/>
            <a:ext cx="1348422" cy="123444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343400"/>
            <a:ext cx="1348740" cy="41148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71700" y="3108960"/>
            <a:ext cx="1348740" cy="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71700" y="3108960"/>
            <a:ext cx="1348740" cy="41148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71700" y="3108960"/>
            <a:ext cx="1348740" cy="82296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71700" y="3108960"/>
            <a:ext cx="1348740" cy="123444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71700" y="3108960"/>
            <a:ext cx="1348740" cy="164592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71700" y="3520440"/>
            <a:ext cx="1348740" cy="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2171700" y="3108960"/>
            <a:ext cx="1348422" cy="41148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71700" y="3520440"/>
            <a:ext cx="1348740" cy="41148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71700" y="3520440"/>
            <a:ext cx="1348740" cy="82296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71700" y="3520440"/>
            <a:ext cx="1348740" cy="123444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71700" y="3931920"/>
            <a:ext cx="1348740" cy="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2171700" y="3534154"/>
            <a:ext cx="1348740" cy="397766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2171700" y="3145536"/>
            <a:ext cx="1348740" cy="786384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71700" y="3931920"/>
            <a:ext cx="1348740" cy="41148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71700" y="3931920"/>
            <a:ext cx="1348740" cy="82296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71700" y="4343400"/>
            <a:ext cx="1348740" cy="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2171700" y="3534155"/>
            <a:ext cx="1348740" cy="809245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2171700" y="3072384"/>
            <a:ext cx="1348422" cy="1271016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2171700" y="3991355"/>
            <a:ext cx="1348740" cy="38862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71700" y="4343400"/>
            <a:ext cx="1348740" cy="41148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71700" y="4754880"/>
            <a:ext cx="1348740" cy="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2171700" y="3108960"/>
            <a:ext cx="1348422" cy="164592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Shape 42"/>
          <p:cNvSpPr/>
          <p:nvPr/>
        </p:nvSpPr>
        <p:spPr>
          <a:xfrm flipV="1">
            <a:off x="2171700" y="3520439"/>
            <a:ext cx="1348422" cy="1234441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2171700" y="3909060"/>
            <a:ext cx="1348422" cy="84582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2171700" y="4320540"/>
            <a:ext cx="1348740" cy="43434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3520440" y="3108960"/>
            <a:ext cx="1348740" cy="20574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20440" y="3108960"/>
            <a:ext cx="1348740" cy="61722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0440" y="3108960"/>
            <a:ext cx="1348740" cy="102870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20440" y="3108960"/>
            <a:ext cx="1348740" cy="144018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3520440" y="3255264"/>
            <a:ext cx="1348740" cy="265176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20440" y="3520440"/>
            <a:ext cx="1348740" cy="20574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20440" y="3520440"/>
            <a:ext cx="1348740" cy="61722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20440" y="3520440"/>
            <a:ext cx="1348740" cy="102870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3520440" y="3351275"/>
            <a:ext cx="1348422" cy="580645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3520440" y="3703319"/>
            <a:ext cx="1348740" cy="228601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20440" y="3931920"/>
            <a:ext cx="1348740" cy="20574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20440" y="3931920"/>
            <a:ext cx="1348740" cy="61722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3520440" y="3762756"/>
            <a:ext cx="1348740" cy="580644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20440" y="4343400"/>
            <a:ext cx="1348422" cy="22860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3520440" y="4197096"/>
            <a:ext cx="1348740" cy="146304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3520440" y="3314700"/>
            <a:ext cx="1348422" cy="102870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3520440" y="3337560"/>
            <a:ext cx="1348740" cy="141732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3520440" y="3785616"/>
            <a:ext cx="1248474" cy="969264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3520440" y="4197096"/>
            <a:ext cx="1248474" cy="557784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3520440" y="4507992"/>
            <a:ext cx="1348740" cy="265176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69180" y="3314700"/>
            <a:ext cx="1348740" cy="41148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869180" y="3314700"/>
            <a:ext cx="1348740" cy="82296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869180" y="3726180"/>
            <a:ext cx="1348740" cy="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869180" y="3726180"/>
            <a:ext cx="1348740" cy="41148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69180" y="4137660"/>
            <a:ext cx="1348740" cy="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4869180" y="3762755"/>
            <a:ext cx="1296670" cy="374905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4869180" y="3703320"/>
            <a:ext cx="1349058" cy="845820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4869180" y="4197096"/>
            <a:ext cx="1348740" cy="352044"/>
          </a:xfrm>
          <a:prstGeom prst="line">
            <a:avLst/>
          </a:prstGeom>
          <a:noFill/>
          <a:ln w="9525">
            <a:solidFill>
              <a:srgbClr val="E0D7F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76656" y="3374136"/>
            <a:ext cx="292608" cy="29260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76" name="Shape 74"/>
          <p:cNvSpPr/>
          <p:nvPr/>
        </p:nvSpPr>
        <p:spPr>
          <a:xfrm>
            <a:off x="676656" y="3785616"/>
            <a:ext cx="292608" cy="29260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77" name="Shape 75"/>
          <p:cNvSpPr/>
          <p:nvPr/>
        </p:nvSpPr>
        <p:spPr>
          <a:xfrm>
            <a:off x="676656" y="4197096"/>
            <a:ext cx="292608" cy="29260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78" name="Shape 76"/>
          <p:cNvSpPr/>
          <p:nvPr/>
        </p:nvSpPr>
        <p:spPr>
          <a:xfrm>
            <a:off x="2025396" y="296265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9" name="Shape 77"/>
          <p:cNvSpPr/>
          <p:nvPr/>
        </p:nvSpPr>
        <p:spPr>
          <a:xfrm>
            <a:off x="2025396" y="337413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0" name="Shape 78"/>
          <p:cNvSpPr/>
          <p:nvPr/>
        </p:nvSpPr>
        <p:spPr>
          <a:xfrm>
            <a:off x="2025396" y="378561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1" name="Shape 79"/>
          <p:cNvSpPr/>
          <p:nvPr/>
        </p:nvSpPr>
        <p:spPr>
          <a:xfrm>
            <a:off x="2025396" y="419709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2" name="Shape 80"/>
          <p:cNvSpPr/>
          <p:nvPr/>
        </p:nvSpPr>
        <p:spPr>
          <a:xfrm>
            <a:off x="2025396" y="460857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3" name="Shape 81"/>
          <p:cNvSpPr/>
          <p:nvPr/>
        </p:nvSpPr>
        <p:spPr>
          <a:xfrm>
            <a:off x="3374136" y="296265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4" name="Shape 82"/>
          <p:cNvSpPr/>
          <p:nvPr/>
        </p:nvSpPr>
        <p:spPr>
          <a:xfrm>
            <a:off x="3374136" y="337413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5" name="Shape 83"/>
          <p:cNvSpPr/>
          <p:nvPr/>
        </p:nvSpPr>
        <p:spPr>
          <a:xfrm>
            <a:off x="3374136" y="378561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6" name="Shape 84"/>
          <p:cNvSpPr/>
          <p:nvPr/>
        </p:nvSpPr>
        <p:spPr>
          <a:xfrm>
            <a:off x="3374136" y="419709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7" name="Shape 85"/>
          <p:cNvSpPr/>
          <p:nvPr/>
        </p:nvSpPr>
        <p:spPr>
          <a:xfrm>
            <a:off x="3374136" y="460857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8" name="Shape 86"/>
          <p:cNvSpPr/>
          <p:nvPr/>
        </p:nvSpPr>
        <p:spPr>
          <a:xfrm>
            <a:off x="4722876" y="316839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9" name="Shape 87"/>
          <p:cNvSpPr/>
          <p:nvPr/>
        </p:nvSpPr>
        <p:spPr>
          <a:xfrm>
            <a:off x="4722876" y="357987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0" name="Shape 88"/>
          <p:cNvSpPr/>
          <p:nvPr/>
        </p:nvSpPr>
        <p:spPr>
          <a:xfrm>
            <a:off x="4722876" y="399135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1" name="Shape 89"/>
          <p:cNvSpPr/>
          <p:nvPr/>
        </p:nvSpPr>
        <p:spPr>
          <a:xfrm>
            <a:off x="4722876" y="440283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2" name="Shape 90"/>
          <p:cNvSpPr/>
          <p:nvPr/>
        </p:nvSpPr>
        <p:spPr>
          <a:xfrm>
            <a:off x="6071616" y="3579876"/>
            <a:ext cx="292608" cy="292608"/>
          </a:xfrm>
          <a:prstGeom prst="ellipse">
            <a:avLst/>
          </a:prstGeom>
          <a:solidFill>
            <a:srgbClr val="FF2D7B"/>
          </a:solidFill>
          <a:ln/>
        </p:spPr>
      </p:sp>
      <p:sp>
        <p:nvSpPr>
          <p:cNvPr id="93" name="Shape 91"/>
          <p:cNvSpPr/>
          <p:nvPr/>
        </p:nvSpPr>
        <p:spPr>
          <a:xfrm>
            <a:off x="6071616" y="3991356"/>
            <a:ext cx="292608" cy="292608"/>
          </a:xfrm>
          <a:prstGeom prst="ellipse">
            <a:avLst/>
          </a:prstGeom>
          <a:solidFill>
            <a:srgbClr val="FF2D7B"/>
          </a:solidFill>
          <a:ln/>
        </p:spPr>
      </p:sp>
      <p:sp>
        <p:nvSpPr>
          <p:cNvPr id="94" name="Text 92"/>
          <p:cNvSpPr/>
          <p:nvPr/>
        </p:nvSpPr>
        <p:spPr>
          <a:xfrm>
            <a:off x="5760720" y="5303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مدخلات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2846070" y="5303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طبقاتٌ خفيّة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365760" y="5303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مخرجات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344" y="640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 err="1">
                <a:solidFill>
                  <a:srgbClr val="8B5CF6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الصورة</a:t>
            </a:r>
            <a:r>
              <a:rPr lang="en-US" sz="1250" kern="0" spc="300" dirty="0">
                <a:solidFill>
                  <a:srgbClr val="8B5CF6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الكبرى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1402568" y="653796"/>
            <a:ext cx="118872" cy="1188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300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واحدٌ داخل الآخر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645920" y="1417320"/>
            <a:ext cx="4937760" cy="4937760"/>
          </a:xfrm>
          <a:prstGeom prst="ellipse">
            <a:avLst/>
          </a:prstGeom>
          <a:solidFill>
            <a:srgbClr val="121A40"/>
          </a:solidFill>
          <a:ln w="15875">
            <a:solidFill>
              <a:srgbClr val="8A8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2194560"/>
            <a:ext cx="3383280" cy="3383280"/>
          </a:xfrm>
          <a:prstGeom prst="ellipse">
            <a:avLst/>
          </a:prstGeom>
          <a:solidFill>
            <a:srgbClr val="13243F"/>
          </a:solidFill>
          <a:ln w="22225">
            <a:solidFill>
              <a:srgbClr val="00D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971800"/>
            <a:ext cx="1828800" cy="18288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36850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التعلّم العميق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359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00D9FF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التعلّم الآلي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15636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8A8FA8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الذكاء الاصطناعي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228832" y="2478024"/>
            <a:ext cx="237744" cy="237744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2423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الذكاء الاصطناعي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38160" y="282549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900"/>
              </a:lnSpc>
              <a:buNone/>
            </a:pPr>
            <a:r>
              <a:rPr lang="en-US" sz="135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ما يجعل الآلة تبدو ذكية.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1228832" y="3621024"/>
            <a:ext cx="237744" cy="237744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3566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التعلّم الآلي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38160" y="396849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900"/>
              </a:lnSpc>
              <a:buNone/>
            </a:pPr>
            <a:r>
              <a:rPr lang="en-US" sz="135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يتعلّم الأنماط من البيانات.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1228832" y="4764024"/>
            <a:ext cx="237744" cy="23774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4709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التعلّم العميق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38160" y="511149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1900"/>
              </a:lnSpc>
              <a:buNone/>
            </a:pPr>
            <a:r>
              <a:rPr lang="en-US" sz="135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شبكاتٌ عصبية عميقة بداخله.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00D9FF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وجهًا لوجه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800"/>
              </a:lnSpc>
              <a:buNone/>
            </a:pPr>
            <a:r>
              <a:rPr lang="en-US" sz="35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مقارنة سريعة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183880" y="2286000"/>
            <a:ext cx="3337560" cy="512064"/>
          </a:xfrm>
          <a:prstGeom prst="roundRect">
            <a:avLst>
              <a:gd name="adj" fmla="val 12500"/>
            </a:avLst>
          </a:prstGeom>
          <a:solidFill>
            <a:srgbClr val="E6FBFF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377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00D9FF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التعلّم الآلي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337560" cy="512064"/>
          </a:xfrm>
          <a:prstGeom prst="roundRect">
            <a:avLst>
              <a:gd name="adj" fmla="val 12500"/>
            </a:avLst>
          </a:prstGeom>
          <a:solidFill>
            <a:srgbClr val="F0EB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8B5CF6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التعلّم العميق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10881360" cy="603504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9" name="Text 7"/>
          <p:cNvSpPr/>
          <p:nvPr/>
        </p:nvSpPr>
        <p:spPr>
          <a:xfrm>
            <a:off x="3977640" y="3017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1A1E33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المجال والنطاق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366760" y="302666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الأوسع والأشمل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302666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فرعٌ متخصّص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977640" y="36210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1A1E33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استخراج الخصائص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366760" y="3630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يدوي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3630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تلقائي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881360" cy="603504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16" name="Text 14"/>
          <p:cNvSpPr/>
          <p:nvPr/>
        </p:nvSpPr>
        <p:spPr>
          <a:xfrm>
            <a:off x="397764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1A1E33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حجم البيانات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66760" y="42336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صغيرٌ يكفي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2336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ضخمٌ مطلوب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977640" y="48280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1A1E33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القدرة الحوسبية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66760" y="483717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خفيفة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2960" y="483717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ثقيلة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0080" y="5321808"/>
            <a:ext cx="10881360" cy="603504"/>
          </a:xfrm>
          <a:prstGeom prst="rect">
            <a:avLst/>
          </a:prstGeom>
          <a:solidFill>
            <a:srgbClr val="EEEEE8"/>
          </a:solidFill>
          <a:ln/>
        </p:spPr>
      </p:sp>
      <p:sp>
        <p:nvSpPr>
          <p:cNvPr id="23" name="Text 21"/>
          <p:cNvSpPr/>
          <p:nvPr/>
        </p:nvSpPr>
        <p:spPr>
          <a:xfrm>
            <a:off x="3977640" y="54315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1A1E33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قابلية التفسير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366760" y="5440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أوضح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22960" y="5440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صندوقٌ أسود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977640" y="6035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1A1E33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الأفضل في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66760" y="604418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بياناتٌ جدولية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2960" y="604418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صورٌ وصوتٌ ولغة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8B5CF6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لماذا تصدّر التعلّم العميق؟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800"/>
              </a:lnSpc>
              <a:buNone/>
            </a:pPr>
            <a:r>
              <a:rPr lang="en-US" sz="35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كلما زادت البيانات</a:t>
            </a:r>
            <a:endParaRPr lang="en-US" sz="3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2286000"/>
          <a:ext cx="7315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حجم البيانات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1439144" y="2651760"/>
            <a:ext cx="82296" cy="2468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8549640" y="26974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600" dirty="0">
                <a:solidFill>
                  <a:srgbClr val="00D9FF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التقليدي يرتفع ثم يتوقّف عند سقف.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49640" y="36118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600" dirty="0">
                <a:solidFill>
                  <a:srgbClr val="8B5CF6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أما العميق فيواصل الصعود كلما كبرت البيانات.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49640" y="45720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لهذا تصدّر حين توافرت البيانات الضخمة والقدرة الحوسبية معًا.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10E098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أيّهما تختار؟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800"/>
              </a:lnSpc>
              <a:buNone/>
            </a:pPr>
            <a:r>
              <a:rPr lang="en-US" sz="35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قاعدةٌ بسيطة للاختيار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355080" y="2331720"/>
            <a:ext cx="5166360" cy="2011680"/>
          </a:xfrm>
          <a:prstGeom prst="roundRect">
            <a:avLst>
              <a:gd name="adj" fmla="val 4545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48288" y="2331720"/>
            <a:ext cx="73152" cy="20116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262432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900" dirty="0">
                <a:solidFill>
                  <a:srgbClr val="00D9FF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التعلّم الآلي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720840" y="32004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500"/>
              </a:lnSpc>
              <a:buNone/>
            </a:pPr>
            <a:r>
              <a:rPr lang="en-US" sz="160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كطالبٍ تُعلّمه ببطاقاتٍ جهّزتها بيدك، خاصيةً خاصية.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166360" cy="2011680"/>
          </a:xfrm>
          <a:prstGeom prst="roundRect">
            <a:avLst>
              <a:gd name="adj" fmla="val 4545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31720"/>
            <a:ext cx="73152" cy="2011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2432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900" dirty="0">
                <a:solidFill>
                  <a:srgbClr val="8B5CF6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التعلّم العميق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05840" y="32004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500"/>
              </a:lnSpc>
              <a:buNone/>
            </a:pPr>
            <a:r>
              <a:rPr lang="en-US" sz="160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كطالبٍ يكتشف القاعدة وحده بعد أن يرى آلاف الأمثلة الخام.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A0E27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652760" y="5074920"/>
            <a:ext cx="640080" cy="640080"/>
          </a:xfrm>
          <a:prstGeom prst="ellipse">
            <a:avLst/>
          </a:prstGeom>
          <a:solidFill>
            <a:srgbClr val="0D2A20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21208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49377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0E098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قاعدة الإبهام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05840" y="536752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300"/>
              </a:lnSpc>
              <a:buNone/>
            </a:pPr>
            <a:r>
              <a:rPr lang="en-US" sz="1650" dirty="0">
                <a:solidFill>
                  <a:srgbClr val="F2F3FA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مشكلةٌ صغيرة ومنظّمة؟ اختر التعلّم الآلي. صورٌ أو صوتٌ أو لغةٌ بكمياتٍ ضخمة؟ اختر التعلّم العميق.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15216" y="0"/>
            <a:ext cx="146304" cy="685800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194560"/>
            <a:ext cx="5943600" cy="5943600"/>
          </a:xfrm>
          <a:prstGeom prst="ellipse">
            <a:avLst/>
          </a:prstGeom>
          <a:solidFill>
            <a:srgbClr val="151A3D"/>
          </a:solidFill>
          <a:ln/>
        </p:spPr>
      </p:sp>
      <p:sp>
        <p:nvSpPr>
          <p:cNvPr id="4" name="Text 2"/>
          <p:cNvSpPr/>
          <p:nvPr/>
        </p:nvSpPr>
        <p:spPr>
          <a:xfrm>
            <a:off x="521208" y="10972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FFD93D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الجزء الثاني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402568" y="1110996"/>
            <a:ext cx="118872" cy="118872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000" dirty="0">
                <a:solidFill>
                  <a:srgbClr val="FFD93D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١٥ </a:t>
            </a:r>
            <a:r>
              <a:rPr lang="ar-SA" sz="12000" dirty="0">
                <a:solidFill>
                  <a:srgbClr val="FFD93D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 </a:t>
            </a:r>
            <a:r>
              <a:rPr lang="en-US" sz="12000" dirty="0" err="1">
                <a:solidFill>
                  <a:srgbClr val="FFD93D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سنة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400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غيّرت كل شيء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800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خمس عشرة سنة أعادت تعريف ما تستطيع الآلة فعله، </a:t>
            </a:r>
            <a:r>
              <a:rPr lang="ar-SA" sz="18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من 2012 </a:t>
            </a:r>
            <a:r>
              <a:rPr lang="en-US" sz="1800" dirty="0" err="1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إلى</a:t>
            </a:r>
            <a:r>
              <a:rPr lang="en-US" sz="18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 اليوم.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4613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 err="1">
                <a:solidFill>
                  <a:srgbClr val="FFD93D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الخط</a:t>
            </a:r>
            <a:r>
              <a:rPr lang="en-US" sz="1250" kern="0" spc="300" dirty="0">
                <a:solidFill>
                  <a:srgbClr val="FFD93D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الزمني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1402568" y="580644"/>
            <a:ext cx="118872" cy="118872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320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محطّاتٌ غيّرت المجتمع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10332720" cy="0"/>
          </a:xfrm>
          <a:prstGeom prst="line">
            <a:avLst/>
          </a:prstGeom>
          <a:noFill/>
          <a:ln w="25400">
            <a:solidFill>
              <a:srgbClr val="3A41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0" y="3566160"/>
            <a:ext cx="182880" cy="182880"/>
          </a:xfrm>
          <a:prstGeom prst="ellipse">
            <a:avLst/>
          </a:prstGeom>
          <a:solidFill>
            <a:srgbClr val="00D9FF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0" y="3566160"/>
            <a:ext cx="0" cy="0"/>
          </a:xfrm>
          <a:prstGeom prst="line">
            <a:avLst/>
          </a:prstGeom>
          <a:noFill/>
          <a:ln w="15875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69880" y="2240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00D9FF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2012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78440" y="25511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400"/>
              </a:lnSpc>
              <a:buNone/>
            </a:pPr>
            <a:r>
              <a:rPr lang="en-US" sz="125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ألكس نت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378440" y="28986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200"/>
              </a:lnSpc>
              <a:buNone/>
            </a:pPr>
            <a:r>
              <a:rPr lang="en-US" sz="10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الرؤية تنطلق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07600" y="3566160"/>
            <a:ext cx="182880" cy="182880"/>
          </a:xfrm>
          <a:prstGeom prst="ellipse">
            <a:avLst/>
          </a:prstGeom>
          <a:solidFill>
            <a:srgbClr val="FF2D7B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9040" y="3749040"/>
            <a:ext cx="0" cy="292608"/>
          </a:xfrm>
          <a:prstGeom prst="line">
            <a:avLst/>
          </a:prstGeom>
          <a:noFill/>
          <a:ln w="15875">
            <a:solidFill>
              <a:srgbClr val="FF2D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1800" y="3977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FF2D7B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2014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30360" y="42885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400"/>
              </a:lnSpc>
              <a:buNone/>
            </a:pPr>
            <a:r>
              <a:rPr lang="en-US" sz="125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الشبكات التوليدية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230360" y="46360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200"/>
              </a:lnSpc>
              <a:buNone/>
            </a:pPr>
            <a:r>
              <a:rPr lang="en-US" sz="10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GANs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859520" y="3566160"/>
            <a:ext cx="182880" cy="182880"/>
          </a:xfrm>
          <a:prstGeom prst="ellipse">
            <a:avLst/>
          </a:prstGeom>
          <a:solidFill>
            <a:srgbClr val="00D9FF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50960" y="3566160"/>
            <a:ext cx="0" cy="0"/>
          </a:xfrm>
          <a:prstGeom prst="line">
            <a:avLst/>
          </a:prstGeom>
          <a:noFill/>
          <a:ln w="15875">
            <a:solidFill>
              <a:srgbClr val="00D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3720" y="2240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00D9FF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2015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82280" y="25511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400"/>
              </a:lnSpc>
              <a:buNone/>
            </a:pPr>
            <a:r>
              <a:rPr lang="en-US" sz="125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ريزنت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82280" y="28986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200"/>
              </a:lnSpc>
              <a:buNone/>
            </a:pPr>
            <a:r>
              <a:rPr lang="en-US" sz="10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شبكاتٌ أعمق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11440" y="3566160"/>
            <a:ext cx="182880" cy="182880"/>
          </a:xfrm>
          <a:prstGeom prst="ellipse">
            <a:avLst/>
          </a:prstGeom>
          <a:solidFill>
            <a:srgbClr val="10E098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02880" y="3749040"/>
            <a:ext cx="0" cy="292608"/>
          </a:xfrm>
          <a:prstGeom prst="line">
            <a:avLst/>
          </a:prstGeom>
          <a:noFill/>
          <a:ln w="15875">
            <a:solidFill>
              <a:srgbClr val="10E0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25640" y="3977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10E098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2016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34200" y="42885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400"/>
              </a:lnSpc>
              <a:buNone/>
            </a:pPr>
            <a:r>
              <a:rPr lang="en-US" sz="125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ألفاغو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34200" y="46360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200"/>
              </a:lnSpc>
              <a:buNone/>
            </a:pPr>
            <a:r>
              <a:rPr lang="en-US" sz="10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هزيمة بطل العالم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63360" y="3566160"/>
            <a:ext cx="182880" cy="182880"/>
          </a:xfrm>
          <a:prstGeom prst="ellipse">
            <a:avLst/>
          </a:prstGeom>
          <a:solidFill>
            <a:srgbClr val="8B5CF6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54800" y="3566160"/>
            <a:ext cx="0" cy="0"/>
          </a:xfrm>
          <a:prstGeom prst="line">
            <a:avLst/>
          </a:prstGeom>
          <a:noFill/>
          <a:ln w="15875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77560" y="2240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8B5CF6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2017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86120" y="25511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400"/>
              </a:lnSpc>
              <a:buNone/>
            </a:pPr>
            <a:r>
              <a:rPr lang="en-US" sz="125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Transformer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786120" y="28986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200"/>
              </a:lnSpc>
              <a:buNone/>
            </a:pPr>
            <a:r>
              <a:rPr lang="en-US" sz="10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الانتباه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15280" y="3566160"/>
            <a:ext cx="182880" cy="182880"/>
          </a:xfrm>
          <a:prstGeom prst="ellipse">
            <a:avLst/>
          </a:prstGeom>
          <a:solidFill>
            <a:srgbClr val="8B5CF6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06720" y="3749040"/>
            <a:ext cx="0" cy="292608"/>
          </a:xfrm>
          <a:prstGeom prst="line">
            <a:avLst/>
          </a:prstGeom>
          <a:noFill/>
          <a:ln w="15875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9480" y="3977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8B5CF6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2018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638040" y="42885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400"/>
              </a:lnSpc>
              <a:buNone/>
            </a:pPr>
            <a:r>
              <a:rPr lang="en-US" sz="125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بيرت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638040" y="46360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200"/>
              </a:lnSpc>
              <a:buNone/>
            </a:pPr>
            <a:r>
              <a:rPr lang="en-US" sz="10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فهم اللغة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67200" y="3566160"/>
            <a:ext cx="182880" cy="182880"/>
          </a:xfrm>
          <a:prstGeom prst="ellipse">
            <a:avLst/>
          </a:prstGeom>
          <a:solidFill>
            <a:srgbClr val="FF2D7B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58640" y="3566160"/>
            <a:ext cx="0" cy="0"/>
          </a:xfrm>
          <a:prstGeom prst="line">
            <a:avLst/>
          </a:prstGeom>
          <a:noFill/>
          <a:ln w="15875">
            <a:solidFill>
              <a:srgbClr val="FF2D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81400" y="2240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FF2D7B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2020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489960" y="25511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400"/>
              </a:lnSpc>
              <a:buNone/>
            </a:pPr>
            <a:r>
              <a:rPr lang="en-US" sz="125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جي بي تي ٣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489960" y="28986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200"/>
              </a:lnSpc>
              <a:buNone/>
            </a:pPr>
            <a:r>
              <a:rPr lang="en-US" sz="10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١٧٥ مليار معامل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119120" y="3566160"/>
            <a:ext cx="182880" cy="182880"/>
          </a:xfrm>
          <a:prstGeom prst="ellipse">
            <a:avLst/>
          </a:prstGeom>
          <a:solidFill>
            <a:srgbClr val="FF2D7B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10560" y="3749040"/>
            <a:ext cx="0" cy="292608"/>
          </a:xfrm>
          <a:prstGeom prst="line">
            <a:avLst/>
          </a:prstGeom>
          <a:noFill/>
          <a:ln w="15875">
            <a:solidFill>
              <a:srgbClr val="FF2D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33320" y="3977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FF2D7B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2022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2341880" y="42885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400"/>
              </a:lnSpc>
              <a:buNone/>
            </a:pPr>
            <a:r>
              <a:rPr lang="en-US" sz="125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تشات جي بي تي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2341880" y="46360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200"/>
              </a:lnSpc>
              <a:buNone/>
            </a:pPr>
            <a:r>
              <a:rPr lang="en-US" sz="10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التوليد للجميع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971040" y="3566160"/>
            <a:ext cx="182880" cy="182880"/>
          </a:xfrm>
          <a:prstGeom prst="ellipse">
            <a:avLst/>
          </a:prstGeom>
          <a:solidFill>
            <a:srgbClr val="FFD93D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62480" y="3566160"/>
            <a:ext cx="0" cy="0"/>
          </a:xfrm>
          <a:prstGeom prst="line">
            <a:avLst/>
          </a:prstGeom>
          <a:noFill/>
          <a:ln w="15875">
            <a:solidFill>
              <a:srgbClr val="FFD9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85240" y="2240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FFD93D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2024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93800" y="25511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400"/>
              </a:lnSpc>
              <a:buNone/>
            </a:pPr>
            <a:r>
              <a:rPr lang="en-US" sz="125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نوبل وAgents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1193800" y="28986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200"/>
              </a:lnSpc>
              <a:buNone/>
            </a:pPr>
            <a:r>
              <a:rPr lang="en-US" sz="10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اعترافٌ علمي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22960" y="3566160"/>
            <a:ext cx="182880" cy="182880"/>
          </a:xfrm>
          <a:prstGeom prst="ellipse">
            <a:avLst/>
          </a:prstGeom>
          <a:solidFill>
            <a:srgbClr val="FFD93D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4400" y="3749040"/>
            <a:ext cx="0" cy="292608"/>
          </a:xfrm>
          <a:prstGeom prst="line">
            <a:avLst/>
          </a:prstGeom>
          <a:noFill/>
          <a:ln w="15875">
            <a:solidFill>
              <a:srgbClr val="FFD9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3977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FFD93D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2026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5720" y="42885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400"/>
              </a:lnSpc>
              <a:buNone/>
            </a:pPr>
            <a:r>
              <a:rPr lang="en-US" sz="125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اليوم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45720" y="46360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200"/>
              </a:lnSpc>
              <a:buNone/>
            </a:pPr>
            <a:r>
              <a:rPr lang="en-US" sz="10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نماذج الاستدلال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A8FA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اقرأ من اليمين إلى اليسار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00584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0A0E27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052560" y="12344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6000" dirty="0">
                <a:solidFill>
                  <a:srgbClr val="00D9FF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2012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00D9FF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الانفجار الكبير للتعلّم العميق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ts val="4000"/>
              </a:lnSpc>
            </a:pPr>
            <a:r>
              <a:rPr lang="en-US" sz="3400" dirty="0" err="1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ألكس</a:t>
            </a:r>
            <a:r>
              <a:rPr lang="en-US" sz="34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نت» تُثبت أن </a:t>
            </a:r>
            <a:r>
              <a:rPr lang="en-US" sz="3400" dirty="0" err="1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العمق</a:t>
            </a:r>
            <a:r>
              <a:rPr lang="en-US" sz="34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</a:t>
            </a:r>
            <a:r>
              <a:rPr lang="en-US" sz="3400" dirty="0" err="1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ينجح</a:t>
            </a:r>
            <a:r>
              <a:rPr lang="en-US" sz="34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«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937760" y="29718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16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شبكةٌ عصبية عميقة سحقت منافسيها في مسابقةٍ للتعرّف على الصور، فأثبتت أن التعلّم العميق يعمل على نطاقٍ واسع. كانت الشرارة التي أشعلت الموجة كلها.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4206240" cy="3108960"/>
          </a:xfrm>
          <a:prstGeom prst="roundRect">
            <a:avLst>
              <a:gd name="adj" fmla="val 3529"/>
            </a:avLst>
          </a:prstGeom>
          <a:solidFill>
            <a:srgbClr val="E6FBFF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3310128"/>
            <a:ext cx="3657600" cy="475488"/>
          </a:xfrm>
          <a:prstGeom prst="roundRect">
            <a:avLst>
              <a:gd name="adj" fmla="val 5384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60704" y="3474720"/>
            <a:ext cx="146304" cy="146304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331012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00D9FF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image-net.org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94560" y="3899002"/>
            <a:ext cx="1097280" cy="1097280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40864" y="4045306"/>
            <a:ext cx="804672" cy="804672"/>
          </a:xfrm>
          <a:prstGeom prst="ellipse">
            <a:avLst/>
          </a:prstGeom>
          <a:solidFill>
            <a:srgbClr val="E6FBFF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36" y="4164178"/>
            <a:ext cx="566928" cy="5669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14400" y="5212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شوف الديمو بنفسك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60120" y="56509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افتح الرابط وجرّب مسابقة التعرّف على الصور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0584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0A0E27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12344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6000" dirty="0">
                <a:solidFill>
                  <a:srgbClr val="10E098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2016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383280" y="1143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10E098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الآلة تتقن الحدس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383280" y="15544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/>
            <a:r>
              <a:rPr lang="en-US" sz="3400" dirty="0" err="1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ألفاغو</a:t>
            </a:r>
            <a:r>
              <a:rPr lang="en-US" sz="34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» يهزم </a:t>
            </a:r>
            <a:r>
              <a:rPr lang="en-US" sz="3400" dirty="0" err="1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بطل</a:t>
            </a:r>
            <a:r>
              <a:rPr lang="en-US" sz="34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</a:t>
            </a:r>
            <a:r>
              <a:rPr lang="en-US" sz="3400" dirty="0" err="1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العالم</a:t>
            </a:r>
            <a:r>
              <a:rPr lang="en-US" sz="34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«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ts val="2700"/>
              </a:lnSpc>
            </a:pPr>
            <a:r>
              <a:rPr lang="en-US" sz="16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تعلّمٍ معزّز هزم بطل العالم في </a:t>
            </a:r>
            <a:r>
              <a:rPr lang="en-US" sz="1650" dirty="0" err="1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لعبة</a:t>
            </a:r>
            <a:r>
              <a:rPr lang="en-US" sz="16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» </a:t>
            </a:r>
            <a:r>
              <a:rPr lang="en-US" sz="1650" dirty="0" err="1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غو</a:t>
            </a:r>
            <a:r>
              <a:rPr lang="en-US" sz="16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«، وهي لعبةٌ ظُنّ أنها أعقد من أن تتقنها الآلة بسبب اعتمادها على الحدس.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6126480" cy="1417320"/>
          </a:xfrm>
          <a:prstGeom prst="roundRect">
            <a:avLst>
              <a:gd name="adj" fmla="val 6452"/>
            </a:avLst>
          </a:prstGeom>
          <a:solidFill>
            <a:srgbClr val="E9FBF3"/>
          </a:solidFill>
          <a:ln/>
        </p:spPr>
      </p:sp>
      <p:sp>
        <p:nvSpPr>
          <p:cNvPr id="8" name="Shape 6"/>
          <p:cNvSpPr/>
          <p:nvPr/>
        </p:nvSpPr>
        <p:spPr>
          <a:xfrm>
            <a:off x="6693408" y="4572000"/>
            <a:ext cx="73152" cy="1417320"/>
          </a:xfrm>
          <a:prstGeom prst="rect">
            <a:avLst/>
          </a:prstGeom>
          <a:solidFill>
            <a:srgbClr val="10E09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329597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47548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300"/>
              </a:lnSpc>
              <a:buNone/>
            </a:pPr>
            <a:r>
              <a:rPr lang="en-US" sz="1500" dirty="0">
                <a:solidFill>
                  <a:srgbClr val="1A1E33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يربطنا هذا مباشرةً بالتعلّم المعزّز الذي رأيناه في المراجعة: تعلّمٌ بالمكافأة والعقوبة.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903720" y="3017520"/>
            <a:ext cx="4617720" cy="2971800"/>
          </a:xfrm>
          <a:prstGeom prst="roundRect">
            <a:avLst>
              <a:gd name="adj" fmla="val 3692"/>
            </a:avLst>
          </a:prstGeom>
          <a:solidFill>
            <a:srgbClr val="E9FBF3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78040" y="3310128"/>
            <a:ext cx="4069080" cy="475488"/>
          </a:xfrm>
          <a:prstGeom prst="roundRect">
            <a:avLst>
              <a:gd name="adj" fmla="val 5384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24344" y="3474720"/>
            <a:ext cx="146304" cy="146304"/>
          </a:xfrm>
          <a:prstGeom prst="ellipse">
            <a:avLst/>
          </a:prstGeom>
          <a:solidFill>
            <a:srgbClr val="10E098"/>
          </a:solidFill>
          <a:ln/>
        </p:spPr>
      </p:sp>
      <p:sp>
        <p:nvSpPr>
          <p:cNvPr id="14" name="Text 11"/>
          <p:cNvSpPr/>
          <p:nvPr/>
        </p:nvSpPr>
        <p:spPr>
          <a:xfrm>
            <a:off x="7562088" y="331012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0E098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deepmind.com/alphago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63940" y="3835908"/>
            <a:ext cx="1097280" cy="1097280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810244" y="3982212"/>
            <a:ext cx="804672" cy="804672"/>
          </a:xfrm>
          <a:prstGeom prst="ellipse">
            <a:avLst/>
          </a:prstGeom>
          <a:solidFill>
            <a:srgbClr val="E9FBF3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116" y="4101084"/>
            <a:ext cx="566928" cy="5669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78040" y="50749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تابع المباراة الأسطورية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7223760" y="55138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افتح الرابط وشوف ألفاغو وهو يلعب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00584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0A0E27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052560" y="12344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6000" dirty="0">
                <a:solidFill>
                  <a:srgbClr val="8B5CF6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2017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8B5CF6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المحرّك الذي غيّر كل شيء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800"/>
              </a:lnSpc>
              <a:buNone/>
            </a:pPr>
            <a:r>
              <a:rPr lang="en-US" sz="3200" dirty="0" err="1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الـTransformer</a:t>
            </a:r>
            <a:r>
              <a:rPr lang="en-US" sz="32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</a:t>
            </a:r>
            <a:r>
              <a:rPr lang="en-US" sz="3200" dirty="0" err="1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والانتباه</a:t>
            </a:r>
            <a:r>
              <a:rPr lang="en-US" sz="32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هو كل </a:t>
            </a:r>
            <a:r>
              <a:rPr lang="en-US" sz="3200" dirty="0" err="1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ما</a:t>
            </a:r>
            <a:r>
              <a:rPr lang="en-US" sz="32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</a:t>
            </a:r>
            <a:r>
              <a:rPr lang="en-US" sz="3200" dirty="0" err="1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تحتاج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16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قدّمت الورقة آلية الانتباه بوصفها بنيةً معمارية كاملة، لا مجرد إضافة. إنها المحرّك خلف المساعدات الحوارية اليوم.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0A0E27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652760" y="4754880"/>
            <a:ext cx="658368" cy="658368"/>
          </a:xfrm>
          <a:prstGeom prst="ellipse">
            <a:avLst/>
          </a:prstGeom>
          <a:solidFill>
            <a:srgbClr val="1B0F35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776" y="4901184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459943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8B5CF6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ربطٌ بالمحاضرة الرابعة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5056632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300"/>
              </a:lnSpc>
              <a:buNone/>
            </a:pPr>
            <a:r>
              <a:rPr lang="en-US" sz="1600" dirty="0">
                <a:solidFill>
                  <a:srgbClr val="F2F3FA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هي الخطوة نفسها التي رأيناها في مسار النموذج اللغوي: الانتباه يجعل كل كلمة تنظر إلى الجملة كاملة.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640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FF2D7B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حين أثمر التوسّع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1402568" y="653796"/>
            <a:ext cx="118872" cy="118872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3300" dirty="0" err="1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من</a:t>
            </a:r>
            <a:r>
              <a:rPr lang="en-US" sz="330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</a:t>
            </a:r>
            <a:r>
              <a:rPr lang="en-US" sz="3300" dirty="0" err="1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جي</a:t>
            </a:r>
            <a:r>
              <a:rPr lang="en-US" sz="330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</a:t>
            </a:r>
            <a:r>
              <a:rPr lang="en-US" sz="3300" dirty="0" err="1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بي</a:t>
            </a:r>
            <a:r>
              <a:rPr lang="en-US" sz="330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تي٣ </a:t>
            </a:r>
            <a:r>
              <a:rPr lang="ar-SA" sz="330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</a:t>
            </a:r>
            <a:r>
              <a:rPr lang="en-US" sz="3300" dirty="0" err="1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إلى</a:t>
            </a:r>
            <a:r>
              <a:rPr lang="en-US" sz="330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</a:t>
            </a:r>
            <a:r>
              <a:rPr lang="en-US" sz="3300" dirty="0" err="1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تشات</a:t>
            </a:r>
            <a:r>
              <a:rPr lang="en-US" sz="330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جي </a:t>
            </a:r>
            <a:r>
              <a:rPr lang="en-US" sz="3300" dirty="0" err="1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بي</a:t>
            </a:r>
            <a:r>
              <a:rPr lang="en-US" sz="330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</a:t>
            </a:r>
            <a:r>
              <a:rPr lang="en-US" sz="3300" dirty="0" err="1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تي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2103120"/>
          </a:xfrm>
          <a:prstGeom prst="roundRect">
            <a:avLst>
              <a:gd name="adj" fmla="val 5217"/>
            </a:avLst>
          </a:prstGeom>
          <a:solidFill>
            <a:srgbClr val="151A3D"/>
          </a:solidFill>
          <a:ln/>
        </p:spPr>
      </p:sp>
      <p:sp>
        <p:nvSpPr>
          <p:cNvPr id="6" name="Shape 4"/>
          <p:cNvSpPr/>
          <p:nvPr/>
        </p:nvSpPr>
        <p:spPr>
          <a:xfrm>
            <a:off x="11411712" y="2148840"/>
            <a:ext cx="109728" cy="210312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0" y="23774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000" dirty="0">
                <a:solidFill>
                  <a:srgbClr val="FF2D7B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١٧٥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3000" dirty="0">
                <a:solidFill>
                  <a:srgbClr val="F2F3FA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مليار معامل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في نموذجٍ واحد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19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قوانين التوسّع أثبتت جدواها. ثم </a:t>
            </a:r>
            <a:r>
              <a:rPr lang="en-US" sz="1900" dirty="0" err="1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وضع</a:t>
            </a:r>
            <a:r>
              <a:rPr lang="en-US" sz="19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 </a:t>
            </a:r>
            <a:r>
              <a:rPr lang="en-US" sz="1900" dirty="0" err="1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تشات</a:t>
            </a:r>
            <a:r>
              <a:rPr lang="en-US" sz="19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 جي </a:t>
            </a:r>
            <a:r>
              <a:rPr lang="en-US" sz="1900" dirty="0" err="1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بي</a:t>
            </a:r>
            <a:r>
              <a:rPr lang="en-US" sz="19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 </a:t>
            </a:r>
            <a:r>
              <a:rPr lang="en-US" sz="1900" dirty="0" err="1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تي</a:t>
            </a:r>
            <a:r>
              <a:rPr lang="en-US" sz="19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 </a:t>
            </a:r>
            <a:r>
              <a:rPr lang="en-US" sz="1900" dirty="0" err="1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أواخر</a:t>
            </a:r>
            <a:r>
              <a:rPr lang="en-US" sz="19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 </a:t>
            </a:r>
            <a:r>
              <a:rPr lang="ar-SA" sz="19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2022</a:t>
            </a:r>
            <a:r>
              <a:rPr lang="en-US" sz="19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 الذكاء التوليدي بين يدي الجميع تقريبًا، بين ليلةٍ وضحاها.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FF2D7B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حين صار الخيال صورة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800"/>
              </a:lnSpc>
              <a:buNone/>
            </a:pPr>
            <a:r>
              <a:rPr lang="en-US" sz="35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صورٌ وفيديو وتزييفٌ عميق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11402568" y="2587752"/>
            <a:ext cx="118872" cy="118872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0" y="251460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6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التوليد البصري والصوتي صارت تصنع وجوهًا وأصواتًا ومقاطع مقنعة.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1402568" y="3639312"/>
            <a:ext cx="118872" cy="118872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356616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6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صعب التمييز بالعين المجرّدة بين الحقيقي والمولّد.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02568" y="4690872"/>
            <a:ext cx="118872" cy="118872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461772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6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هذا هو الباب المؤدّي إلى «الواقع الاصطناعي».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FFE6F0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761488"/>
            <a:ext cx="4800600" cy="475488"/>
          </a:xfrm>
          <a:prstGeom prst="roundRect">
            <a:avLst>
              <a:gd name="adj" fmla="val 5384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60704" y="2926080"/>
            <a:ext cx="146304" cy="146304"/>
          </a:xfrm>
          <a:prstGeom prst="ellipse">
            <a:avLst/>
          </a:prstGeom>
          <a:solidFill>
            <a:srgbClr val="FF2D7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8448" y="2761488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F2D7B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thispersondoesnotexist.com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66060" y="3602736"/>
            <a:ext cx="1097280" cy="1097280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12364" y="3749040"/>
            <a:ext cx="804672" cy="804672"/>
          </a:xfrm>
          <a:prstGeom prst="ellipse">
            <a:avLst/>
          </a:prstGeom>
          <a:solidFill>
            <a:srgbClr val="FFE6F0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236" y="3867912"/>
            <a:ext cx="566928" cy="56692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14400" y="5212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وجوهٌ ما خُلقت أصلًا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60120" y="565099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افتح الرابط، كل وجهٍ تشوفه مولّد بالكامل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960120"/>
            <a:ext cx="3017520" cy="1325880"/>
          </a:xfrm>
          <a:prstGeom prst="roundRect">
            <a:avLst>
              <a:gd name="adj" fmla="val 8276"/>
            </a:avLst>
          </a:prstGeom>
          <a:solidFill>
            <a:srgbClr val="0A0E27"/>
          </a:solidFill>
          <a:ln/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503920" y="12984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3400" dirty="0">
                <a:solidFill>
                  <a:srgbClr val="FFD93D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2024 . 2025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FFD93D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إلى أين يتّجه الميدان؟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31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استدلال وAgents واعتراف عالمي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092440" y="274320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92440" y="2743200"/>
            <a:ext cx="3429000" cy="73152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8" name="Shape 6"/>
          <p:cNvSpPr/>
          <p:nvPr/>
        </p:nvSpPr>
        <p:spPr>
          <a:xfrm>
            <a:off x="10469880" y="3154680"/>
            <a:ext cx="713232" cy="713232"/>
          </a:xfrm>
          <a:prstGeom prst="ellipse">
            <a:avLst/>
          </a:prstGeom>
          <a:solidFill>
            <a:srgbClr val="FFF7D6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331012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0" y="4114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نماذج تستدل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412480" y="46177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تفكّر على خطواتٍ متسلسلة قبل أن تجيب.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70832" y="274320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70832" y="2743200"/>
            <a:ext cx="3429000" cy="73152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4" name="Shape 11"/>
          <p:cNvSpPr/>
          <p:nvPr/>
        </p:nvSpPr>
        <p:spPr>
          <a:xfrm>
            <a:off x="6748272" y="3154680"/>
            <a:ext cx="713232" cy="713232"/>
          </a:xfrm>
          <a:prstGeom prst="ellipse">
            <a:avLst/>
          </a:prstGeom>
          <a:solidFill>
            <a:srgbClr val="FFF7D6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331012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90872" y="4114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Agents </a:t>
            </a:r>
            <a:r>
              <a:rPr lang="ar-SA" sz="18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 </a:t>
            </a:r>
            <a:r>
              <a:rPr lang="en-US" sz="1800" dirty="0" err="1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تنفّذ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690872" y="46177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تكتفي بالكلام، تتّخذ إجراءات فعلية بنفسها.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49224" y="274320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9224" y="2743200"/>
            <a:ext cx="3429000" cy="73152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20" name="Shape 16"/>
          <p:cNvSpPr/>
          <p:nvPr/>
        </p:nvSpPr>
        <p:spPr>
          <a:xfrm>
            <a:off x="3026664" y="3154680"/>
            <a:ext cx="713232" cy="713232"/>
          </a:xfrm>
          <a:prstGeom prst="ellipse">
            <a:avLst/>
          </a:prstGeom>
          <a:solidFill>
            <a:srgbClr val="FFF7D6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1256" y="3310128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69264" y="4114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اعترافٌ علمي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969264" y="46177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جائزة </a:t>
            </a:r>
            <a:r>
              <a:rPr lang="en-US" sz="1400" dirty="0" err="1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نوبل</a:t>
            </a:r>
            <a:r>
              <a:rPr lang="en-US" sz="1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ar-SA" sz="1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2024</a:t>
            </a:r>
            <a:r>
              <a:rPr lang="en-US" sz="14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لأعمال الشبكات العصبية وطيّ البروتينات.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286000"/>
            <a:ext cx="6400800" cy="6400800"/>
          </a:xfrm>
          <a:prstGeom prst="ellipse">
            <a:avLst/>
          </a:prstGeom>
          <a:solidFill>
            <a:srgbClr val="151A3D"/>
          </a:solidFill>
          <a:ln/>
        </p:spPr>
      </p:sp>
      <p:sp>
        <p:nvSpPr>
          <p:cNvPr id="3" name="Text 1"/>
          <p:cNvSpPr/>
          <p:nvPr/>
        </p:nvSpPr>
        <p:spPr>
          <a:xfrm>
            <a:off x="521208" y="10058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FF2D7B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التزييف العميق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1402568" y="1019556"/>
            <a:ext cx="118872" cy="118872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6400"/>
              </a:lnSpc>
              <a:buNone/>
            </a:pPr>
            <a:r>
              <a:rPr lang="en-US" sz="5600" dirty="0">
                <a:solidFill>
                  <a:srgbClr val="F2F3FA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هل ما زال بوسعك تصديق عينيك؟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200" dirty="0">
                <a:solidFill>
                  <a:srgbClr val="FF2D7B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الفيديو والصوت لم يعودا دليلًا تلقائيًّا على الحقيقة.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509760" y="5212080"/>
            <a:ext cx="2011680" cy="0"/>
          </a:xfrm>
          <a:prstGeom prst="line">
            <a:avLst/>
          </a:prstGeom>
          <a:noFill/>
          <a:ln w="31750">
            <a:solidFill>
              <a:srgbClr val="FF2D7B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FF2D7B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ما الذي نرثه؟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800"/>
              </a:lnSpc>
              <a:buNone/>
            </a:pPr>
            <a:r>
              <a:rPr lang="en-US" sz="3500" dirty="0">
                <a:solidFill>
                  <a:srgbClr val="1A1E33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أخلاقيّاتٌ نتوارثها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355080" y="2514600"/>
            <a:ext cx="5166360" cy="3383280"/>
          </a:xfrm>
          <a:prstGeom prst="roundRect">
            <a:avLst>
              <a:gd name="adj" fmla="val 2703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2514600"/>
            <a:ext cx="5166360" cy="82296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926080"/>
            <a:ext cx="713232" cy="713232"/>
          </a:xfrm>
          <a:prstGeom prst="ellipse">
            <a:avLst/>
          </a:prstGeom>
          <a:solidFill>
            <a:srgbClr val="FFE6F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308152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20840" y="38404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100" dirty="0">
                <a:solidFill>
                  <a:srgbClr val="FF2D7B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فراغ المساءلة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720840" y="438912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500"/>
              </a:lnSpc>
              <a:buNone/>
            </a:pPr>
            <a:r>
              <a:rPr lang="en-US" sz="15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حين يسبّب الذكاء الاصطناعي ضررًا، من المسؤول؟ المطوّر أم المدرّب أم الناشر أم المستخدم؟ الحدود ما زالت غامضة.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40080" y="2514600"/>
            <a:ext cx="5166360" cy="3383280"/>
          </a:xfrm>
          <a:prstGeom prst="roundRect">
            <a:avLst>
              <a:gd name="adj" fmla="val 2703"/>
            </a:avLst>
          </a:prstGeom>
          <a:solidFill>
            <a:srgbClr val="FAFAF7"/>
          </a:solidFill>
          <a:ln w="19050">
            <a:solidFill>
              <a:srgbClr val="EEEEE8"/>
            </a:solidFill>
            <a:prstDash val="solid"/>
          </a:ln>
          <a:effectLst>
            <a:outerShdw blurRad="114300" dist="38100" dir="5400000" algn="bl" rotWithShape="0">
              <a:srgbClr val="0A0E27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514600"/>
            <a:ext cx="5166360" cy="82296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12" name="Shape 9"/>
          <p:cNvSpPr/>
          <p:nvPr/>
        </p:nvSpPr>
        <p:spPr>
          <a:xfrm>
            <a:off x="4800600" y="2926080"/>
            <a:ext cx="713232" cy="713232"/>
          </a:xfrm>
          <a:prstGeom prst="ellipse">
            <a:avLst/>
          </a:prstGeom>
          <a:solidFill>
            <a:srgbClr val="FFE6F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08152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38404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100" dirty="0">
                <a:solidFill>
                  <a:srgbClr val="FF2D7B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نظرية الإنترنت الميّت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1005840" y="438912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500"/>
              </a:lnSpc>
              <a:buNone/>
            </a:pPr>
            <a:r>
              <a:rPr lang="en-US" sz="1550" dirty="0">
                <a:solidFill>
                  <a:srgbClr val="1A1E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يكون جزءٌ كبير من محتوى الشبكة من صناعة الروبوتات، فيدور النقاش في حلقاتٍ اصطناعية مغلقة تتغذّى على نفسها.</a:t>
            </a:r>
            <a:endParaRPr lang="en-US" sz="15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200400"/>
            <a:ext cx="6400800" cy="6400800"/>
          </a:xfrm>
          <a:prstGeom prst="ellipse">
            <a:avLst/>
          </a:prstGeom>
          <a:solidFill>
            <a:srgbClr val="151A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250" kern="0" spc="300" dirty="0">
                <a:solidFill>
                  <a:srgbClr val="00D9FF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وماذا بعد؟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1402568" y="745236"/>
            <a:ext cx="118872" cy="11887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4400" dirty="0">
                <a:solidFill>
                  <a:srgbClr val="F2F3FA"/>
                </a:solidFill>
                <a:latin typeface="Tajawal Black" pitchFamily="34" charset="0"/>
                <a:ea typeface="Tajawal Black" pitchFamily="34" charset="-122"/>
                <a:cs typeface="Tajawal Black" pitchFamily="34" charset="-120"/>
              </a:rPr>
              <a:t>من القواعد إلى الواقع الاصطناعي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9528048" y="2788920"/>
            <a:ext cx="1993392" cy="685800"/>
          </a:xfrm>
          <a:prstGeom prst="roundRect">
            <a:avLst>
              <a:gd name="adj" fmla="val 13333"/>
            </a:avLst>
          </a:prstGeom>
          <a:solidFill>
            <a:srgbClr val="151A3D"/>
          </a:solidFill>
          <a:ln/>
        </p:spPr>
      </p:sp>
      <p:sp>
        <p:nvSpPr>
          <p:cNvPr id="7" name="Shape 5"/>
          <p:cNvSpPr/>
          <p:nvPr/>
        </p:nvSpPr>
        <p:spPr>
          <a:xfrm>
            <a:off x="9528048" y="2788920"/>
            <a:ext cx="64008" cy="685800"/>
          </a:xfrm>
          <a:prstGeom prst="rect">
            <a:avLst/>
          </a:prstGeom>
          <a:solidFill>
            <a:srgbClr val="8A8FA8"/>
          </a:solidFill>
          <a:ln/>
        </p:spPr>
      </p:sp>
      <p:sp>
        <p:nvSpPr>
          <p:cNvPr id="8" name="Text 6"/>
          <p:cNvSpPr/>
          <p:nvPr/>
        </p:nvSpPr>
        <p:spPr>
          <a:xfrm>
            <a:off x="9619488" y="2944368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F2F3FA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قواعد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262872" y="3068515"/>
            <a:ext cx="329184" cy="126609"/>
          </a:xfrm>
          <a:prstGeom prst="leftArrow">
            <a:avLst/>
          </a:prstGeom>
          <a:solidFill>
            <a:srgbClr val="8A8FA8"/>
          </a:solidFill>
          <a:ln/>
        </p:spPr>
      </p:sp>
      <p:sp>
        <p:nvSpPr>
          <p:cNvPr id="10" name="Shape 8"/>
          <p:cNvSpPr/>
          <p:nvPr/>
        </p:nvSpPr>
        <p:spPr>
          <a:xfrm>
            <a:off x="7370064" y="2788920"/>
            <a:ext cx="1993392" cy="685800"/>
          </a:xfrm>
          <a:prstGeom prst="roundRect">
            <a:avLst>
              <a:gd name="adj" fmla="val 13333"/>
            </a:avLst>
          </a:prstGeom>
          <a:solidFill>
            <a:srgbClr val="151A3D"/>
          </a:solidFill>
          <a:ln/>
        </p:spPr>
      </p:sp>
      <p:sp>
        <p:nvSpPr>
          <p:cNvPr id="11" name="Shape 9"/>
          <p:cNvSpPr/>
          <p:nvPr/>
        </p:nvSpPr>
        <p:spPr>
          <a:xfrm>
            <a:off x="7370064" y="2788920"/>
            <a:ext cx="64008" cy="6858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2" name="Text 10"/>
          <p:cNvSpPr/>
          <p:nvPr/>
        </p:nvSpPr>
        <p:spPr>
          <a:xfrm>
            <a:off x="7461504" y="2944368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F2F3FA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تعلّم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04888" y="3068515"/>
            <a:ext cx="329184" cy="126609"/>
          </a:xfrm>
          <a:prstGeom prst="leftArrow">
            <a:avLst/>
          </a:prstGeom>
          <a:solidFill>
            <a:srgbClr val="8A8FA8"/>
          </a:solidFill>
          <a:ln/>
        </p:spPr>
      </p:sp>
      <p:sp>
        <p:nvSpPr>
          <p:cNvPr id="14" name="Shape 12"/>
          <p:cNvSpPr/>
          <p:nvPr/>
        </p:nvSpPr>
        <p:spPr>
          <a:xfrm>
            <a:off x="5212080" y="2788920"/>
            <a:ext cx="1993392" cy="685800"/>
          </a:xfrm>
          <a:prstGeom prst="roundRect">
            <a:avLst>
              <a:gd name="adj" fmla="val 13333"/>
            </a:avLst>
          </a:prstGeom>
          <a:solidFill>
            <a:srgbClr val="151A3D"/>
          </a:solidFill>
          <a:ln/>
        </p:spPr>
      </p:sp>
      <p:sp>
        <p:nvSpPr>
          <p:cNvPr id="15" name="Shape 13"/>
          <p:cNvSpPr/>
          <p:nvPr/>
        </p:nvSpPr>
        <p:spPr>
          <a:xfrm>
            <a:off x="5212080" y="2788920"/>
            <a:ext cx="64008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2944368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F2F3FA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تعلّمٌ عميق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946904" y="3068515"/>
            <a:ext cx="329184" cy="126609"/>
          </a:xfrm>
          <a:prstGeom prst="leftArrow">
            <a:avLst/>
          </a:prstGeom>
          <a:solidFill>
            <a:srgbClr val="8A8FA8"/>
          </a:solidFill>
          <a:ln/>
        </p:spPr>
      </p:sp>
      <p:sp>
        <p:nvSpPr>
          <p:cNvPr id="18" name="Shape 16"/>
          <p:cNvSpPr/>
          <p:nvPr/>
        </p:nvSpPr>
        <p:spPr>
          <a:xfrm>
            <a:off x="3054096" y="2788920"/>
            <a:ext cx="1993392" cy="685800"/>
          </a:xfrm>
          <a:prstGeom prst="roundRect">
            <a:avLst>
              <a:gd name="adj" fmla="val 13333"/>
            </a:avLst>
          </a:prstGeom>
          <a:solidFill>
            <a:srgbClr val="151A3D"/>
          </a:solidFill>
          <a:ln/>
        </p:spPr>
      </p:sp>
      <p:sp>
        <p:nvSpPr>
          <p:cNvPr id="19" name="Shape 17"/>
          <p:cNvSpPr/>
          <p:nvPr/>
        </p:nvSpPr>
        <p:spPr>
          <a:xfrm>
            <a:off x="3054096" y="2788920"/>
            <a:ext cx="64008" cy="68580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20" name="Text 18"/>
          <p:cNvSpPr/>
          <p:nvPr/>
        </p:nvSpPr>
        <p:spPr>
          <a:xfrm>
            <a:off x="3145536" y="2944368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F2F3FA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ذكاءٌ توليدي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2788920" y="3068515"/>
            <a:ext cx="329184" cy="126609"/>
          </a:xfrm>
          <a:prstGeom prst="leftArrow">
            <a:avLst/>
          </a:prstGeom>
          <a:solidFill>
            <a:srgbClr val="8A8FA8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2788920"/>
            <a:ext cx="1993392" cy="685800"/>
          </a:xfrm>
          <a:prstGeom prst="roundRect">
            <a:avLst>
              <a:gd name="adj" fmla="val 13333"/>
            </a:avLst>
          </a:prstGeom>
          <a:solidFill>
            <a:srgbClr val="151A3D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" y="2788920"/>
            <a:ext cx="64008" cy="685800"/>
          </a:xfrm>
          <a:prstGeom prst="rect">
            <a:avLst/>
          </a:prstGeom>
          <a:solidFill>
            <a:srgbClr val="FF2D7B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" y="2944368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50" dirty="0">
                <a:solidFill>
                  <a:srgbClr val="F2F3FA"/>
                </a:solidFill>
                <a:latin typeface="Tajawal Medium" pitchFamily="34" charset="0"/>
                <a:ea typeface="Tajawal Medium" pitchFamily="34" charset="-122"/>
                <a:cs typeface="Tajawal Medium" pitchFamily="34" charset="-120"/>
              </a:rPr>
              <a:t>واقعٌ اصطناعي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0080" y="3886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بنفَسٍ واحد: هذي هي </a:t>
            </a:r>
            <a:r>
              <a:rPr lang="en-US" sz="1700" dirty="0" err="1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الرحلة</a:t>
            </a:r>
            <a:r>
              <a:rPr lang="en-US" sz="17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 </a:t>
            </a:r>
            <a:r>
              <a:rPr lang="ar-SA" sz="17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الى الان في عالم الذكاء الاصطناعي</a:t>
            </a:r>
            <a:r>
              <a:rPr lang="en-US" sz="1700" dirty="0">
                <a:solidFill>
                  <a:srgbClr val="8A8FA8"/>
                </a:solidFill>
                <a:latin typeface="Tajawal Light" pitchFamily="34" charset="0"/>
                <a:ea typeface="Tajawal Light" pitchFamily="34" charset="-122"/>
                <a:cs typeface="Tajawal Light" pitchFamily="34" charset="-120"/>
              </a:rPr>
              <a:t>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0080" y="47548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3000" dirty="0">
                <a:solidFill>
                  <a:srgbClr val="00D9FF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واللي جاي </a:t>
            </a:r>
            <a:r>
              <a:rPr lang="en-US" sz="3000" dirty="0" err="1">
                <a:solidFill>
                  <a:srgbClr val="00D9FF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بعدها</a:t>
            </a:r>
            <a:r>
              <a:rPr lang="en-US" sz="3000" dirty="0">
                <a:solidFill>
                  <a:srgbClr val="00D9FF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…</a:t>
            </a:r>
            <a:r>
              <a:rPr lang="ar-SA" sz="3000" dirty="0">
                <a:solidFill>
                  <a:srgbClr val="00D9FF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يتحدد منكم</a:t>
            </a:r>
            <a:r>
              <a:rPr lang="en-US" sz="3000" dirty="0">
                <a:solidFill>
                  <a:srgbClr val="00D9FF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.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9509760" y="5715000"/>
            <a:ext cx="2011680" cy="0"/>
          </a:xfrm>
          <a:prstGeom prst="line">
            <a:avLst/>
          </a:prstGeom>
          <a:noFill/>
          <a:ln w="31750">
            <a:solidFill>
              <a:srgbClr val="00D9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1338</Words>
  <Application>Microsoft Office PowerPoint</Application>
  <PresentationFormat>Custom</PresentationFormat>
  <Paragraphs>297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Tajawal</vt:lpstr>
      <vt:lpstr>Tajawal Black</vt:lpstr>
      <vt:lpstr>Tajawal ExtraBold</vt:lpstr>
      <vt:lpstr>Tajawal Light</vt:lpstr>
      <vt:lpstr>Tajawal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المحاضرة السادسة - الواقع الاصطناعي</dc:title>
  <dc:subject>PptxGenJS Presentation</dc:subject>
  <dc:creator>Intro to AI</dc:creator>
  <cp:lastModifiedBy>MUHANNAD ABFULLAH ALI ALHUMAIDI</cp:lastModifiedBy>
  <cp:revision>3</cp:revision>
  <dcterms:created xsi:type="dcterms:W3CDTF">2026-05-23T06:38:52Z</dcterms:created>
  <dcterms:modified xsi:type="dcterms:W3CDTF">2026-05-23T12:31:08Z</dcterms:modified>
</cp:coreProperties>
</file>